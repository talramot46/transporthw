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02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93" r:id="rId11"/>
    <p:sldId id="294" r:id="rId12"/>
    <p:sldId id="295" r:id="rId13"/>
    <p:sldId id="296" r:id="rId14"/>
    <p:sldId id="297" r:id="rId15"/>
    <p:sldId id="301" r:id="rId16"/>
    <p:sldId id="298" r:id="rId17"/>
    <p:sldId id="300" r:id="rId18"/>
    <p:sldId id="285" r:id="rId19"/>
    <p:sldId id="286" r:id="rId20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0" autoAdjust="0"/>
    <p:restoredTop sz="94660"/>
  </p:normalViewPr>
  <p:slideViewPr>
    <p:cSldViewPr snapToGrid="0">
      <p:cViewPr varScale="1">
        <p:scale>
          <a:sx n="76" d="100"/>
          <a:sy n="76" d="100"/>
        </p:scale>
        <p:origin x="22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FD01A-5867-437B-B7E4-CE3DC9FA6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63E595-FB8F-493C-93A4-AC74ED346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0685C-088D-4337-93A1-ADA7C5E23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09826-CEAE-4AF1-9302-FEA7D1C5C2E9}" type="datetimeFigureOut">
              <a:rPr lang="en-IL" smtClean="0"/>
              <a:t>14/05/2026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7D233-FC3B-4699-808D-178E43039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8FDB4-B60A-4EF0-A68B-3962FB108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914A2-E1EB-4935-8936-224991C5B4E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6340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FC56E-9212-42FF-92A4-7E8A9C32F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738B3-51C6-41A1-921E-005B16E3B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AD97F-DC3E-4B4B-A9B1-79BECE3B5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09826-CEAE-4AF1-9302-FEA7D1C5C2E9}" type="datetimeFigureOut">
              <a:rPr lang="en-IL" smtClean="0"/>
              <a:t>14/05/2026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34CF8-E5CE-4631-8EB2-38880E964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828A6-1D8B-446A-9802-7B03AD2E0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914A2-E1EB-4935-8936-224991C5B4E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14054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C5F15-1806-4679-A265-88E5F8FFB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C4C35-34C7-49BF-95A3-6C9767225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3646D-8F56-499D-92C8-C278BDBF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09826-CEAE-4AF1-9302-FEA7D1C5C2E9}" type="datetimeFigureOut">
              <a:rPr lang="en-IL" smtClean="0"/>
              <a:t>14/05/2026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CAB64-6C92-49C8-84C0-A8A46EB72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C96B2-500A-482D-8702-F333F0777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914A2-E1EB-4935-8936-224991C5B4E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86336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35F76-4711-455B-80F3-464AA632B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84E94-2FD5-4E18-84FE-044F04D5F6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74C9C0-B7C6-4600-8473-F4BE95DE82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1AF1E5-AEAD-4DAC-9F99-FC60480B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09826-CEAE-4AF1-9302-FEA7D1C5C2E9}" type="datetimeFigureOut">
              <a:rPr lang="en-IL" smtClean="0"/>
              <a:t>14/05/2026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02D10-4AF6-44E4-B62A-83BA58609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19A334-3EE9-4C5B-84B6-1678F31A5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914A2-E1EB-4935-8936-224991C5B4E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95302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1AAC-172D-4680-9322-05360E13C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4899EE-81C2-4597-A064-F6E432B38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B5322D-526A-40F6-AF38-C38F618F46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9F2EDC-E3A5-4F0E-98B5-ED5FBA10CC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F52FCE-5459-4241-8D4A-1B63EAC45D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7BC165-8988-4FC6-BF23-8676760BD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09826-CEAE-4AF1-9302-FEA7D1C5C2E9}" type="datetimeFigureOut">
              <a:rPr lang="en-IL" smtClean="0"/>
              <a:t>14/05/2026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A9385B-A9FC-4CC1-8562-655A16839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C7C6A5-A4D5-45E3-80D8-A163382C1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914A2-E1EB-4935-8936-224991C5B4E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94287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F75AA-E769-409F-AD57-685073D7E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44DE48-3FDA-4642-A21D-551F587AC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09826-CEAE-4AF1-9302-FEA7D1C5C2E9}" type="datetimeFigureOut">
              <a:rPr lang="en-IL" smtClean="0"/>
              <a:t>14/05/2026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2AA988-88AA-4E24-998A-14C29E722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1F4414-5C58-4351-96AC-405609DAD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914A2-E1EB-4935-8936-224991C5B4E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53700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7EDD90-5104-4F1F-8BDA-6576279C3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09826-CEAE-4AF1-9302-FEA7D1C5C2E9}" type="datetimeFigureOut">
              <a:rPr lang="en-IL" smtClean="0"/>
              <a:t>14/05/2026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24AD46-2681-42CE-864B-00DCA9230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38875-FB58-4527-8B65-47B956910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914A2-E1EB-4935-8936-224991C5B4E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34476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6917A-7162-44B4-AAC4-DCEC3E7D0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EDEDD-C995-45C2-BB37-6C397DAF0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3B1124-7D43-4790-9D81-ECA77FC0E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2D66F-A76B-4737-827A-1ACCD9AE3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09826-CEAE-4AF1-9302-FEA7D1C5C2E9}" type="datetimeFigureOut">
              <a:rPr lang="en-IL" smtClean="0"/>
              <a:t>14/05/2026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D11D0B-165C-4479-932D-1FA163E13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EAA9F-C6BB-435C-9DEB-7AA5271CA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914A2-E1EB-4935-8936-224991C5B4E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83715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70C4F-4338-4953-AB18-19D405DD6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0674F4-7FB3-46FF-8EDA-328130909B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DF3830-8FCA-4BE0-B6F9-6CCDA8A1DE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ADB32-2992-41B8-8DB4-F0EC9CCF9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09826-CEAE-4AF1-9302-FEA7D1C5C2E9}" type="datetimeFigureOut">
              <a:rPr lang="en-IL" smtClean="0"/>
              <a:t>14/05/2026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D014C6-98DF-4DF8-A071-45C65BE51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44DC29-6E82-40B2-BC01-324B91FAC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914A2-E1EB-4935-8936-224991C5B4E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65526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10483-9D0A-40BB-8996-2456E6609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3117A9-5C22-459F-BD65-BE96B5E7A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BD76D-A8DF-443D-B9BB-0F5080BB6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09826-CEAE-4AF1-9302-FEA7D1C5C2E9}" type="datetimeFigureOut">
              <a:rPr lang="en-IL" smtClean="0"/>
              <a:t>14/05/2026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66C69-2675-4F7F-903F-6757F5343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53F4C-8976-4705-B0AA-4C15A584C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914A2-E1EB-4935-8936-224991C5B4E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95924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419245-EAD0-4026-90D9-948A5BB1CE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199B3-76AB-452C-9133-F833D613BF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BC8B8-3DB2-4BCE-B5CA-8B03FC70C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09826-CEAE-4AF1-9302-FEA7D1C5C2E9}" type="datetimeFigureOut">
              <a:rPr lang="en-IL" smtClean="0"/>
              <a:t>14/05/2026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61A48-93D6-4B7A-9145-89018BB25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C7FC5-1932-4058-9D43-348ED2954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914A2-E1EB-4935-8936-224991C5B4E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64187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35000">
              <a:schemeClr val="accent6">
                <a:lumMod val="0"/>
                <a:lumOff val="10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339F89-185A-48F2-91E1-241AA5C60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3EA15-3083-496A-82EC-6F8D89720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7AE82-73FB-475A-B714-55B5DD9C6D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D09826-CEAE-4AF1-9302-FEA7D1C5C2E9}" type="datetimeFigureOut">
              <a:rPr lang="en-IL" smtClean="0"/>
              <a:t>14/05/2026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C0410-5DAB-43F9-BB7A-5F308F9EF1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0EF3B-A8CC-4664-9B03-070DF1AB37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914A2-E1EB-4935-8936-224991C5B4E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67793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jpe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0.png"/><Relationship Id="rId4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21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13" Type="http://schemas.openxmlformats.org/officeDocument/2006/relationships/image" Target="../media/image78.png"/><Relationship Id="rId3" Type="http://schemas.openxmlformats.org/officeDocument/2006/relationships/tags" Target="../tags/tag2.xml"/><Relationship Id="rId7" Type="http://schemas.openxmlformats.org/officeDocument/2006/relationships/oleObject" Target="../embeddings/oleObject2.bin"/><Relationship Id="rId12" Type="http://schemas.openxmlformats.org/officeDocument/2006/relationships/image" Target="../media/image77.png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3.wmf"/><Relationship Id="rId11" Type="http://schemas.openxmlformats.org/officeDocument/2006/relationships/image" Target="../media/image75.wmf"/><Relationship Id="rId5" Type="http://schemas.openxmlformats.org/officeDocument/2006/relationships/oleObject" Target="../embeddings/oleObject1.bin"/><Relationship Id="rId10" Type="http://schemas.openxmlformats.org/officeDocument/2006/relationships/oleObject" Target="../embeddings/oleObject3.bin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7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tags" Target="../tags/tag5.xml"/><Relationship Id="rId7" Type="http://schemas.openxmlformats.org/officeDocument/2006/relationships/image" Target="../media/image80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78.png"/><Relationship Id="rId5" Type="http://schemas.openxmlformats.org/officeDocument/2006/relationships/image" Target="../media/image79.png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5D93C3-4DAD-40D3-83CF-AE7269FE1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949" y="1260174"/>
            <a:ext cx="8931441" cy="14478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A982C7-5A35-456B-A235-3D698D94E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4322" y="5013161"/>
            <a:ext cx="4543355" cy="124028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3185C41-52F2-4BDC-B58C-C2DF82263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132" y="19773"/>
            <a:ext cx="11409484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1D Cartesian Boltzmann Equation - Exact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41DDDB-38C8-4BB2-82AF-ECEBDCBBD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6318" y="4515504"/>
            <a:ext cx="2080440" cy="3124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A7524D-90F7-4C26-AF3A-9B2EE559DE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8634" y="3807881"/>
            <a:ext cx="1196444" cy="5334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F8DD4D-9642-4328-8731-F4B4B9A7ED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0390" y="3885186"/>
            <a:ext cx="2110923" cy="2819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A9BBE2-983B-43F6-9056-B5A17F4D0F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5950" y="3976691"/>
            <a:ext cx="2080440" cy="5182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72D4BDF-BBD2-4765-8DFE-3962AF8B55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6830" y="4653833"/>
            <a:ext cx="2758679" cy="26672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15D4D20-B934-4A34-AE38-F5167BD4FDB2}"/>
              </a:ext>
            </a:extLst>
          </p:cNvPr>
          <p:cNvSpPr txBox="1"/>
          <p:nvPr/>
        </p:nvSpPr>
        <p:spPr>
          <a:xfrm>
            <a:off x="630194" y="2868979"/>
            <a:ext cx="56655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albedo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mean number of secondary particles -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fission = scattering ratio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708E35-0F06-419C-B964-DB78A6B21033}"/>
              </a:ext>
            </a:extLst>
          </p:cNvPr>
          <p:cNvSpPr txBox="1"/>
          <p:nvPr/>
        </p:nvSpPr>
        <p:spPr>
          <a:xfrm>
            <a:off x="6453382" y="2916370"/>
            <a:ext cx="56655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albedo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mean number of secondary particles -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fission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BF9DF1-EE8C-4526-9D29-6F31E13B6D66}"/>
              </a:ext>
            </a:extLst>
          </p:cNvPr>
          <p:cNvSpPr txBox="1"/>
          <p:nvPr/>
        </p:nvSpPr>
        <p:spPr>
          <a:xfrm>
            <a:off x="399219" y="5480335"/>
            <a:ext cx="3642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Scalar flux and current: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4780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1D05185-ACBB-4282-85A4-19E1A8C55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2554" y="4378906"/>
            <a:ext cx="3924640" cy="16917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F01DA7-9824-4E33-94DD-8F747FD75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3975" y="2089869"/>
            <a:ext cx="6530906" cy="161558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09DA2BE-5559-4A2A-9C4D-CDA7972F1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132" y="77895"/>
            <a:ext cx="11409484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1D Cartesian Boltzmann Equation - Exact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7BA485-E4CB-41F3-B214-83E775739C49}"/>
              </a:ext>
            </a:extLst>
          </p:cNvPr>
          <p:cNvSpPr txBox="1"/>
          <p:nvPr/>
        </p:nvSpPr>
        <p:spPr>
          <a:xfrm>
            <a:off x="1987063" y="1319836"/>
            <a:ext cx="7583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Summing and subtracting the tow equation yields: 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766A0B-1336-4508-A70F-B9096E5527C4}"/>
              </a:ext>
            </a:extLst>
          </p:cNvPr>
          <p:cNvSpPr txBox="1"/>
          <p:nvPr/>
        </p:nvSpPr>
        <p:spPr>
          <a:xfrm>
            <a:off x="909967" y="4661001"/>
            <a:ext cx="30874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Time-independent version: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926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99D5AB-AA6B-4960-96E5-8B9C125D4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630" y="2521517"/>
            <a:ext cx="2949196" cy="9678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66D966-0E71-4B86-AA0E-BECF920C2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6894" y="2521517"/>
            <a:ext cx="2034716" cy="9678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44A5E3-DF98-4890-A347-69B9D764B4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5326" y="4875061"/>
            <a:ext cx="5921253" cy="89923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A37E7E3-DBAD-49D2-AEB8-0557CB011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132" y="170570"/>
            <a:ext cx="11409484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1D Cartesian Boltzmann Equation – </a:t>
            </a:r>
            <a:b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Time-independent = Diffusion Equation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011333-4FA1-47C0-9ADE-F7EF9A21D7E5}"/>
              </a:ext>
            </a:extLst>
          </p:cNvPr>
          <p:cNvSpPr txBox="1"/>
          <p:nvPr/>
        </p:nvSpPr>
        <p:spPr>
          <a:xfrm>
            <a:off x="2263032" y="1881610"/>
            <a:ext cx="30874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Fick’s law: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8F4E96-4B5B-4D20-80E9-DE3D73716FD3}"/>
              </a:ext>
            </a:extLst>
          </p:cNvPr>
          <p:cNvSpPr txBox="1"/>
          <p:nvPr/>
        </p:nvSpPr>
        <p:spPr>
          <a:xfrm>
            <a:off x="6721761" y="1904923"/>
            <a:ext cx="30874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 coefficient: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EFF34F-EB4A-4195-985C-703030A53A4D}"/>
              </a:ext>
            </a:extLst>
          </p:cNvPr>
          <p:cNvSpPr txBox="1"/>
          <p:nvPr/>
        </p:nvSpPr>
        <p:spPr>
          <a:xfrm>
            <a:off x="1426628" y="4170329"/>
            <a:ext cx="8958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 equation (with absorbing term) – “reaction-diffusion”: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362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C7678F-83F9-4B36-AEA7-FB4A89DB5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824" y="1110070"/>
            <a:ext cx="4389500" cy="8916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59DCAC-77AD-4C38-B35D-74676A445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789" y="2167844"/>
            <a:ext cx="3276884" cy="8535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50CD2E-2C1D-43A8-BFF6-6FD5417AE1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044" y="3672092"/>
            <a:ext cx="4930567" cy="10668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246E9E-5AAA-48F9-A5B8-7D1D944FA5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1391" y="3672092"/>
            <a:ext cx="3223539" cy="10440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4B47DA-5D16-4E65-AC8C-7F6322C548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04" y="5681503"/>
            <a:ext cx="3741744" cy="10059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331D2F-3CCC-4A98-91AB-E5B014AC46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8231" y="5681503"/>
            <a:ext cx="4732430" cy="99068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3E529F8-4545-42BF-AE09-7E7F69768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954" y="0"/>
            <a:ext cx="11409484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1D Diffusion Equation – Green function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81D709-4C76-4B36-A2B4-0346A3F14105}"/>
              </a:ext>
            </a:extLst>
          </p:cNvPr>
          <p:cNvSpPr txBox="1"/>
          <p:nvPr/>
        </p:nvSpPr>
        <p:spPr>
          <a:xfrm>
            <a:off x="1162654" y="2424900"/>
            <a:ext cx="30874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transform: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DFFBC3-7F74-4672-B8FB-59DCF16A89C7}"/>
              </a:ext>
            </a:extLst>
          </p:cNvPr>
          <p:cNvSpPr txBox="1"/>
          <p:nvPr/>
        </p:nvSpPr>
        <p:spPr>
          <a:xfrm>
            <a:off x="224660" y="3208941"/>
            <a:ext cx="5616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derivative Fourier transform: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F32A10-AF7C-434B-9D40-D02632A658C5}"/>
              </a:ext>
            </a:extLst>
          </p:cNvPr>
          <p:cNvSpPr txBox="1"/>
          <p:nvPr/>
        </p:nvSpPr>
        <p:spPr>
          <a:xfrm>
            <a:off x="6096000" y="3208941"/>
            <a:ext cx="5412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Algebraic Solution in Fourier domain: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D5A9FC-E8B6-4B91-8BA3-C3B52C7B9AB9}"/>
              </a:ext>
            </a:extLst>
          </p:cNvPr>
          <p:cNvSpPr txBox="1"/>
          <p:nvPr/>
        </p:nvSpPr>
        <p:spPr>
          <a:xfrm>
            <a:off x="3634018" y="5953633"/>
            <a:ext cx="30874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ABCFFB-7DD7-49C9-88D3-45FA965AEDA7}"/>
              </a:ext>
            </a:extLst>
          </p:cNvPr>
          <p:cNvSpPr txBox="1"/>
          <p:nvPr/>
        </p:nvSpPr>
        <p:spPr>
          <a:xfrm>
            <a:off x="2471311" y="4939644"/>
            <a:ext cx="6073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inverse Fourier transform: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615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8FC115-DB64-4C5C-9E19-4F2E86592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132" y="836120"/>
            <a:ext cx="6247843" cy="10470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E8B66B-A64B-4A33-9D47-32F963FFD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68750"/>
            <a:ext cx="4732430" cy="9373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124F36-8599-4F88-A742-05D95ACC5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4121" y="2668048"/>
            <a:ext cx="3055885" cy="6629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495456-8AB3-4A57-B145-C426849DB9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705" y="4045508"/>
            <a:ext cx="3962743" cy="8916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90FA25-948F-4E10-A402-BF6E1A57E9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0738" y="4045508"/>
            <a:ext cx="4381880" cy="9678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E05F3D-5542-4A2A-8953-6E3BCC18B2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5498" y="5680709"/>
            <a:ext cx="3673158" cy="8535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FA5BBC-A3DC-4E01-96B0-5968066F90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8351" y="5568789"/>
            <a:ext cx="4435224" cy="84589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FF1E6CB5-AF6F-4DE6-A7FD-8E3FFD9F6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424" y="-268780"/>
            <a:ext cx="11409484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Diffusion Approximation Time-dependent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5BFE64-5BC0-422E-B973-B7EB314DCACD}"/>
              </a:ext>
            </a:extLst>
          </p:cNvPr>
          <p:cNvSpPr txBox="1"/>
          <p:nvPr/>
        </p:nvSpPr>
        <p:spPr>
          <a:xfrm>
            <a:off x="803189" y="2154918"/>
            <a:ext cx="3626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Convenient transformation: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09D2F7-6FEB-418A-86B9-89F710865FCB}"/>
              </a:ext>
            </a:extLst>
          </p:cNvPr>
          <p:cNvSpPr txBox="1"/>
          <p:nvPr/>
        </p:nvSpPr>
        <p:spPr>
          <a:xfrm>
            <a:off x="3718914" y="2678364"/>
            <a:ext cx="30874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yields: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0CFF8F-7EA0-49EA-B849-9566D1D7DCF0}"/>
              </a:ext>
            </a:extLst>
          </p:cNvPr>
          <p:cNvSpPr txBox="1"/>
          <p:nvPr/>
        </p:nvSpPr>
        <p:spPr>
          <a:xfrm>
            <a:off x="1135498" y="3540659"/>
            <a:ext cx="3718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transform in space: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D7D6EF-F08A-49A4-8236-5ACBBF800209}"/>
              </a:ext>
            </a:extLst>
          </p:cNvPr>
          <p:cNvSpPr txBox="1"/>
          <p:nvPr/>
        </p:nvSpPr>
        <p:spPr>
          <a:xfrm>
            <a:off x="4078371" y="4260483"/>
            <a:ext cx="30874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yields: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C00A5E-1708-4AF4-994D-51AF97302262}"/>
              </a:ext>
            </a:extLst>
          </p:cNvPr>
          <p:cNvSpPr txBox="1"/>
          <p:nvPr/>
        </p:nvSpPr>
        <p:spPr>
          <a:xfrm>
            <a:off x="1174121" y="5152100"/>
            <a:ext cx="3718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Laplace transform in time: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BA5FDD-AEB8-49F7-92CA-63A94485C82B}"/>
              </a:ext>
            </a:extLst>
          </p:cNvPr>
          <p:cNvSpPr txBox="1"/>
          <p:nvPr/>
        </p:nvSpPr>
        <p:spPr>
          <a:xfrm>
            <a:off x="4141893" y="5829463"/>
            <a:ext cx="30874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yields: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1532FE-B32B-4C55-A512-366DAF581AE0}"/>
              </a:ext>
            </a:extLst>
          </p:cNvPr>
          <p:cNvSpPr txBox="1"/>
          <p:nvPr/>
        </p:nvSpPr>
        <p:spPr>
          <a:xfrm>
            <a:off x="1689513" y="940351"/>
            <a:ext cx="27397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Parabolic equation – breaks causality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181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DA32CF-E27E-44FF-9EED-5EC4A8D21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9619" y="738433"/>
            <a:ext cx="4038950" cy="9297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813190-44C7-481F-A6DF-8DA5B35FC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556" y="2013940"/>
            <a:ext cx="5685013" cy="10516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238E6D-788D-4F5A-A169-7447DADC96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270" y="3445064"/>
            <a:ext cx="6195597" cy="12269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EF64C2-60B3-43BC-A001-19F0552178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2292" y="5013146"/>
            <a:ext cx="5646909" cy="11964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615A00-3C4E-49E3-9A1D-9F51FA0262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2799" y="5492445"/>
            <a:ext cx="2663543" cy="52046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2B215CB-7D13-47B9-83AB-82B9F981C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424" y="-268780"/>
            <a:ext cx="11409484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Diffusion Approximation Time-dependent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B533E9-5046-433C-8212-FEC2839D5619}"/>
              </a:ext>
            </a:extLst>
          </p:cNvPr>
          <p:cNvSpPr txBox="1"/>
          <p:nvPr/>
        </p:nvSpPr>
        <p:spPr>
          <a:xfrm>
            <a:off x="554957" y="845092"/>
            <a:ext cx="66799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Algebraic Solution in Fourier-Laplace domain: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77885A-C296-489B-BB5B-747E9A499C26}"/>
              </a:ext>
            </a:extLst>
          </p:cNvPr>
          <p:cNvSpPr txBox="1"/>
          <p:nvPr/>
        </p:nvSpPr>
        <p:spPr>
          <a:xfrm>
            <a:off x="-106219" y="2189796"/>
            <a:ext cx="6073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inverse Fourier transform: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F03CD2-F041-4330-97B6-F708C1AC597A}"/>
              </a:ext>
            </a:extLst>
          </p:cNvPr>
          <p:cNvSpPr txBox="1"/>
          <p:nvPr/>
        </p:nvSpPr>
        <p:spPr>
          <a:xfrm>
            <a:off x="-278068" y="3736939"/>
            <a:ext cx="6073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inverse Laplace transform: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7B12A6-66FA-4DB8-90E9-BC595E112618}"/>
              </a:ext>
            </a:extLst>
          </p:cNvPr>
          <p:cNvSpPr txBox="1"/>
          <p:nvPr/>
        </p:nvSpPr>
        <p:spPr>
          <a:xfrm>
            <a:off x="117390" y="4920076"/>
            <a:ext cx="4993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“Inverse Convenient transformation”: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023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C0A223-FE12-41D7-AB3B-BD494448F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24" y="836464"/>
            <a:ext cx="11560542" cy="9678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63A45D-0274-43CA-9EF8-274E9C077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373" y="2657438"/>
            <a:ext cx="3749365" cy="4343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9C8FB6-C73A-4CA3-BB09-FAB1F1D51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4580" y="3177241"/>
            <a:ext cx="4038950" cy="853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5BFC57-9013-42EB-A6B5-C75810AD06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9954" y="4206878"/>
            <a:ext cx="4138019" cy="8458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CD2706-ED3F-4F06-8B15-658E376B2A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8738" y="5709373"/>
            <a:ext cx="3825572" cy="9678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08ECAE-027C-41CB-9404-099842705D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4401" y="2647301"/>
            <a:ext cx="3926114" cy="252251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711CA9A-B050-4DC8-9E7E-261963608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424" y="-268780"/>
            <a:ext cx="11409484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Diffusion Approximation Time-dependent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B1CA4A-9AC2-497E-BAF9-AF4D905FC6A3}"/>
              </a:ext>
            </a:extLst>
          </p:cNvPr>
          <p:cNvSpPr txBox="1"/>
          <p:nvPr/>
        </p:nvSpPr>
        <p:spPr>
          <a:xfrm>
            <a:off x="1340910" y="5777786"/>
            <a:ext cx="39601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times limit yields the familiar expression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75CAFA-58EF-4B1A-8D9E-EBC6D18E70AD}"/>
              </a:ext>
            </a:extLst>
          </p:cNvPr>
          <p:cNvSpPr txBox="1"/>
          <p:nvPr/>
        </p:nvSpPr>
        <p:spPr>
          <a:xfrm>
            <a:off x="3227930" y="1875405"/>
            <a:ext cx="5279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breaks causality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95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F91686-05EF-489B-A4FB-584DF0F91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652" y="977224"/>
            <a:ext cx="5456393" cy="16613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8F0918-252E-434F-A264-1965923DE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8506" y="4036073"/>
            <a:ext cx="6187976" cy="922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DAAD35-20FC-46D8-AB94-89D921EF1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3025" y="5282618"/>
            <a:ext cx="5243014" cy="96782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D3D8575-520A-4298-AD1C-2103F1E1C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568" y="-230846"/>
            <a:ext cx="11409484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1D Cartesian Boltzmann Equation - Exact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A4097D-58D5-4B84-8169-0079D0465D90}"/>
              </a:ext>
            </a:extLst>
          </p:cNvPr>
          <p:cNvSpPr txBox="1"/>
          <p:nvPr/>
        </p:nvSpPr>
        <p:spPr>
          <a:xfrm>
            <a:off x="418204" y="1406821"/>
            <a:ext cx="43644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Returning to the time-dependent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exact (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non-diffusive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homogeneous-medium equations: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3CEDF9-6CE4-4A32-B3CA-2152313BE189}"/>
              </a:ext>
            </a:extLst>
          </p:cNvPr>
          <p:cNvSpPr txBox="1"/>
          <p:nvPr/>
        </p:nvSpPr>
        <p:spPr>
          <a:xfrm>
            <a:off x="1882030" y="2950632"/>
            <a:ext cx="75832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 the first equation with respect to time and second with respect to space yields: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795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149FAA-666B-4D60-9CE6-7F8320F81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093" y="1734041"/>
            <a:ext cx="4900085" cy="8458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7E6A32-712F-412E-AD84-DC3A9C83C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4613" y="4059600"/>
            <a:ext cx="6988146" cy="9525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AB06A4-E8F3-4077-AD8C-87F5433672E5}"/>
              </a:ext>
            </a:extLst>
          </p:cNvPr>
          <p:cNvSpPr txBox="1"/>
          <p:nvPr/>
        </p:nvSpPr>
        <p:spPr>
          <a:xfrm>
            <a:off x="1689513" y="940351"/>
            <a:ext cx="7583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Subtracting the tow equation yields: 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15AD800-C961-4E0C-B653-06F4AF3B0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568" y="-230846"/>
            <a:ext cx="11409484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1D Cartesian Boltzmann Equation - Exact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3E05B7-DF68-448F-9CC4-FECA593E24B4}"/>
              </a:ext>
            </a:extLst>
          </p:cNvPr>
          <p:cNvSpPr txBox="1"/>
          <p:nvPr/>
        </p:nvSpPr>
        <p:spPr>
          <a:xfrm>
            <a:off x="1590017" y="2989927"/>
            <a:ext cx="85768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first equation again yields a 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Telegrapher’s-like equation (wave + diffusion):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663496-11D7-4627-A0E0-B94C252B2CD9}"/>
              </a:ext>
            </a:extLst>
          </p:cNvPr>
          <p:cNvSpPr txBox="1"/>
          <p:nvPr/>
        </p:nvSpPr>
        <p:spPr>
          <a:xfrm>
            <a:off x="2578286" y="5347052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Hyperbolic equation –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doesn’t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breaks causality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376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42AFE7C-F2AD-4FE9-B168-72F3F4EA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132" y="-226903"/>
            <a:ext cx="11409484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Telegrapher’s Equation</a:t>
            </a:r>
          </a:p>
        </p:txBody>
      </p:sp>
      <p:pic>
        <p:nvPicPr>
          <p:cNvPr id="4098" name="Picture 2" descr="Telegraph Lines Running Alongside Drawing by Illustrated London News  Ltd/Mar - Fine Art America">
            <a:extLst>
              <a:ext uri="{FF2B5EF4-FFF2-40B4-BE49-F238E27FC236}">
                <a16:creationId xmlns:a16="http://schemas.microsoft.com/office/drawing/2014/main" id="{98980964-4AAA-4FD5-84F9-E38DC800A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7996" y="1129133"/>
            <a:ext cx="4203872" cy="2760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Telegrapher's Equations | Electromagnetics I">
            <a:extLst>
              <a:ext uri="{FF2B5EF4-FFF2-40B4-BE49-F238E27FC236}">
                <a16:creationId xmlns:a16="http://schemas.microsoft.com/office/drawing/2014/main" id="{A338E920-8181-4160-AF06-575085F28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384" y="3497071"/>
            <a:ext cx="3826943" cy="110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Telegrapher's equations - Wikipedia">
            <a:extLst>
              <a:ext uri="{FF2B5EF4-FFF2-40B4-BE49-F238E27FC236}">
                <a16:creationId xmlns:a16="http://schemas.microsoft.com/office/drawing/2014/main" id="{F82BA110-0BFA-4DFD-B0F4-E061D1739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615" y="5105272"/>
            <a:ext cx="3980589" cy="107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0947A3-DDA5-474F-8A3F-13B1486446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6682" y="5030602"/>
            <a:ext cx="6274481" cy="1079284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2C1383F2-4AE3-495D-AEF6-E2DFB4F06186}"/>
              </a:ext>
            </a:extLst>
          </p:cNvPr>
          <p:cNvSpPr/>
          <p:nvPr/>
        </p:nvSpPr>
        <p:spPr>
          <a:xfrm>
            <a:off x="4950773" y="5526995"/>
            <a:ext cx="580768" cy="3486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8A8B5FF-10CC-4A80-A6EC-B3EF51309756}"/>
              </a:ext>
            </a:extLst>
          </p:cNvPr>
          <p:cNvSpPr txBox="1">
            <a:spLocks/>
          </p:cNvSpPr>
          <p:nvPr/>
        </p:nvSpPr>
        <p:spPr>
          <a:xfrm>
            <a:off x="7342846" y="6184557"/>
            <a:ext cx="4203872" cy="664094"/>
          </a:xfrm>
          <a:prstGeom prst="rect">
            <a:avLst/>
          </a:prstGeom>
          <a:noFill/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Telegrapher’s equation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378C9A9-39DE-4FF5-9256-2359BAA74E08}"/>
              </a:ext>
            </a:extLst>
          </p:cNvPr>
          <p:cNvSpPr txBox="1">
            <a:spLocks/>
          </p:cNvSpPr>
          <p:nvPr/>
        </p:nvSpPr>
        <p:spPr>
          <a:xfrm>
            <a:off x="1520754" y="4614180"/>
            <a:ext cx="4203872" cy="664094"/>
          </a:xfrm>
          <a:prstGeom prst="rect">
            <a:avLst/>
          </a:prstGeom>
          <a:noFill/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equations”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81151CA-E68E-4FAE-934A-E66F5AEE2525}"/>
              </a:ext>
            </a:extLst>
          </p:cNvPr>
          <p:cNvSpPr/>
          <p:nvPr/>
        </p:nvSpPr>
        <p:spPr>
          <a:xfrm>
            <a:off x="5677930" y="4893276"/>
            <a:ext cx="6053938" cy="1291281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FE09E637-955F-47DC-A19C-37A21D8BA1F3}"/>
              </a:ext>
            </a:extLst>
          </p:cNvPr>
          <p:cNvSpPr/>
          <p:nvPr/>
        </p:nvSpPr>
        <p:spPr>
          <a:xfrm>
            <a:off x="3421226" y="3167023"/>
            <a:ext cx="259611" cy="38781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4112" name="Picture 16" descr="Real-Time Fault Location Using the Retardation Method">
            <a:extLst>
              <a:ext uri="{FF2B5EF4-FFF2-40B4-BE49-F238E27FC236}">
                <a16:creationId xmlns:a16="http://schemas.microsoft.com/office/drawing/2014/main" id="{51F3EAF8-9B06-4391-8C2E-45D51D364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458" y="1706223"/>
            <a:ext cx="5006542" cy="129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F0B7830-12D6-4F8D-9FA9-F46547C59F51}"/>
              </a:ext>
            </a:extLst>
          </p:cNvPr>
          <p:cNvSpPr/>
          <p:nvPr/>
        </p:nvSpPr>
        <p:spPr>
          <a:xfrm>
            <a:off x="2871893" y="1391854"/>
            <a:ext cx="1617888" cy="1782647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4F699EA9-8C97-4AAB-98B1-8D8857E332F0}"/>
              </a:ext>
            </a:extLst>
          </p:cNvPr>
          <p:cNvSpPr txBox="1">
            <a:spLocks/>
          </p:cNvSpPr>
          <p:nvPr/>
        </p:nvSpPr>
        <p:spPr>
          <a:xfrm>
            <a:off x="211467" y="935447"/>
            <a:ext cx="6762523" cy="664094"/>
          </a:xfrm>
          <a:prstGeom prst="rect">
            <a:avLst/>
          </a:prstGeom>
          <a:noFill/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Kirchhoff model of Telegraph line: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C87C404-94D6-4CAF-AB8C-730E61E0C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6B231-CC64-4713-9C62-125982F2C4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766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9550441-6941-4530-9E7D-05636CF5F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238" y="3228930"/>
            <a:ext cx="7042733" cy="10306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8ACE7B-44EA-40B1-9AA6-754146BA9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2217" y="4438902"/>
            <a:ext cx="3787468" cy="9678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FFA480-3B70-4C8D-B2DC-50E3036AB9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1573" y="5716583"/>
            <a:ext cx="3208298" cy="8611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1BB453-8928-478D-8BFD-E203DBE22201}"/>
              </a:ext>
            </a:extLst>
          </p:cNvPr>
          <p:cNvSpPr txBox="1"/>
          <p:nvPr/>
        </p:nvSpPr>
        <p:spPr>
          <a:xfrm>
            <a:off x="1577080" y="2329282"/>
            <a:ext cx="3626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Convenient transformation: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079494-1648-4ABE-81DF-EC758B2B13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9987" y="2329878"/>
            <a:ext cx="2772036" cy="59883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C522793-82E6-4C20-B4E9-D7AA2721E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213" y="50648"/>
            <a:ext cx="11409484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Telegrapher’s Equation – Purely absorbing media Green function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609FD7-BBEF-4C9E-B7DB-B32EB48531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8195" y="1536236"/>
            <a:ext cx="8826757" cy="6629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2EE397-EAD1-4F14-BB08-BBAB352A5E5B}"/>
              </a:ext>
            </a:extLst>
          </p:cNvPr>
          <p:cNvSpPr txBox="1"/>
          <p:nvPr/>
        </p:nvSpPr>
        <p:spPr>
          <a:xfrm>
            <a:off x="706082" y="3328753"/>
            <a:ext cx="30874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Yields inhomogeneous 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wave-equation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996630-F2F7-4ECA-9800-6B955BF51C25}"/>
              </a:ext>
            </a:extLst>
          </p:cNvPr>
          <p:cNvSpPr txBox="1"/>
          <p:nvPr/>
        </p:nvSpPr>
        <p:spPr>
          <a:xfrm>
            <a:off x="386081" y="4740031"/>
            <a:ext cx="66799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Algebraic Solution in Fourier-Laplace domain: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9288AD-F392-46F6-AB61-126D0173774F}"/>
              </a:ext>
            </a:extLst>
          </p:cNvPr>
          <p:cNvSpPr txBox="1"/>
          <p:nvPr/>
        </p:nvSpPr>
        <p:spPr>
          <a:xfrm>
            <a:off x="252089" y="5889627"/>
            <a:ext cx="6073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inverse Fourier transform: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745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E0C138-F7C9-4F8F-A4CF-8B3F39FB1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588" y="1593060"/>
            <a:ext cx="5265876" cy="10440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6AFADF-7698-40B7-888D-D66512A51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0449" y="3930362"/>
            <a:ext cx="5273497" cy="9754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B6F0EF-0485-448D-8A58-44FFCA4C2AC6}"/>
              </a:ext>
            </a:extLst>
          </p:cNvPr>
          <p:cNvSpPr txBox="1"/>
          <p:nvPr/>
        </p:nvSpPr>
        <p:spPr>
          <a:xfrm>
            <a:off x="247054" y="3112196"/>
            <a:ext cx="4993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“Inverse Convenient transformation”: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2A59D0-876B-45B3-8745-A0FC04768735}"/>
              </a:ext>
            </a:extLst>
          </p:cNvPr>
          <p:cNvSpPr txBox="1"/>
          <p:nvPr/>
        </p:nvSpPr>
        <p:spPr>
          <a:xfrm>
            <a:off x="-292730" y="1743039"/>
            <a:ext cx="6073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inverse Laplace transform: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00A1943-C353-4E92-9154-7AFAB0D2F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213" y="50648"/>
            <a:ext cx="11409484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Telegrapher’s Equation – Purely absorbing media Green function</a:t>
            </a:r>
          </a:p>
        </p:txBody>
      </p:sp>
    </p:spTree>
    <p:extLst>
      <p:ext uri="{BB962C8B-B14F-4D97-AF65-F5344CB8AC3E}">
        <p14:creationId xmlns:p14="http://schemas.microsoft.com/office/powerpoint/2010/main" val="1101628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879108-1554-4B9D-B4E6-B64417160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187" y="3040997"/>
            <a:ext cx="7834039" cy="9983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F03575-38F3-4D2B-A296-0343FA21D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0940" y="4177072"/>
            <a:ext cx="5806943" cy="10516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0A62FD-85BF-4F01-AA6D-7D0B36C694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6284" y="5479094"/>
            <a:ext cx="9198137" cy="112023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3C1BF7-77EF-4F30-B1BD-22C04DC7C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213" y="50648"/>
            <a:ext cx="11409484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Telegrapher’s Equation – General media Green function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438C0A-4F57-49BC-886D-0673936B83BB}"/>
              </a:ext>
            </a:extLst>
          </p:cNvPr>
          <p:cNvSpPr txBox="1"/>
          <p:nvPr/>
        </p:nvSpPr>
        <p:spPr>
          <a:xfrm>
            <a:off x="4379003" y="2346610"/>
            <a:ext cx="3626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Convenient transformation: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E1D4C3-18AE-45D1-B373-D6BF278B0F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1517" y="2278025"/>
            <a:ext cx="2772036" cy="59883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1CB587D-FFB5-4E24-9D79-E9D02E92DB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0138" y="1378906"/>
            <a:ext cx="8031633" cy="6868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8442B1D-2C34-4424-9FC7-6739D6077CC0}"/>
              </a:ext>
            </a:extLst>
          </p:cNvPr>
          <p:cNvSpPr txBox="1"/>
          <p:nvPr/>
        </p:nvSpPr>
        <p:spPr>
          <a:xfrm>
            <a:off x="883435" y="3268837"/>
            <a:ext cx="30874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yields: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DD366A-7AEA-4DD1-BCE6-22F21279318E}"/>
              </a:ext>
            </a:extLst>
          </p:cNvPr>
          <p:cNvSpPr txBox="1"/>
          <p:nvPr/>
        </p:nvSpPr>
        <p:spPr>
          <a:xfrm>
            <a:off x="408601" y="4322893"/>
            <a:ext cx="41523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Algebraic Solution in Fourier-Laplace domain: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AE299D-0F88-4CCE-9080-3D203C798CD8}"/>
              </a:ext>
            </a:extLst>
          </p:cNvPr>
          <p:cNvSpPr txBox="1"/>
          <p:nvPr/>
        </p:nvSpPr>
        <p:spPr>
          <a:xfrm>
            <a:off x="-150581" y="5623128"/>
            <a:ext cx="3246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inverse Fourier transform: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209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A5D99B-30DC-4935-A3DD-4F6B99A2C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280" y="4753356"/>
            <a:ext cx="5464120" cy="8831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0720E3-893A-4673-B33B-D723D1B43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941" y="5778262"/>
            <a:ext cx="3657917" cy="100592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51476F3-0097-426F-AB6F-F755F0FE8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213" y="50648"/>
            <a:ext cx="11409484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Telegrapher’s Equation – General media Green function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33A77F-DB56-4F75-B627-D5621F3E58F3}"/>
              </a:ext>
            </a:extLst>
          </p:cNvPr>
          <p:cNvSpPr txBox="1"/>
          <p:nvPr/>
        </p:nvSpPr>
        <p:spPr>
          <a:xfrm>
            <a:off x="-376620" y="1389260"/>
            <a:ext cx="6073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inverse Laplace transform: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F75420-75B2-4CB8-947A-A0BCF4AFCD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6755" y="3508344"/>
            <a:ext cx="9366497" cy="10005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583668-249B-4A19-918F-C6465DD06F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1792" y="1991346"/>
            <a:ext cx="9308213" cy="9018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07FAAA3-7ADE-441F-BD30-7AA79C1020FB}"/>
              </a:ext>
            </a:extLst>
          </p:cNvPr>
          <p:cNvSpPr txBox="1"/>
          <p:nvPr/>
        </p:nvSpPr>
        <p:spPr>
          <a:xfrm>
            <a:off x="272220" y="2959862"/>
            <a:ext cx="4993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“Inverse Convenient transformation”: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BA2D41-C6D7-4977-95F9-A7333311774E}"/>
              </a:ext>
            </a:extLst>
          </p:cNvPr>
          <p:cNvSpPr txBox="1"/>
          <p:nvPr/>
        </p:nvSpPr>
        <p:spPr>
          <a:xfrm>
            <a:off x="669201" y="4982027"/>
            <a:ext cx="3960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AE72E8-4110-4F58-BA80-0D10B6490312}"/>
              </a:ext>
            </a:extLst>
          </p:cNvPr>
          <p:cNvSpPr txBox="1"/>
          <p:nvPr/>
        </p:nvSpPr>
        <p:spPr>
          <a:xfrm>
            <a:off x="516802" y="5869789"/>
            <a:ext cx="39601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times limit yields the familiar expression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161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54A1C1-188E-41F0-B40C-8B051C021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829" y="853159"/>
            <a:ext cx="4248672" cy="9002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24A5FA-25E8-49C3-A6F7-26A0BE129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228" y="2875333"/>
            <a:ext cx="3330229" cy="6858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2F8581-BCA4-4026-A534-781191D391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1267" y="4041095"/>
            <a:ext cx="5875529" cy="9297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5D1726-8559-4667-B550-CE43D81EFE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89" y="5665505"/>
            <a:ext cx="4473328" cy="8154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D10C41-DF08-41C2-A3D1-68FE75E63F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5026" y="5665504"/>
            <a:ext cx="3856054" cy="81541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0B87980-7150-44EE-92C8-8B7B79E55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424" y="-268780"/>
            <a:ext cx="11409484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Diffusion Approximation – Full Green function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5FBEA0-21F7-4BF5-A3A3-165194673E69}"/>
              </a:ext>
            </a:extLst>
          </p:cNvPr>
          <p:cNvSpPr txBox="1"/>
          <p:nvPr/>
        </p:nvSpPr>
        <p:spPr>
          <a:xfrm>
            <a:off x="-331137" y="2916139"/>
            <a:ext cx="6579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Algebraic Solution in Fourier-Laplace domain: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80C9F7-D7A6-48B8-9170-C5674CB580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8242" y="1953586"/>
            <a:ext cx="3055885" cy="66299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8860ED2-C784-467E-A4DB-9D4AC0002898}"/>
              </a:ext>
            </a:extLst>
          </p:cNvPr>
          <p:cNvSpPr txBox="1"/>
          <p:nvPr/>
        </p:nvSpPr>
        <p:spPr>
          <a:xfrm>
            <a:off x="2942160" y="2061998"/>
            <a:ext cx="3626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Convenient transformation: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00485C-3F63-4875-B6DE-0513CBA08EDB}"/>
              </a:ext>
            </a:extLst>
          </p:cNvPr>
          <p:cNvSpPr txBox="1"/>
          <p:nvPr/>
        </p:nvSpPr>
        <p:spPr>
          <a:xfrm>
            <a:off x="425379" y="4071665"/>
            <a:ext cx="41523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inverse Fourier transform: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B700B8-AD8A-4816-A13E-AA87A603ABB7}"/>
              </a:ext>
            </a:extLst>
          </p:cNvPr>
          <p:cNvSpPr txBox="1"/>
          <p:nvPr/>
        </p:nvSpPr>
        <p:spPr>
          <a:xfrm>
            <a:off x="-212340" y="5084619"/>
            <a:ext cx="6073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inverse Laplace transform: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15D9FF-9DCD-4FD3-A4DA-1245563C0D03}"/>
              </a:ext>
            </a:extLst>
          </p:cNvPr>
          <p:cNvSpPr txBox="1"/>
          <p:nvPr/>
        </p:nvSpPr>
        <p:spPr>
          <a:xfrm>
            <a:off x="6096000" y="5148909"/>
            <a:ext cx="4993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“Inverse Convenient transformation”: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74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EBF01A-762A-4FA4-8CA8-FE24A69B3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798" y="976381"/>
            <a:ext cx="11201778" cy="9197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1FCA50-2FA7-47E4-8BCF-11D572F0F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6965" y="2934611"/>
            <a:ext cx="5157906" cy="9197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3945AE-388A-41E0-928E-EF7DA7BB7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930" y="4172040"/>
            <a:ext cx="4490624" cy="9197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8AA344-03F0-41A2-A15D-861A48E1BB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2959" y="5416758"/>
            <a:ext cx="6637595" cy="92972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B15D5E8-8D14-42DF-AAAC-ED3DCB895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424" y="-268780"/>
            <a:ext cx="11409484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Telegrapher’s Equation – Full Green function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00089B-619D-490C-B90B-CC1FC3A99CFB}"/>
              </a:ext>
            </a:extLst>
          </p:cNvPr>
          <p:cNvSpPr txBox="1"/>
          <p:nvPr/>
        </p:nvSpPr>
        <p:spPr>
          <a:xfrm>
            <a:off x="2469918" y="2150730"/>
            <a:ext cx="3626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Convenient transformation: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0F24AE-DB31-4E44-ADD4-B939A10F5D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432" y="2082145"/>
            <a:ext cx="2772036" cy="5988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2CC9AF6-4EFE-4937-BCCD-3096E3C80AF8}"/>
              </a:ext>
            </a:extLst>
          </p:cNvPr>
          <p:cNvSpPr txBox="1"/>
          <p:nvPr/>
        </p:nvSpPr>
        <p:spPr>
          <a:xfrm>
            <a:off x="926196" y="3189194"/>
            <a:ext cx="30874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yields: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32632B-1D5B-4406-AD23-7965D09E953B}"/>
              </a:ext>
            </a:extLst>
          </p:cNvPr>
          <p:cNvSpPr txBox="1"/>
          <p:nvPr/>
        </p:nvSpPr>
        <p:spPr>
          <a:xfrm>
            <a:off x="0" y="4314858"/>
            <a:ext cx="6579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Algebraic Solution in Fourier-Laplace domain: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1CCEA8-A2E4-4BFB-8DF1-BFC81803BA41}"/>
              </a:ext>
            </a:extLst>
          </p:cNvPr>
          <p:cNvSpPr txBox="1"/>
          <p:nvPr/>
        </p:nvSpPr>
        <p:spPr>
          <a:xfrm>
            <a:off x="130620" y="5466119"/>
            <a:ext cx="41523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inverse Fourier transform: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877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5402FD-6757-47E6-84D7-1689D8B73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7773"/>
            <a:ext cx="12192000" cy="10595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E953E1-5CFC-4AC4-A469-9D5A49942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27" y="4435679"/>
            <a:ext cx="11916345" cy="103296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6F74E21-8130-4438-92BB-297B0ECF6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424" y="-268780"/>
            <a:ext cx="11409484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Telegrapher’s Equation – Full Green function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B71ADD-034D-497B-B661-1B0CBE780C67}"/>
              </a:ext>
            </a:extLst>
          </p:cNvPr>
          <p:cNvSpPr txBox="1"/>
          <p:nvPr/>
        </p:nvSpPr>
        <p:spPr>
          <a:xfrm>
            <a:off x="2656695" y="1370326"/>
            <a:ext cx="6073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inverse Laplace transform: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958D95-6069-4314-B82A-3EB5FE195A56}"/>
              </a:ext>
            </a:extLst>
          </p:cNvPr>
          <p:cNvSpPr txBox="1"/>
          <p:nvPr/>
        </p:nvSpPr>
        <p:spPr>
          <a:xfrm>
            <a:off x="3352800" y="3840713"/>
            <a:ext cx="4993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“Inverse Convenient transformation”: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8317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53E5F67-9571-442B-B20B-B8F6925AB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132" y="-55448"/>
            <a:ext cx="11409484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1D Transport Problem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38627D8E-0A40-4339-9C66-26CBAA9933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5470" y="1495391"/>
          <a:ext cx="10402475" cy="17307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9" name="Equation" r:id="rId5" imgW="7327800" imgH="1218960" progId="Equation.DSMT4">
                  <p:embed/>
                </p:oleObj>
              </mc:Choice>
              <mc:Fallback>
                <p:oleObj name="Equation" r:id="rId5" imgW="7327800" imgH="121896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38627D8E-0A40-4339-9C66-26CBAA9933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5470" y="1495391"/>
                        <a:ext cx="10402475" cy="17307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A40FF37E-ACBD-49A5-BEAE-34FA455792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70912" y="3948008"/>
          <a:ext cx="9251592" cy="1730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0" name="Equation" r:id="rId7" imgW="7467480" imgH="1396800" progId="Equation.DSMT4">
                  <p:embed/>
                </p:oleObj>
              </mc:Choice>
              <mc:Fallback>
                <p:oleObj name="Equation" r:id="rId7" imgW="7467480" imgH="139680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A40FF37E-ACBD-49A5-BEAE-34FA455792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70912" y="3948008"/>
                        <a:ext cx="9251592" cy="17307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92D85C53-F3D8-4089-A3E2-02EF529D6F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41115" y="3134020"/>
            <a:ext cx="5883150" cy="723963"/>
          </a:xfrm>
          <a:prstGeom prst="rect">
            <a:avLst/>
          </a:prstGeom>
        </p:spPr>
      </p:pic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65E897AA-5DF1-4B9C-BB22-4D1308C9E4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11957" y="5603286"/>
          <a:ext cx="4619625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" name="Equation" r:id="rId10" imgW="2806560" imgH="469800" progId="Equation.DSMT4">
                  <p:embed/>
                </p:oleObj>
              </mc:Choice>
              <mc:Fallback>
                <p:oleObj name="Equation" r:id="rId10" imgW="2806560" imgH="46980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65E897AA-5DF1-4B9C-BB22-4D1308C9E4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411957" y="5603286"/>
                        <a:ext cx="4619625" cy="773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903BF74-A0D0-4CCD-9855-11D93D0F3E3C}"/>
              </a:ext>
            </a:extLst>
          </p:cNvPr>
          <p:cNvSpPr txBox="1">
            <a:spLocks/>
          </p:cNvSpPr>
          <p:nvPr/>
        </p:nvSpPr>
        <p:spPr>
          <a:xfrm>
            <a:off x="629173" y="1088634"/>
            <a:ext cx="8623884" cy="784846"/>
          </a:xfrm>
          <a:prstGeom prst="rect">
            <a:avLst/>
          </a:prstGeom>
          <a:noFill/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Green function problem,                                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3" name="Picture 2" descr="\documentclass{article}&#10;\usepackage{amsmath}&#10;\pagestyle{empty}&#10;\begin{document}&#10;&#10;&#10;$Q(x,t)=Q_0\delta(x)\delta(t)$&#10;&#10;\end{document}" title="IguanaTex Bitmap Display">
            <a:extLst>
              <a:ext uri="{FF2B5EF4-FFF2-40B4-BE49-F238E27FC236}">
                <a16:creationId xmlns:a16="http://schemas.microsoft.com/office/drawing/2014/main" id="{95FFCC30-C1EC-4402-8894-E2CEE8D9B84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080" y="1196869"/>
            <a:ext cx="2232381" cy="254476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AF14161-3C3A-442B-8BB7-2D3D16BCBC38}"/>
              </a:ext>
            </a:extLst>
          </p:cNvPr>
          <p:cNvSpPr txBox="1">
            <a:spLocks/>
          </p:cNvSpPr>
          <p:nvPr/>
        </p:nvSpPr>
        <p:spPr>
          <a:xfrm>
            <a:off x="599588" y="3213058"/>
            <a:ext cx="4341527" cy="784846"/>
          </a:xfrm>
          <a:prstGeom prst="rect">
            <a:avLst/>
          </a:prstGeom>
          <a:noFill/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asymptotic expressions for the modified-Bessel functions: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66BF841-1D0A-4AB5-815B-1B271D9002C2}"/>
              </a:ext>
            </a:extLst>
          </p:cNvPr>
          <p:cNvSpPr txBox="1">
            <a:spLocks/>
          </p:cNvSpPr>
          <p:nvPr/>
        </p:nvSpPr>
        <p:spPr>
          <a:xfrm>
            <a:off x="6367244" y="5744547"/>
            <a:ext cx="5638800" cy="784846"/>
          </a:xfrm>
          <a:prstGeom prst="rect">
            <a:avLst/>
          </a:prstGeom>
          <a:noFill/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Yields the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diffusion solution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late times, far from the ballistic tail at               .</a:t>
            </a:r>
          </a:p>
        </p:txBody>
      </p:sp>
      <p:pic>
        <p:nvPicPr>
          <p:cNvPr id="13" name="Picture 12" descr="\documentclass{article}&#10;\usepackage{amsmath}&#10;\pagestyle{empty}&#10;\begin{document}&#10;&#10;$x=vt$&#10;&#10;&#10;\end{document}" title="IguanaTex Bitmap Display">
            <a:extLst>
              <a:ext uri="{FF2B5EF4-FFF2-40B4-BE49-F238E27FC236}">
                <a16:creationId xmlns:a16="http://schemas.microsoft.com/office/drawing/2014/main" id="{2C27F734-9993-42DA-9EBC-DC332EFFD03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2617" y="6172289"/>
            <a:ext cx="866030" cy="20410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DA4F2A7-1847-409B-94CF-8EFACF2A76EE}"/>
              </a:ext>
            </a:extLst>
          </p:cNvPr>
          <p:cNvSpPr txBox="1"/>
          <p:nvPr/>
        </p:nvSpPr>
        <p:spPr>
          <a:xfrm>
            <a:off x="0" y="6452659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‡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Goldstein,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Quarterly J. Mech. Appl. Math.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129, 1951.</a:t>
            </a:r>
            <a:endParaRPr 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B5EBCF-940C-438A-A18F-68ABFD48A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6B231-CC64-4713-9C62-125982F2C4B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4087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82DD52-4C9D-47B7-AB37-A4A490F1C0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5944" y="1210706"/>
            <a:ext cx="6651677" cy="498875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656C160-ECCE-4550-94BD-8D98C15E3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132" y="-55448"/>
            <a:ext cx="11409484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1D Transport Problem</a:t>
            </a:r>
          </a:p>
        </p:txBody>
      </p:sp>
      <p:sp>
        <p:nvSpPr>
          <p:cNvPr id="6" name="Content Placeholder 2 1 1">
            <a:extLst>
              <a:ext uri="{FF2B5EF4-FFF2-40B4-BE49-F238E27FC236}">
                <a16:creationId xmlns:a16="http://schemas.microsoft.com/office/drawing/2014/main" id="{7567022B-ADBF-4E5F-A5AB-5BB48DCA0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379" y="1629024"/>
            <a:ext cx="4618957" cy="3521816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early times, the parabolic diffusion “breaks causality”, propagating faster then the speed of the particles.</a:t>
            </a:r>
          </a:p>
          <a:p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</a:t>
            </a:r>
            <a:r>
              <a:rPr lang="en-US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aseline="-25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or Telegrapher’s equation solution has a knee-sharp solution near            </a:t>
            </a:r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asymptotic expansion yields good approximation for             and excellent for          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\documentclass{article}&#10;\usepackage{amsmath}&#10;\pagestyle{empty}&#10;\begin{document}&#10;&#10;$x=vt$&#10;&#10;&#10;\end{document}" title="IguanaTex Bitmap Display">
            <a:extLst>
              <a:ext uri="{FF2B5EF4-FFF2-40B4-BE49-F238E27FC236}">
                <a16:creationId xmlns:a16="http://schemas.microsoft.com/office/drawing/2014/main" id="{405968F4-0705-4B21-A4F4-721A4E04973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8082" y="4246835"/>
            <a:ext cx="866030" cy="204109"/>
          </a:xfrm>
          <a:prstGeom prst="rect">
            <a:avLst/>
          </a:prstGeom>
        </p:spPr>
      </p:pic>
      <p:pic>
        <p:nvPicPr>
          <p:cNvPr id="9" name="Picture 8" descr="\documentclass{article}&#10;\usepackage{amsmath}&#10;\pagestyle{empty}&#10;\begin{document}&#10;&#10;$t=3$&#10;&#10;&#10;\end{document}" title="IguanaTex Bitmap Display">
            <a:extLst>
              <a:ext uri="{FF2B5EF4-FFF2-40B4-BE49-F238E27FC236}">
                <a16:creationId xmlns:a16="http://schemas.microsoft.com/office/drawing/2014/main" id="{375BB8C4-9847-4411-907A-1488F72663E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365" y="5120245"/>
            <a:ext cx="675275" cy="217462"/>
          </a:xfrm>
          <a:prstGeom prst="rect">
            <a:avLst/>
          </a:prstGeom>
        </p:spPr>
      </p:pic>
      <p:pic>
        <p:nvPicPr>
          <p:cNvPr id="12" name="Picture 11" descr="\documentclass{article}&#10;\usepackage{amsmath}&#10;\pagestyle{empty}&#10;\begin{document}&#10;&#10;$t=5$&#10;&#10;&#10;\end{document}" title="IguanaTex Bitmap Display">
            <a:extLst>
              <a:ext uri="{FF2B5EF4-FFF2-40B4-BE49-F238E27FC236}">
                <a16:creationId xmlns:a16="http://schemas.microsoft.com/office/drawing/2014/main" id="{8DC3A42F-C153-41F3-99E1-C9C186A347F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41" y="5509749"/>
            <a:ext cx="673367" cy="21937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B6D771-0473-465F-9599-60401FC5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6B231-CC64-4713-9C62-125982F2C4B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7813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098.613"/>
  <p:tag name="OUTPUTTYPE" val="PNG"/>
  <p:tag name="IGUANATEXVERSION" val="160"/>
  <p:tag name="LATEXADDIN" val="\documentclass{article}&#10;\usepackage{amsmath}&#10;\pagestyle{empty}&#10;\begin{document}&#10;&#10;&#10;$Q(x,t)=Q_0\delta(x)\delta(t)$&#10;&#10;\end{document}"/>
  <p:tag name="IGUANATEXSIZE" val="20"/>
  <p:tag name="IGUANATEXCURSOR" val="111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4"/>
  <p:tag name="ORIGINALWIDTH" val="340.4574"/>
  <p:tag name="OUTPUTTYPE" val="PNG"/>
  <p:tag name="IGUANATEXVERSION" val="160"/>
  <p:tag name="LATEXADDIN" val="\documentclass{article}&#10;\usepackage{amsmath}&#10;\pagestyle{empty}&#10;\begin{document}&#10;&#10;$x=vt$&#10;&#10;&#10;\end{document}"/>
  <p:tag name="IGUANATEXSIZE" val="20"/>
  <p:tag name="IGUANATEXCURSOR" val="86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4"/>
  <p:tag name="ORIGINALWIDTH" val="340.4574"/>
  <p:tag name="OUTPUTTYPE" val="PNG"/>
  <p:tag name="IGUANATEXVERSION" val="160"/>
  <p:tag name="LATEXADDIN" val="\documentclass{article}&#10;\usepackage{amsmath}&#10;\pagestyle{empty}&#10;\begin{document}&#10;&#10;$x=vt$&#10;&#10;&#10;\end{document}"/>
  <p:tag name="IGUANATEXSIZE" val="20"/>
  <p:tag name="IGUANATEXCURSOR" val="86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.48929"/>
  <p:tag name="ORIGINALWIDTH" val="265.4669"/>
  <p:tag name="OUTPUTTYPE" val="PNG"/>
  <p:tag name="IGUANATEXVERSION" val="160"/>
  <p:tag name="LATEXADDIN" val="\documentclass{article}&#10;\usepackage{amsmath}&#10;\pagestyle{empty}&#10;\begin{document}&#10;&#10;$t=3$&#10;&#10;&#10;\end{document}"/>
  <p:tag name="IGUANATEXSIZE" val="20"/>
  <p:tag name="IGUANATEXCURSOR" val="85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6.23921"/>
  <p:tag name="ORIGINALWIDTH" val="264.7169"/>
  <p:tag name="OUTPUTTYPE" val="PNG"/>
  <p:tag name="IGUANATEXVERSION" val="160"/>
  <p:tag name="LATEXADDIN" val="\documentclass{article}&#10;\usepackage{amsmath}&#10;\pagestyle{empty}&#10;\begin{document}&#10;&#10;$t=5$&#10;&#10;&#10;\end{document}"/>
  <p:tag name="IGUANATEXSIZE" val="20"/>
  <p:tag name="IGUANATEXCURSOR" val="85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519</Words>
  <Application>Microsoft Office PowerPoint</Application>
  <PresentationFormat>Widescreen</PresentationFormat>
  <Paragraphs>89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Office Theme</vt:lpstr>
      <vt:lpstr>Equation</vt:lpstr>
      <vt:lpstr>1D Cartesian Boltzmann Equation - Exact</vt:lpstr>
      <vt:lpstr>1D Cartesian Boltzmann Equation - Exact</vt:lpstr>
      <vt:lpstr>1D Cartesian Boltzmann Equation –  Time-independent = Diffusion Equation</vt:lpstr>
      <vt:lpstr>1D Diffusion Equation – Green function</vt:lpstr>
      <vt:lpstr>Diffusion Approximation Time-dependent</vt:lpstr>
      <vt:lpstr>Diffusion Approximation Time-dependent</vt:lpstr>
      <vt:lpstr>Diffusion Approximation Time-dependent</vt:lpstr>
      <vt:lpstr>1D Cartesian Boltzmann Equation - Exact</vt:lpstr>
      <vt:lpstr>1D Cartesian Boltzmann Equation - Exact</vt:lpstr>
      <vt:lpstr>The Telegrapher’s Equation</vt:lpstr>
      <vt:lpstr>The Telegrapher’s Equation – Purely absorbing media Green function</vt:lpstr>
      <vt:lpstr>The Telegrapher’s Equation – Purely absorbing media Green function</vt:lpstr>
      <vt:lpstr>The Telegrapher’s Equation – General media Green function</vt:lpstr>
      <vt:lpstr>The Telegrapher’s Equation – General media Green function</vt:lpstr>
      <vt:lpstr>Diffusion Approximation – Full Green function</vt:lpstr>
      <vt:lpstr>Telegrapher’s Equation – Full Green function</vt:lpstr>
      <vt:lpstr>Telegrapher’s Equation – Full Green function</vt:lpstr>
      <vt:lpstr>Full 1D Transport Problem</vt:lpstr>
      <vt:lpstr>Full 1D Transport 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shay</dc:creator>
  <cp:lastModifiedBy>shay</cp:lastModifiedBy>
  <cp:revision>111</cp:revision>
  <dcterms:created xsi:type="dcterms:W3CDTF">2026-05-03T07:16:33Z</dcterms:created>
  <dcterms:modified xsi:type="dcterms:W3CDTF">2026-05-14T20:57:56Z</dcterms:modified>
</cp:coreProperties>
</file>