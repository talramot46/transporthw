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5" r:id="rId1"/>
  </p:sldMasterIdLst>
  <p:notesMasterIdLst>
    <p:notesMasterId r:id="rId39"/>
  </p:notesMasterIdLst>
  <p:handoutMasterIdLst>
    <p:handoutMasterId r:id="rId40"/>
  </p:handoutMasterIdLst>
  <p:sldIdLst>
    <p:sldId id="274" r:id="rId2"/>
    <p:sldId id="275" r:id="rId3"/>
    <p:sldId id="429" r:id="rId4"/>
    <p:sldId id="430" r:id="rId5"/>
    <p:sldId id="277" r:id="rId6"/>
    <p:sldId id="278" r:id="rId7"/>
    <p:sldId id="279" r:id="rId8"/>
    <p:sldId id="280" r:id="rId9"/>
    <p:sldId id="395" r:id="rId10"/>
    <p:sldId id="354" r:id="rId11"/>
    <p:sldId id="398" r:id="rId12"/>
    <p:sldId id="304" r:id="rId13"/>
    <p:sldId id="355" r:id="rId14"/>
    <p:sldId id="305" r:id="rId15"/>
    <p:sldId id="306" r:id="rId16"/>
    <p:sldId id="427" r:id="rId17"/>
    <p:sldId id="428" r:id="rId18"/>
    <p:sldId id="307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406" r:id="rId28"/>
    <p:sldId id="407" r:id="rId29"/>
    <p:sldId id="408" r:id="rId30"/>
    <p:sldId id="422" r:id="rId31"/>
    <p:sldId id="423" r:id="rId32"/>
    <p:sldId id="424" r:id="rId33"/>
    <p:sldId id="425" r:id="rId34"/>
    <p:sldId id="412" r:id="rId35"/>
    <p:sldId id="413" r:id="rId36"/>
    <p:sldId id="414" r:id="rId37"/>
    <p:sldId id="415" r:id="rId38"/>
  </p:sldIdLst>
  <p:sldSz cx="9144000" cy="5143500" type="screen16x9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y" initials="s" lastIdx="2" clrIdx="0">
    <p:extLst>
      <p:ext uri="{19B8F6BF-5375-455C-9EA6-DF929625EA0E}">
        <p15:presenceInfo xmlns:p15="http://schemas.microsoft.com/office/powerpoint/2012/main" userId="sha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  <a:srgbClr val="CCFFFF"/>
    <a:srgbClr val="FF99CC"/>
    <a:srgbClr val="FF66CC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2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76" y="101"/>
      </p:cViewPr>
      <p:guideLst>
        <p:guide orient="horz" pos="161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237" cy="7223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5T13:36:48.374" idx="2">
    <p:pos x="3739" y="1918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3T08:33:32.768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12" Type="http://schemas.openxmlformats.org/officeDocument/2006/relationships/image" Target="../media/image86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5" Type="http://schemas.openxmlformats.org/officeDocument/2006/relationships/image" Target="../media/image79.w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5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92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89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3.wmf"/><Relationship Id="rId5" Type="http://schemas.openxmlformats.org/officeDocument/2006/relationships/image" Target="../media/image92.wmf"/><Relationship Id="rId4" Type="http://schemas.openxmlformats.org/officeDocument/2006/relationships/image" Target="../media/image8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92.wmf"/><Relationship Id="rId5" Type="http://schemas.openxmlformats.org/officeDocument/2006/relationships/image" Target="../media/image89.wmf"/><Relationship Id="rId4" Type="http://schemas.openxmlformats.org/officeDocument/2006/relationships/image" Target="../media/image108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111.wmf"/><Relationship Id="rId7" Type="http://schemas.openxmlformats.org/officeDocument/2006/relationships/image" Target="../media/image89.wmf"/><Relationship Id="rId2" Type="http://schemas.openxmlformats.org/officeDocument/2006/relationships/image" Target="../media/image110.wmf"/><Relationship Id="rId1" Type="http://schemas.openxmlformats.org/officeDocument/2006/relationships/image" Target="../media/image88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9" Type="http://schemas.openxmlformats.org/officeDocument/2006/relationships/image" Target="../media/image11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4" Type="http://schemas.openxmlformats.org/officeDocument/2006/relationships/image" Target="../media/image144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9B90AE5-DB14-4F7E-9242-470BA85C6AF0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2869FD6-626F-40A4-9036-00BF1D0394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65720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698" y="0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7163" y="509588"/>
            <a:ext cx="4533900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823" y="3228896"/>
            <a:ext cx="7942580" cy="305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6612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698" y="6456612"/>
            <a:ext cx="4302231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86C549D-42B1-46B1-9A18-B49F393095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19163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7163" y="509588"/>
            <a:ext cx="4533900" cy="2549525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042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042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859033-42AA-416C-A90C-1B383C76C0D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92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A5D584-00BE-4895-A604-F5BCED8CF8A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7163" y="509588"/>
            <a:ext cx="4533900" cy="2549525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1445" name="Header Placeholder 7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64282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514350" y="401242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3640059"/>
            <a:ext cx="8458200" cy="91678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2914650"/>
            <a:ext cx="8458200" cy="6858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7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1" y="4855369"/>
            <a:ext cx="758825" cy="1857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B2628-D1B6-4EC5-BECA-B88A13F5D2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57150"/>
            <a:ext cx="2895600" cy="21669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1" y="4855369"/>
            <a:ext cx="758825" cy="1857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3975A-9A1C-4199-8ACD-017635C3E9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/>
          <p:cNvSpPr>
            <a:spLocks noChangeShapeType="1"/>
          </p:cNvSpPr>
          <p:nvPr/>
        </p:nvSpPr>
        <p:spPr bwMode="auto">
          <a:xfrm>
            <a:off x="514350" y="258367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257300"/>
            <a:ext cx="8458200" cy="9144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210314"/>
            <a:ext cx="8686800" cy="888619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38764-6EE5-40F3-AC92-F9E18B25C8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342900"/>
            <a:ext cx="8686800" cy="6309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200150"/>
            <a:ext cx="4191000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343400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DB989-C3A6-46D9-97C7-5893011598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4514850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4057650"/>
            <a:ext cx="8610600" cy="6619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500062"/>
            <a:ext cx="4290556" cy="47982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6" y="500062"/>
            <a:ext cx="4292241" cy="47982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987028"/>
            <a:ext cx="4290556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987028"/>
            <a:ext cx="4288536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4857750"/>
            <a:ext cx="762000" cy="1857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1935C-F0C4-47DA-B525-BF24E950F6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342900"/>
            <a:ext cx="8686800" cy="6309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EBDAF-3D4F-468E-AD83-159BB3D031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F3337-1B16-4D18-A918-44FBB8DE8C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514350" y="4386838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4114800"/>
            <a:ext cx="8458200" cy="390525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1" y="457200"/>
            <a:ext cx="3008313" cy="360045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457200"/>
            <a:ext cx="5340350" cy="36004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E811A-E1B4-4004-853E-2DBC69C9C3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462476"/>
            <a:ext cx="5029200" cy="27432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3745320"/>
            <a:ext cx="5867400" cy="391716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4149913"/>
            <a:ext cx="5867400" cy="576263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7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6CDF5-3025-4D4C-8C91-586BC90168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E7C54-5F9A-412C-A598-A2745ED113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411957"/>
            <a:ext cx="18288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11957"/>
            <a:ext cx="62484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B41D1-E951-4150-84EB-8978440578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788174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3013" name="Text Placeholder 7"/>
          <p:cNvSpPr>
            <a:spLocks noGrp="1"/>
          </p:cNvSpPr>
          <p:nvPr>
            <p:ph type="body" idx="1"/>
          </p:nvPr>
        </p:nvSpPr>
        <p:spPr bwMode="auto">
          <a:xfrm>
            <a:off x="304800" y="1165622"/>
            <a:ext cx="86868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57150"/>
            <a:ext cx="2514600" cy="216694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57150"/>
            <a:ext cx="3352800" cy="216694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4857751"/>
            <a:ext cx="762000" cy="183356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1ABFA947-D0A1-4C2C-B9EE-511869D91AD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342900"/>
            <a:ext cx="8686800" cy="62865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788174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793490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68" r:id="rId4"/>
    <p:sldLayoutId id="2147484174" r:id="rId5"/>
    <p:sldLayoutId id="2147484169" r:id="rId6"/>
    <p:sldLayoutId id="2147484175" r:id="rId7"/>
    <p:sldLayoutId id="2147484176" r:id="rId8"/>
    <p:sldLayoutId id="2147484177" r:id="rId9"/>
    <p:sldLayoutId id="2147484170" r:id="rId10"/>
    <p:sldLayoutId id="214748417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5.e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3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11" Type="http://schemas.openxmlformats.org/officeDocument/2006/relationships/image" Target="../media/image42.wmf"/><Relationship Id="rId5" Type="http://schemas.openxmlformats.org/officeDocument/2006/relationships/oleObject" Target="../embeddings/oleObject35.bin"/><Relationship Id="rId10" Type="http://schemas.openxmlformats.org/officeDocument/2006/relationships/oleObject" Target="../embeddings/oleObject38.bin"/><Relationship Id="rId4" Type="http://schemas.openxmlformats.org/officeDocument/2006/relationships/image" Target="../media/image39.wmf"/><Relationship Id="rId9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image" Target="../media/image61.png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comments" Target="../comments/commen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85.wmf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75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oleObject" Target="../embeddings/oleObject74.bin"/><Relationship Id="rId18" Type="http://schemas.openxmlformats.org/officeDocument/2006/relationships/oleObject" Target="../embeddings/oleObject78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9.wmf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6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0.bin"/><Relationship Id="rId11" Type="http://schemas.openxmlformats.org/officeDocument/2006/relationships/oleObject" Target="../embeddings/oleObject73.bin"/><Relationship Id="rId5" Type="http://schemas.openxmlformats.org/officeDocument/2006/relationships/image" Target="../media/image88.wmf"/><Relationship Id="rId15" Type="http://schemas.openxmlformats.org/officeDocument/2006/relationships/image" Target="../media/image92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7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1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94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8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8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89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0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08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9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1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2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8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2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129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3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135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36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37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8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4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14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7"/>
          <p:cNvGrpSpPr>
            <a:grpSpLocks/>
          </p:cNvGrpSpPr>
          <p:nvPr/>
        </p:nvGrpSpPr>
        <p:grpSpPr bwMode="auto">
          <a:xfrm>
            <a:off x="1247777" y="684610"/>
            <a:ext cx="6891336" cy="4471987"/>
            <a:chOff x="850" y="514"/>
            <a:chExt cx="4341" cy="3756"/>
          </a:xfrm>
        </p:grpSpPr>
        <p:sp>
          <p:nvSpPr>
            <p:cNvPr id="1031" name="Text Box 3"/>
            <p:cNvSpPr txBox="1">
              <a:spLocks noChangeArrowheads="1"/>
            </p:cNvSpPr>
            <p:nvPr/>
          </p:nvSpPr>
          <p:spPr bwMode="auto">
            <a:xfrm>
              <a:off x="850" y="514"/>
              <a:ext cx="4341" cy="3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 dirty="0"/>
                <a:t>Choice of the neutron description</a:t>
              </a:r>
            </a:p>
            <a:p>
              <a:r>
                <a:rPr lang="en-US" sz="2000" dirty="0"/>
                <a:t>   + </a:t>
              </a:r>
              <a:r>
                <a:rPr lang="en-US" sz="2000" i="1" dirty="0"/>
                <a:t>Quantum mechanical description</a:t>
              </a:r>
            </a:p>
            <a:p>
              <a:r>
                <a:rPr lang="en-US" sz="2000" dirty="0"/>
                <a:t>        - Subatomic particle-uncertainty principle</a:t>
              </a:r>
            </a:p>
            <a:p>
              <a:r>
                <a:rPr lang="en-US" sz="2000" dirty="0"/>
                <a:t>        - Baryon class particle (Fermions of spin ½)</a:t>
              </a:r>
            </a:p>
            <a:p>
              <a:r>
                <a:rPr lang="en-US" sz="2000" dirty="0"/>
                <a:t>        - Possess the strong nuclear force.</a:t>
              </a:r>
            </a:p>
            <a:p>
              <a:endParaRPr lang="en-US" sz="700" dirty="0"/>
            </a:p>
            <a:p>
              <a:r>
                <a:rPr lang="en-US" sz="2000" dirty="0"/>
                <a:t>   + </a:t>
              </a:r>
              <a:r>
                <a:rPr lang="en-US" sz="2000" i="1" dirty="0"/>
                <a:t>Relativistic description</a:t>
              </a:r>
            </a:p>
            <a:p>
              <a:r>
                <a:rPr lang="en-US" sz="2000" dirty="0"/>
                <a:t>        - Can travel near light speed</a:t>
              </a:r>
            </a:p>
            <a:p>
              <a:r>
                <a:rPr lang="en-US" sz="2000" dirty="0"/>
                <a:t>        - Mass changes with speed</a:t>
              </a:r>
            </a:p>
            <a:p>
              <a:endParaRPr lang="en-US" sz="700" dirty="0"/>
            </a:p>
            <a:p>
              <a:r>
                <a:rPr lang="en-US" sz="2000" dirty="0"/>
                <a:t>   + </a:t>
              </a:r>
              <a:r>
                <a:rPr lang="en-US" sz="2000" i="1" dirty="0"/>
                <a:t>Maxwell’s wave description</a:t>
              </a:r>
            </a:p>
            <a:p>
              <a:r>
                <a:rPr lang="en-US" sz="2000" dirty="0"/>
                <a:t>        - Wave/particle duality</a:t>
              </a:r>
            </a:p>
            <a:p>
              <a:r>
                <a:rPr lang="en-US" sz="2000" dirty="0"/>
                <a:t>        - Neutron has a wavelength</a:t>
              </a:r>
            </a:p>
            <a:p>
              <a:endParaRPr lang="en-US" sz="400" dirty="0"/>
            </a:p>
            <a:p>
              <a:r>
                <a:rPr lang="en-US" sz="2000" dirty="0"/>
                <a:t>   + </a:t>
              </a:r>
              <a:r>
                <a:rPr lang="en-US" sz="2000" i="1" dirty="0"/>
                <a:t>Classical particle description</a:t>
              </a:r>
              <a:endParaRPr lang="en-US" i="1" dirty="0"/>
            </a:p>
          </p:txBody>
        </p:sp>
        <p:graphicFrame>
          <p:nvGraphicFramePr>
            <p:cNvPr id="102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0036219"/>
                </p:ext>
              </p:extLst>
            </p:nvPr>
          </p:nvGraphicFramePr>
          <p:xfrm>
            <a:off x="1474" y="3827"/>
            <a:ext cx="2279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" name="Equation" r:id="rId4" imgW="3009600" imgH="545760" progId="Equation.DSMT4">
                    <p:embed/>
                  </p:oleObj>
                </mc:Choice>
                <mc:Fallback>
                  <p:oleObj name="Equation" r:id="rId4" imgW="3009600" imgH="54576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827"/>
                          <a:ext cx="2279" cy="4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1356643" y="0"/>
            <a:ext cx="6080511" cy="707886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6600FF"/>
                </a:solidFill>
              </a:rPr>
              <a:t>Heuristic Derivation of the</a:t>
            </a:r>
          </a:p>
          <a:p>
            <a:pPr algn="ctr"/>
            <a:r>
              <a:rPr lang="en-US" sz="2000" b="1" dirty="0">
                <a:solidFill>
                  <a:srgbClr val="6600FF"/>
                </a:solidFill>
              </a:rPr>
              <a:t>Integro-Differential Neutron Boltzmann Equation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058862" y="339647"/>
            <a:ext cx="7770178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Neutron behavior can be described by all of above</a:t>
            </a:r>
          </a:p>
          <a:p>
            <a:endParaRPr lang="en-US" sz="700" dirty="0"/>
          </a:p>
          <a:p>
            <a:r>
              <a:rPr lang="en-US" sz="2000" dirty="0"/>
              <a:t>   + </a:t>
            </a:r>
            <a:r>
              <a:rPr lang="en-US" sz="2000" i="1" dirty="0"/>
              <a:t>Quantum mechanical description</a:t>
            </a:r>
          </a:p>
          <a:p>
            <a:r>
              <a:rPr lang="en-US" sz="2000" dirty="0"/>
              <a:t>        - On collision, neutron interacts with all </a:t>
            </a:r>
          </a:p>
          <a:p>
            <a:r>
              <a:rPr lang="en-US" sz="2000" dirty="0"/>
              <a:t>          nucleons of a nucleus to determine its fate</a:t>
            </a:r>
          </a:p>
          <a:p>
            <a:endParaRPr lang="en-US" sz="1100" dirty="0"/>
          </a:p>
          <a:p>
            <a:r>
              <a:rPr lang="en-US" sz="2000" dirty="0"/>
              <a:t>   + </a:t>
            </a:r>
            <a:r>
              <a:rPr lang="en-US" sz="2000" i="1" dirty="0"/>
              <a:t>Relativistic description</a:t>
            </a:r>
          </a:p>
          <a:p>
            <a:r>
              <a:rPr lang="en-US" sz="2000" dirty="0"/>
              <a:t>        - High energy Galactic Cosmic Rays (GCRs)</a:t>
            </a:r>
          </a:p>
          <a:p>
            <a:r>
              <a:rPr lang="en-US" sz="2000" dirty="0"/>
              <a:t>        - In a reactor rarely above 0.2</a:t>
            </a:r>
            <a:r>
              <a:rPr lang="en-US" sz="2000" i="1" dirty="0">
                <a:latin typeface="Times New Roman" pitchFamily="18" charset="0"/>
              </a:rPr>
              <a:t>c</a:t>
            </a:r>
          </a:p>
          <a:p>
            <a:endParaRPr lang="en-US" sz="1200" dirty="0"/>
          </a:p>
          <a:p>
            <a:r>
              <a:rPr lang="en-US" sz="2000" dirty="0"/>
              <a:t>   + </a:t>
            </a:r>
            <a:r>
              <a:rPr lang="en-US" sz="2000" i="1" dirty="0"/>
              <a:t>Maxwell’s wave description</a:t>
            </a:r>
          </a:p>
          <a:p>
            <a:r>
              <a:rPr lang="en-US" sz="2000" dirty="0"/>
              <a:t>        - Ultra low energy neutrons (&lt; 3 × 10</a:t>
            </a:r>
            <a:r>
              <a:rPr lang="en-US" sz="2000" baseline="30000" dirty="0"/>
              <a:t>−7</a:t>
            </a:r>
            <a:r>
              <a:rPr lang="en-US" sz="2000" dirty="0"/>
              <a:t>  [1ev=1.602177310</a:t>
            </a:r>
            <a:r>
              <a:rPr lang="en-US" sz="2000" baseline="30000" dirty="0"/>
              <a:t>-19</a:t>
            </a:r>
            <a:r>
              <a:rPr lang="en-US" sz="2000" i="1" dirty="0"/>
              <a:t>J</a:t>
            </a:r>
            <a:r>
              <a:rPr lang="en-US" sz="2000" dirty="0"/>
              <a:t>] </a:t>
            </a:r>
          </a:p>
          <a:p>
            <a:r>
              <a:rPr lang="en-US" sz="2000" dirty="0"/>
              <a:t>        - Quantized gravitational states</a:t>
            </a:r>
          </a:p>
          <a:p>
            <a:endParaRPr lang="en-US" sz="1200" dirty="0"/>
          </a:p>
          <a:p>
            <a:r>
              <a:rPr lang="en-US" sz="2000" dirty="0"/>
              <a:t>   + </a:t>
            </a:r>
            <a:r>
              <a:rPr lang="en-US" sz="2000" i="1" dirty="0"/>
              <a:t>Classical particle motion</a:t>
            </a:r>
          </a:p>
          <a:p>
            <a:r>
              <a:rPr lang="en-US" sz="2000" dirty="0"/>
              <a:t>        - Between scattering collisions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8FA6D0-8343-40D3-8CF1-21FD19C79C6F}" type="slidenum">
              <a:rPr lang="en-US" sz="1100"/>
              <a:pPr>
                <a:defRPr/>
              </a:pPr>
              <a:t>2</a:t>
            </a:fld>
            <a:endParaRPr lang="en-US" sz="11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AA90B8-06AC-467F-B98E-3BB12FFE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CDFA6-130F-4447-8404-5205213B5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69" y="771586"/>
            <a:ext cx="4121031" cy="4226548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C5192884-F8C7-4586-964E-ADEF1E008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965" y="228876"/>
            <a:ext cx="43030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Examples of Transport Processes</a:t>
            </a:r>
          </a:p>
        </p:txBody>
      </p:sp>
    </p:spTree>
    <p:extLst>
      <p:ext uri="{BB962C8B-B14F-4D97-AF65-F5344CB8AC3E}">
        <p14:creationId xmlns:p14="http://schemas.microsoft.com/office/powerpoint/2010/main" val="2838169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B78DD-6EC6-444D-8F39-A6CB6FE3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4DEB1-9DB1-4DF5-8765-B2E67B23B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26" y="2748799"/>
            <a:ext cx="3520745" cy="480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7C678B-E95F-4AE5-AC23-71D8DEF44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299" y="1503578"/>
            <a:ext cx="3484030" cy="836168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438A170-40ED-4C44-93AE-0B2CF0909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945" y="214313"/>
            <a:ext cx="56739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Diffusion Approximation Modeling Transport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D393DC-7531-49FB-8948-45713F6FB3F5}"/>
              </a:ext>
            </a:extLst>
          </p:cNvPr>
          <p:cNvSpPr txBox="1"/>
          <p:nvPr/>
        </p:nvSpPr>
        <p:spPr>
          <a:xfrm>
            <a:off x="765600" y="1631860"/>
            <a:ext cx="28791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Diffusion Equation:</a:t>
            </a:r>
          </a:p>
          <a:p>
            <a:endParaRPr lang="en-IL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58CCC-A6F6-491F-A5E8-DEF61AF8067A}"/>
              </a:ext>
            </a:extLst>
          </p:cNvPr>
          <p:cNvSpPr txBox="1"/>
          <p:nvPr/>
        </p:nvSpPr>
        <p:spPr>
          <a:xfrm>
            <a:off x="765599" y="3458315"/>
            <a:ext cx="65777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How is this equation is derived?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What are the physical assumptions? Limitations?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What is </a:t>
            </a:r>
            <a:r>
              <a:rPr lang="en-US" sz="2000" b="1" i="1" dirty="0"/>
              <a:t>D</a:t>
            </a:r>
            <a:r>
              <a:rPr lang="en-US" sz="2000" b="1" dirty="0"/>
              <a:t>?</a:t>
            </a:r>
          </a:p>
          <a:p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332234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869950" y="592932"/>
            <a:ext cx="792353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      Assumption 1</a:t>
            </a:r>
            <a:r>
              <a:rPr lang="en-US" sz="2000" dirty="0"/>
              <a:t> 	</a:t>
            </a:r>
          </a:p>
          <a:p>
            <a:r>
              <a:rPr lang="en-US" sz="2000" dirty="0"/>
              <a:t>	Collisions considered separately from ballistic </a:t>
            </a:r>
          </a:p>
          <a:p>
            <a:r>
              <a:rPr lang="en-US" sz="2000" dirty="0"/>
              <a:t>              motion between collisions</a:t>
            </a:r>
          </a:p>
          <a:p>
            <a:r>
              <a:rPr lang="en-US" sz="2000" dirty="0"/>
              <a:t>             + classical particle description between </a:t>
            </a:r>
          </a:p>
          <a:p>
            <a:r>
              <a:rPr lang="en-US" sz="2000" dirty="0"/>
              <a:t>                collisions</a:t>
            </a:r>
          </a:p>
          <a:p>
            <a:r>
              <a:rPr lang="en-US" sz="2000" dirty="0"/>
              <a:t>             + quantum mechanical description at collision </a:t>
            </a:r>
          </a:p>
          <a:p>
            <a:r>
              <a:rPr lang="en-US" sz="2000" dirty="0"/>
              <a:t>                (origin of nuclear data)</a:t>
            </a:r>
          </a:p>
          <a:p>
            <a:r>
              <a:rPr lang="en-US" sz="2000" dirty="0"/>
              <a:t>			</a:t>
            </a:r>
            <a:endParaRPr lang="en-US" sz="1600" dirty="0"/>
          </a:p>
          <a:p>
            <a:r>
              <a:rPr lang="en-US" sz="2000" b="1" dirty="0"/>
              <a:t>     Assumption 2</a:t>
            </a:r>
            <a:r>
              <a:rPr lang="en-US" sz="2000" dirty="0"/>
              <a:t>	</a:t>
            </a:r>
          </a:p>
          <a:p>
            <a:r>
              <a:rPr lang="en-US" sz="2000" dirty="0"/>
              <a:t>	Duration and spatial extent of collision neglected</a:t>
            </a:r>
          </a:p>
          <a:p>
            <a:endParaRPr lang="en-US" sz="2000" dirty="0"/>
          </a:p>
          <a:p>
            <a:r>
              <a:rPr lang="en-US" sz="2000" b="1" dirty="0"/>
              <a:t>     Assumption 3</a:t>
            </a:r>
          </a:p>
          <a:p>
            <a:r>
              <a:rPr lang="en-US" sz="2000" dirty="0"/>
              <a:t>             Neutron-neutron collisions neglected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BADA2D-8512-4452-B725-D8472ED3E29F}" type="slidenum">
              <a:rPr lang="en-US" sz="1100"/>
              <a:pPr>
                <a:defRPr/>
              </a:pPr>
              <a:t>5</a:t>
            </a:fld>
            <a:endParaRPr lang="en-US" sz="11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 Box 2"/>
          <p:cNvSpPr txBox="1">
            <a:spLocks noChangeArrowheads="1"/>
          </p:cNvSpPr>
          <p:nvPr/>
        </p:nvSpPr>
        <p:spPr bwMode="auto">
          <a:xfrm>
            <a:off x="2962276" y="214313"/>
            <a:ext cx="29068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Independent Variables</a:t>
            </a:r>
          </a:p>
        </p:txBody>
      </p:sp>
      <p:grpSp>
        <p:nvGrpSpPr>
          <p:cNvPr id="2057" name="Group 3"/>
          <p:cNvGrpSpPr>
            <a:grpSpLocks/>
          </p:cNvGrpSpPr>
          <p:nvPr/>
        </p:nvGrpSpPr>
        <p:grpSpPr bwMode="auto">
          <a:xfrm>
            <a:off x="1050925" y="639367"/>
            <a:ext cx="2940050" cy="1859756"/>
            <a:chOff x="466" y="1106"/>
            <a:chExt cx="1852" cy="1562"/>
          </a:xfrm>
        </p:grpSpPr>
        <p:sp>
          <p:nvSpPr>
            <p:cNvPr id="2088" name="Freeform 4"/>
            <p:cNvSpPr>
              <a:spLocks noEditPoints="1"/>
            </p:cNvSpPr>
            <p:nvPr/>
          </p:nvSpPr>
          <p:spPr bwMode="auto">
            <a:xfrm>
              <a:off x="1024" y="1435"/>
              <a:ext cx="1031" cy="557"/>
            </a:xfrm>
            <a:custGeom>
              <a:avLst/>
              <a:gdLst>
                <a:gd name="T0" fmla="*/ 0 w 1031"/>
                <a:gd name="T1" fmla="*/ 539 h 557"/>
                <a:gd name="T2" fmla="*/ 987 w 1031"/>
                <a:gd name="T3" fmla="*/ 12 h 557"/>
                <a:gd name="T4" fmla="*/ 998 w 1031"/>
                <a:gd name="T5" fmla="*/ 30 h 557"/>
                <a:gd name="T6" fmla="*/ 11 w 1031"/>
                <a:gd name="T7" fmla="*/ 557 h 557"/>
                <a:gd name="T8" fmla="*/ 0 w 1031"/>
                <a:gd name="T9" fmla="*/ 539 h 557"/>
                <a:gd name="T10" fmla="*/ 992 w 1031"/>
                <a:gd name="T11" fmla="*/ 21 h 557"/>
                <a:gd name="T12" fmla="*/ 957 w 1031"/>
                <a:gd name="T13" fmla="*/ 4 h 557"/>
                <a:gd name="T14" fmla="*/ 1031 w 1031"/>
                <a:gd name="T15" fmla="*/ 0 h 557"/>
                <a:gd name="T16" fmla="*/ 990 w 1031"/>
                <a:gd name="T17" fmla="*/ 58 h 557"/>
                <a:gd name="T18" fmla="*/ 992 w 1031"/>
                <a:gd name="T19" fmla="*/ 21 h 55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31"/>
                <a:gd name="T31" fmla="*/ 0 h 557"/>
                <a:gd name="T32" fmla="*/ 1031 w 1031"/>
                <a:gd name="T33" fmla="*/ 557 h 55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31" h="557">
                  <a:moveTo>
                    <a:pt x="0" y="539"/>
                  </a:moveTo>
                  <a:lnTo>
                    <a:pt x="987" y="12"/>
                  </a:lnTo>
                  <a:lnTo>
                    <a:pt x="998" y="30"/>
                  </a:lnTo>
                  <a:lnTo>
                    <a:pt x="11" y="557"/>
                  </a:lnTo>
                  <a:lnTo>
                    <a:pt x="0" y="539"/>
                  </a:lnTo>
                  <a:close/>
                  <a:moveTo>
                    <a:pt x="992" y="21"/>
                  </a:moveTo>
                  <a:lnTo>
                    <a:pt x="957" y="4"/>
                  </a:lnTo>
                  <a:lnTo>
                    <a:pt x="1031" y="0"/>
                  </a:lnTo>
                  <a:lnTo>
                    <a:pt x="990" y="58"/>
                  </a:lnTo>
                  <a:lnTo>
                    <a:pt x="992" y="21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089" name="Line 5"/>
            <p:cNvSpPr>
              <a:spLocks noChangeShapeType="1"/>
            </p:cNvSpPr>
            <p:nvPr/>
          </p:nvSpPr>
          <p:spPr bwMode="auto">
            <a:xfrm>
              <a:off x="1008" y="1983"/>
              <a:ext cx="1310" cy="0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090" name="Line 6"/>
            <p:cNvSpPr>
              <a:spLocks noChangeShapeType="1"/>
            </p:cNvSpPr>
            <p:nvPr/>
          </p:nvSpPr>
          <p:spPr bwMode="auto">
            <a:xfrm flipH="1">
              <a:off x="466" y="1990"/>
              <a:ext cx="549" cy="678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091" name="Line 7"/>
            <p:cNvSpPr>
              <a:spLocks noChangeShapeType="1"/>
            </p:cNvSpPr>
            <p:nvPr/>
          </p:nvSpPr>
          <p:spPr bwMode="auto">
            <a:xfrm flipV="1">
              <a:off x="1015" y="1106"/>
              <a:ext cx="0" cy="877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092" name="Freeform 8"/>
            <p:cNvSpPr>
              <a:spLocks noEditPoints="1"/>
            </p:cNvSpPr>
            <p:nvPr/>
          </p:nvSpPr>
          <p:spPr bwMode="auto">
            <a:xfrm>
              <a:off x="1033" y="1986"/>
              <a:ext cx="980" cy="582"/>
            </a:xfrm>
            <a:custGeom>
              <a:avLst/>
              <a:gdLst>
                <a:gd name="T0" fmla="*/ 0 w 6694"/>
                <a:gd name="T1" fmla="*/ 0 h 4249"/>
                <a:gd name="T2" fmla="*/ 0 w 6694"/>
                <a:gd name="T3" fmla="*/ 0 h 4249"/>
                <a:gd name="T4" fmla="*/ 0 w 6694"/>
                <a:gd name="T5" fmla="*/ 0 h 4249"/>
                <a:gd name="T6" fmla="*/ 0 w 6694"/>
                <a:gd name="T7" fmla="*/ 0 h 4249"/>
                <a:gd name="T8" fmla="*/ 0 w 6694"/>
                <a:gd name="T9" fmla="*/ 0 h 4249"/>
                <a:gd name="T10" fmla="*/ 0 w 6694"/>
                <a:gd name="T11" fmla="*/ 0 h 4249"/>
                <a:gd name="T12" fmla="*/ 0 w 6694"/>
                <a:gd name="T13" fmla="*/ 0 h 4249"/>
                <a:gd name="T14" fmla="*/ 0 w 6694"/>
                <a:gd name="T15" fmla="*/ 0 h 4249"/>
                <a:gd name="T16" fmla="*/ 0 w 6694"/>
                <a:gd name="T17" fmla="*/ 0 h 4249"/>
                <a:gd name="T18" fmla="*/ 0 w 6694"/>
                <a:gd name="T19" fmla="*/ 0 h 4249"/>
                <a:gd name="T20" fmla="*/ 0 w 6694"/>
                <a:gd name="T21" fmla="*/ 0 h 4249"/>
                <a:gd name="T22" fmla="*/ 0 w 6694"/>
                <a:gd name="T23" fmla="*/ 0 h 4249"/>
                <a:gd name="T24" fmla="*/ 0 w 6694"/>
                <a:gd name="T25" fmla="*/ 0 h 4249"/>
                <a:gd name="T26" fmla="*/ 0 w 6694"/>
                <a:gd name="T27" fmla="*/ 0 h 4249"/>
                <a:gd name="T28" fmla="*/ 0 w 6694"/>
                <a:gd name="T29" fmla="*/ 0 h 4249"/>
                <a:gd name="T30" fmla="*/ 0 w 6694"/>
                <a:gd name="T31" fmla="*/ 0 h 4249"/>
                <a:gd name="T32" fmla="*/ 0 w 6694"/>
                <a:gd name="T33" fmla="*/ 0 h 4249"/>
                <a:gd name="T34" fmla="*/ 0 w 6694"/>
                <a:gd name="T35" fmla="*/ 0 h 4249"/>
                <a:gd name="T36" fmla="*/ 0 w 6694"/>
                <a:gd name="T37" fmla="*/ 0 h 4249"/>
                <a:gd name="T38" fmla="*/ 0 w 6694"/>
                <a:gd name="T39" fmla="*/ 0 h 4249"/>
                <a:gd name="T40" fmla="*/ 0 w 6694"/>
                <a:gd name="T41" fmla="*/ 0 h 4249"/>
                <a:gd name="T42" fmla="*/ 0 w 6694"/>
                <a:gd name="T43" fmla="*/ 0 h 4249"/>
                <a:gd name="T44" fmla="*/ 0 w 6694"/>
                <a:gd name="T45" fmla="*/ 0 h 4249"/>
                <a:gd name="T46" fmla="*/ 0 w 6694"/>
                <a:gd name="T47" fmla="*/ 0 h 4249"/>
                <a:gd name="T48" fmla="*/ 0 w 6694"/>
                <a:gd name="T49" fmla="*/ 0 h 4249"/>
                <a:gd name="T50" fmla="*/ 0 w 6694"/>
                <a:gd name="T51" fmla="*/ 0 h 4249"/>
                <a:gd name="T52" fmla="*/ 0 w 6694"/>
                <a:gd name="T53" fmla="*/ 0 h 4249"/>
                <a:gd name="T54" fmla="*/ 0 w 6694"/>
                <a:gd name="T55" fmla="*/ 0 h 4249"/>
                <a:gd name="T56" fmla="*/ 0 w 6694"/>
                <a:gd name="T57" fmla="*/ 0 h 4249"/>
                <a:gd name="T58" fmla="*/ 0 w 6694"/>
                <a:gd name="T59" fmla="*/ 0 h 4249"/>
                <a:gd name="T60" fmla="*/ 0 w 6694"/>
                <a:gd name="T61" fmla="*/ 0 h 4249"/>
                <a:gd name="T62" fmla="*/ 0 w 6694"/>
                <a:gd name="T63" fmla="*/ 0 h 4249"/>
                <a:gd name="T64" fmla="*/ 0 w 6694"/>
                <a:gd name="T65" fmla="*/ 0 h 4249"/>
                <a:gd name="T66" fmla="*/ 0 w 6694"/>
                <a:gd name="T67" fmla="*/ 0 h 4249"/>
                <a:gd name="T68" fmla="*/ 0 w 6694"/>
                <a:gd name="T69" fmla="*/ 0 h 4249"/>
                <a:gd name="T70" fmla="*/ 0 w 6694"/>
                <a:gd name="T71" fmla="*/ 0 h 4249"/>
                <a:gd name="T72" fmla="*/ 0 w 6694"/>
                <a:gd name="T73" fmla="*/ 0 h 4249"/>
                <a:gd name="T74" fmla="*/ 0 w 6694"/>
                <a:gd name="T75" fmla="*/ 0 h 4249"/>
                <a:gd name="T76" fmla="*/ 0 w 6694"/>
                <a:gd name="T77" fmla="*/ 0 h 4249"/>
                <a:gd name="T78" fmla="*/ 0 w 6694"/>
                <a:gd name="T79" fmla="*/ 0 h 4249"/>
                <a:gd name="T80" fmla="*/ 0 w 6694"/>
                <a:gd name="T81" fmla="*/ 0 h 4249"/>
                <a:gd name="T82" fmla="*/ 0 w 6694"/>
                <a:gd name="T83" fmla="*/ 0 h 4249"/>
                <a:gd name="T84" fmla="*/ 0 w 6694"/>
                <a:gd name="T85" fmla="*/ 0 h 4249"/>
                <a:gd name="T86" fmla="*/ 0 w 6694"/>
                <a:gd name="T87" fmla="*/ 0 h 4249"/>
                <a:gd name="T88" fmla="*/ 0 w 6694"/>
                <a:gd name="T89" fmla="*/ 0 h 4249"/>
                <a:gd name="T90" fmla="*/ 0 w 6694"/>
                <a:gd name="T91" fmla="*/ 0 h 4249"/>
                <a:gd name="T92" fmla="*/ 0 w 6694"/>
                <a:gd name="T93" fmla="*/ 0 h 4249"/>
                <a:gd name="T94" fmla="*/ 0 w 6694"/>
                <a:gd name="T95" fmla="*/ 0 h 4249"/>
                <a:gd name="T96" fmla="*/ 0 w 6694"/>
                <a:gd name="T97" fmla="*/ 0 h 4249"/>
                <a:gd name="T98" fmla="*/ 0 w 6694"/>
                <a:gd name="T99" fmla="*/ 0 h 4249"/>
                <a:gd name="T100" fmla="*/ 0 w 6694"/>
                <a:gd name="T101" fmla="*/ 0 h 4249"/>
                <a:gd name="T102" fmla="*/ 0 w 6694"/>
                <a:gd name="T103" fmla="*/ 0 h 4249"/>
                <a:gd name="T104" fmla="*/ 0 w 6694"/>
                <a:gd name="T105" fmla="*/ 0 h 424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6694"/>
                <a:gd name="T160" fmla="*/ 0 h 4249"/>
                <a:gd name="T161" fmla="*/ 6694 w 6694"/>
                <a:gd name="T162" fmla="*/ 4249 h 424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6694" h="4249">
                  <a:moveTo>
                    <a:pt x="42" y="8"/>
                  </a:moveTo>
                  <a:lnTo>
                    <a:pt x="169" y="88"/>
                  </a:lnTo>
                  <a:cubicBezTo>
                    <a:pt x="180" y="95"/>
                    <a:pt x="184" y="111"/>
                    <a:pt x="176" y="122"/>
                  </a:cubicBezTo>
                  <a:cubicBezTo>
                    <a:pt x="169" y="134"/>
                    <a:pt x="154" y="137"/>
                    <a:pt x="142" y="130"/>
                  </a:cubicBezTo>
                  <a:lnTo>
                    <a:pt x="15" y="50"/>
                  </a:lnTo>
                  <a:cubicBezTo>
                    <a:pt x="3" y="43"/>
                    <a:pt x="0" y="27"/>
                    <a:pt x="7" y="15"/>
                  </a:cubicBezTo>
                  <a:cubicBezTo>
                    <a:pt x="15" y="4"/>
                    <a:pt x="30" y="0"/>
                    <a:pt x="42" y="8"/>
                  </a:cubicBezTo>
                  <a:close/>
                  <a:moveTo>
                    <a:pt x="338" y="195"/>
                  </a:moveTo>
                  <a:lnTo>
                    <a:pt x="465" y="275"/>
                  </a:lnTo>
                  <a:cubicBezTo>
                    <a:pt x="476" y="282"/>
                    <a:pt x="480" y="297"/>
                    <a:pt x="472" y="309"/>
                  </a:cubicBezTo>
                  <a:cubicBezTo>
                    <a:pt x="465" y="321"/>
                    <a:pt x="450" y="324"/>
                    <a:pt x="438" y="317"/>
                  </a:cubicBezTo>
                  <a:lnTo>
                    <a:pt x="311" y="237"/>
                  </a:lnTo>
                  <a:cubicBezTo>
                    <a:pt x="299" y="229"/>
                    <a:pt x="296" y="214"/>
                    <a:pt x="303" y="202"/>
                  </a:cubicBezTo>
                  <a:cubicBezTo>
                    <a:pt x="311" y="191"/>
                    <a:pt x="326" y="187"/>
                    <a:pt x="338" y="195"/>
                  </a:cubicBezTo>
                  <a:close/>
                  <a:moveTo>
                    <a:pt x="634" y="381"/>
                  </a:moveTo>
                  <a:lnTo>
                    <a:pt x="760" y="462"/>
                  </a:lnTo>
                  <a:cubicBezTo>
                    <a:pt x="772" y="469"/>
                    <a:pt x="776" y="484"/>
                    <a:pt x="768" y="496"/>
                  </a:cubicBezTo>
                  <a:cubicBezTo>
                    <a:pt x="761" y="508"/>
                    <a:pt x="745" y="511"/>
                    <a:pt x="734" y="504"/>
                  </a:cubicBezTo>
                  <a:lnTo>
                    <a:pt x="607" y="424"/>
                  </a:lnTo>
                  <a:cubicBezTo>
                    <a:pt x="595" y="416"/>
                    <a:pt x="592" y="401"/>
                    <a:pt x="599" y="389"/>
                  </a:cubicBezTo>
                  <a:cubicBezTo>
                    <a:pt x="607" y="378"/>
                    <a:pt x="622" y="374"/>
                    <a:pt x="634" y="381"/>
                  </a:cubicBezTo>
                  <a:close/>
                  <a:moveTo>
                    <a:pt x="930" y="568"/>
                  </a:moveTo>
                  <a:lnTo>
                    <a:pt x="1056" y="648"/>
                  </a:lnTo>
                  <a:cubicBezTo>
                    <a:pt x="1068" y="656"/>
                    <a:pt x="1072" y="671"/>
                    <a:pt x="1064" y="683"/>
                  </a:cubicBezTo>
                  <a:cubicBezTo>
                    <a:pt x="1057" y="695"/>
                    <a:pt x="1041" y="698"/>
                    <a:pt x="1030" y="691"/>
                  </a:cubicBezTo>
                  <a:lnTo>
                    <a:pt x="903" y="611"/>
                  </a:lnTo>
                  <a:cubicBezTo>
                    <a:pt x="891" y="603"/>
                    <a:pt x="888" y="588"/>
                    <a:pt x="895" y="576"/>
                  </a:cubicBezTo>
                  <a:cubicBezTo>
                    <a:pt x="902" y="564"/>
                    <a:pt x="918" y="561"/>
                    <a:pt x="930" y="568"/>
                  </a:cubicBezTo>
                  <a:close/>
                  <a:moveTo>
                    <a:pt x="1226" y="755"/>
                  </a:moveTo>
                  <a:lnTo>
                    <a:pt x="1352" y="835"/>
                  </a:lnTo>
                  <a:cubicBezTo>
                    <a:pt x="1364" y="843"/>
                    <a:pt x="1367" y="858"/>
                    <a:pt x="1360" y="870"/>
                  </a:cubicBezTo>
                  <a:cubicBezTo>
                    <a:pt x="1353" y="882"/>
                    <a:pt x="1337" y="885"/>
                    <a:pt x="1326" y="878"/>
                  </a:cubicBezTo>
                  <a:lnTo>
                    <a:pt x="1199" y="798"/>
                  </a:lnTo>
                  <a:cubicBezTo>
                    <a:pt x="1187" y="790"/>
                    <a:pt x="1184" y="775"/>
                    <a:pt x="1191" y="763"/>
                  </a:cubicBezTo>
                  <a:cubicBezTo>
                    <a:pt x="1198" y="751"/>
                    <a:pt x="1214" y="748"/>
                    <a:pt x="1226" y="755"/>
                  </a:cubicBezTo>
                  <a:close/>
                  <a:moveTo>
                    <a:pt x="1521" y="942"/>
                  </a:moveTo>
                  <a:lnTo>
                    <a:pt x="1648" y="1022"/>
                  </a:lnTo>
                  <a:cubicBezTo>
                    <a:pt x="1660" y="1030"/>
                    <a:pt x="1663" y="1045"/>
                    <a:pt x="1656" y="1057"/>
                  </a:cubicBezTo>
                  <a:cubicBezTo>
                    <a:pt x="1649" y="1068"/>
                    <a:pt x="1633" y="1072"/>
                    <a:pt x="1622" y="1065"/>
                  </a:cubicBezTo>
                  <a:lnTo>
                    <a:pt x="1495" y="984"/>
                  </a:lnTo>
                  <a:cubicBezTo>
                    <a:pt x="1483" y="977"/>
                    <a:pt x="1480" y="962"/>
                    <a:pt x="1487" y="950"/>
                  </a:cubicBezTo>
                  <a:cubicBezTo>
                    <a:pt x="1494" y="938"/>
                    <a:pt x="1510" y="935"/>
                    <a:pt x="1521" y="942"/>
                  </a:cubicBezTo>
                  <a:close/>
                  <a:moveTo>
                    <a:pt x="1817" y="1129"/>
                  </a:moveTo>
                  <a:lnTo>
                    <a:pt x="1944" y="1209"/>
                  </a:lnTo>
                  <a:cubicBezTo>
                    <a:pt x="1956" y="1217"/>
                    <a:pt x="1959" y="1232"/>
                    <a:pt x="1952" y="1244"/>
                  </a:cubicBezTo>
                  <a:cubicBezTo>
                    <a:pt x="1945" y="1255"/>
                    <a:pt x="1929" y="1259"/>
                    <a:pt x="1917" y="1251"/>
                  </a:cubicBezTo>
                  <a:lnTo>
                    <a:pt x="1791" y="1171"/>
                  </a:lnTo>
                  <a:cubicBezTo>
                    <a:pt x="1779" y="1164"/>
                    <a:pt x="1775" y="1149"/>
                    <a:pt x="1783" y="1137"/>
                  </a:cubicBezTo>
                  <a:cubicBezTo>
                    <a:pt x="1790" y="1125"/>
                    <a:pt x="1806" y="1122"/>
                    <a:pt x="1817" y="1129"/>
                  </a:cubicBezTo>
                  <a:close/>
                  <a:moveTo>
                    <a:pt x="2113" y="1316"/>
                  </a:moveTo>
                  <a:lnTo>
                    <a:pt x="2240" y="1396"/>
                  </a:lnTo>
                  <a:cubicBezTo>
                    <a:pt x="2252" y="1403"/>
                    <a:pt x="2255" y="1419"/>
                    <a:pt x="2248" y="1431"/>
                  </a:cubicBezTo>
                  <a:cubicBezTo>
                    <a:pt x="2241" y="1442"/>
                    <a:pt x="2225" y="1446"/>
                    <a:pt x="2213" y="1438"/>
                  </a:cubicBezTo>
                  <a:lnTo>
                    <a:pt x="2087" y="1358"/>
                  </a:lnTo>
                  <a:cubicBezTo>
                    <a:pt x="2075" y="1351"/>
                    <a:pt x="2071" y="1335"/>
                    <a:pt x="2079" y="1324"/>
                  </a:cubicBezTo>
                  <a:cubicBezTo>
                    <a:pt x="2086" y="1312"/>
                    <a:pt x="2102" y="1309"/>
                    <a:pt x="2113" y="1316"/>
                  </a:cubicBezTo>
                  <a:close/>
                  <a:moveTo>
                    <a:pt x="2409" y="1503"/>
                  </a:moveTo>
                  <a:lnTo>
                    <a:pt x="2536" y="1583"/>
                  </a:lnTo>
                  <a:cubicBezTo>
                    <a:pt x="2548" y="1590"/>
                    <a:pt x="2551" y="1606"/>
                    <a:pt x="2544" y="1617"/>
                  </a:cubicBezTo>
                  <a:cubicBezTo>
                    <a:pt x="2536" y="1629"/>
                    <a:pt x="2521" y="1633"/>
                    <a:pt x="2509" y="1625"/>
                  </a:cubicBezTo>
                  <a:lnTo>
                    <a:pt x="2382" y="1545"/>
                  </a:lnTo>
                  <a:cubicBezTo>
                    <a:pt x="2371" y="1538"/>
                    <a:pt x="2367" y="1522"/>
                    <a:pt x="2375" y="1511"/>
                  </a:cubicBezTo>
                  <a:cubicBezTo>
                    <a:pt x="2382" y="1499"/>
                    <a:pt x="2398" y="1495"/>
                    <a:pt x="2409" y="1503"/>
                  </a:cubicBezTo>
                  <a:close/>
                  <a:moveTo>
                    <a:pt x="2705" y="1690"/>
                  </a:moveTo>
                  <a:lnTo>
                    <a:pt x="2832" y="1770"/>
                  </a:lnTo>
                  <a:cubicBezTo>
                    <a:pt x="2844" y="1777"/>
                    <a:pt x="2847" y="1793"/>
                    <a:pt x="2840" y="1804"/>
                  </a:cubicBezTo>
                  <a:cubicBezTo>
                    <a:pt x="2832" y="1816"/>
                    <a:pt x="2817" y="1819"/>
                    <a:pt x="2805" y="1812"/>
                  </a:cubicBezTo>
                  <a:lnTo>
                    <a:pt x="2678" y="1732"/>
                  </a:lnTo>
                  <a:cubicBezTo>
                    <a:pt x="2667" y="1725"/>
                    <a:pt x="2663" y="1709"/>
                    <a:pt x="2671" y="1698"/>
                  </a:cubicBezTo>
                  <a:cubicBezTo>
                    <a:pt x="2678" y="1686"/>
                    <a:pt x="2693" y="1682"/>
                    <a:pt x="2705" y="1690"/>
                  </a:cubicBezTo>
                  <a:close/>
                  <a:moveTo>
                    <a:pt x="3001" y="1877"/>
                  </a:moveTo>
                  <a:lnTo>
                    <a:pt x="3128" y="1957"/>
                  </a:lnTo>
                  <a:cubicBezTo>
                    <a:pt x="3140" y="1964"/>
                    <a:pt x="3143" y="1980"/>
                    <a:pt x="3136" y="1991"/>
                  </a:cubicBezTo>
                  <a:cubicBezTo>
                    <a:pt x="3128" y="2003"/>
                    <a:pt x="3113" y="2006"/>
                    <a:pt x="3101" y="1999"/>
                  </a:cubicBezTo>
                  <a:lnTo>
                    <a:pt x="2974" y="1919"/>
                  </a:lnTo>
                  <a:cubicBezTo>
                    <a:pt x="2963" y="1912"/>
                    <a:pt x="2959" y="1896"/>
                    <a:pt x="2967" y="1884"/>
                  </a:cubicBezTo>
                  <a:cubicBezTo>
                    <a:pt x="2974" y="1873"/>
                    <a:pt x="2989" y="1869"/>
                    <a:pt x="3001" y="1877"/>
                  </a:cubicBezTo>
                  <a:close/>
                  <a:moveTo>
                    <a:pt x="3297" y="2064"/>
                  </a:moveTo>
                  <a:lnTo>
                    <a:pt x="3424" y="2144"/>
                  </a:lnTo>
                  <a:cubicBezTo>
                    <a:pt x="3435" y="2151"/>
                    <a:pt x="3439" y="2166"/>
                    <a:pt x="3432" y="2178"/>
                  </a:cubicBezTo>
                  <a:cubicBezTo>
                    <a:pt x="3424" y="2190"/>
                    <a:pt x="3409" y="2193"/>
                    <a:pt x="3397" y="2186"/>
                  </a:cubicBezTo>
                  <a:lnTo>
                    <a:pt x="3270" y="2106"/>
                  </a:lnTo>
                  <a:cubicBezTo>
                    <a:pt x="3259" y="2098"/>
                    <a:pt x="3255" y="2083"/>
                    <a:pt x="3262" y="2071"/>
                  </a:cubicBezTo>
                  <a:cubicBezTo>
                    <a:pt x="3270" y="2060"/>
                    <a:pt x="3285" y="2056"/>
                    <a:pt x="3297" y="2064"/>
                  </a:cubicBezTo>
                  <a:close/>
                  <a:moveTo>
                    <a:pt x="3593" y="2250"/>
                  </a:moveTo>
                  <a:lnTo>
                    <a:pt x="3720" y="2331"/>
                  </a:lnTo>
                  <a:cubicBezTo>
                    <a:pt x="3731" y="2338"/>
                    <a:pt x="3735" y="2353"/>
                    <a:pt x="3727" y="2365"/>
                  </a:cubicBezTo>
                  <a:cubicBezTo>
                    <a:pt x="3720" y="2377"/>
                    <a:pt x="3705" y="2380"/>
                    <a:pt x="3693" y="2373"/>
                  </a:cubicBezTo>
                  <a:lnTo>
                    <a:pt x="3566" y="2293"/>
                  </a:lnTo>
                  <a:cubicBezTo>
                    <a:pt x="3554" y="2285"/>
                    <a:pt x="3551" y="2270"/>
                    <a:pt x="3558" y="2258"/>
                  </a:cubicBezTo>
                  <a:cubicBezTo>
                    <a:pt x="3566" y="2247"/>
                    <a:pt x="3581" y="2243"/>
                    <a:pt x="3593" y="2250"/>
                  </a:cubicBezTo>
                  <a:close/>
                  <a:moveTo>
                    <a:pt x="3889" y="2437"/>
                  </a:moveTo>
                  <a:lnTo>
                    <a:pt x="4016" y="2517"/>
                  </a:lnTo>
                  <a:cubicBezTo>
                    <a:pt x="4027" y="2525"/>
                    <a:pt x="4031" y="2540"/>
                    <a:pt x="4023" y="2552"/>
                  </a:cubicBezTo>
                  <a:cubicBezTo>
                    <a:pt x="4016" y="2564"/>
                    <a:pt x="4001" y="2567"/>
                    <a:pt x="3989" y="2560"/>
                  </a:cubicBezTo>
                  <a:lnTo>
                    <a:pt x="3862" y="2480"/>
                  </a:lnTo>
                  <a:cubicBezTo>
                    <a:pt x="3850" y="2472"/>
                    <a:pt x="3847" y="2457"/>
                    <a:pt x="3854" y="2445"/>
                  </a:cubicBezTo>
                  <a:cubicBezTo>
                    <a:pt x="3862" y="2433"/>
                    <a:pt x="3877" y="2430"/>
                    <a:pt x="3889" y="2437"/>
                  </a:cubicBezTo>
                  <a:close/>
                  <a:moveTo>
                    <a:pt x="4185" y="2624"/>
                  </a:moveTo>
                  <a:lnTo>
                    <a:pt x="4312" y="2704"/>
                  </a:lnTo>
                  <a:cubicBezTo>
                    <a:pt x="4323" y="2712"/>
                    <a:pt x="4327" y="2727"/>
                    <a:pt x="4319" y="2739"/>
                  </a:cubicBezTo>
                  <a:cubicBezTo>
                    <a:pt x="4312" y="2750"/>
                    <a:pt x="4297" y="2754"/>
                    <a:pt x="4285" y="2747"/>
                  </a:cubicBezTo>
                  <a:lnTo>
                    <a:pt x="4158" y="2666"/>
                  </a:lnTo>
                  <a:cubicBezTo>
                    <a:pt x="4146" y="2659"/>
                    <a:pt x="4143" y="2644"/>
                    <a:pt x="4150" y="2632"/>
                  </a:cubicBezTo>
                  <a:cubicBezTo>
                    <a:pt x="4158" y="2620"/>
                    <a:pt x="4173" y="2617"/>
                    <a:pt x="4185" y="2624"/>
                  </a:cubicBezTo>
                  <a:close/>
                  <a:moveTo>
                    <a:pt x="4481" y="2811"/>
                  </a:moveTo>
                  <a:lnTo>
                    <a:pt x="4607" y="2891"/>
                  </a:lnTo>
                  <a:cubicBezTo>
                    <a:pt x="4619" y="2899"/>
                    <a:pt x="4623" y="2914"/>
                    <a:pt x="4615" y="2926"/>
                  </a:cubicBezTo>
                  <a:cubicBezTo>
                    <a:pt x="4608" y="2937"/>
                    <a:pt x="4592" y="2941"/>
                    <a:pt x="4581" y="2933"/>
                  </a:cubicBezTo>
                  <a:lnTo>
                    <a:pt x="4454" y="2853"/>
                  </a:lnTo>
                  <a:cubicBezTo>
                    <a:pt x="4442" y="2846"/>
                    <a:pt x="4439" y="2831"/>
                    <a:pt x="4446" y="2819"/>
                  </a:cubicBezTo>
                  <a:cubicBezTo>
                    <a:pt x="4454" y="2807"/>
                    <a:pt x="4469" y="2804"/>
                    <a:pt x="4481" y="2811"/>
                  </a:cubicBezTo>
                  <a:close/>
                  <a:moveTo>
                    <a:pt x="4777" y="2998"/>
                  </a:moveTo>
                  <a:lnTo>
                    <a:pt x="4903" y="3078"/>
                  </a:lnTo>
                  <a:cubicBezTo>
                    <a:pt x="4915" y="3085"/>
                    <a:pt x="4919" y="3101"/>
                    <a:pt x="4911" y="3113"/>
                  </a:cubicBezTo>
                  <a:cubicBezTo>
                    <a:pt x="4904" y="3124"/>
                    <a:pt x="4888" y="3128"/>
                    <a:pt x="4877" y="3120"/>
                  </a:cubicBezTo>
                  <a:lnTo>
                    <a:pt x="4750" y="3040"/>
                  </a:lnTo>
                  <a:cubicBezTo>
                    <a:pt x="4738" y="3033"/>
                    <a:pt x="4735" y="3017"/>
                    <a:pt x="4742" y="3006"/>
                  </a:cubicBezTo>
                  <a:cubicBezTo>
                    <a:pt x="4749" y="2994"/>
                    <a:pt x="4765" y="2991"/>
                    <a:pt x="4777" y="2998"/>
                  </a:cubicBezTo>
                  <a:close/>
                  <a:moveTo>
                    <a:pt x="5072" y="3185"/>
                  </a:moveTo>
                  <a:lnTo>
                    <a:pt x="5199" y="3265"/>
                  </a:lnTo>
                  <a:cubicBezTo>
                    <a:pt x="5211" y="3272"/>
                    <a:pt x="5214" y="3288"/>
                    <a:pt x="5207" y="3300"/>
                  </a:cubicBezTo>
                  <a:cubicBezTo>
                    <a:pt x="5200" y="3311"/>
                    <a:pt x="5184" y="3315"/>
                    <a:pt x="5173" y="3307"/>
                  </a:cubicBezTo>
                  <a:lnTo>
                    <a:pt x="5046" y="3227"/>
                  </a:lnTo>
                  <a:cubicBezTo>
                    <a:pt x="5034" y="3220"/>
                    <a:pt x="5031" y="3204"/>
                    <a:pt x="5038" y="3193"/>
                  </a:cubicBezTo>
                  <a:cubicBezTo>
                    <a:pt x="5045" y="3181"/>
                    <a:pt x="5061" y="3178"/>
                    <a:pt x="5072" y="3185"/>
                  </a:cubicBezTo>
                  <a:close/>
                  <a:moveTo>
                    <a:pt x="5368" y="3372"/>
                  </a:moveTo>
                  <a:lnTo>
                    <a:pt x="5495" y="3452"/>
                  </a:lnTo>
                  <a:cubicBezTo>
                    <a:pt x="5507" y="3459"/>
                    <a:pt x="5510" y="3475"/>
                    <a:pt x="5503" y="3486"/>
                  </a:cubicBezTo>
                  <a:cubicBezTo>
                    <a:pt x="5496" y="3498"/>
                    <a:pt x="5480" y="3502"/>
                    <a:pt x="5469" y="3494"/>
                  </a:cubicBezTo>
                  <a:lnTo>
                    <a:pt x="5342" y="3414"/>
                  </a:lnTo>
                  <a:cubicBezTo>
                    <a:pt x="5330" y="3407"/>
                    <a:pt x="5327" y="3391"/>
                    <a:pt x="5334" y="3380"/>
                  </a:cubicBezTo>
                  <a:cubicBezTo>
                    <a:pt x="5341" y="3368"/>
                    <a:pt x="5357" y="3364"/>
                    <a:pt x="5368" y="3372"/>
                  </a:cubicBezTo>
                  <a:close/>
                  <a:moveTo>
                    <a:pt x="5664" y="3559"/>
                  </a:moveTo>
                  <a:lnTo>
                    <a:pt x="5791" y="3639"/>
                  </a:lnTo>
                  <a:cubicBezTo>
                    <a:pt x="5803" y="3646"/>
                    <a:pt x="5806" y="3662"/>
                    <a:pt x="5799" y="3673"/>
                  </a:cubicBezTo>
                  <a:cubicBezTo>
                    <a:pt x="5792" y="3685"/>
                    <a:pt x="5776" y="3688"/>
                    <a:pt x="5764" y="3681"/>
                  </a:cubicBezTo>
                  <a:lnTo>
                    <a:pt x="5638" y="3601"/>
                  </a:lnTo>
                  <a:cubicBezTo>
                    <a:pt x="5626" y="3594"/>
                    <a:pt x="5622" y="3578"/>
                    <a:pt x="5630" y="3566"/>
                  </a:cubicBezTo>
                  <a:cubicBezTo>
                    <a:pt x="5637" y="3555"/>
                    <a:pt x="5653" y="3551"/>
                    <a:pt x="5664" y="3559"/>
                  </a:cubicBezTo>
                  <a:close/>
                  <a:moveTo>
                    <a:pt x="5960" y="3746"/>
                  </a:moveTo>
                  <a:lnTo>
                    <a:pt x="6087" y="3826"/>
                  </a:lnTo>
                  <a:cubicBezTo>
                    <a:pt x="6099" y="3833"/>
                    <a:pt x="6102" y="3849"/>
                    <a:pt x="6095" y="3860"/>
                  </a:cubicBezTo>
                  <a:cubicBezTo>
                    <a:pt x="6087" y="3872"/>
                    <a:pt x="6072" y="3875"/>
                    <a:pt x="6060" y="3868"/>
                  </a:cubicBezTo>
                  <a:lnTo>
                    <a:pt x="5934" y="3788"/>
                  </a:lnTo>
                  <a:cubicBezTo>
                    <a:pt x="5922" y="3781"/>
                    <a:pt x="5918" y="3765"/>
                    <a:pt x="5926" y="3753"/>
                  </a:cubicBezTo>
                  <a:cubicBezTo>
                    <a:pt x="5933" y="3742"/>
                    <a:pt x="5949" y="3738"/>
                    <a:pt x="5960" y="3746"/>
                  </a:cubicBezTo>
                  <a:close/>
                  <a:moveTo>
                    <a:pt x="6256" y="3933"/>
                  </a:moveTo>
                  <a:lnTo>
                    <a:pt x="6383" y="4013"/>
                  </a:lnTo>
                  <a:cubicBezTo>
                    <a:pt x="6395" y="4020"/>
                    <a:pt x="6398" y="4035"/>
                    <a:pt x="6391" y="4047"/>
                  </a:cubicBezTo>
                  <a:cubicBezTo>
                    <a:pt x="6383" y="4059"/>
                    <a:pt x="6368" y="4062"/>
                    <a:pt x="6356" y="4055"/>
                  </a:cubicBezTo>
                  <a:lnTo>
                    <a:pt x="6229" y="3975"/>
                  </a:lnTo>
                  <a:cubicBezTo>
                    <a:pt x="6218" y="3967"/>
                    <a:pt x="6214" y="3952"/>
                    <a:pt x="6222" y="3940"/>
                  </a:cubicBezTo>
                  <a:cubicBezTo>
                    <a:pt x="6229" y="3929"/>
                    <a:pt x="6244" y="3925"/>
                    <a:pt x="6256" y="3933"/>
                  </a:cubicBezTo>
                  <a:close/>
                  <a:moveTo>
                    <a:pt x="6552" y="4119"/>
                  </a:moveTo>
                  <a:lnTo>
                    <a:pt x="6679" y="4200"/>
                  </a:lnTo>
                  <a:cubicBezTo>
                    <a:pt x="6691" y="4207"/>
                    <a:pt x="6694" y="4222"/>
                    <a:pt x="6687" y="4234"/>
                  </a:cubicBezTo>
                  <a:cubicBezTo>
                    <a:pt x="6679" y="4246"/>
                    <a:pt x="6664" y="4249"/>
                    <a:pt x="6652" y="4242"/>
                  </a:cubicBezTo>
                  <a:lnTo>
                    <a:pt x="6525" y="4162"/>
                  </a:lnTo>
                  <a:cubicBezTo>
                    <a:pt x="6514" y="4154"/>
                    <a:pt x="6510" y="4139"/>
                    <a:pt x="6518" y="4127"/>
                  </a:cubicBezTo>
                  <a:cubicBezTo>
                    <a:pt x="6525" y="4116"/>
                    <a:pt x="6540" y="4112"/>
                    <a:pt x="6552" y="4119"/>
                  </a:cubicBez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2093" name="Freeform 9"/>
            <p:cNvSpPr>
              <a:spLocks noEditPoints="1"/>
            </p:cNvSpPr>
            <p:nvPr/>
          </p:nvSpPr>
          <p:spPr bwMode="auto">
            <a:xfrm>
              <a:off x="2014" y="1452"/>
              <a:ext cx="8" cy="1117"/>
            </a:xfrm>
            <a:custGeom>
              <a:avLst/>
              <a:gdLst>
                <a:gd name="T0" fmla="*/ 0 w 50"/>
                <a:gd name="T1" fmla="*/ 0 h 8150"/>
                <a:gd name="T2" fmla="*/ 0 w 50"/>
                <a:gd name="T3" fmla="*/ 0 h 8150"/>
                <a:gd name="T4" fmla="*/ 0 w 50"/>
                <a:gd name="T5" fmla="*/ 0 h 8150"/>
                <a:gd name="T6" fmla="*/ 0 w 50"/>
                <a:gd name="T7" fmla="*/ 0 h 8150"/>
                <a:gd name="T8" fmla="*/ 0 w 50"/>
                <a:gd name="T9" fmla="*/ 0 h 8150"/>
                <a:gd name="T10" fmla="*/ 0 w 50"/>
                <a:gd name="T11" fmla="*/ 0 h 8150"/>
                <a:gd name="T12" fmla="*/ 0 w 50"/>
                <a:gd name="T13" fmla="*/ 0 h 8150"/>
                <a:gd name="T14" fmla="*/ 0 w 50"/>
                <a:gd name="T15" fmla="*/ 0 h 8150"/>
                <a:gd name="T16" fmla="*/ 0 w 50"/>
                <a:gd name="T17" fmla="*/ 0 h 8150"/>
                <a:gd name="T18" fmla="*/ 0 w 50"/>
                <a:gd name="T19" fmla="*/ 0 h 8150"/>
                <a:gd name="T20" fmla="*/ 0 w 50"/>
                <a:gd name="T21" fmla="*/ 0 h 8150"/>
                <a:gd name="T22" fmla="*/ 0 w 50"/>
                <a:gd name="T23" fmla="*/ 0 h 8150"/>
                <a:gd name="T24" fmla="*/ 0 w 50"/>
                <a:gd name="T25" fmla="*/ 0 h 8150"/>
                <a:gd name="T26" fmla="*/ 0 w 50"/>
                <a:gd name="T27" fmla="*/ 0 h 8150"/>
                <a:gd name="T28" fmla="*/ 0 w 50"/>
                <a:gd name="T29" fmla="*/ 0 h 8150"/>
                <a:gd name="T30" fmla="*/ 0 w 50"/>
                <a:gd name="T31" fmla="*/ 0 h 8150"/>
                <a:gd name="T32" fmla="*/ 0 w 50"/>
                <a:gd name="T33" fmla="*/ 0 h 8150"/>
                <a:gd name="T34" fmla="*/ 0 w 50"/>
                <a:gd name="T35" fmla="*/ 0 h 8150"/>
                <a:gd name="T36" fmla="*/ 0 w 50"/>
                <a:gd name="T37" fmla="*/ 0 h 8150"/>
                <a:gd name="T38" fmla="*/ 0 w 50"/>
                <a:gd name="T39" fmla="*/ 0 h 8150"/>
                <a:gd name="T40" fmla="*/ 0 w 50"/>
                <a:gd name="T41" fmla="*/ 0 h 8150"/>
                <a:gd name="T42" fmla="*/ 0 w 50"/>
                <a:gd name="T43" fmla="*/ 0 h 8150"/>
                <a:gd name="T44" fmla="*/ 0 w 50"/>
                <a:gd name="T45" fmla="*/ 0 h 8150"/>
                <a:gd name="T46" fmla="*/ 0 w 50"/>
                <a:gd name="T47" fmla="*/ 0 h 8150"/>
                <a:gd name="T48" fmla="*/ 0 w 50"/>
                <a:gd name="T49" fmla="*/ 0 h 8150"/>
                <a:gd name="T50" fmla="*/ 0 w 50"/>
                <a:gd name="T51" fmla="*/ 0 h 8150"/>
                <a:gd name="T52" fmla="*/ 0 w 50"/>
                <a:gd name="T53" fmla="*/ 0 h 8150"/>
                <a:gd name="T54" fmla="*/ 0 w 50"/>
                <a:gd name="T55" fmla="*/ 0 h 8150"/>
                <a:gd name="T56" fmla="*/ 0 w 50"/>
                <a:gd name="T57" fmla="*/ 0 h 8150"/>
                <a:gd name="T58" fmla="*/ 0 w 50"/>
                <a:gd name="T59" fmla="*/ 0 h 8150"/>
                <a:gd name="T60" fmla="*/ 0 w 50"/>
                <a:gd name="T61" fmla="*/ 0 h 8150"/>
                <a:gd name="T62" fmla="*/ 0 w 50"/>
                <a:gd name="T63" fmla="*/ 0 h 8150"/>
                <a:gd name="T64" fmla="*/ 0 w 50"/>
                <a:gd name="T65" fmla="*/ 0 h 8150"/>
                <a:gd name="T66" fmla="*/ 0 w 50"/>
                <a:gd name="T67" fmla="*/ 0 h 8150"/>
                <a:gd name="T68" fmla="*/ 0 w 50"/>
                <a:gd name="T69" fmla="*/ 0 h 8150"/>
                <a:gd name="T70" fmla="*/ 0 w 50"/>
                <a:gd name="T71" fmla="*/ 0 h 8150"/>
                <a:gd name="T72" fmla="*/ 0 w 50"/>
                <a:gd name="T73" fmla="*/ 0 h 8150"/>
                <a:gd name="T74" fmla="*/ 0 w 50"/>
                <a:gd name="T75" fmla="*/ 0 h 8150"/>
                <a:gd name="T76" fmla="*/ 0 w 50"/>
                <a:gd name="T77" fmla="*/ 0 h 8150"/>
                <a:gd name="T78" fmla="*/ 0 w 50"/>
                <a:gd name="T79" fmla="*/ 0 h 8150"/>
                <a:gd name="T80" fmla="*/ 0 w 50"/>
                <a:gd name="T81" fmla="*/ 0 h 8150"/>
                <a:gd name="T82" fmla="*/ 0 w 50"/>
                <a:gd name="T83" fmla="*/ 0 h 8150"/>
                <a:gd name="T84" fmla="*/ 0 w 50"/>
                <a:gd name="T85" fmla="*/ 0 h 8150"/>
                <a:gd name="T86" fmla="*/ 0 w 50"/>
                <a:gd name="T87" fmla="*/ 0 h 8150"/>
                <a:gd name="T88" fmla="*/ 0 w 50"/>
                <a:gd name="T89" fmla="*/ 0 h 8150"/>
                <a:gd name="T90" fmla="*/ 0 w 50"/>
                <a:gd name="T91" fmla="*/ 0 h 8150"/>
                <a:gd name="T92" fmla="*/ 0 w 50"/>
                <a:gd name="T93" fmla="*/ 0 h 8150"/>
                <a:gd name="T94" fmla="*/ 0 w 50"/>
                <a:gd name="T95" fmla="*/ 0 h 8150"/>
                <a:gd name="T96" fmla="*/ 0 w 50"/>
                <a:gd name="T97" fmla="*/ 0 h 8150"/>
                <a:gd name="T98" fmla="*/ 0 w 50"/>
                <a:gd name="T99" fmla="*/ 0 h 8150"/>
                <a:gd name="T100" fmla="*/ 0 w 50"/>
                <a:gd name="T101" fmla="*/ 0 h 8150"/>
                <a:gd name="T102" fmla="*/ 0 w 50"/>
                <a:gd name="T103" fmla="*/ 0 h 8150"/>
                <a:gd name="T104" fmla="*/ 0 w 50"/>
                <a:gd name="T105" fmla="*/ 0 h 8150"/>
                <a:gd name="T106" fmla="*/ 0 w 50"/>
                <a:gd name="T107" fmla="*/ 0 h 8150"/>
                <a:gd name="T108" fmla="*/ 0 w 50"/>
                <a:gd name="T109" fmla="*/ 0 h 8150"/>
                <a:gd name="T110" fmla="*/ 0 w 50"/>
                <a:gd name="T111" fmla="*/ 0 h 815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50"/>
                <a:gd name="T169" fmla="*/ 0 h 8150"/>
                <a:gd name="T170" fmla="*/ 50 w 50"/>
                <a:gd name="T171" fmla="*/ 8150 h 8150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50" h="8150">
                  <a:moveTo>
                    <a:pt x="50" y="25"/>
                  </a:moveTo>
                  <a:lnTo>
                    <a:pt x="50" y="175"/>
                  </a:lnTo>
                  <a:cubicBezTo>
                    <a:pt x="50" y="189"/>
                    <a:pt x="39" y="200"/>
                    <a:pt x="25" y="200"/>
                  </a:cubicBezTo>
                  <a:cubicBezTo>
                    <a:pt x="12" y="200"/>
                    <a:pt x="0" y="189"/>
                    <a:pt x="0" y="175"/>
                  </a:cubicBezTo>
                  <a:lnTo>
                    <a:pt x="0" y="25"/>
                  </a:lnTo>
                  <a:cubicBezTo>
                    <a:pt x="0" y="11"/>
                    <a:pt x="12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lose/>
                  <a:moveTo>
                    <a:pt x="50" y="375"/>
                  </a:moveTo>
                  <a:lnTo>
                    <a:pt x="50" y="525"/>
                  </a:lnTo>
                  <a:cubicBezTo>
                    <a:pt x="50" y="539"/>
                    <a:pt x="39" y="550"/>
                    <a:pt x="25" y="550"/>
                  </a:cubicBezTo>
                  <a:cubicBezTo>
                    <a:pt x="12" y="550"/>
                    <a:pt x="0" y="539"/>
                    <a:pt x="0" y="525"/>
                  </a:cubicBezTo>
                  <a:lnTo>
                    <a:pt x="0" y="375"/>
                  </a:lnTo>
                  <a:cubicBezTo>
                    <a:pt x="0" y="361"/>
                    <a:pt x="12" y="350"/>
                    <a:pt x="25" y="350"/>
                  </a:cubicBezTo>
                  <a:cubicBezTo>
                    <a:pt x="39" y="350"/>
                    <a:pt x="50" y="361"/>
                    <a:pt x="50" y="375"/>
                  </a:cubicBezTo>
                  <a:close/>
                  <a:moveTo>
                    <a:pt x="50" y="725"/>
                  </a:moveTo>
                  <a:lnTo>
                    <a:pt x="50" y="875"/>
                  </a:lnTo>
                  <a:cubicBezTo>
                    <a:pt x="50" y="889"/>
                    <a:pt x="39" y="900"/>
                    <a:pt x="25" y="900"/>
                  </a:cubicBezTo>
                  <a:cubicBezTo>
                    <a:pt x="12" y="900"/>
                    <a:pt x="0" y="889"/>
                    <a:pt x="0" y="875"/>
                  </a:cubicBezTo>
                  <a:lnTo>
                    <a:pt x="0" y="725"/>
                  </a:lnTo>
                  <a:cubicBezTo>
                    <a:pt x="0" y="711"/>
                    <a:pt x="12" y="700"/>
                    <a:pt x="25" y="700"/>
                  </a:cubicBezTo>
                  <a:cubicBezTo>
                    <a:pt x="39" y="700"/>
                    <a:pt x="50" y="711"/>
                    <a:pt x="50" y="725"/>
                  </a:cubicBezTo>
                  <a:close/>
                  <a:moveTo>
                    <a:pt x="50" y="1075"/>
                  </a:moveTo>
                  <a:lnTo>
                    <a:pt x="50" y="1225"/>
                  </a:lnTo>
                  <a:cubicBezTo>
                    <a:pt x="50" y="1239"/>
                    <a:pt x="39" y="1250"/>
                    <a:pt x="25" y="1250"/>
                  </a:cubicBezTo>
                  <a:cubicBezTo>
                    <a:pt x="12" y="1250"/>
                    <a:pt x="0" y="1239"/>
                    <a:pt x="0" y="1225"/>
                  </a:cubicBezTo>
                  <a:lnTo>
                    <a:pt x="0" y="1075"/>
                  </a:lnTo>
                  <a:cubicBezTo>
                    <a:pt x="0" y="1061"/>
                    <a:pt x="12" y="1050"/>
                    <a:pt x="25" y="1050"/>
                  </a:cubicBezTo>
                  <a:cubicBezTo>
                    <a:pt x="39" y="1050"/>
                    <a:pt x="50" y="1061"/>
                    <a:pt x="50" y="1075"/>
                  </a:cubicBezTo>
                  <a:close/>
                  <a:moveTo>
                    <a:pt x="50" y="1425"/>
                  </a:moveTo>
                  <a:lnTo>
                    <a:pt x="50" y="1575"/>
                  </a:lnTo>
                  <a:cubicBezTo>
                    <a:pt x="50" y="1589"/>
                    <a:pt x="39" y="1600"/>
                    <a:pt x="25" y="1600"/>
                  </a:cubicBezTo>
                  <a:cubicBezTo>
                    <a:pt x="12" y="1600"/>
                    <a:pt x="0" y="1589"/>
                    <a:pt x="0" y="1575"/>
                  </a:cubicBezTo>
                  <a:lnTo>
                    <a:pt x="0" y="1425"/>
                  </a:lnTo>
                  <a:cubicBezTo>
                    <a:pt x="0" y="1411"/>
                    <a:pt x="12" y="1400"/>
                    <a:pt x="25" y="1400"/>
                  </a:cubicBezTo>
                  <a:cubicBezTo>
                    <a:pt x="39" y="1400"/>
                    <a:pt x="50" y="1411"/>
                    <a:pt x="50" y="1425"/>
                  </a:cubicBezTo>
                  <a:close/>
                  <a:moveTo>
                    <a:pt x="50" y="1775"/>
                  </a:moveTo>
                  <a:lnTo>
                    <a:pt x="50" y="1925"/>
                  </a:lnTo>
                  <a:cubicBezTo>
                    <a:pt x="50" y="1939"/>
                    <a:pt x="39" y="1950"/>
                    <a:pt x="25" y="1950"/>
                  </a:cubicBezTo>
                  <a:cubicBezTo>
                    <a:pt x="12" y="1950"/>
                    <a:pt x="0" y="1939"/>
                    <a:pt x="0" y="1925"/>
                  </a:cubicBezTo>
                  <a:lnTo>
                    <a:pt x="0" y="1775"/>
                  </a:lnTo>
                  <a:cubicBezTo>
                    <a:pt x="0" y="1761"/>
                    <a:pt x="12" y="1750"/>
                    <a:pt x="25" y="1750"/>
                  </a:cubicBezTo>
                  <a:cubicBezTo>
                    <a:pt x="39" y="1750"/>
                    <a:pt x="50" y="1761"/>
                    <a:pt x="50" y="1775"/>
                  </a:cubicBezTo>
                  <a:close/>
                  <a:moveTo>
                    <a:pt x="50" y="2125"/>
                  </a:moveTo>
                  <a:lnTo>
                    <a:pt x="50" y="2275"/>
                  </a:lnTo>
                  <a:cubicBezTo>
                    <a:pt x="50" y="2289"/>
                    <a:pt x="39" y="2300"/>
                    <a:pt x="25" y="2300"/>
                  </a:cubicBezTo>
                  <a:cubicBezTo>
                    <a:pt x="12" y="2300"/>
                    <a:pt x="0" y="2289"/>
                    <a:pt x="0" y="2275"/>
                  </a:cubicBezTo>
                  <a:lnTo>
                    <a:pt x="0" y="2125"/>
                  </a:lnTo>
                  <a:cubicBezTo>
                    <a:pt x="0" y="2111"/>
                    <a:pt x="12" y="2100"/>
                    <a:pt x="25" y="2100"/>
                  </a:cubicBezTo>
                  <a:cubicBezTo>
                    <a:pt x="39" y="2100"/>
                    <a:pt x="50" y="2111"/>
                    <a:pt x="50" y="2125"/>
                  </a:cubicBezTo>
                  <a:close/>
                  <a:moveTo>
                    <a:pt x="50" y="2475"/>
                  </a:moveTo>
                  <a:lnTo>
                    <a:pt x="50" y="2625"/>
                  </a:lnTo>
                  <a:cubicBezTo>
                    <a:pt x="50" y="2639"/>
                    <a:pt x="39" y="2650"/>
                    <a:pt x="25" y="2650"/>
                  </a:cubicBezTo>
                  <a:cubicBezTo>
                    <a:pt x="12" y="2650"/>
                    <a:pt x="0" y="2639"/>
                    <a:pt x="0" y="2625"/>
                  </a:cubicBezTo>
                  <a:lnTo>
                    <a:pt x="0" y="2475"/>
                  </a:lnTo>
                  <a:cubicBezTo>
                    <a:pt x="0" y="2461"/>
                    <a:pt x="12" y="2450"/>
                    <a:pt x="25" y="2450"/>
                  </a:cubicBezTo>
                  <a:cubicBezTo>
                    <a:pt x="39" y="2450"/>
                    <a:pt x="50" y="2461"/>
                    <a:pt x="50" y="2475"/>
                  </a:cubicBezTo>
                  <a:close/>
                  <a:moveTo>
                    <a:pt x="50" y="2825"/>
                  </a:moveTo>
                  <a:lnTo>
                    <a:pt x="50" y="2975"/>
                  </a:lnTo>
                  <a:cubicBezTo>
                    <a:pt x="50" y="2989"/>
                    <a:pt x="39" y="3000"/>
                    <a:pt x="25" y="3000"/>
                  </a:cubicBezTo>
                  <a:cubicBezTo>
                    <a:pt x="12" y="3000"/>
                    <a:pt x="0" y="2989"/>
                    <a:pt x="0" y="2975"/>
                  </a:cubicBezTo>
                  <a:lnTo>
                    <a:pt x="0" y="2825"/>
                  </a:lnTo>
                  <a:cubicBezTo>
                    <a:pt x="0" y="2811"/>
                    <a:pt x="12" y="2800"/>
                    <a:pt x="25" y="2800"/>
                  </a:cubicBezTo>
                  <a:cubicBezTo>
                    <a:pt x="39" y="2800"/>
                    <a:pt x="50" y="2811"/>
                    <a:pt x="50" y="2825"/>
                  </a:cubicBezTo>
                  <a:close/>
                  <a:moveTo>
                    <a:pt x="50" y="3175"/>
                  </a:moveTo>
                  <a:lnTo>
                    <a:pt x="50" y="3325"/>
                  </a:lnTo>
                  <a:cubicBezTo>
                    <a:pt x="50" y="3339"/>
                    <a:pt x="39" y="3350"/>
                    <a:pt x="25" y="3350"/>
                  </a:cubicBezTo>
                  <a:cubicBezTo>
                    <a:pt x="12" y="3350"/>
                    <a:pt x="0" y="3339"/>
                    <a:pt x="0" y="3325"/>
                  </a:cubicBezTo>
                  <a:lnTo>
                    <a:pt x="0" y="3175"/>
                  </a:lnTo>
                  <a:cubicBezTo>
                    <a:pt x="0" y="3161"/>
                    <a:pt x="12" y="3150"/>
                    <a:pt x="25" y="3150"/>
                  </a:cubicBezTo>
                  <a:cubicBezTo>
                    <a:pt x="39" y="3150"/>
                    <a:pt x="50" y="3161"/>
                    <a:pt x="50" y="3175"/>
                  </a:cubicBezTo>
                  <a:close/>
                  <a:moveTo>
                    <a:pt x="50" y="3525"/>
                  </a:moveTo>
                  <a:lnTo>
                    <a:pt x="50" y="3675"/>
                  </a:lnTo>
                  <a:cubicBezTo>
                    <a:pt x="50" y="3689"/>
                    <a:pt x="39" y="3700"/>
                    <a:pt x="25" y="3700"/>
                  </a:cubicBezTo>
                  <a:cubicBezTo>
                    <a:pt x="12" y="3700"/>
                    <a:pt x="0" y="3689"/>
                    <a:pt x="0" y="3675"/>
                  </a:cubicBezTo>
                  <a:lnTo>
                    <a:pt x="0" y="3525"/>
                  </a:lnTo>
                  <a:cubicBezTo>
                    <a:pt x="0" y="3511"/>
                    <a:pt x="12" y="3500"/>
                    <a:pt x="25" y="3500"/>
                  </a:cubicBezTo>
                  <a:cubicBezTo>
                    <a:pt x="39" y="3500"/>
                    <a:pt x="50" y="3511"/>
                    <a:pt x="50" y="3525"/>
                  </a:cubicBezTo>
                  <a:close/>
                  <a:moveTo>
                    <a:pt x="50" y="3875"/>
                  </a:moveTo>
                  <a:lnTo>
                    <a:pt x="50" y="4025"/>
                  </a:lnTo>
                  <a:cubicBezTo>
                    <a:pt x="50" y="4039"/>
                    <a:pt x="39" y="4050"/>
                    <a:pt x="25" y="4050"/>
                  </a:cubicBezTo>
                  <a:cubicBezTo>
                    <a:pt x="12" y="4050"/>
                    <a:pt x="0" y="4039"/>
                    <a:pt x="0" y="4025"/>
                  </a:cubicBezTo>
                  <a:lnTo>
                    <a:pt x="0" y="3875"/>
                  </a:lnTo>
                  <a:cubicBezTo>
                    <a:pt x="0" y="3861"/>
                    <a:pt x="12" y="3850"/>
                    <a:pt x="25" y="3850"/>
                  </a:cubicBezTo>
                  <a:cubicBezTo>
                    <a:pt x="39" y="3850"/>
                    <a:pt x="50" y="3861"/>
                    <a:pt x="50" y="3875"/>
                  </a:cubicBezTo>
                  <a:close/>
                  <a:moveTo>
                    <a:pt x="50" y="4225"/>
                  </a:moveTo>
                  <a:lnTo>
                    <a:pt x="50" y="4375"/>
                  </a:lnTo>
                  <a:cubicBezTo>
                    <a:pt x="50" y="4389"/>
                    <a:pt x="39" y="4400"/>
                    <a:pt x="25" y="4400"/>
                  </a:cubicBezTo>
                  <a:cubicBezTo>
                    <a:pt x="12" y="4400"/>
                    <a:pt x="0" y="4389"/>
                    <a:pt x="0" y="4375"/>
                  </a:cubicBezTo>
                  <a:lnTo>
                    <a:pt x="0" y="4225"/>
                  </a:lnTo>
                  <a:cubicBezTo>
                    <a:pt x="0" y="4211"/>
                    <a:pt x="12" y="4200"/>
                    <a:pt x="25" y="4200"/>
                  </a:cubicBezTo>
                  <a:cubicBezTo>
                    <a:pt x="39" y="4200"/>
                    <a:pt x="50" y="4211"/>
                    <a:pt x="50" y="4225"/>
                  </a:cubicBezTo>
                  <a:close/>
                  <a:moveTo>
                    <a:pt x="50" y="4575"/>
                  </a:moveTo>
                  <a:lnTo>
                    <a:pt x="50" y="4725"/>
                  </a:lnTo>
                  <a:cubicBezTo>
                    <a:pt x="50" y="4739"/>
                    <a:pt x="39" y="4750"/>
                    <a:pt x="25" y="4750"/>
                  </a:cubicBezTo>
                  <a:cubicBezTo>
                    <a:pt x="12" y="4750"/>
                    <a:pt x="0" y="4739"/>
                    <a:pt x="0" y="4725"/>
                  </a:cubicBezTo>
                  <a:lnTo>
                    <a:pt x="0" y="4575"/>
                  </a:lnTo>
                  <a:cubicBezTo>
                    <a:pt x="0" y="4561"/>
                    <a:pt x="12" y="4550"/>
                    <a:pt x="25" y="4550"/>
                  </a:cubicBezTo>
                  <a:cubicBezTo>
                    <a:pt x="39" y="4550"/>
                    <a:pt x="50" y="4561"/>
                    <a:pt x="50" y="4575"/>
                  </a:cubicBezTo>
                  <a:close/>
                  <a:moveTo>
                    <a:pt x="50" y="4925"/>
                  </a:moveTo>
                  <a:lnTo>
                    <a:pt x="50" y="5075"/>
                  </a:lnTo>
                  <a:cubicBezTo>
                    <a:pt x="50" y="5089"/>
                    <a:pt x="39" y="5100"/>
                    <a:pt x="25" y="5100"/>
                  </a:cubicBezTo>
                  <a:cubicBezTo>
                    <a:pt x="12" y="5100"/>
                    <a:pt x="0" y="5089"/>
                    <a:pt x="0" y="5075"/>
                  </a:cubicBezTo>
                  <a:lnTo>
                    <a:pt x="0" y="4925"/>
                  </a:lnTo>
                  <a:cubicBezTo>
                    <a:pt x="0" y="4911"/>
                    <a:pt x="12" y="4900"/>
                    <a:pt x="25" y="4900"/>
                  </a:cubicBezTo>
                  <a:cubicBezTo>
                    <a:pt x="39" y="4900"/>
                    <a:pt x="50" y="4911"/>
                    <a:pt x="50" y="4925"/>
                  </a:cubicBezTo>
                  <a:close/>
                  <a:moveTo>
                    <a:pt x="50" y="5275"/>
                  </a:moveTo>
                  <a:lnTo>
                    <a:pt x="50" y="5425"/>
                  </a:lnTo>
                  <a:cubicBezTo>
                    <a:pt x="50" y="5439"/>
                    <a:pt x="39" y="5450"/>
                    <a:pt x="25" y="5450"/>
                  </a:cubicBezTo>
                  <a:cubicBezTo>
                    <a:pt x="12" y="5450"/>
                    <a:pt x="0" y="5439"/>
                    <a:pt x="0" y="5425"/>
                  </a:cubicBezTo>
                  <a:lnTo>
                    <a:pt x="0" y="5275"/>
                  </a:lnTo>
                  <a:cubicBezTo>
                    <a:pt x="0" y="5261"/>
                    <a:pt x="12" y="5250"/>
                    <a:pt x="25" y="5250"/>
                  </a:cubicBezTo>
                  <a:cubicBezTo>
                    <a:pt x="39" y="5250"/>
                    <a:pt x="50" y="5261"/>
                    <a:pt x="50" y="5275"/>
                  </a:cubicBezTo>
                  <a:close/>
                  <a:moveTo>
                    <a:pt x="50" y="5625"/>
                  </a:moveTo>
                  <a:lnTo>
                    <a:pt x="50" y="5775"/>
                  </a:lnTo>
                  <a:cubicBezTo>
                    <a:pt x="50" y="5789"/>
                    <a:pt x="39" y="5800"/>
                    <a:pt x="25" y="5800"/>
                  </a:cubicBezTo>
                  <a:cubicBezTo>
                    <a:pt x="12" y="5800"/>
                    <a:pt x="0" y="5789"/>
                    <a:pt x="0" y="5775"/>
                  </a:cubicBezTo>
                  <a:lnTo>
                    <a:pt x="0" y="5625"/>
                  </a:lnTo>
                  <a:cubicBezTo>
                    <a:pt x="0" y="5611"/>
                    <a:pt x="12" y="5600"/>
                    <a:pt x="25" y="5600"/>
                  </a:cubicBezTo>
                  <a:cubicBezTo>
                    <a:pt x="39" y="5600"/>
                    <a:pt x="50" y="5611"/>
                    <a:pt x="50" y="5625"/>
                  </a:cubicBezTo>
                  <a:close/>
                  <a:moveTo>
                    <a:pt x="50" y="5975"/>
                  </a:moveTo>
                  <a:lnTo>
                    <a:pt x="50" y="6125"/>
                  </a:lnTo>
                  <a:cubicBezTo>
                    <a:pt x="50" y="6139"/>
                    <a:pt x="39" y="6150"/>
                    <a:pt x="25" y="6150"/>
                  </a:cubicBezTo>
                  <a:cubicBezTo>
                    <a:pt x="12" y="6150"/>
                    <a:pt x="0" y="6139"/>
                    <a:pt x="0" y="6125"/>
                  </a:cubicBezTo>
                  <a:lnTo>
                    <a:pt x="0" y="5975"/>
                  </a:lnTo>
                  <a:cubicBezTo>
                    <a:pt x="0" y="5961"/>
                    <a:pt x="12" y="5950"/>
                    <a:pt x="25" y="5950"/>
                  </a:cubicBezTo>
                  <a:cubicBezTo>
                    <a:pt x="39" y="5950"/>
                    <a:pt x="50" y="5961"/>
                    <a:pt x="50" y="5975"/>
                  </a:cubicBezTo>
                  <a:close/>
                  <a:moveTo>
                    <a:pt x="50" y="6325"/>
                  </a:moveTo>
                  <a:lnTo>
                    <a:pt x="50" y="6475"/>
                  </a:lnTo>
                  <a:cubicBezTo>
                    <a:pt x="50" y="6489"/>
                    <a:pt x="39" y="6500"/>
                    <a:pt x="25" y="6500"/>
                  </a:cubicBezTo>
                  <a:cubicBezTo>
                    <a:pt x="12" y="6500"/>
                    <a:pt x="0" y="6489"/>
                    <a:pt x="0" y="6475"/>
                  </a:cubicBezTo>
                  <a:lnTo>
                    <a:pt x="0" y="6325"/>
                  </a:lnTo>
                  <a:cubicBezTo>
                    <a:pt x="0" y="6311"/>
                    <a:pt x="12" y="6300"/>
                    <a:pt x="25" y="6300"/>
                  </a:cubicBezTo>
                  <a:cubicBezTo>
                    <a:pt x="39" y="6300"/>
                    <a:pt x="50" y="6311"/>
                    <a:pt x="50" y="6325"/>
                  </a:cubicBezTo>
                  <a:close/>
                  <a:moveTo>
                    <a:pt x="50" y="6675"/>
                  </a:moveTo>
                  <a:lnTo>
                    <a:pt x="50" y="6825"/>
                  </a:lnTo>
                  <a:cubicBezTo>
                    <a:pt x="50" y="6839"/>
                    <a:pt x="39" y="6850"/>
                    <a:pt x="25" y="6850"/>
                  </a:cubicBezTo>
                  <a:cubicBezTo>
                    <a:pt x="12" y="6850"/>
                    <a:pt x="0" y="6839"/>
                    <a:pt x="0" y="6825"/>
                  </a:cubicBezTo>
                  <a:lnTo>
                    <a:pt x="0" y="6675"/>
                  </a:lnTo>
                  <a:cubicBezTo>
                    <a:pt x="0" y="6661"/>
                    <a:pt x="12" y="6650"/>
                    <a:pt x="25" y="6650"/>
                  </a:cubicBezTo>
                  <a:cubicBezTo>
                    <a:pt x="39" y="6650"/>
                    <a:pt x="50" y="6661"/>
                    <a:pt x="50" y="6675"/>
                  </a:cubicBezTo>
                  <a:close/>
                  <a:moveTo>
                    <a:pt x="50" y="7025"/>
                  </a:moveTo>
                  <a:lnTo>
                    <a:pt x="50" y="7175"/>
                  </a:lnTo>
                  <a:cubicBezTo>
                    <a:pt x="50" y="7189"/>
                    <a:pt x="39" y="7200"/>
                    <a:pt x="25" y="7200"/>
                  </a:cubicBezTo>
                  <a:cubicBezTo>
                    <a:pt x="12" y="7200"/>
                    <a:pt x="0" y="7189"/>
                    <a:pt x="0" y="7175"/>
                  </a:cubicBezTo>
                  <a:lnTo>
                    <a:pt x="0" y="7025"/>
                  </a:lnTo>
                  <a:cubicBezTo>
                    <a:pt x="0" y="7011"/>
                    <a:pt x="12" y="7000"/>
                    <a:pt x="25" y="7000"/>
                  </a:cubicBezTo>
                  <a:cubicBezTo>
                    <a:pt x="39" y="7000"/>
                    <a:pt x="50" y="7011"/>
                    <a:pt x="50" y="7025"/>
                  </a:cubicBezTo>
                  <a:close/>
                  <a:moveTo>
                    <a:pt x="50" y="7375"/>
                  </a:moveTo>
                  <a:lnTo>
                    <a:pt x="50" y="7525"/>
                  </a:lnTo>
                  <a:cubicBezTo>
                    <a:pt x="50" y="7539"/>
                    <a:pt x="39" y="7550"/>
                    <a:pt x="25" y="7550"/>
                  </a:cubicBezTo>
                  <a:cubicBezTo>
                    <a:pt x="12" y="7550"/>
                    <a:pt x="0" y="7539"/>
                    <a:pt x="0" y="7525"/>
                  </a:cubicBezTo>
                  <a:lnTo>
                    <a:pt x="0" y="7375"/>
                  </a:lnTo>
                  <a:cubicBezTo>
                    <a:pt x="0" y="7361"/>
                    <a:pt x="12" y="7350"/>
                    <a:pt x="25" y="7350"/>
                  </a:cubicBezTo>
                  <a:cubicBezTo>
                    <a:pt x="39" y="7350"/>
                    <a:pt x="50" y="7361"/>
                    <a:pt x="50" y="7375"/>
                  </a:cubicBezTo>
                  <a:close/>
                  <a:moveTo>
                    <a:pt x="50" y="7725"/>
                  </a:moveTo>
                  <a:lnTo>
                    <a:pt x="50" y="7875"/>
                  </a:lnTo>
                  <a:cubicBezTo>
                    <a:pt x="50" y="7889"/>
                    <a:pt x="39" y="7900"/>
                    <a:pt x="25" y="7900"/>
                  </a:cubicBezTo>
                  <a:cubicBezTo>
                    <a:pt x="12" y="7900"/>
                    <a:pt x="0" y="7889"/>
                    <a:pt x="0" y="7875"/>
                  </a:cubicBezTo>
                  <a:lnTo>
                    <a:pt x="0" y="7725"/>
                  </a:lnTo>
                  <a:cubicBezTo>
                    <a:pt x="0" y="7711"/>
                    <a:pt x="12" y="7700"/>
                    <a:pt x="25" y="7700"/>
                  </a:cubicBezTo>
                  <a:cubicBezTo>
                    <a:pt x="39" y="7700"/>
                    <a:pt x="50" y="7711"/>
                    <a:pt x="50" y="7725"/>
                  </a:cubicBezTo>
                  <a:close/>
                  <a:moveTo>
                    <a:pt x="50" y="8075"/>
                  </a:moveTo>
                  <a:lnTo>
                    <a:pt x="50" y="8125"/>
                  </a:lnTo>
                  <a:cubicBezTo>
                    <a:pt x="50" y="8139"/>
                    <a:pt x="39" y="8150"/>
                    <a:pt x="25" y="8150"/>
                  </a:cubicBezTo>
                  <a:cubicBezTo>
                    <a:pt x="12" y="8150"/>
                    <a:pt x="0" y="8139"/>
                    <a:pt x="0" y="8125"/>
                  </a:cubicBezTo>
                  <a:lnTo>
                    <a:pt x="0" y="8075"/>
                  </a:lnTo>
                  <a:cubicBezTo>
                    <a:pt x="0" y="8061"/>
                    <a:pt x="12" y="8050"/>
                    <a:pt x="25" y="8050"/>
                  </a:cubicBezTo>
                  <a:cubicBezTo>
                    <a:pt x="39" y="8050"/>
                    <a:pt x="50" y="8061"/>
                    <a:pt x="50" y="8075"/>
                  </a:cubicBez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819400" y="971550"/>
            <a:ext cx="4333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20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endParaRPr lang="en-US" sz="2000" dirty="0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508250" y="1089423"/>
            <a:ext cx="3847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sz="1600" dirty="0"/>
          </a:p>
        </p:txBody>
      </p:sp>
      <p:grpSp>
        <p:nvGrpSpPr>
          <p:cNvPr id="2060" name="Group 44"/>
          <p:cNvGrpSpPr>
            <a:grpSpLocks/>
          </p:cNvGrpSpPr>
          <p:nvPr/>
        </p:nvGrpSpPr>
        <p:grpSpPr bwMode="auto">
          <a:xfrm>
            <a:off x="4637088" y="714375"/>
            <a:ext cx="2871152" cy="1913335"/>
            <a:chOff x="2921" y="600"/>
            <a:chExt cx="1951" cy="1607"/>
          </a:xfrm>
        </p:grpSpPr>
        <p:sp>
          <p:nvSpPr>
            <p:cNvPr id="2075" name="Freeform 13"/>
            <p:cNvSpPr>
              <a:spLocks noEditPoints="1"/>
            </p:cNvSpPr>
            <p:nvPr/>
          </p:nvSpPr>
          <p:spPr bwMode="auto">
            <a:xfrm>
              <a:off x="4466" y="748"/>
              <a:ext cx="14" cy="233"/>
            </a:xfrm>
            <a:custGeom>
              <a:avLst/>
              <a:gdLst>
                <a:gd name="T0" fmla="*/ 0 w 14"/>
                <a:gd name="T1" fmla="*/ 233 h 233"/>
                <a:gd name="T2" fmla="*/ 0 w 14"/>
                <a:gd name="T3" fmla="*/ 219 h 233"/>
                <a:gd name="T4" fmla="*/ 14 w 14"/>
                <a:gd name="T5" fmla="*/ 219 h 233"/>
                <a:gd name="T6" fmla="*/ 14 w 14"/>
                <a:gd name="T7" fmla="*/ 233 h 233"/>
                <a:gd name="T8" fmla="*/ 0 w 14"/>
                <a:gd name="T9" fmla="*/ 233 h 233"/>
                <a:gd name="T10" fmla="*/ 0 w 14"/>
                <a:gd name="T11" fmla="*/ 205 h 233"/>
                <a:gd name="T12" fmla="*/ 0 w 14"/>
                <a:gd name="T13" fmla="*/ 191 h 233"/>
                <a:gd name="T14" fmla="*/ 14 w 14"/>
                <a:gd name="T15" fmla="*/ 191 h 233"/>
                <a:gd name="T16" fmla="*/ 14 w 14"/>
                <a:gd name="T17" fmla="*/ 205 h 233"/>
                <a:gd name="T18" fmla="*/ 0 w 14"/>
                <a:gd name="T19" fmla="*/ 205 h 233"/>
                <a:gd name="T20" fmla="*/ 0 w 14"/>
                <a:gd name="T21" fmla="*/ 178 h 233"/>
                <a:gd name="T22" fmla="*/ 0 w 14"/>
                <a:gd name="T23" fmla="*/ 164 h 233"/>
                <a:gd name="T24" fmla="*/ 14 w 14"/>
                <a:gd name="T25" fmla="*/ 164 h 233"/>
                <a:gd name="T26" fmla="*/ 14 w 14"/>
                <a:gd name="T27" fmla="*/ 178 h 233"/>
                <a:gd name="T28" fmla="*/ 0 w 14"/>
                <a:gd name="T29" fmla="*/ 178 h 233"/>
                <a:gd name="T30" fmla="*/ 0 w 14"/>
                <a:gd name="T31" fmla="*/ 150 h 233"/>
                <a:gd name="T32" fmla="*/ 0 w 14"/>
                <a:gd name="T33" fmla="*/ 137 h 233"/>
                <a:gd name="T34" fmla="*/ 14 w 14"/>
                <a:gd name="T35" fmla="*/ 137 h 233"/>
                <a:gd name="T36" fmla="*/ 14 w 14"/>
                <a:gd name="T37" fmla="*/ 150 h 233"/>
                <a:gd name="T38" fmla="*/ 0 w 14"/>
                <a:gd name="T39" fmla="*/ 150 h 233"/>
                <a:gd name="T40" fmla="*/ 0 w 14"/>
                <a:gd name="T41" fmla="*/ 123 h 233"/>
                <a:gd name="T42" fmla="*/ 0 w 14"/>
                <a:gd name="T43" fmla="*/ 109 h 233"/>
                <a:gd name="T44" fmla="*/ 14 w 14"/>
                <a:gd name="T45" fmla="*/ 109 h 233"/>
                <a:gd name="T46" fmla="*/ 14 w 14"/>
                <a:gd name="T47" fmla="*/ 123 h 233"/>
                <a:gd name="T48" fmla="*/ 0 w 14"/>
                <a:gd name="T49" fmla="*/ 123 h 233"/>
                <a:gd name="T50" fmla="*/ 0 w 14"/>
                <a:gd name="T51" fmla="*/ 96 h 233"/>
                <a:gd name="T52" fmla="*/ 0 w 14"/>
                <a:gd name="T53" fmla="*/ 82 h 233"/>
                <a:gd name="T54" fmla="*/ 14 w 14"/>
                <a:gd name="T55" fmla="*/ 82 h 233"/>
                <a:gd name="T56" fmla="*/ 14 w 14"/>
                <a:gd name="T57" fmla="*/ 96 h 233"/>
                <a:gd name="T58" fmla="*/ 0 w 14"/>
                <a:gd name="T59" fmla="*/ 96 h 233"/>
                <a:gd name="T60" fmla="*/ 0 w 14"/>
                <a:gd name="T61" fmla="*/ 68 h 233"/>
                <a:gd name="T62" fmla="*/ 0 w 14"/>
                <a:gd name="T63" fmla="*/ 54 h 233"/>
                <a:gd name="T64" fmla="*/ 14 w 14"/>
                <a:gd name="T65" fmla="*/ 54 h 233"/>
                <a:gd name="T66" fmla="*/ 14 w 14"/>
                <a:gd name="T67" fmla="*/ 68 h 233"/>
                <a:gd name="T68" fmla="*/ 0 w 14"/>
                <a:gd name="T69" fmla="*/ 68 h 233"/>
                <a:gd name="T70" fmla="*/ 0 w 14"/>
                <a:gd name="T71" fmla="*/ 41 h 233"/>
                <a:gd name="T72" fmla="*/ 0 w 14"/>
                <a:gd name="T73" fmla="*/ 27 h 233"/>
                <a:gd name="T74" fmla="*/ 14 w 14"/>
                <a:gd name="T75" fmla="*/ 27 h 233"/>
                <a:gd name="T76" fmla="*/ 14 w 14"/>
                <a:gd name="T77" fmla="*/ 41 h 233"/>
                <a:gd name="T78" fmla="*/ 0 w 14"/>
                <a:gd name="T79" fmla="*/ 41 h 233"/>
                <a:gd name="T80" fmla="*/ 0 w 14"/>
                <a:gd name="T81" fmla="*/ 13 h 233"/>
                <a:gd name="T82" fmla="*/ 0 w 14"/>
                <a:gd name="T83" fmla="*/ 0 h 233"/>
                <a:gd name="T84" fmla="*/ 14 w 14"/>
                <a:gd name="T85" fmla="*/ 0 h 233"/>
                <a:gd name="T86" fmla="*/ 14 w 14"/>
                <a:gd name="T87" fmla="*/ 13 h 233"/>
                <a:gd name="T88" fmla="*/ 0 w 14"/>
                <a:gd name="T89" fmla="*/ 13 h 2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4"/>
                <a:gd name="T136" fmla="*/ 0 h 233"/>
                <a:gd name="T137" fmla="*/ 14 w 14"/>
                <a:gd name="T138" fmla="*/ 233 h 23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4" h="233">
                  <a:moveTo>
                    <a:pt x="0" y="233"/>
                  </a:moveTo>
                  <a:lnTo>
                    <a:pt x="0" y="219"/>
                  </a:lnTo>
                  <a:lnTo>
                    <a:pt x="14" y="219"/>
                  </a:lnTo>
                  <a:lnTo>
                    <a:pt x="14" y="233"/>
                  </a:lnTo>
                  <a:lnTo>
                    <a:pt x="0" y="233"/>
                  </a:lnTo>
                  <a:close/>
                  <a:moveTo>
                    <a:pt x="0" y="205"/>
                  </a:moveTo>
                  <a:lnTo>
                    <a:pt x="0" y="191"/>
                  </a:lnTo>
                  <a:lnTo>
                    <a:pt x="14" y="191"/>
                  </a:lnTo>
                  <a:lnTo>
                    <a:pt x="14" y="205"/>
                  </a:lnTo>
                  <a:lnTo>
                    <a:pt x="0" y="205"/>
                  </a:lnTo>
                  <a:close/>
                  <a:moveTo>
                    <a:pt x="0" y="178"/>
                  </a:moveTo>
                  <a:lnTo>
                    <a:pt x="0" y="164"/>
                  </a:lnTo>
                  <a:lnTo>
                    <a:pt x="14" y="164"/>
                  </a:lnTo>
                  <a:lnTo>
                    <a:pt x="14" y="178"/>
                  </a:lnTo>
                  <a:lnTo>
                    <a:pt x="0" y="178"/>
                  </a:lnTo>
                  <a:close/>
                  <a:moveTo>
                    <a:pt x="0" y="150"/>
                  </a:moveTo>
                  <a:lnTo>
                    <a:pt x="0" y="137"/>
                  </a:lnTo>
                  <a:lnTo>
                    <a:pt x="14" y="137"/>
                  </a:lnTo>
                  <a:lnTo>
                    <a:pt x="14" y="150"/>
                  </a:lnTo>
                  <a:lnTo>
                    <a:pt x="0" y="150"/>
                  </a:lnTo>
                  <a:close/>
                  <a:moveTo>
                    <a:pt x="0" y="123"/>
                  </a:moveTo>
                  <a:lnTo>
                    <a:pt x="0" y="109"/>
                  </a:lnTo>
                  <a:lnTo>
                    <a:pt x="14" y="109"/>
                  </a:lnTo>
                  <a:lnTo>
                    <a:pt x="14" y="123"/>
                  </a:lnTo>
                  <a:lnTo>
                    <a:pt x="0" y="123"/>
                  </a:lnTo>
                  <a:close/>
                  <a:moveTo>
                    <a:pt x="0" y="96"/>
                  </a:moveTo>
                  <a:lnTo>
                    <a:pt x="0" y="82"/>
                  </a:lnTo>
                  <a:lnTo>
                    <a:pt x="14" y="82"/>
                  </a:lnTo>
                  <a:lnTo>
                    <a:pt x="14" y="96"/>
                  </a:lnTo>
                  <a:lnTo>
                    <a:pt x="0" y="96"/>
                  </a:lnTo>
                  <a:close/>
                  <a:moveTo>
                    <a:pt x="0" y="68"/>
                  </a:moveTo>
                  <a:lnTo>
                    <a:pt x="0" y="54"/>
                  </a:lnTo>
                  <a:lnTo>
                    <a:pt x="14" y="54"/>
                  </a:lnTo>
                  <a:lnTo>
                    <a:pt x="14" y="68"/>
                  </a:lnTo>
                  <a:lnTo>
                    <a:pt x="0" y="68"/>
                  </a:lnTo>
                  <a:close/>
                  <a:moveTo>
                    <a:pt x="0" y="41"/>
                  </a:moveTo>
                  <a:lnTo>
                    <a:pt x="0" y="27"/>
                  </a:lnTo>
                  <a:lnTo>
                    <a:pt x="14" y="27"/>
                  </a:lnTo>
                  <a:lnTo>
                    <a:pt x="14" y="41"/>
                  </a:lnTo>
                  <a:lnTo>
                    <a:pt x="0" y="41"/>
                  </a:lnTo>
                  <a:close/>
                  <a:moveTo>
                    <a:pt x="0" y="13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grpSp>
          <p:nvGrpSpPr>
            <p:cNvPr id="2076" name="Group 43"/>
            <p:cNvGrpSpPr>
              <a:grpSpLocks/>
            </p:cNvGrpSpPr>
            <p:nvPr/>
          </p:nvGrpSpPr>
          <p:grpSpPr bwMode="auto">
            <a:xfrm>
              <a:off x="2921" y="600"/>
              <a:ext cx="1951" cy="1607"/>
              <a:chOff x="2921" y="600"/>
              <a:chExt cx="1951" cy="1607"/>
            </a:xfrm>
          </p:grpSpPr>
          <p:sp>
            <p:nvSpPr>
              <p:cNvPr id="2077" name="Line 15"/>
              <p:cNvSpPr>
                <a:spLocks noChangeShapeType="1"/>
              </p:cNvSpPr>
              <p:nvPr/>
            </p:nvSpPr>
            <p:spPr bwMode="auto">
              <a:xfrm>
                <a:off x="3462" y="1522"/>
                <a:ext cx="1311" cy="0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78" name="Line 16"/>
              <p:cNvSpPr>
                <a:spLocks noChangeShapeType="1"/>
              </p:cNvSpPr>
              <p:nvPr/>
            </p:nvSpPr>
            <p:spPr bwMode="auto">
              <a:xfrm flipH="1">
                <a:off x="2921" y="1529"/>
                <a:ext cx="549" cy="678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79" name="Line 17"/>
              <p:cNvSpPr>
                <a:spLocks noChangeShapeType="1"/>
              </p:cNvSpPr>
              <p:nvPr/>
            </p:nvSpPr>
            <p:spPr bwMode="auto">
              <a:xfrm flipV="1">
                <a:off x="3470" y="645"/>
                <a:ext cx="0" cy="877"/>
              </a:xfrm>
              <a:prstGeom prst="lin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0" name="Freeform 18"/>
              <p:cNvSpPr>
                <a:spLocks noEditPoints="1"/>
              </p:cNvSpPr>
              <p:nvPr/>
            </p:nvSpPr>
            <p:spPr bwMode="auto">
              <a:xfrm>
                <a:off x="3479" y="974"/>
                <a:ext cx="1030" cy="557"/>
              </a:xfrm>
              <a:custGeom>
                <a:avLst/>
                <a:gdLst>
                  <a:gd name="T0" fmla="*/ 0 w 1030"/>
                  <a:gd name="T1" fmla="*/ 539 h 557"/>
                  <a:gd name="T2" fmla="*/ 987 w 1030"/>
                  <a:gd name="T3" fmla="*/ 11 h 557"/>
                  <a:gd name="T4" fmla="*/ 998 w 1030"/>
                  <a:gd name="T5" fmla="*/ 29 h 557"/>
                  <a:gd name="T6" fmla="*/ 11 w 1030"/>
                  <a:gd name="T7" fmla="*/ 557 h 557"/>
                  <a:gd name="T8" fmla="*/ 0 w 1030"/>
                  <a:gd name="T9" fmla="*/ 539 h 557"/>
                  <a:gd name="T10" fmla="*/ 992 w 1030"/>
                  <a:gd name="T11" fmla="*/ 20 h 557"/>
                  <a:gd name="T12" fmla="*/ 957 w 1030"/>
                  <a:gd name="T13" fmla="*/ 4 h 557"/>
                  <a:gd name="T14" fmla="*/ 1030 w 1030"/>
                  <a:gd name="T15" fmla="*/ 0 h 557"/>
                  <a:gd name="T16" fmla="*/ 990 w 1030"/>
                  <a:gd name="T17" fmla="*/ 57 h 557"/>
                  <a:gd name="T18" fmla="*/ 992 w 1030"/>
                  <a:gd name="T19" fmla="*/ 20 h 55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30"/>
                  <a:gd name="T31" fmla="*/ 0 h 557"/>
                  <a:gd name="T32" fmla="*/ 1030 w 1030"/>
                  <a:gd name="T33" fmla="*/ 557 h 55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30" h="557">
                    <a:moveTo>
                      <a:pt x="0" y="539"/>
                    </a:moveTo>
                    <a:lnTo>
                      <a:pt x="987" y="11"/>
                    </a:lnTo>
                    <a:lnTo>
                      <a:pt x="998" y="29"/>
                    </a:lnTo>
                    <a:lnTo>
                      <a:pt x="11" y="557"/>
                    </a:lnTo>
                    <a:lnTo>
                      <a:pt x="0" y="539"/>
                    </a:lnTo>
                    <a:close/>
                    <a:moveTo>
                      <a:pt x="992" y="20"/>
                    </a:moveTo>
                    <a:lnTo>
                      <a:pt x="957" y="4"/>
                    </a:lnTo>
                    <a:lnTo>
                      <a:pt x="1030" y="0"/>
                    </a:lnTo>
                    <a:lnTo>
                      <a:pt x="990" y="57"/>
                    </a:lnTo>
                    <a:lnTo>
                      <a:pt x="992" y="2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1" name="Freeform 19"/>
              <p:cNvSpPr>
                <a:spLocks noEditPoints="1"/>
              </p:cNvSpPr>
              <p:nvPr/>
            </p:nvSpPr>
            <p:spPr bwMode="auto">
              <a:xfrm>
                <a:off x="4067" y="600"/>
                <a:ext cx="805" cy="747"/>
              </a:xfrm>
              <a:custGeom>
                <a:avLst/>
                <a:gdLst>
                  <a:gd name="T0" fmla="*/ 0 w 5499"/>
                  <a:gd name="T1" fmla="*/ 0 h 5449"/>
                  <a:gd name="T2" fmla="*/ 0 w 5499"/>
                  <a:gd name="T3" fmla="*/ 0 h 5449"/>
                  <a:gd name="T4" fmla="*/ 0 w 5499"/>
                  <a:gd name="T5" fmla="*/ 0 h 5449"/>
                  <a:gd name="T6" fmla="*/ 0 w 5499"/>
                  <a:gd name="T7" fmla="*/ 0 h 5449"/>
                  <a:gd name="T8" fmla="*/ 0 w 5499"/>
                  <a:gd name="T9" fmla="*/ 0 h 5449"/>
                  <a:gd name="T10" fmla="*/ 0 w 5499"/>
                  <a:gd name="T11" fmla="*/ 0 h 5449"/>
                  <a:gd name="T12" fmla="*/ 0 w 5499"/>
                  <a:gd name="T13" fmla="*/ 0 h 5449"/>
                  <a:gd name="T14" fmla="*/ 0 w 5499"/>
                  <a:gd name="T15" fmla="*/ 0 h 5449"/>
                  <a:gd name="T16" fmla="*/ 0 w 5499"/>
                  <a:gd name="T17" fmla="*/ 0 h 5449"/>
                  <a:gd name="T18" fmla="*/ 0 w 5499"/>
                  <a:gd name="T19" fmla="*/ 0 h 5449"/>
                  <a:gd name="T20" fmla="*/ 0 w 5499"/>
                  <a:gd name="T21" fmla="*/ 0 h 5449"/>
                  <a:gd name="T22" fmla="*/ 0 w 5499"/>
                  <a:gd name="T23" fmla="*/ 0 h 5449"/>
                  <a:gd name="T24" fmla="*/ 0 w 5499"/>
                  <a:gd name="T25" fmla="*/ 0 h 5449"/>
                  <a:gd name="T26" fmla="*/ 0 w 5499"/>
                  <a:gd name="T27" fmla="*/ 0 h 5449"/>
                  <a:gd name="T28" fmla="*/ 0 w 5499"/>
                  <a:gd name="T29" fmla="*/ 0 h 5449"/>
                  <a:gd name="T30" fmla="*/ 0 w 5499"/>
                  <a:gd name="T31" fmla="*/ 0 h 5449"/>
                  <a:gd name="T32" fmla="*/ 0 w 5499"/>
                  <a:gd name="T33" fmla="*/ 0 h 5449"/>
                  <a:gd name="T34" fmla="*/ 0 w 5499"/>
                  <a:gd name="T35" fmla="*/ 0 h 5449"/>
                  <a:gd name="T36" fmla="*/ 0 w 5499"/>
                  <a:gd name="T37" fmla="*/ 0 h 5449"/>
                  <a:gd name="T38" fmla="*/ 0 w 5499"/>
                  <a:gd name="T39" fmla="*/ 0 h 5449"/>
                  <a:gd name="T40" fmla="*/ 0 w 5499"/>
                  <a:gd name="T41" fmla="*/ 0 h 5449"/>
                  <a:gd name="T42" fmla="*/ 0 w 5499"/>
                  <a:gd name="T43" fmla="*/ 0 h 5449"/>
                  <a:gd name="T44" fmla="*/ 0 w 5499"/>
                  <a:gd name="T45" fmla="*/ 0 h 5449"/>
                  <a:gd name="T46" fmla="*/ 0 w 5499"/>
                  <a:gd name="T47" fmla="*/ 0 h 5449"/>
                  <a:gd name="T48" fmla="*/ 0 w 5499"/>
                  <a:gd name="T49" fmla="*/ 0 h 5449"/>
                  <a:gd name="T50" fmla="*/ 0 w 5499"/>
                  <a:gd name="T51" fmla="*/ 0 h 5449"/>
                  <a:gd name="T52" fmla="*/ 0 w 5499"/>
                  <a:gd name="T53" fmla="*/ 0 h 5449"/>
                  <a:gd name="T54" fmla="*/ 0 w 5499"/>
                  <a:gd name="T55" fmla="*/ 0 h 5449"/>
                  <a:gd name="T56" fmla="*/ 0 w 5499"/>
                  <a:gd name="T57" fmla="*/ 0 h 5449"/>
                  <a:gd name="T58" fmla="*/ 0 w 5499"/>
                  <a:gd name="T59" fmla="*/ 0 h 5449"/>
                  <a:gd name="T60" fmla="*/ 0 w 5499"/>
                  <a:gd name="T61" fmla="*/ 0 h 5449"/>
                  <a:gd name="T62" fmla="*/ 0 w 5499"/>
                  <a:gd name="T63" fmla="*/ 0 h 5449"/>
                  <a:gd name="T64" fmla="*/ 0 w 5499"/>
                  <a:gd name="T65" fmla="*/ 0 h 5449"/>
                  <a:gd name="T66" fmla="*/ 0 w 5499"/>
                  <a:gd name="T67" fmla="*/ 0 h 5449"/>
                  <a:gd name="T68" fmla="*/ 0 w 5499"/>
                  <a:gd name="T69" fmla="*/ 0 h 5449"/>
                  <a:gd name="T70" fmla="*/ 0 w 5499"/>
                  <a:gd name="T71" fmla="*/ 0 h 5449"/>
                  <a:gd name="T72" fmla="*/ 0 w 5499"/>
                  <a:gd name="T73" fmla="*/ 0 h 5449"/>
                  <a:gd name="T74" fmla="*/ 0 w 5499"/>
                  <a:gd name="T75" fmla="*/ 0 h 5449"/>
                  <a:gd name="T76" fmla="*/ 0 w 5499"/>
                  <a:gd name="T77" fmla="*/ 0 h 5449"/>
                  <a:gd name="T78" fmla="*/ 0 w 5499"/>
                  <a:gd name="T79" fmla="*/ 0 h 5449"/>
                  <a:gd name="T80" fmla="*/ 0 w 5499"/>
                  <a:gd name="T81" fmla="*/ 0 h 5449"/>
                  <a:gd name="T82" fmla="*/ 0 w 5499"/>
                  <a:gd name="T83" fmla="*/ 0 h 5449"/>
                  <a:gd name="T84" fmla="*/ 0 w 5499"/>
                  <a:gd name="T85" fmla="*/ 0 h 5449"/>
                  <a:gd name="T86" fmla="*/ 0 w 5499"/>
                  <a:gd name="T87" fmla="*/ 0 h 5449"/>
                  <a:gd name="T88" fmla="*/ 0 w 5499"/>
                  <a:gd name="T89" fmla="*/ 0 h 5449"/>
                  <a:gd name="T90" fmla="*/ 0 w 5499"/>
                  <a:gd name="T91" fmla="*/ 0 h 5449"/>
                  <a:gd name="T92" fmla="*/ 0 w 5499"/>
                  <a:gd name="T93" fmla="*/ 0 h 5449"/>
                  <a:gd name="T94" fmla="*/ 0 w 5499"/>
                  <a:gd name="T95" fmla="*/ 0 h 5449"/>
                  <a:gd name="T96" fmla="*/ 0 w 5499"/>
                  <a:gd name="T97" fmla="*/ 0 h 5449"/>
                  <a:gd name="T98" fmla="*/ 0 w 5499"/>
                  <a:gd name="T99" fmla="*/ 0 h 5449"/>
                  <a:gd name="T100" fmla="*/ 0 w 5499"/>
                  <a:gd name="T101" fmla="*/ 0 h 5449"/>
                  <a:gd name="T102" fmla="*/ 0 w 5499"/>
                  <a:gd name="T103" fmla="*/ 0 h 5449"/>
                  <a:gd name="T104" fmla="*/ 0 w 5499"/>
                  <a:gd name="T105" fmla="*/ 0 h 5449"/>
                  <a:gd name="T106" fmla="*/ 0 w 5499"/>
                  <a:gd name="T107" fmla="*/ 0 h 5449"/>
                  <a:gd name="T108" fmla="*/ 0 w 5499"/>
                  <a:gd name="T109" fmla="*/ 0 h 5449"/>
                  <a:gd name="T110" fmla="*/ 0 w 5499"/>
                  <a:gd name="T111" fmla="*/ 0 h 5449"/>
                  <a:gd name="T112" fmla="*/ 0 w 5499"/>
                  <a:gd name="T113" fmla="*/ 0 h 5449"/>
                  <a:gd name="T114" fmla="*/ 0 w 5499"/>
                  <a:gd name="T115" fmla="*/ 0 h 5449"/>
                  <a:gd name="T116" fmla="*/ 0 w 5499"/>
                  <a:gd name="T117" fmla="*/ 0 h 5449"/>
                  <a:gd name="T118" fmla="*/ 0 w 5499"/>
                  <a:gd name="T119" fmla="*/ 0 h 5449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5499"/>
                  <a:gd name="T181" fmla="*/ 0 h 5449"/>
                  <a:gd name="T182" fmla="*/ 5499 w 5499"/>
                  <a:gd name="T183" fmla="*/ 5449 h 5449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5499" h="5449">
                    <a:moveTo>
                      <a:pt x="2840" y="52"/>
                    </a:moveTo>
                    <a:lnTo>
                      <a:pt x="2750" y="50"/>
                    </a:lnTo>
                    <a:lnTo>
                      <a:pt x="2691" y="52"/>
                    </a:lnTo>
                    <a:cubicBezTo>
                      <a:pt x="2677" y="53"/>
                      <a:pt x="2666" y="42"/>
                      <a:pt x="2666" y="28"/>
                    </a:cubicBezTo>
                    <a:cubicBezTo>
                      <a:pt x="2665" y="14"/>
                      <a:pt x="2676" y="3"/>
                      <a:pt x="2690" y="2"/>
                    </a:cubicBezTo>
                    <a:lnTo>
                      <a:pt x="2751" y="0"/>
                    </a:lnTo>
                    <a:lnTo>
                      <a:pt x="2841" y="2"/>
                    </a:lnTo>
                    <a:cubicBezTo>
                      <a:pt x="2855" y="3"/>
                      <a:pt x="2866" y="14"/>
                      <a:pt x="2865" y="28"/>
                    </a:cubicBezTo>
                    <a:cubicBezTo>
                      <a:pt x="2865" y="42"/>
                      <a:pt x="2854" y="53"/>
                      <a:pt x="2840" y="52"/>
                    </a:cubicBezTo>
                    <a:close/>
                    <a:moveTo>
                      <a:pt x="2493" y="63"/>
                    </a:moveTo>
                    <a:lnTo>
                      <a:pt x="2473" y="64"/>
                    </a:lnTo>
                    <a:lnTo>
                      <a:pt x="2345" y="80"/>
                    </a:lnTo>
                    <a:cubicBezTo>
                      <a:pt x="2331" y="82"/>
                      <a:pt x="2319" y="72"/>
                      <a:pt x="2317" y="59"/>
                    </a:cubicBezTo>
                    <a:cubicBezTo>
                      <a:pt x="2315" y="45"/>
                      <a:pt x="2325" y="33"/>
                      <a:pt x="2339" y="31"/>
                    </a:cubicBezTo>
                    <a:lnTo>
                      <a:pt x="2470" y="15"/>
                    </a:lnTo>
                    <a:lnTo>
                      <a:pt x="2489" y="13"/>
                    </a:lnTo>
                    <a:cubicBezTo>
                      <a:pt x="2503" y="12"/>
                      <a:pt x="2515" y="23"/>
                      <a:pt x="2516" y="36"/>
                    </a:cubicBezTo>
                    <a:cubicBezTo>
                      <a:pt x="2517" y="50"/>
                      <a:pt x="2506" y="62"/>
                      <a:pt x="2493" y="63"/>
                    </a:cubicBezTo>
                    <a:close/>
                    <a:moveTo>
                      <a:pt x="2151" y="118"/>
                    </a:moveTo>
                    <a:lnTo>
                      <a:pt x="2075" y="135"/>
                    </a:lnTo>
                    <a:lnTo>
                      <a:pt x="2007" y="154"/>
                    </a:lnTo>
                    <a:cubicBezTo>
                      <a:pt x="1994" y="158"/>
                      <a:pt x="1980" y="150"/>
                      <a:pt x="1976" y="137"/>
                    </a:cubicBezTo>
                    <a:cubicBezTo>
                      <a:pt x="1972" y="123"/>
                      <a:pt x="1980" y="109"/>
                      <a:pt x="1993" y="106"/>
                    </a:cubicBezTo>
                    <a:lnTo>
                      <a:pt x="2064" y="86"/>
                    </a:lnTo>
                    <a:lnTo>
                      <a:pt x="2140" y="69"/>
                    </a:lnTo>
                    <a:cubicBezTo>
                      <a:pt x="2153" y="66"/>
                      <a:pt x="2167" y="74"/>
                      <a:pt x="2170" y="88"/>
                    </a:cubicBezTo>
                    <a:cubicBezTo>
                      <a:pt x="2173" y="101"/>
                      <a:pt x="2165" y="114"/>
                      <a:pt x="2151" y="118"/>
                    </a:cubicBezTo>
                    <a:close/>
                    <a:moveTo>
                      <a:pt x="1819" y="214"/>
                    </a:moveTo>
                    <a:lnTo>
                      <a:pt x="1698" y="261"/>
                    </a:lnTo>
                    <a:lnTo>
                      <a:pt x="1681" y="269"/>
                    </a:lnTo>
                    <a:cubicBezTo>
                      <a:pt x="1669" y="275"/>
                      <a:pt x="1654" y="270"/>
                      <a:pt x="1648" y="257"/>
                    </a:cubicBezTo>
                    <a:cubicBezTo>
                      <a:pt x="1642" y="245"/>
                      <a:pt x="1647" y="230"/>
                      <a:pt x="1660" y="224"/>
                    </a:cubicBezTo>
                    <a:lnTo>
                      <a:pt x="1680" y="214"/>
                    </a:lnTo>
                    <a:lnTo>
                      <a:pt x="1801" y="168"/>
                    </a:lnTo>
                    <a:cubicBezTo>
                      <a:pt x="1814" y="163"/>
                      <a:pt x="1828" y="169"/>
                      <a:pt x="1833" y="182"/>
                    </a:cubicBezTo>
                    <a:cubicBezTo>
                      <a:pt x="1838" y="195"/>
                      <a:pt x="1832" y="209"/>
                      <a:pt x="1819" y="214"/>
                    </a:cubicBezTo>
                    <a:close/>
                    <a:moveTo>
                      <a:pt x="1501" y="355"/>
                    </a:moveTo>
                    <a:lnTo>
                      <a:pt x="1462" y="374"/>
                    </a:lnTo>
                    <a:lnTo>
                      <a:pt x="1372" y="428"/>
                    </a:lnTo>
                    <a:cubicBezTo>
                      <a:pt x="1361" y="435"/>
                      <a:pt x="1345" y="431"/>
                      <a:pt x="1338" y="419"/>
                    </a:cubicBezTo>
                    <a:cubicBezTo>
                      <a:pt x="1331" y="408"/>
                      <a:pt x="1335" y="392"/>
                      <a:pt x="1347" y="385"/>
                    </a:cubicBezTo>
                    <a:lnTo>
                      <a:pt x="1441" y="329"/>
                    </a:lnTo>
                    <a:lnTo>
                      <a:pt x="1479" y="310"/>
                    </a:lnTo>
                    <a:cubicBezTo>
                      <a:pt x="1492" y="304"/>
                      <a:pt x="1507" y="310"/>
                      <a:pt x="1513" y="322"/>
                    </a:cubicBezTo>
                    <a:cubicBezTo>
                      <a:pt x="1519" y="335"/>
                      <a:pt x="1513" y="350"/>
                      <a:pt x="1501" y="355"/>
                    </a:cubicBezTo>
                    <a:close/>
                    <a:moveTo>
                      <a:pt x="1206" y="533"/>
                    </a:moveTo>
                    <a:lnTo>
                      <a:pt x="1085" y="623"/>
                    </a:lnTo>
                    <a:cubicBezTo>
                      <a:pt x="1074" y="631"/>
                      <a:pt x="1059" y="629"/>
                      <a:pt x="1050" y="618"/>
                    </a:cubicBezTo>
                    <a:cubicBezTo>
                      <a:pt x="1042" y="607"/>
                      <a:pt x="1044" y="591"/>
                      <a:pt x="1055" y="583"/>
                    </a:cubicBezTo>
                    <a:lnTo>
                      <a:pt x="1176" y="493"/>
                    </a:lnTo>
                    <a:cubicBezTo>
                      <a:pt x="1187" y="485"/>
                      <a:pt x="1202" y="487"/>
                      <a:pt x="1211" y="498"/>
                    </a:cubicBezTo>
                    <a:cubicBezTo>
                      <a:pt x="1219" y="509"/>
                      <a:pt x="1217" y="525"/>
                      <a:pt x="1206" y="533"/>
                    </a:cubicBezTo>
                    <a:close/>
                    <a:moveTo>
                      <a:pt x="934" y="751"/>
                    </a:moveTo>
                    <a:lnTo>
                      <a:pt x="840" y="835"/>
                    </a:lnTo>
                    <a:lnTo>
                      <a:pt x="826" y="851"/>
                    </a:lnTo>
                    <a:cubicBezTo>
                      <a:pt x="817" y="861"/>
                      <a:pt x="801" y="861"/>
                      <a:pt x="791" y="852"/>
                    </a:cubicBezTo>
                    <a:cubicBezTo>
                      <a:pt x="781" y="843"/>
                      <a:pt x="780" y="827"/>
                      <a:pt x="789" y="817"/>
                    </a:cubicBezTo>
                    <a:lnTo>
                      <a:pt x="807" y="798"/>
                    </a:lnTo>
                    <a:lnTo>
                      <a:pt x="901" y="713"/>
                    </a:lnTo>
                    <a:cubicBezTo>
                      <a:pt x="911" y="704"/>
                      <a:pt x="927" y="705"/>
                      <a:pt x="936" y="715"/>
                    </a:cubicBezTo>
                    <a:cubicBezTo>
                      <a:pt x="946" y="725"/>
                      <a:pt x="945" y="741"/>
                      <a:pt x="934" y="751"/>
                    </a:cubicBezTo>
                    <a:close/>
                    <a:moveTo>
                      <a:pt x="691" y="998"/>
                    </a:moveTo>
                    <a:lnTo>
                      <a:pt x="666" y="1025"/>
                    </a:lnTo>
                    <a:lnTo>
                      <a:pt x="599" y="1114"/>
                    </a:lnTo>
                    <a:cubicBezTo>
                      <a:pt x="591" y="1125"/>
                      <a:pt x="575" y="1127"/>
                      <a:pt x="564" y="1118"/>
                    </a:cubicBezTo>
                    <a:cubicBezTo>
                      <a:pt x="553" y="1110"/>
                      <a:pt x="551" y="1094"/>
                      <a:pt x="559" y="1083"/>
                    </a:cubicBezTo>
                    <a:lnTo>
                      <a:pt x="629" y="992"/>
                    </a:lnTo>
                    <a:lnTo>
                      <a:pt x="654" y="964"/>
                    </a:lnTo>
                    <a:cubicBezTo>
                      <a:pt x="663" y="954"/>
                      <a:pt x="679" y="953"/>
                      <a:pt x="689" y="963"/>
                    </a:cubicBezTo>
                    <a:cubicBezTo>
                      <a:pt x="700" y="972"/>
                      <a:pt x="700" y="988"/>
                      <a:pt x="691" y="998"/>
                    </a:cubicBezTo>
                    <a:close/>
                    <a:moveTo>
                      <a:pt x="484" y="1274"/>
                    </a:moveTo>
                    <a:lnTo>
                      <a:pt x="406" y="1402"/>
                    </a:lnTo>
                    <a:cubicBezTo>
                      <a:pt x="399" y="1414"/>
                      <a:pt x="384" y="1417"/>
                      <a:pt x="372" y="1410"/>
                    </a:cubicBezTo>
                    <a:cubicBezTo>
                      <a:pt x="360" y="1403"/>
                      <a:pt x="356" y="1388"/>
                      <a:pt x="363" y="1376"/>
                    </a:cubicBezTo>
                    <a:lnTo>
                      <a:pt x="441" y="1248"/>
                    </a:lnTo>
                    <a:cubicBezTo>
                      <a:pt x="449" y="1236"/>
                      <a:pt x="464" y="1232"/>
                      <a:pt x="476" y="1239"/>
                    </a:cubicBezTo>
                    <a:cubicBezTo>
                      <a:pt x="488" y="1247"/>
                      <a:pt x="491" y="1262"/>
                      <a:pt x="484" y="1274"/>
                    </a:cubicBezTo>
                    <a:close/>
                    <a:moveTo>
                      <a:pt x="315" y="1577"/>
                    </a:moveTo>
                    <a:lnTo>
                      <a:pt x="262" y="1685"/>
                    </a:lnTo>
                    <a:lnTo>
                      <a:pt x="252" y="1711"/>
                    </a:lnTo>
                    <a:cubicBezTo>
                      <a:pt x="247" y="1724"/>
                      <a:pt x="232" y="1730"/>
                      <a:pt x="219" y="1725"/>
                    </a:cubicBezTo>
                    <a:cubicBezTo>
                      <a:pt x="207" y="1720"/>
                      <a:pt x="200" y="1705"/>
                      <a:pt x="205" y="1692"/>
                    </a:cubicBezTo>
                    <a:lnTo>
                      <a:pt x="217" y="1664"/>
                    </a:lnTo>
                    <a:lnTo>
                      <a:pt x="270" y="1555"/>
                    </a:lnTo>
                    <a:cubicBezTo>
                      <a:pt x="276" y="1543"/>
                      <a:pt x="291" y="1537"/>
                      <a:pt x="303" y="1544"/>
                    </a:cubicBezTo>
                    <a:cubicBezTo>
                      <a:pt x="316" y="1550"/>
                      <a:pt x="321" y="1565"/>
                      <a:pt x="315" y="1577"/>
                    </a:cubicBezTo>
                    <a:close/>
                    <a:moveTo>
                      <a:pt x="183" y="1897"/>
                    </a:moveTo>
                    <a:lnTo>
                      <a:pt x="171" y="1931"/>
                    </a:lnTo>
                    <a:lnTo>
                      <a:pt x="140" y="2040"/>
                    </a:lnTo>
                    <a:cubicBezTo>
                      <a:pt x="137" y="2053"/>
                      <a:pt x="123" y="2061"/>
                      <a:pt x="110" y="2057"/>
                    </a:cubicBezTo>
                    <a:cubicBezTo>
                      <a:pt x="96" y="2053"/>
                      <a:pt x="89" y="2039"/>
                      <a:pt x="92" y="2026"/>
                    </a:cubicBezTo>
                    <a:lnTo>
                      <a:pt x="124" y="1914"/>
                    </a:lnTo>
                    <a:lnTo>
                      <a:pt x="135" y="1881"/>
                    </a:lnTo>
                    <a:cubicBezTo>
                      <a:pt x="140" y="1868"/>
                      <a:pt x="154" y="1861"/>
                      <a:pt x="167" y="1865"/>
                    </a:cubicBezTo>
                    <a:cubicBezTo>
                      <a:pt x="180" y="1870"/>
                      <a:pt x="187" y="1884"/>
                      <a:pt x="183" y="1897"/>
                    </a:cubicBezTo>
                    <a:close/>
                    <a:moveTo>
                      <a:pt x="97" y="2232"/>
                    </a:moveTo>
                    <a:lnTo>
                      <a:pt x="81" y="2319"/>
                    </a:lnTo>
                    <a:lnTo>
                      <a:pt x="74" y="2379"/>
                    </a:lnTo>
                    <a:cubicBezTo>
                      <a:pt x="72" y="2393"/>
                      <a:pt x="59" y="2403"/>
                      <a:pt x="46" y="2401"/>
                    </a:cubicBezTo>
                    <a:cubicBezTo>
                      <a:pt x="32" y="2399"/>
                      <a:pt x="22" y="2387"/>
                      <a:pt x="24" y="2373"/>
                    </a:cubicBezTo>
                    <a:lnTo>
                      <a:pt x="32" y="2310"/>
                    </a:lnTo>
                    <a:lnTo>
                      <a:pt x="47" y="2223"/>
                    </a:lnTo>
                    <a:cubicBezTo>
                      <a:pt x="50" y="2210"/>
                      <a:pt x="63" y="2201"/>
                      <a:pt x="77" y="2203"/>
                    </a:cubicBezTo>
                    <a:cubicBezTo>
                      <a:pt x="90" y="2206"/>
                      <a:pt x="99" y="2219"/>
                      <a:pt x="97" y="2232"/>
                    </a:cubicBezTo>
                    <a:close/>
                    <a:moveTo>
                      <a:pt x="54" y="2577"/>
                    </a:moveTo>
                    <a:lnTo>
                      <a:pt x="53" y="2588"/>
                    </a:lnTo>
                    <a:lnTo>
                      <a:pt x="50" y="2725"/>
                    </a:lnTo>
                    <a:cubicBezTo>
                      <a:pt x="50" y="2739"/>
                      <a:pt x="39" y="2750"/>
                      <a:pt x="25" y="2750"/>
                    </a:cubicBezTo>
                    <a:cubicBezTo>
                      <a:pt x="11" y="2750"/>
                      <a:pt x="0" y="2738"/>
                      <a:pt x="0" y="2724"/>
                    </a:cubicBezTo>
                    <a:lnTo>
                      <a:pt x="4" y="2584"/>
                    </a:lnTo>
                    <a:lnTo>
                      <a:pt x="4" y="2573"/>
                    </a:lnTo>
                    <a:cubicBezTo>
                      <a:pt x="6" y="2559"/>
                      <a:pt x="18" y="2549"/>
                      <a:pt x="31" y="2550"/>
                    </a:cubicBezTo>
                    <a:cubicBezTo>
                      <a:pt x="45" y="2551"/>
                      <a:pt x="55" y="2563"/>
                      <a:pt x="54" y="2577"/>
                    </a:cubicBezTo>
                    <a:close/>
                    <a:moveTo>
                      <a:pt x="59" y="2923"/>
                    </a:moveTo>
                    <a:lnTo>
                      <a:pt x="64" y="3000"/>
                    </a:lnTo>
                    <a:lnTo>
                      <a:pt x="73" y="3071"/>
                    </a:lnTo>
                    <a:cubicBezTo>
                      <a:pt x="75" y="3085"/>
                      <a:pt x="65" y="3097"/>
                      <a:pt x="52" y="3099"/>
                    </a:cubicBezTo>
                    <a:cubicBezTo>
                      <a:pt x="38" y="3100"/>
                      <a:pt x="26" y="3091"/>
                      <a:pt x="24" y="3077"/>
                    </a:cubicBezTo>
                    <a:lnTo>
                      <a:pt x="15" y="3003"/>
                    </a:lnTo>
                    <a:lnTo>
                      <a:pt x="9" y="2927"/>
                    </a:lnTo>
                    <a:cubicBezTo>
                      <a:pt x="8" y="2913"/>
                      <a:pt x="18" y="2901"/>
                      <a:pt x="32" y="2900"/>
                    </a:cubicBezTo>
                    <a:cubicBezTo>
                      <a:pt x="46" y="2899"/>
                      <a:pt x="58" y="2909"/>
                      <a:pt x="59" y="2923"/>
                    </a:cubicBezTo>
                    <a:close/>
                    <a:moveTo>
                      <a:pt x="105" y="3266"/>
                    </a:moveTo>
                    <a:lnTo>
                      <a:pt x="136" y="3395"/>
                    </a:lnTo>
                    <a:lnTo>
                      <a:pt x="140" y="3410"/>
                    </a:lnTo>
                    <a:cubicBezTo>
                      <a:pt x="144" y="3423"/>
                      <a:pt x="136" y="3437"/>
                      <a:pt x="123" y="3441"/>
                    </a:cubicBezTo>
                    <a:cubicBezTo>
                      <a:pt x="110" y="3445"/>
                      <a:pt x="96" y="3437"/>
                      <a:pt x="92" y="3424"/>
                    </a:cubicBezTo>
                    <a:lnTo>
                      <a:pt x="87" y="3406"/>
                    </a:lnTo>
                    <a:lnTo>
                      <a:pt x="57" y="3277"/>
                    </a:lnTo>
                    <a:cubicBezTo>
                      <a:pt x="53" y="3264"/>
                      <a:pt x="62" y="3250"/>
                      <a:pt x="75" y="3247"/>
                    </a:cubicBezTo>
                    <a:cubicBezTo>
                      <a:pt x="89" y="3244"/>
                      <a:pt x="102" y="3252"/>
                      <a:pt x="105" y="3266"/>
                    </a:cubicBezTo>
                    <a:close/>
                    <a:moveTo>
                      <a:pt x="199" y="3600"/>
                    </a:moveTo>
                    <a:lnTo>
                      <a:pt x="214" y="3647"/>
                    </a:lnTo>
                    <a:lnTo>
                      <a:pt x="251" y="3739"/>
                    </a:lnTo>
                    <a:cubicBezTo>
                      <a:pt x="257" y="3752"/>
                      <a:pt x="250" y="3766"/>
                      <a:pt x="237" y="3772"/>
                    </a:cubicBezTo>
                    <a:cubicBezTo>
                      <a:pt x="225" y="3777"/>
                      <a:pt x="210" y="3770"/>
                      <a:pt x="205" y="3758"/>
                    </a:cubicBezTo>
                    <a:lnTo>
                      <a:pt x="167" y="3662"/>
                    </a:lnTo>
                    <a:lnTo>
                      <a:pt x="151" y="3616"/>
                    </a:lnTo>
                    <a:cubicBezTo>
                      <a:pt x="147" y="3603"/>
                      <a:pt x="154" y="3589"/>
                      <a:pt x="167" y="3584"/>
                    </a:cubicBezTo>
                    <a:cubicBezTo>
                      <a:pt x="180" y="3580"/>
                      <a:pt x="194" y="3587"/>
                      <a:pt x="199" y="3600"/>
                    </a:cubicBezTo>
                    <a:close/>
                    <a:moveTo>
                      <a:pt x="336" y="3918"/>
                    </a:moveTo>
                    <a:lnTo>
                      <a:pt x="377" y="4002"/>
                    </a:lnTo>
                    <a:lnTo>
                      <a:pt x="406" y="4048"/>
                    </a:lnTo>
                    <a:cubicBezTo>
                      <a:pt x="413" y="4060"/>
                      <a:pt x="409" y="4075"/>
                      <a:pt x="397" y="4083"/>
                    </a:cubicBezTo>
                    <a:cubicBezTo>
                      <a:pt x="385" y="4090"/>
                      <a:pt x="370" y="4086"/>
                      <a:pt x="363" y="4074"/>
                    </a:cubicBezTo>
                    <a:lnTo>
                      <a:pt x="332" y="4023"/>
                    </a:lnTo>
                    <a:lnTo>
                      <a:pt x="291" y="3940"/>
                    </a:lnTo>
                    <a:cubicBezTo>
                      <a:pt x="285" y="3928"/>
                      <a:pt x="290" y="3913"/>
                      <a:pt x="303" y="3907"/>
                    </a:cubicBezTo>
                    <a:cubicBezTo>
                      <a:pt x="315" y="3900"/>
                      <a:pt x="330" y="3906"/>
                      <a:pt x="336" y="3918"/>
                    </a:cubicBezTo>
                    <a:close/>
                    <a:moveTo>
                      <a:pt x="510" y="4219"/>
                    </a:moveTo>
                    <a:lnTo>
                      <a:pt x="512" y="4222"/>
                    </a:lnTo>
                    <a:lnTo>
                      <a:pt x="598" y="4337"/>
                    </a:lnTo>
                    <a:cubicBezTo>
                      <a:pt x="607" y="4348"/>
                      <a:pt x="604" y="4364"/>
                      <a:pt x="593" y="4372"/>
                    </a:cubicBezTo>
                    <a:cubicBezTo>
                      <a:pt x="582" y="4380"/>
                      <a:pt x="567" y="4378"/>
                      <a:pt x="558" y="4367"/>
                    </a:cubicBezTo>
                    <a:lnTo>
                      <a:pt x="469" y="4248"/>
                    </a:lnTo>
                    <a:lnTo>
                      <a:pt x="467" y="4245"/>
                    </a:lnTo>
                    <a:cubicBezTo>
                      <a:pt x="460" y="4233"/>
                      <a:pt x="464" y="4218"/>
                      <a:pt x="475" y="4211"/>
                    </a:cubicBezTo>
                    <a:cubicBezTo>
                      <a:pt x="487" y="4203"/>
                      <a:pt x="503" y="4207"/>
                      <a:pt x="510" y="4219"/>
                    </a:cubicBezTo>
                    <a:close/>
                    <a:moveTo>
                      <a:pt x="724" y="4489"/>
                    </a:moveTo>
                    <a:lnTo>
                      <a:pt x="825" y="4600"/>
                    </a:lnTo>
                    <a:cubicBezTo>
                      <a:pt x="835" y="4610"/>
                      <a:pt x="834" y="4626"/>
                      <a:pt x="824" y="4635"/>
                    </a:cubicBezTo>
                    <a:cubicBezTo>
                      <a:pt x="814" y="4644"/>
                      <a:pt x="798" y="4644"/>
                      <a:pt x="789" y="4633"/>
                    </a:cubicBezTo>
                    <a:lnTo>
                      <a:pt x="687" y="4523"/>
                    </a:lnTo>
                    <a:cubicBezTo>
                      <a:pt x="678" y="4513"/>
                      <a:pt x="678" y="4497"/>
                      <a:pt x="688" y="4488"/>
                    </a:cubicBezTo>
                    <a:cubicBezTo>
                      <a:pt x="699" y="4479"/>
                      <a:pt x="714" y="4479"/>
                      <a:pt x="724" y="4489"/>
                    </a:cubicBezTo>
                    <a:close/>
                    <a:moveTo>
                      <a:pt x="971" y="4734"/>
                    </a:moveTo>
                    <a:lnTo>
                      <a:pt x="1034" y="4791"/>
                    </a:lnTo>
                    <a:lnTo>
                      <a:pt x="1084" y="4828"/>
                    </a:lnTo>
                    <a:cubicBezTo>
                      <a:pt x="1095" y="4836"/>
                      <a:pt x="1097" y="4852"/>
                      <a:pt x="1089" y="4863"/>
                    </a:cubicBezTo>
                    <a:cubicBezTo>
                      <a:pt x="1081" y="4874"/>
                      <a:pt x="1065" y="4876"/>
                      <a:pt x="1054" y="4868"/>
                    </a:cubicBezTo>
                    <a:lnTo>
                      <a:pt x="1001" y="4828"/>
                    </a:lnTo>
                    <a:lnTo>
                      <a:pt x="937" y="4771"/>
                    </a:lnTo>
                    <a:cubicBezTo>
                      <a:pt x="927" y="4761"/>
                      <a:pt x="926" y="4746"/>
                      <a:pt x="935" y="4735"/>
                    </a:cubicBezTo>
                    <a:cubicBezTo>
                      <a:pt x="945" y="4725"/>
                      <a:pt x="960" y="4724"/>
                      <a:pt x="971" y="4734"/>
                    </a:cubicBezTo>
                    <a:close/>
                    <a:moveTo>
                      <a:pt x="1243" y="4945"/>
                    </a:moveTo>
                    <a:lnTo>
                      <a:pt x="1372" y="5022"/>
                    </a:lnTo>
                    <a:cubicBezTo>
                      <a:pt x="1383" y="5029"/>
                      <a:pt x="1387" y="5045"/>
                      <a:pt x="1380" y="5057"/>
                    </a:cubicBezTo>
                    <a:cubicBezTo>
                      <a:pt x="1373" y="5068"/>
                      <a:pt x="1358" y="5072"/>
                      <a:pt x="1346" y="5065"/>
                    </a:cubicBezTo>
                    <a:lnTo>
                      <a:pt x="1217" y="4988"/>
                    </a:lnTo>
                    <a:cubicBezTo>
                      <a:pt x="1205" y="4981"/>
                      <a:pt x="1202" y="4966"/>
                      <a:pt x="1209" y="4954"/>
                    </a:cubicBezTo>
                    <a:cubicBezTo>
                      <a:pt x="1216" y="4942"/>
                      <a:pt x="1231" y="4938"/>
                      <a:pt x="1243" y="4945"/>
                    </a:cubicBezTo>
                    <a:close/>
                    <a:moveTo>
                      <a:pt x="1545" y="5117"/>
                    </a:moveTo>
                    <a:lnTo>
                      <a:pt x="1680" y="5181"/>
                    </a:lnTo>
                    <a:cubicBezTo>
                      <a:pt x="1693" y="5187"/>
                      <a:pt x="1698" y="5202"/>
                      <a:pt x="1692" y="5215"/>
                    </a:cubicBezTo>
                    <a:cubicBezTo>
                      <a:pt x="1686" y="5227"/>
                      <a:pt x="1671" y="5232"/>
                      <a:pt x="1659" y="5226"/>
                    </a:cubicBezTo>
                    <a:lnTo>
                      <a:pt x="1523" y="5162"/>
                    </a:lnTo>
                    <a:cubicBezTo>
                      <a:pt x="1511" y="5156"/>
                      <a:pt x="1506" y="5141"/>
                      <a:pt x="1512" y="5128"/>
                    </a:cubicBezTo>
                    <a:cubicBezTo>
                      <a:pt x="1518" y="5116"/>
                      <a:pt x="1533" y="5111"/>
                      <a:pt x="1545" y="5117"/>
                    </a:cubicBezTo>
                    <a:close/>
                    <a:moveTo>
                      <a:pt x="1864" y="5252"/>
                    </a:moveTo>
                    <a:lnTo>
                      <a:pt x="1948" y="5281"/>
                    </a:lnTo>
                    <a:lnTo>
                      <a:pt x="2006" y="5297"/>
                    </a:lnTo>
                    <a:cubicBezTo>
                      <a:pt x="2019" y="5301"/>
                      <a:pt x="2027" y="5314"/>
                      <a:pt x="2023" y="5328"/>
                    </a:cubicBezTo>
                    <a:cubicBezTo>
                      <a:pt x="2019" y="5341"/>
                      <a:pt x="2006" y="5349"/>
                      <a:pt x="1992" y="5345"/>
                    </a:cubicBezTo>
                    <a:lnTo>
                      <a:pt x="1931" y="5328"/>
                    </a:lnTo>
                    <a:lnTo>
                      <a:pt x="1848" y="5300"/>
                    </a:lnTo>
                    <a:cubicBezTo>
                      <a:pt x="1835" y="5295"/>
                      <a:pt x="1828" y="5281"/>
                      <a:pt x="1832" y="5268"/>
                    </a:cubicBezTo>
                    <a:cubicBezTo>
                      <a:pt x="1837" y="5255"/>
                      <a:pt x="1851" y="5248"/>
                      <a:pt x="1864" y="5252"/>
                    </a:cubicBezTo>
                    <a:close/>
                    <a:moveTo>
                      <a:pt x="2199" y="5344"/>
                    </a:moveTo>
                    <a:lnTo>
                      <a:pt x="2207" y="5346"/>
                    </a:lnTo>
                    <a:lnTo>
                      <a:pt x="2340" y="5370"/>
                    </a:lnTo>
                    <a:lnTo>
                      <a:pt x="2344" y="5370"/>
                    </a:lnTo>
                    <a:cubicBezTo>
                      <a:pt x="2358" y="5372"/>
                      <a:pt x="2367" y="5385"/>
                      <a:pt x="2366" y="5398"/>
                    </a:cubicBezTo>
                    <a:cubicBezTo>
                      <a:pt x="2364" y="5412"/>
                      <a:pt x="2351" y="5422"/>
                      <a:pt x="2338" y="5420"/>
                    </a:cubicBezTo>
                    <a:lnTo>
                      <a:pt x="2331" y="5419"/>
                    </a:lnTo>
                    <a:lnTo>
                      <a:pt x="2196" y="5395"/>
                    </a:lnTo>
                    <a:lnTo>
                      <a:pt x="2188" y="5393"/>
                    </a:lnTo>
                    <a:cubicBezTo>
                      <a:pt x="2174" y="5390"/>
                      <a:pt x="2166" y="5377"/>
                      <a:pt x="2169" y="5363"/>
                    </a:cubicBezTo>
                    <a:cubicBezTo>
                      <a:pt x="2172" y="5350"/>
                      <a:pt x="2185" y="5341"/>
                      <a:pt x="2199" y="5344"/>
                    </a:cubicBezTo>
                    <a:close/>
                    <a:moveTo>
                      <a:pt x="2541" y="5391"/>
                    </a:moveTo>
                    <a:lnTo>
                      <a:pt x="2611" y="5397"/>
                    </a:lnTo>
                    <a:lnTo>
                      <a:pt x="2690" y="5399"/>
                    </a:lnTo>
                    <a:cubicBezTo>
                      <a:pt x="2704" y="5399"/>
                      <a:pt x="2715" y="5411"/>
                      <a:pt x="2714" y="5424"/>
                    </a:cubicBezTo>
                    <a:cubicBezTo>
                      <a:pt x="2714" y="5438"/>
                      <a:pt x="2702" y="5449"/>
                      <a:pt x="2689" y="5449"/>
                    </a:cubicBezTo>
                    <a:lnTo>
                      <a:pt x="2608" y="5446"/>
                    </a:lnTo>
                    <a:lnTo>
                      <a:pt x="2538" y="5441"/>
                    </a:lnTo>
                    <a:cubicBezTo>
                      <a:pt x="2524" y="5440"/>
                      <a:pt x="2514" y="5428"/>
                      <a:pt x="2515" y="5415"/>
                    </a:cubicBezTo>
                    <a:cubicBezTo>
                      <a:pt x="2516" y="5401"/>
                      <a:pt x="2528" y="5390"/>
                      <a:pt x="2541" y="5391"/>
                    </a:cubicBezTo>
                    <a:close/>
                    <a:moveTo>
                      <a:pt x="2889" y="5397"/>
                    </a:moveTo>
                    <a:lnTo>
                      <a:pt x="2890" y="5396"/>
                    </a:lnTo>
                    <a:lnTo>
                      <a:pt x="3028" y="5387"/>
                    </a:lnTo>
                    <a:lnTo>
                      <a:pt x="3036" y="5385"/>
                    </a:lnTo>
                    <a:cubicBezTo>
                      <a:pt x="3049" y="5384"/>
                      <a:pt x="3062" y="5393"/>
                      <a:pt x="3064" y="5407"/>
                    </a:cubicBezTo>
                    <a:cubicBezTo>
                      <a:pt x="3065" y="5421"/>
                      <a:pt x="3056" y="5433"/>
                      <a:pt x="3042" y="5435"/>
                    </a:cubicBezTo>
                    <a:lnTo>
                      <a:pt x="3031" y="5436"/>
                    </a:lnTo>
                    <a:lnTo>
                      <a:pt x="2891" y="5446"/>
                    </a:lnTo>
                    <a:lnTo>
                      <a:pt x="2890" y="5446"/>
                    </a:lnTo>
                    <a:cubicBezTo>
                      <a:pt x="2876" y="5447"/>
                      <a:pt x="2865" y="5436"/>
                      <a:pt x="2864" y="5422"/>
                    </a:cubicBezTo>
                    <a:cubicBezTo>
                      <a:pt x="2864" y="5408"/>
                      <a:pt x="2875" y="5397"/>
                      <a:pt x="2889" y="5397"/>
                    </a:cubicBezTo>
                    <a:close/>
                    <a:moveTo>
                      <a:pt x="3232" y="5357"/>
                    </a:moveTo>
                    <a:lnTo>
                      <a:pt x="3295" y="5346"/>
                    </a:lnTo>
                    <a:lnTo>
                      <a:pt x="3378" y="5327"/>
                    </a:lnTo>
                    <a:cubicBezTo>
                      <a:pt x="3392" y="5324"/>
                      <a:pt x="3405" y="5332"/>
                      <a:pt x="3408" y="5346"/>
                    </a:cubicBezTo>
                    <a:cubicBezTo>
                      <a:pt x="3411" y="5359"/>
                      <a:pt x="3403" y="5373"/>
                      <a:pt x="3389" y="5376"/>
                    </a:cubicBezTo>
                    <a:lnTo>
                      <a:pt x="3304" y="5395"/>
                    </a:lnTo>
                    <a:lnTo>
                      <a:pt x="3241" y="5406"/>
                    </a:lnTo>
                    <a:cubicBezTo>
                      <a:pt x="3228" y="5409"/>
                      <a:pt x="3215" y="5400"/>
                      <a:pt x="3212" y="5386"/>
                    </a:cubicBezTo>
                    <a:cubicBezTo>
                      <a:pt x="3210" y="5373"/>
                      <a:pt x="3219" y="5360"/>
                      <a:pt x="3232" y="5357"/>
                    </a:cubicBezTo>
                    <a:close/>
                    <a:moveTo>
                      <a:pt x="3569" y="5276"/>
                    </a:moveTo>
                    <a:lnTo>
                      <a:pt x="3679" y="5238"/>
                    </a:lnTo>
                    <a:lnTo>
                      <a:pt x="3709" y="5226"/>
                    </a:lnTo>
                    <a:cubicBezTo>
                      <a:pt x="3722" y="5221"/>
                      <a:pt x="3736" y="5228"/>
                      <a:pt x="3741" y="5241"/>
                    </a:cubicBezTo>
                    <a:cubicBezTo>
                      <a:pt x="3746" y="5253"/>
                      <a:pt x="3740" y="5268"/>
                      <a:pt x="3727" y="5273"/>
                    </a:cubicBezTo>
                    <a:lnTo>
                      <a:pt x="3696" y="5285"/>
                    </a:lnTo>
                    <a:lnTo>
                      <a:pt x="3585" y="5323"/>
                    </a:lnTo>
                    <a:cubicBezTo>
                      <a:pt x="3572" y="5327"/>
                      <a:pt x="3557" y="5320"/>
                      <a:pt x="3553" y="5307"/>
                    </a:cubicBezTo>
                    <a:cubicBezTo>
                      <a:pt x="3549" y="5294"/>
                      <a:pt x="3556" y="5280"/>
                      <a:pt x="3569" y="5276"/>
                    </a:cubicBezTo>
                    <a:close/>
                    <a:moveTo>
                      <a:pt x="3891" y="5148"/>
                    </a:moveTo>
                    <a:lnTo>
                      <a:pt x="4026" y="5083"/>
                    </a:lnTo>
                    <a:cubicBezTo>
                      <a:pt x="4039" y="5077"/>
                      <a:pt x="4053" y="5082"/>
                      <a:pt x="4059" y="5095"/>
                    </a:cubicBezTo>
                    <a:cubicBezTo>
                      <a:pt x="4065" y="5107"/>
                      <a:pt x="4060" y="5122"/>
                      <a:pt x="4048" y="5128"/>
                    </a:cubicBezTo>
                    <a:lnTo>
                      <a:pt x="3912" y="5193"/>
                    </a:lnTo>
                    <a:cubicBezTo>
                      <a:pt x="3900" y="5199"/>
                      <a:pt x="3885" y="5194"/>
                      <a:pt x="3879" y="5181"/>
                    </a:cubicBezTo>
                    <a:cubicBezTo>
                      <a:pt x="3873" y="5169"/>
                      <a:pt x="3878" y="5154"/>
                      <a:pt x="3891" y="5148"/>
                    </a:cubicBezTo>
                    <a:close/>
                    <a:moveTo>
                      <a:pt x="4196" y="4982"/>
                    </a:moveTo>
                    <a:lnTo>
                      <a:pt x="4262" y="4943"/>
                    </a:lnTo>
                    <a:lnTo>
                      <a:pt x="4319" y="4901"/>
                    </a:lnTo>
                    <a:cubicBezTo>
                      <a:pt x="4330" y="4892"/>
                      <a:pt x="4346" y="4895"/>
                      <a:pt x="4354" y="4906"/>
                    </a:cubicBezTo>
                    <a:cubicBezTo>
                      <a:pt x="4362" y="4917"/>
                      <a:pt x="4360" y="4933"/>
                      <a:pt x="4349" y="4941"/>
                    </a:cubicBezTo>
                    <a:lnTo>
                      <a:pt x="4287" y="4986"/>
                    </a:lnTo>
                    <a:lnTo>
                      <a:pt x="4222" y="5025"/>
                    </a:lnTo>
                    <a:cubicBezTo>
                      <a:pt x="4210" y="5032"/>
                      <a:pt x="4195" y="5028"/>
                      <a:pt x="4188" y="5017"/>
                    </a:cubicBezTo>
                    <a:cubicBezTo>
                      <a:pt x="4180" y="5005"/>
                      <a:pt x="4184" y="4989"/>
                      <a:pt x="4196" y="4982"/>
                    </a:cubicBezTo>
                    <a:close/>
                    <a:moveTo>
                      <a:pt x="4477" y="4782"/>
                    </a:moveTo>
                    <a:lnTo>
                      <a:pt x="4589" y="4682"/>
                    </a:lnTo>
                    <a:cubicBezTo>
                      <a:pt x="4599" y="4673"/>
                      <a:pt x="4615" y="4674"/>
                      <a:pt x="4624" y="4684"/>
                    </a:cubicBezTo>
                    <a:cubicBezTo>
                      <a:pt x="4633" y="4694"/>
                      <a:pt x="4632" y="4710"/>
                      <a:pt x="4622" y="4719"/>
                    </a:cubicBezTo>
                    <a:lnTo>
                      <a:pt x="4511" y="4820"/>
                    </a:lnTo>
                    <a:cubicBezTo>
                      <a:pt x="4500" y="4829"/>
                      <a:pt x="4485" y="4828"/>
                      <a:pt x="4475" y="4818"/>
                    </a:cubicBezTo>
                    <a:cubicBezTo>
                      <a:pt x="4466" y="4807"/>
                      <a:pt x="4467" y="4792"/>
                      <a:pt x="4477" y="4782"/>
                    </a:cubicBezTo>
                    <a:close/>
                    <a:moveTo>
                      <a:pt x="4729" y="4543"/>
                    </a:moveTo>
                    <a:lnTo>
                      <a:pt x="4830" y="4432"/>
                    </a:lnTo>
                    <a:cubicBezTo>
                      <a:pt x="4839" y="4422"/>
                      <a:pt x="4855" y="4421"/>
                      <a:pt x="4865" y="4431"/>
                    </a:cubicBezTo>
                    <a:cubicBezTo>
                      <a:pt x="4875" y="4440"/>
                      <a:pt x="4876" y="4456"/>
                      <a:pt x="4867" y="4466"/>
                    </a:cubicBezTo>
                    <a:lnTo>
                      <a:pt x="4765" y="4577"/>
                    </a:lnTo>
                    <a:cubicBezTo>
                      <a:pt x="4756" y="4587"/>
                      <a:pt x="4740" y="4587"/>
                      <a:pt x="4730" y="4578"/>
                    </a:cubicBezTo>
                    <a:cubicBezTo>
                      <a:pt x="4720" y="4569"/>
                      <a:pt x="4719" y="4553"/>
                      <a:pt x="4729" y="4543"/>
                    </a:cubicBezTo>
                    <a:close/>
                    <a:moveTo>
                      <a:pt x="4949" y="4275"/>
                    </a:moveTo>
                    <a:lnTo>
                      <a:pt x="4991" y="4220"/>
                    </a:lnTo>
                    <a:lnTo>
                      <a:pt x="5032" y="4153"/>
                    </a:lnTo>
                    <a:cubicBezTo>
                      <a:pt x="5039" y="4141"/>
                      <a:pt x="5054" y="4137"/>
                      <a:pt x="5066" y="4144"/>
                    </a:cubicBezTo>
                    <a:cubicBezTo>
                      <a:pt x="5078" y="4152"/>
                      <a:pt x="5082" y="4167"/>
                      <a:pt x="5074" y="4179"/>
                    </a:cubicBezTo>
                    <a:lnTo>
                      <a:pt x="5030" y="4251"/>
                    </a:lnTo>
                    <a:lnTo>
                      <a:pt x="4989" y="4305"/>
                    </a:lnTo>
                    <a:cubicBezTo>
                      <a:pt x="4981" y="4316"/>
                      <a:pt x="4965" y="4318"/>
                      <a:pt x="4954" y="4310"/>
                    </a:cubicBezTo>
                    <a:cubicBezTo>
                      <a:pt x="4943" y="4302"/>
                      <a:pt x="4941" y="4286"/>
                      <a:pt x="4949" y="4275"/>
                    </a:cubicBezTo>
                    <a:close/>
                    <a:moveTo>
                      <a:pt x="5133" y="3983"/>
                    </a:moveTo>
                    <a:lnTo>
                      <a:pt x="5199" y="3848"/>
                    </a:lnTo>
                    <a:cubicBezTo>
                      <a:pt x="5205" y="3836"/>
                      <a:pt x="5220" y="3831"/>
                      <a:pt x="5232" y="3837"/>
                    </a:cubicBezTo>
                    <a:cubicBezTo>
                      <a:pt x="5245" y="3843"/>
                      <a:pt x="5250" y="3858"/>
                      <a:pt x="5244" y="3870"/>
                    </a:cubicBezTo>
                    <a:lnTo>
                      <a:pt x="5178" y="4005"/>
                    </a:lnTo>
                    <a:cubicBezTo>
                      <a:pt x="5172" y="4017"/>
                      <a:pt x="5157" y="4023"/>
                      <a:pt x="5145" y="4016"/>
                    </a:cubicBezTo>
                    <a:cubicBezTo>
                      <a:pt x="5132" y="4010"/>
                      <a:pt x="5127" y="3995"/>
                      <a:pt x="5133" y="3983"/>
                    </a:cubicBezTo>
                    <a:close/>
                    <a:moveTo>
                      <a:pt x="5279" y="3667"/>
                    </a:moveTo>
                    <a:lnTo>
                      <a:pt x="5287" y="3645"/>
                    </a:lnTo>
                    <a:lnTo>
                      <a:pt x="5328" y="3527"/>
                    </a:lnTo>
                    <a:cubicBezTo>
                      <a:pt x="5332" y="3514"/>
                      <a:pt x="5346" y="3507"/>
                      <a:pt x="5359" y="3511"/>
                    </a:cubicBezTo>
                    <a:cubicBezTo>
                      <a:pt x="5372" y="3516"/>
                      <a:pt x="5379" y="3530"/>
                      <a:pt x="5375" y="3543"/>
                    </a:cubicBezTo>
                    <a:lnTo>
                      <a:pt x="5334" y="3664"/>
                    </a:lnTo>
                    <a:lnTo>
                      <a:pt x="5325" y="3686"/>
                    </a:lnTo>
                    <a:cubicBezTo>
                      <a:pt x="5320" y="3698"/>
                      <a:pt x="5305" y="3705"/>
                      <a:pt x="5292" y="3699"/>
                    </a:cubicBezTo>
                    <a:cubicBezTo>
                      <a:pt x="5280" y="3694"/>
                      <a:pt x="5273" y="3680"/>
                      <a:pt x="5279" y="3667"/>
                    </a:cubicBezTo>
                    <a:close/>
                    <a:moveTo>
                      <a:pt x="5379" y="3336"/>
                    </a:moveTo>
                    <a:lnTo>
                      <a:pt x="5396" y="3264"/>
                    </a:lnTo>
                    <a:lnTo>
                      <a:pt x="5409" y="3190"/>
                    </a:lnTo>
                    <a:cubicBezTo>
                      <a:pt x="5412" y="3177"/>
                      <a:pt x="5425" y="3168"/>
                      <a:pt x="5438" y="3170"/>
                    </a:cubicBezTo>
                    <a:cubicBezTo>
                      <a:pt x="5452" y="3173"/>
                      <a:pt x="5461" y="3186"/>
                      <a:pt x="5459" y="3199"/>
                    </a:cubicBezTo>
                    <a:lnTo>
                      <a:pt x="5445" y="3275"/>
                    </a:lnTo>
                    <a:lnTo>
                      <a:pt x="5428" y="3347"/>
                    </a:lnTo>
                    <a:cubicBezTo>
                      <a:pt x="5425" y="3361"/>
                      <a:pt x="5411" y="3369"/>
                      <a:pt x="5398" y="3366"/>
                    </a:cubicBezTo>
                    <a:cubicBezTo>
                      <a:pt x="5384" y="3363"/>
                      <a:pt x="5376" y="3349"/>
                      <a:pt x="5379" y="3336"/>
                    </a:cubicBezTo>
                    <a:close/>
                    <a:moveTo>
                      <a:pt x="5437" y="2995"/>
                    </a:moveTo>
                    <a:lnTo>
                      <a:pt x="5447" y="2863"/>
                    </a:lnTo>
                    <a:lnTo>
                      <a:pt x="5447" y="2847"/>
                    </a:lnTo>
                    <a:cubicBezTo>
                      <a:pt x="5447" y="2833"/>
                      <a:pt x="5459" y="2822"/>
                      <a:pt x="5473" y="2822"/>
                    </a:cubicBezTo>
                    <a:cubicBezTo>
                      <a:pt x="5486" y="2823"/>
                      <a:pt x="5497" y="2834"/>
                      <a:pt x="5497" y="2848"/>
                    </a:cubicBezTo>
                    <a:lnTo>
                      <a:pt x="5496" y="2866"/>
                    </a:lnTo>
                    <a:lnTo>
                      <a:pt x="5487" y="2999"/>
                    </a:lnTo>
                    <a:cubicBezTo>
                      <a:pt x="5486" y="3012"/>
                      <a:pt x="5474" y="3023"/>
                      <a:pt x="5460" y="3022"/>
                    </a:cubicBezTo>
                    <a:cubicBezTo>
                      <a:pt x="5446" y="3021"/>
                      <a:pt x="5436" y="3009"/>
                      <a:pt x="5437" y="2995"/>
                    </a:cubicBezTo>
                    <a:close/>
                    <a:moveTo>
                      <a:pt x="5448" y="2648"/>
                    </a:moveTo>
                    <a:lnTo>
                      <a:pt x="5446" y="2587"/>
                    </a:lnTo>
                    <a:lnTo>
                      <a:pt x="5440" y="2499"/>
                    </a:lnTo>
                    <a:cubicBezTo>
                      <a:pt x="5439" y="2486"/>
                      <a:pt x="5449" y="2474"/>
                      <a:pt x="5463" y="2473"/>
                    </a:cubicBezTo>
                    <a:cubicBezTo>
                      <a:pt x="5477" y="2472"/>
                      <a:pt x="5489" y="2482"/>
                      <a:pt x="5490" y="2496"/>
                    </a:cubicBezTo>
                    <a:lnTo>
                      <a:pt x="5496" y="2586"/>
                    </a:lnTo>
                    <a:lnTo>
                      <a:pt x="5498" y="2647"/>
                    </a:lnTo>
                    <a:cubicBezTo>
                      <a:pt x="5499" y="2660"/>
                      <a:pt x="5488" y="2672"/>
                      <a:pt x="5474" y="2672"/>
                    </a:cubicBezTo>
                    <a:cubicBezTo>
                      <a:pt x="5460" y="2673"/>
                      <a:pt x="5449" y="2662"/>
                      <a:pt x="5448" y="2648"/>
                    </a:cubicBezTo>
                    <a:close/>
                    <a:moveTo>
                      <a:pt x="5417" y="2303"/>
                    </a:moveTo>
                    <a:lnTo>
                      <a:pt x="5396" y="2186"/>
                    </a:lnTo>
                    <a:lnTo>
                      <a:pt x="5389" y="2158"/>
                    </a:lnTo>
                    <a:cubicBezTo>
                      <a:pt x="5386" y="2144"/>
                      <a:pt x="5394" y="2131"/>
                      <a:pt x="5408" y="2127"/>
                    </a:cubicBezTo>
                    <a:cubicBezTo>
                      <a:pt x="5421" y="2124"/>
                      <a:pt x="5435" y="2133"/>
                      <a:pt x="5438" y="2146"/>
                    </a:cubicBezTo>
                    <a:lnTo>
                      <a:pt x="5445" y="2177"/>
                    </a:lnTo>
                    <a:lnTo>
                      <a:pt x="5466" y="2295"/>
                    </a:lnTo>
                    <a:cubicBezTo>
                      <a:pt x="5469" y="2308"/>
                      <a:pt x="5460" y="2321"/>
                      <a:pt x="5446" y="2324"/>
                    </a:cubicBezTo>
                    <a:cubicBezTo>
                      <a:pt x="5433" y="2326"/>
                      <a:pt x="5420" y="2317"/>
                      <a:pt x="5417" y="2303"/>
                    </a:cubicBezTo>
                    <a:close/>
                    <a:moveTo>
                      <a:pt x="5339" y="1965"/>
                    </a:moveTo>
                    <a:lnTo>
                      <a:pt x="5329" y="1929"/>
                    </a:lnTo>
                    <a:lnTo>
                      <a:pt x="5293" y="1824"/>
                    </a:lnTo>
                    <a:cubicBezTo>
                      <a:pt x="5289" y="1811"/>
                      <a:pt x="5296" y="1797"/>
                      <a:pt x="5309" y="1792"/>
                    </a:cubicBezTo>
                    <a:cubicBezTo>
                      <a:pt x="5322" y="1788"/>
                      <a:pt x="5336" y="1794"/>
                      <a:pt x="5340" y="1808"/>
                    </a:cubicBezTo>
                    <a:lnTo>
                      <a:pt x="5378" y="1916"/>
                    </a:lnTo>
                    <a:lnTo>
                      <a:pt x="5388" y="1951"/>
                    </a:lnTo>
                    <a:cubicBezTo>
                      <a:pt x="5391" y="1965"/>
                      <a:pt x="5384" y="1978"/>
                      <a:pt x="5370" y="1982"/>
                    </a:cubicBezTo>
                    <a:cubicBezTo>
                      <a:pt x="5357" y="1986"/>
                      <a:pt x="5343" y="1978"/>
                      <a:pt x="5339" y="1965"/>
                    </a:cubicBezTo>
                    <a:close/>
                    <a:moveTo>
                      <a:pt x="5218" y="1642"/>
                    </a:moveTo>
                    <a:lnTo>
                      <a:pt x="5152" y="1507"/>
                    </a:lnTo>
                    <a:cubicBezTo>
                      <a:pt x="5146" y="1495"/>
                      <a:pt x="5151" y="1480"/>
                      <a:pt x="5164" y="1474"/>
                    </a:cubicBezTo>
                    <a:cubicBezTo>
                      <a:pt x="5176" y="1468"/>
                      <a:pt x="5191" y="1473"/>
                      <a:pt x="5197" y="1485"/>
                    </a:cubicBezTo>
                    <a:lnTo>
                      <a:pt x="5263" y="1620"/>
                    </a:lnTo>
                    <a:cubicBezTo>
                      <a:pt x="5269" y="1632"/>
                      <a:pt x="5264" y="1647"/>
                      <a:pt x="5251" y="1653"/>
                    </a:cubicBezTo>
                    <a:cubicBezTo>
                      <a:pt x="5239" y="1660"/>
                      <a:pt x="5224" y="1654"/>
                      <a:pt x="5218" y="1642"/>
                    </a:cubicBezTo>
                    <a:close/>
                    <a:moveTo>
                      <a:pt x="5054" y="1336"/>
                    </a:moveTo>
                    <a:lnTo>
                      <a:pt x="4989" y="1228"/>
                    </a:lnTo>
                    <a:lnTo>
                      <a:pt x="4976" y="1211"/>
                    </a:lnTo>
                    <a:cubicBezTo>
                      <a:pt x="4967" y="1200"/>
                      <a:pt x="4969" y="1184"/>
                      <a:pt x="4980" y="1176"/>
                    </a:cubicBezTo>
                    <a:cubicBezTo>
                      <a:pt x="4991" y="1168"/>
                      <a:pt x="5007" y="1170"/>
                      <a:pt x="5015" y="1181"/>
                    </a:cubicBezTo>
                    <a:lnTo>
                      <a:pt x="5032" y="1202"/>
                    </a:lnTo>
                    <a:lnTo>
                      <a:pt x="5097" y="1309"/>
                    </a:lnTo>
                    <a:cubicBezTo>
                      <a:pt x="5104" y="1321"/>
                      <a:pt x="5101" y="1337"/>
                      <a:pt x="5089" y="1344"/>
                    </a:cubicBezTo>
                    <a:cubicBezTo>
                      <a:pt x="5077" y="1351"/>
                      <a:pt x="5062" y="1347"/>
                      <a:pt x="5054" y="1336"/>
                    </a:cubicBezTo>
                    <a:close/>
                    <a:moveTo>
                      <a:pt x="4855" y="1052"/>
                    </a:moveTo>
                    <a:lnTo>
                      <a:pt x="4834" y="1024"/>
                    </a:lnTo>
                    <a:lnTo>
                      <a:pt x="4757" y="941"/>
                    </a:lnTo>
                    <a:cubicBezTo>
                      <a:pt x="4748" y="931"/>
                      <a:pt x="4749" y="915"/>
                      <a:pt x="4759" y="905"/>
                    </a:cubicBezTo>
                    <a:cubicBezTo>
                      <a:pt x="4769" y="896"/>
                      <a:pt x="4785" y="897"/>
                      <a:pt x="4794" y="907"/>
                    </a:cubicBezTo>
                    <a:lnTo>
                      <a:pt x="4873" y="993"/>
                    </a:lnTo>
                    <a:lnTo>
                      <a:pt x="4895" y="1021"/>
                    </a:lnTo>
                    <a:cubicBezTo>
                      <a:pt x="4903" y="1032"/>
                      <a:pt x="4901" y="1048"/>
                      <a:pt x="4890" y="1056"/>
                    </a:cubicBezTo>
                    <a:cubicBezTo>
                      <a:pt x="4879" y="1065"/>
                      <a:pt x="4863" y="1063"/>
                      <a:pt x="4855" y="1052"/>
                    </a:cubicBezTo>
                    <a:close/>
                    <a:moveTo>
                      <a:pt x="4620" y="799"/>
                    </a:moveTo>
                    <a:lnTo>
                      <a:pt x="4509" y="698"/>
                    </a:lnTo>
                    <a:cubicBezTo>
                      <a:pt x="4499" y="689"/>
                      <a:pt x="4498" y="673"/>
                      <a:pt x="4507" y="663"/>
                    </a:cubicBezTo>
                    <a:cubicBezTo>
                      <a:pt x="4516" y="653"/>
                      <a:pt x="4532" y="652"/>
                      <a:pt x="4542" y="661"/>
                    </a:cubicBezTo>
                    <a:lnTo>
                      <a:pt x="4654" y="761"/>
                    </a:lnTo>
                    <a:cubicBezTo>
                      <a:pt x="4664" y="771"/>
                      <a:pt x="4665" y="787"/>
                      <a:pt x="4656" y="797"/>
                    </a:cubicBezTo>
                    <a:cubicBezTo>
                      <a:pt x="4646" y="807"/>
                      <a:pt x="4631" y="808"/>
                      <a:pt x="4620" y="799"/>
                    </a:cubicBezTo>
                    <a:close/>
                    <a:moveTo>
                      <a:pt x="4354" y="576"/>
                    </a:moveTo>
                    <a:lnTo>
                      <a:pt x="4260" y="507"/>
                    </a:lnTo>
                    <a:lnTo>
                      <a:pt x="4233" y="491"/>
                    </a:lnTo>
                    <a:cubicBezTo>
                      <a:pt x="4222" y="484"/>
                      <a:pt x="4218" y="469"/>
                      <a:pt x="4225" y="457"/>
                    </a:cubicBezTo>
                    <a:cubicBezTo>
                      <a:pt x="4232" y="445"/>
                      <a:pt x="4247" y="441"/>
                      <a:pt x="4259" y="448"/>
                    </a:cubicBezTo>
                    <a:lnTo>
                      <a:pt x="4289" y="466"/>
                    </a:lnTo>
                    <a:lnTo>
                      <a:pt x="4383" y="536"/>
                    </a:lnTo>
                    <a:cubicBezTo>
                      <a:pt x="4394" y="544"/>
                      <a:pt x="4397" y="560"/>
                      <a:pt x="4389" y="571"/>
                    </a:cubicBezTo>
                    <a:cubicBezTo>
                      <a:pt x="4380" y="582"/>
                      <a:pt x="4365" y="585"/>
                      <a:pt x="4354" y="576"/>
                    </a:cubicBezTo>
                    <a:close/>
                    <a:moveTo>
                      <a:pt x="4062" y="388"/>
                    </a:moveTo>
                    <a:lnTo>
                      <a:pt x="4037" y="373"/>
                    </a:lnTo>
                    <a:lnTo>
                      <a:pt x="3930" y="322"/>
                    </a:lnTo>
                    <a:cubicBezTo>
                      <a:pt x="3918" y="316"/>
                      <a:pt x="3912" y="301"/>
                      <a:pt x="3918" y="289"/>
                    </a:cubicBezTo>
                    <a:cubicBezTo>
                      <a:pt x="3924" y="276"/>
                      <a:pt x="3939" y="271"/>
                      <a:pt x="3952" y="277"/>
                    </a:cubicBezTo>
                    <a:lnTo>
                      <a:pt x="4062" y="330"/>
                    </a:lnTo>
                    <a:lnTo>
                      <a:pt x="4088" y="345"/>
                    </a:lnTo>
                    <a:cubicBezTo>
                      <a:pt x="4099" y="352"/>
                      <a:pt x="4103" y="368"/>
                      <a:pt x="4096" y="379"/>
                    </a:cubicBezTo>
                    <a:cubicBezTo>
                      <a:pt x="4089" y="391"/>
                      <a:pt x="4074" y="395"/>
                      <a:pt x="4062" y="388"/>
                    </a:cubicBezTo>
                    <a:close/>
                    <a:moveTo>
                      <a:pt x="3750" y="240"/>
                    </a:moveTo>
                    <a:lnTo>
                      <a:pt x="3678" y="213"/>
                    </a:lnTo>
                    <a:lnTo>
                      <a:pt x="3610" y="189"/>
                    </a:lnTo>
                    <a:cubicBezTo>
                      <a:pt x="3597" y="185"/>
                      <a:pt x="3590" y="171"/>
                      <a:pt x="3594" y="158"/>
                    </a:cubicBezTo>
                    <a:cubicBezTo>
                      <a:pt x="3599" y="145"/>
                      <a:pt x="3613" y="138"/>
                      <a:pt x="3626" y="142"/>
                    </a:cubicBezTo>
                    <a:lnTo>
                      <a:pt x="3696" y="166"/>
                    </a:lnTo>
                    <a:lnTo>
                      <a:pt x="3768" y="194"/>
                    </a:lnTo>
                    <a:cubicBezTo>
                      <a:pt x="3781" y="199"/>
                      <a:pt x="3787" y="213"/>
                      <a:pt x="3782" y="226"/>
                    </a:cubicBezTo>
                    <a:cubicBezTo>
                      <a:pt x="3777" y="239"/>
                      <a:pt x="3763" y="245"/>
                      <a:pt x="3750" y="240"/>
                    </a:cubicBezTo>
                    <a:close/>
                    <a:moveTo>
                      <a:pt x="3420" y="134"/>
                    </a:moveTo>
                    <a:lnTo>
                      <a:pt x="3294" y="105"/>
                    </a:lnTo>
                    <a:lnTo>
                      <a:pt x="3275" y="102"/>
                    </a:lnTo>
                    <a:cubicBezTo>
                      <a:pt x="3262" y="99"/>
                      <a:pt x="3252" y="86"/>
                      <a:pt x="3255" y="72"/>
                    </a:cubicBezTo>
                    <a:cubicBezTo>
                      <a:pt x="3257" y="59"/>
                      <a:pt x="3270" y="50"/>
                      <a:pt x="3284" y="52"/>
                    </a:cubicBezTo>
                    <a:lnTo>
                      <a:pt x="3305" y="56"/>
                    </a:lnTo>
                    <a:lnTo>
                      <a:pt x="3432" y="85"/>
                    </a:lnTo>
                    <a:cubicBezTo>
                      <a:pt x="3445" y="88"/>
                      <a:pt x="3453" y="101"/>
                      <a:pt x="3450" y="115"/>
                    </a:cubicBezTo>
                    <a:cubicBezTo>
                      <a:pt x="3447" y="128"/>
                      <a:pt x="3434" y="137"/>
                      <a:pt x="3420" y="134"/>
                    </a:cubicBezTo>
                    <a:close/>
                    <a:moveTo>
                      <a:pt x="3079" y="71"/>
                    </a:moveTo>
                    <a:lnTo>
                      <a:pt x="3026" y="64"/>
                    </a:lnTo>
                    <a:lnTo>
                      <a:pt x="2931" y="57"/>
                    </a:lnTo>
                    <a:cubicBezTo>
                      <a:pt x="2917" y="56"/>
                      <a:pt x="2907" y="44"/>
                      <a:pt x="2908" y="30"/>
                    </a:cubicBezTo>
                    <a:cubicBezTo>
                      <a:pt x="2909" y="16"/>
                      <a:pt x="2921" y="6"/>
                      <a:pt x="2935" y="7"/>
                    </a:cubicBezTo>
                    <a:lnTo>
                      <a:pt x="3033" y="15"/>
                    </a:lnTo>
                    <a:lnTo>
                      <a:pt x="3085" y="21"/>
                    </a:lnTo>
                    <a:cubicBezTo>
                      <a:pt x="3099" y="23"/>
                      <a:pt x="3108" y="35"/>
                      <a:pt x="3107" y="49"/>
                    </a:cubicBezTo>
                    <a:cubicBezTo>
                      <a:pt x="3105" y="63"/>
                      <a:pt x="3093" y="73"/>
                      <a:pt x="3079" y="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2" name="Freeform 20"/>
              <p:cNvSpPr>
                <a:spLocks noEditPoints="1"/>
              </p:cNvSpPr>
              <p:nvPr/>
            </p:nvSpPr>
            <p:spPr bwMode="auto">
              <a:xfrm>
                <a:off x="4067" y="881"/>
                <a:ext cx="805" cy="244"/>
              </a:xfrm>
              <a:custGeom>
                <a:avLst/>
                <a:gdLst>
                  <a:gd name="T0" fmla="*/ 0 w 5500"/>
                  <a:gd name="T1" fmla="*/ 0 h 1776"/>
                  <a:gd name="T2" fmla="*/ 0 w 5500"/>
                  <a:gd name="T3" fmla="*/ 0 h 1776"/>
                  <a:gd name="T4" fmla="*/ 0 w 5500"/>
                  <a:gd name="T5" fmla="*/ 0 h 1776"/>
                  <a:gd name="T6" fmla="*/ 0 w 5500"/>
                  <a:gd name="T7" fmla="*/ 0 h 1776"/>
                  <a:gd name="T8" fmla="*/ 0 w 5500"/>
                  <a:gd name="T9" fmla="*/ 0 h 1776"/>
                  <a:gd name="T10" fmla="*/ 0 w 5500"/>
                  <a:gd name="T11" fmla="*/ 0 h 1776"/>
                  <a:gd name="T12" fmla="*/ 0 w 5500"/>
                  <a:gd name="T13" fmla="*/ 0 h 1776"/>
                  <a:gd name="T14" fmla="*/ 0 w 5500"/>
                  <a:gd name="T15" fmla="*/ 0 h 1776"/>
                  <a:gd name="T16" fmla="*/ 0 w 5500"/>
                  <a:gd name="T17" fmla="*/ 0 h 1776"/>
                  <a:gd name="T18" fmla="*/ 0 w 5500"/>
                  <a:gd name="T19" fmla="*/ 0 h 1776"/>
                  <a:gd name="T20" fmla="*/ 0 w 5500"/>
                  <a:gd name="T21" fmla="*/ 0 h 1776"/>
                  <a:gd name="T22" fmla="*/ 0 w 5500"/>
                  <a:gd name="T23" fmla="*/ 0 h 1776"/>
                  <a:gd name="T24" fmla="*/ 0 w 5500"/>
                  <a:gd name="T25" fmla="*/ 0 h 1776"/>
                  <a:gd name="T26" fmla="*/ 0 w 5500"/>
                  <a:gd name="T27" fmla="*/ 0 h 1776"/>
                  <a:gd name="T28" fmla="*/ 0 w 5500"/>
                  <a:gd name="T29" fmla="*/ 0 h 1776"/>
                  <a:gd name="T30" fmla="*/ 0 w 5500"/>
                  <a:gd name="T31" fmla="*/ 0 h 1776"/>
                  <a:gd name="T32" fmla="*/ 0 w 5500"/>
                  <a:gd name="T33" fmla="*/ 0 h 1776"/>
                  <a:gd name="T34" fmla="*/ 0 w 5500"/>
                  <a:gd name="T35" fmla="*/ 0 h 1776"/>
                  <a:gd name="T36" fmla="*/ 0 w 5500"/>
                  <a:gd name="T37" fmla="*/ 0 h 1776"/>
                  <a:gd name="T38" fmla="*/ 0 w 5500"/>
                  <a:gd name="T39" fmla="*/ 0 h 1776"/>
                  <a:gd name="T40" fmla="*/ 0 w 5500"/>
                  <a:gd name="T41" fmla="*/ 0 h 1776"/>
                  <a:gd name="T42" fmla="*/ 0 w 5500"/>
                  <a:gd name="T43" fmla="*/ 0 h 1776"/>
                  <a:gd name="T44" fmla="*/ 0 w 5500"/>
                  <a:gd name="T45" fmla="*/ 0 h 1776"/>
                  <a:gd name="T46" fmla="*/ 0 w 5500"/>
                  <a:gd name="T47" fmla="*/ 0 h 1776"/>
                  <a:gd name="T48" fmla="*/ 0 w 5500"/>
                  <a:gd name="T49" fmla="*/ 0 h 1776"/>
                  <a:gd name="T50" fmla="*/ 0 w 5500"/>
                  <a:gd name="T51" fmla="*/ 0 h 1776"/>
                  <a:gd name="T52" fmla="*/ 0 w 5500"/>
                  <a:gd name="T53" fmla="*/ 0 h 1776"/>
                  <a:gd name="T54" fmla="*/ 0 w 5500"/>
                  <a:gd name="T55" fmla="*/ 0 h 1776"/>
                  <a:gd name="T56" fmla="*/ 0 w 5500"/>
                  <a:gd name="T57" fmla="*/ 0 h 1776"/>
                  <a:gd name="T58" fmla="*/ 0 w 5500"/>
                  <a:gd name="T59" fmla="*/ 0 h 1776"/>
                  <a:gd name="T60" fmla="*/ 0 w 5500"/>
                  <a:gd name="T61" fmla="*/ 0 h 1776"/>
                  <a:gd name="T62" fmla="*/ 0 w 5500"/>
                  <a:gd name="T63" fmla="*/ 0 h 1776"/>
                  <a:gd name="T64" fmla="*/ 0 w 5500"/>
                  <a:gd name="T65" fmla="*/ 0 h 1776"/>
                  <a:gd name="T66" fmla="*/ 0 w 5500"/>
                  <a:gd name="T67" fmla="*/ 0 h 1776"/>
                  <a:gd name="T68" fmla="*/ 0 w 5500"/>
                  <a:gd name="T69" fmla="*/ 0 h 1776"/>
                  <a:gd name="T70" fmla="*/ 0 w 5500"/>
                  <a:gd name="T71" fmla="*/ 0 h 1776"/>
                  <a:gd name="T72" fmla="*/ 0 w 5500"/>
                  <a:gd name="T73" fmla="*/ 0 h 1776"/>
                  <a:gd name="T74" fmla="*/ 0 w 5500"/>
                  <a:gd name="T75" fmla="*/ 0 h 1776"/>
                  <a:gd name="T76" fmla="*/ 0 w 5500"/>
                  <a:gd name="T77" fmla="*/ 0 h 1776"/>
                  <a:gd name="T78" fmla="*/ 0 w 5500"/>
                  <a:gd name="T79" fmla="*/ 0 h 1776"/>
                  <a:gd name="T80" fmla="*/ 0 w 5500"/>
                  <a:gd name="T81" fmla="*/ 0 h 1776"/>
                  <a:gd name="T82" fmla="*/ 0 w 5500"/>
                  <a:gd name="T83" fmla="*/ 0 h 1776"/>
                  <a:gd name="T84" fmla="*/ 0 w 5500"/>
                  <a:gd name="T85" fmla="*/ 0 h 1776"/>
                  <a:gd name="T86" fmla="*/ 0 w 5500"/>
                  <a:gd name="T87" fmla="*/ 0 h 1776"/>
                  <a:gd name="T88" fmla="*/ 0 w 5500"/>
                  <a:gd name="T89" fmla="*/ 0 h 1776"/>
                  <a:gd name="T90" fmla="*/ 0 w 5500"/>
                  <a:gd name="T91" fmla="*/ 0 h 1776"/>
                  <a:gd name="T92" fmla="*/ 0 w 5500"/>
                  <a:gd name="T93" fmla="*/ 0 h 1776"/>
                  <a:gd name="T94" fmla="*/ 0 w 5500"/>
                  <a:gd name="T95" fmla="*/ 0 h 1776"/>
                  <a:gd name="T96" fmla="*/ 0 w 5500"/>
                  <a:gd name="T97" fmla="*/ 0 h 1776"/>
                  <a:gd name="T98" fmla="*/ 0 w 5500"/>
                  <a:gd name="T99" fmla="*/ 0 h 1776"/>
                  <a:gd name="T100" fmla="*/ 0 w 5500"/>
                  <a:gd name="T101" fmla="*/ 0 h 1776"/>
                  <a:gd name="T102" fmla="*/ 0 w 5500"/>
                  <a:gd name="T103" fmla="*/ 0 h 1776"/>
                  <a:gd name="T104" fmla="*/ 0 w 5500"/>
                  <a:gd name="T105" fmla="*/ 0 h 1776"/>
                  <a:gd name="T106" fmla="*/ 0 w 5500"/>
                  <a:gd name="T107" fmla="*/ 0 h 1776"/>
                  <a:gd name="T108" fmla="*/ 0 w 5500"/>
                  <a:gd name="T109" fmla="*/ 0 h 1776"/>
                  <a:gd name="T110" fmla="*/ 0 w 5500"/>
                  <a:gd name="T111" fmla="*/ 0 h 1776"/>
                  <a:gd name="T112" fmla="*/ 0 w 5500"/>
                  <a:gd name="T113" fmla="*/ 0 h 1776"/>
                  <a:gd name="T114" fmla="*/ 0 w 5500"/>
                  <a:gd name="T115" fmla="*/ 0 h 1776"/>
                  <a:gd name="T116" fmla="*/ 0 w 5500"/>
                  <a:gd name="T117" fmla="*/ 0 h 1776"/>
                  <a:gd name="T118" fmla="*/ 0 w 5500"/>
                  <a:gd name="T119" fmla="*/ 0 h 1776"/>
                  <a:gd name="T120" fmla="*/ 0 w 5500"/>
                  <a:gd name="T121" fmla="*/ 0 h 1776"/>
                  <a:gd name="T122" fmla="*/ 0 w 5500"/>
                  <a:gd name="T123" fmla="*/ 0 h 1776"/>
                  <a:gd name="T124" fmla="*/ 0 w 5500"/>
                  <a:gd name="T125" fmla="*/ 0 h 177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5500"/>
                  <a:gd name="T190" fmla="*/ 0 h 1776"/>
                  <a:gd name="T191" fmla="*/ 5500 w 5500"/>
                  <a:gd name="T192" fmla="*/ 1776 h 177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5500" h="1776">
                    <a:moveTo>
                      <a:pt x="2979" y="53"/>
                    </a:moveTo>
                    <a:lnTo>
                      <a:pt x="2829" y="51"/>
                    </a:lnTo>
                    <a:cubicBezTo>
                      <a:pt x="2815" y="50"/>
                      <a:pt x="2804" y="39"/>
                      <a:pt x="2804" y="25"/>
                    </a:cubicBezTo>
                    <a:cubicBezTo>
                      <a:pt x="2805" y="11"/>
                      <a:pt x="2816" y="0"/>
                      <a:pt x="2830" y="1"/>
                    </a:cubicBezTo>
                    <a:lnTo>
                      <a:pt x="2980" y="3"/>
                    </a:lnTo>
                    <a:cubicBezTo>
                      <a:pt x="2994" y="3"/>
                      <a:pt x="3005" y="14"/>
                      <a:pt x="3004" y="28"/>
                    </a:cubicBezTo>
                    <a:cubicBezTo>
                      <a:pt x="3004" y="42"/>
                      <a:pt x="2993" y="53"/>
                      <a:pt x="2979" y="53"/>
                    </a:cubicBezTo>
                    <a:close/>
                    <a:moveTo>
                      <a:pt x="2630" y="51"/>
                    </a:moveTo>
                    <a:lnTo>
                      <a:pt x="2480" y="53"/>
                    </a:lnTo>
                    <a:cubicBezTo>
                      <a:pt x="2466" y="54"/>
                      <a:pt x="2455" y="43"/>
                      <a:pt x="2455" y="29"/>
                    </a:cubicBezTo>
                    <a:cubicBezTo>
                      <a:pt x="2454" y="15"/>
                      <a:pt x="2465" y="4"/>
                      <a:pt x="2479" y="3"/>
                    </a:cubicBezTo>
                    <a:lnTo>
                      <a:pt x="2629" y="1"/>
                    </a:lnTo>
                    <a:cubicBezTo>
                      <a:pt x="2643" y="1"/>
                      <a:pt x="2654" y="12"/>
                      <a:pt x="2655" y="26"/>
                    </a:cubicBezTo>
                    <a:cubicBezTo>
                      <a:pt x="2655" y="40"/>
                      <a:pt x="2644" y="51"/>
                      <a:pt x="2630" y="51"/>
                    </a:cubicBezTo>
                    <a:close/>
                    <a:moveTo>
                      <a:pt x="2281" y="63"/>
                    </a:moveTo>
                    <a:lnTo>
                      <a:pt x="2203" y="67"/>
                    </a:lnTo>
                    <a:lnTo>
                      <a:pt x="2132" y="73"/>
                    </a:lnTo>
                    <a:cubicBezTo>
                      <a:pt x="2118" y="74"/>
                      <a:pt x="2106" y="64"/>
                      <a:pt x="2105" y="50"/>
                    </a:cubicBezTo>
                    <a:cubicBezTo>
                      <a:pt x="2104" y="36"/>
                      <a:pt x="2114" y="24"/>
                      <a:pt x="2128" y="23"/>
                    </a:cubicBezTo>
                    <a:lnTo>
                      <a:pt x="2200" y="18"/>
                    </a:lnTo>
                    <a:lnTo>
                      <a:pt x="2278" y="13"/>
                    </a:lnTo>
                    <a:cubicBezTo>
                      <a:pt x="2292" y="13"/>
                      <a:pt x="2304" y="23"/>
                      <a:pt x="2305" y="37"/>
                    </a:cubicBezTo>
                    <a:cubicBezTo>
                      <a:pt x="2305" y="51"/>
                      <a:pt x="2295" y="63"/>
                      <a:pt x="2281" y="63"/>
                    </a:cubicBezTo>
                    <a:close/>
                    <a:moveTo>
                      <a:pt x="1934" y="89"/>
                    </a:moveTo>
                    <a:lnTo>
                      <a:pt x="1785" y="107"/>
                    </a:lnTo>
                    <a:cubicBezTo>
                      <a:pt x="1771" y="108"/>
                      <a:pt x="1759" y="98"/>
                      <a:pt x="1757" y="85"/>
                    </a:cubicBezTo>
                    <a:cubicBezTo>
                      <a:pt x="1755" y="71"/>
                      <a:pt x="1765" y="59"/>
                      <a:pt x="1779" y="57"/>
                    </a:cubicBezTo>
                    <a:lnTo>
                      <a:pt x="1928" y="40"/>
                    </a:lnTo>
                    <a:cubicBezTo>
                      <a:pt x="1942" y="38"/>
                      <a:pt x="1954" y="48"/>
                      <a:pt x="1956" y="62"/>
                    </a:cubicBezTo>
                    <a:cubicBezTo>
                      <a:pt x="1957" y="75"/>
                      <a:pt x="1947" y="88"/>
                      <a:pt x="1934" y="89"/>
                    </a:cubicBezTo>
                    <a:close/>
                    <a:moveTo>
                      <a:pt x="1587" y="133"/>
                    </a:moveTo>
                    <a:lnTo>
                      <a:pt x="1455" y="153"/>
                    </a:lnTo>
                    <a:lnTo>
                      <a:pt x="1440" y="156"/>
                    </a:lnTo>
                    <a:cubicBezTo>
                      <a:pt x="1427" y="159"/>
                      <a:pt x="1414" y="150"/>
                      <a:pt x="1411" y="136"/>
                    </a:cubicBezTo>
                    <a:cubicBezTo>
                      <a:pt x="1408" y="123"/>
                      <a:pt x="1417" y="110"/>
                      <a:pt x="1431" y="107"/>
                    </a:cubicBezTo>
                    <a:lnTo>
                      <a:pt x="1448" y="104"/>
                    </a:lnTo>
                    <a:lnTo>
                      <a:pt x="1580" y="84"/>
                    </a:lnTo>
                    <a:cubicBezTo>
                      <a:pt x="1594" y="82"/>
                      <a:pt x="1606" y="91"/>
                      <a:pt x="1608" y="105"/>
                    </a:cubicBezTo>
                    <a:cubicBezTo>
                      <a:pt x="1610" y="118"/>
                      <a:pt x="1601" y="131"/>
                      <a:pt x="1587" y="133"/>
                    </a:cubicBezTo>
                    <a:close/>
                    <a:moveTo>
                      <a:pt x="1244" y="195"/>
                    </a:moveTo>
                    <a:lnTo>
                      <a:pt x="1231" y="197"/>
                    </a:lnTo>
                    <a:lnTo>
                      <a:pt x="1099" y="228"/>
                    </a:lnTo>
                    <a:cubicBezTo>
                      <a:pt x="1085" y="231"/>
                      <a:pt x="1072" y="223"/>
                      <a:pt x="1069" y="209"/>
                    </a:cubicBezTo>
                    <a:cubicBezTo>
                      <a:pt x="1065" y="196"/>
                      <a:pt x="1074" y="183"/>
                      <a:pt x="1087" y="179"/>
                    </a:cubicBezTo>
                    <a:lnTo>
                      <a:pt x="1222" y="148"/>
                    </a:lnTo>
                    <a:lnTo>
                      <a:pt x="1234" y="145"/>
                    </a:lnTo>
                    <a:cubicBezTo>
                      <a:pt x="1248" y="143"/>
                      <a:pt x="1261" y="152"/>
                      <a:pt x="1264" y="165"/>
                    </a:cubicBezTo>
                    <a:cubicBezTo>
                      <a:pt x="1266" y="179"/>
                      <a:pt x="1257" y="192"/>
                      <a:pt x="1244" y="195"/>
                    </a:cubicBezTo>
                    <a:close/>
                    <a:moveTo>
                      <a:pt x="907" y="279"/>
                    </a:moveTo>
                    <a:lnTo>
                      <a:pt x="830" y="301"/>
                    </a:lnTo>
                    <a:lnTo>
                      <a:pt x="765" y="324"/>
                    </a:lnTo>
                    <a:cubicBezTo>
                      <a:pt x="752" y="329"/>
                      <a:pt x="738" y="322"/>
                      <a:pt x="733" y="309"/>
                    </a:cubicBezTo>
                    <a:cubicBezTo>
                      <a:pt x="729" y="296"/>
                      <a:pt x="736" y="281"/>
                      <a:pt x="749" y="277"/>
                    </a:cubicBezTo>
                    <a:lnTo>
                      <a:pt x="817" y="253"/>
                    </a:lnTo>
                    <a:lnTo>
                      <a:pt x="893" y="231"/>
                    </a:lnTo>
                    <a:cubicBezTo>
                      <a:pt x="906" y="228"/>
                      <a:pt x="920" y="235"/>
                      <a:pt x="924" y="248"/>
                    </a:cubicBezTo>
                    <a:cubicBezTo>
                      <a:pt x="928" y="262"/>
                      <a:pt x="920" y="276"/>
                      <a:pt x="907" y="279"/>
                    </a:cubicBezTo>
                    <a:close/>
                    <a:moveTo>
                      <a:pt x="580" y="395"/>
                    </a:moveTo>
                    <a:lnTo>
                      <a:pt x="500" y="428"/>
                    </a:lnTo>
                    <a:lnTo>
                      <a:pt x="446" y="457"/>
                    </a:lnTo>
                    <a:cubicBezTo>
                      <a:pt x="433" y="463"/>
                      <a:pt x="418" y="459"/>
                      <a:pt x="412" y="446"/>
                    </a:cubicBezTo>
                    <a:cubicBezTo>
                      <a:pt x="406" y="434"/>
                      <a:pt x="410" y="419"/>
                      <a:pt x="423" y="413"/>
                    </a:cubicBezTo>
                    <a:lnTo>
                      <a:pt x="481" y="382"/>
                    </a:lnTo>
                    <a:lnTo>
                      <a:pt x="560" y="349"/>
                    </a:lnTo>
                    <a:cubicBezTo>
                      <a:pt x="573" y="343"/>
                      <a:pt x="588" y="349"/>
                      <a:pt x="593" y="362"/>
                    </a:cubicBezTo>
                    <a:cubicBezTo>
                      <a:pt x="598" y="374"/>
                      <a:pt x="593" y="389"/>
                      <a:pt x="580" y="395"/>
                    </a:cubicBezTo>
                    <a:close/>
                    <a:moveTo>
                      <a:pt x="276" y="558"/>
                    </a:moveTo>
                    <a:lnTo>
                      <a:pt x="253" y="573"/>
                    </a:lnTo>
                    <a:lnTo>
                      <a:pt x="206" y="611"/>
                    </a:lnTo>
                    <a:lnTo>
                      <a:pt x="166" y="650"/>
                    </a:lnTo>
                    <a:lnTo>
                      <a:pt x="166" y="649"/>
                    </a:lnTo>
                    <a:cubicBezTo>
                      <a:pt x="157" y="660"/>
                      <a:pt x="141" y="661"/>
                      <a:pt x="131" y="651"/>
                    </a:cubicBezTo>
                    <a:cubicBezTo>
                      <a:pt x="120" y="642"/>
                      <a:pt x="120" y="626"/>
                      <a:pt x="129" y="616"/>
                    </a:cubicBezTo>
                    <a:lnTo>
                      <a:pt x="131" y="613"/>
                    </a:lnTo>
                    <a:lnTo>
                      <a:pt x="175" y="572"/>
                    </a:lnTo>
                    <a:lnTo>
                      <a:pt x="226" y="532"/>
                    </a:lnTo>
                    <a:lnTo>
                      <a:pt x="249" y="516"/>
                    </a:lnTo>
                    <a:cubicBezTo>
                      <a:pt x="260" y="509"/>
                      <a:pt x="276" y="512"/>
                      <a:pt x="283" y="523"/>
                    </a:cubicBezTo>
                    <a:cubicBezTo>
                      <a:pt x="291" y="535"/>
                      <a:pt x="288" y="550"/>
                      <a:pt x="276" y="558"/>
                    </a:cubicBezTo>
                    <a:close/>
                    <a:moveTo>
                      <a:pt x="63" y="808"/>
                    </a:moveTo>
                    <a:lnTo>
                      <a:pt x="63" y="809"/>
                    </a:lnTo>
                    <a:lnTo>
                      <a:pt x="64" y="806"/>
                    </a:lnTo>
                    <a:lnTo>
                      <a:pt x="54" y="850"/>
                    </a:lnTo>
                    <a:lnTo>
                      <a:pt x="50" y="891"/>
                    </a:lnTo>
                    <a:lnTo>
                      <a:pt x="50" y="886"/>
                    </a:lnTo>
                    <a:lnTo>
                      <a:pt x="54" y="930"/>
                    </a:lnTo>
                    <a:lnTo>
                      <a:pt x="57" y="942"/>
                    </a:lnTo>
                    <a:cubicBezTo>
                      <a:pt x="60" y="955"/>
                      <a:pt x="52" y="969"/>
                      <a:pt x="38" y="972"/>
                    </a:cubicBezTo>
                    <a:cubicBezTo>
                      <a:pt x="25" y="975"/>
                      <a:pt x="12" y="966"/>
                      <a:pt x="8" y="953"/>
                    </a:cubicBezTo>
                    <a:lnTo>
                      <a:pt x="5" y="935"/>
                    </a:lnTo>
                    <a:lnTo>
                      <a:pt x="1" y="891"/>
                    </a:lnTo>
                    <a:cubicBezTo>
                      <a:pt x="0" y="889"/>
                      <a:pt x="0" y="888"/>
                      <a:pt x="1" y="886"/>
                    </a:cubicBezTo>
                    <a:lnTo>
                      <a:pt x="5" y="839"/>
                    </a:lnTo>
                    <a:lnTo>
                      <a:pt x="15" y="795"/>
                    </a:lnTo>
                    <a:cubicBezTo>
                      <a:pt x="15" y="794"/>
                      <a:pt x="16" y="793"/>
                      <a:pt x="16" y="791"/>
                    </a:cubicBezTo>
                    <a:lnTo>
                      <a:pt x="17" y="790"/>
                    </a:lnTo>
                    <a:cubicBezTo>
                      <a:pt x="22" y="777"/>
                      <a:pt x="36" y="771"/>
                      <a:pt x="49" y="776"/>
                    </a:cubicBezTo>
                    <a:cubicBezTo>
                      <a:pt x="62" y="781"/>
                      <a:pt x="68" y="795"/>
                      <a:pt x="63" y="808"/>
                    </a:cubicBezTo>
                    <a:close/>
                    <a:moveTo>
                      <a:pt x="145" y="1104"/>
                    </a:moveTo>
                    <a:lnTo>
                      <a:pt x="167" y="1129"/>
                    </a:lnTo>
                    <a:lnTo>
                      <a:pt x="208" y="1167"/>
                    </a:lnTo>
                    <a:lnTo>
                      <a:pt x="252" y="1203"/>
                    </a:lnTo>
                    <a:cubicBezTo>
                      <a:pt x="263" y="1211"/>
                      <a:pt x="265" y="1227"/>
                      <a:pt x="256" y="1238"/>
                    </a:cubicBezTo>
                    <a:cubicBezTo>
                      <a:pt x="248" y="1249"/>
                      <a:pt x="232" y="1250"/>
                      <a:pt x="221" y="1242"/>
                    </a:cubicBezTo>
                    <a:lnTo>
                      <a:pt x="173" y="1204"/>
                    </a:lnTo>
                    <a:lnTo>
                      <a:pt x="130" y="1162"/>
                    </a:lnTo>
                    <a:lnTo>
                      <a:pt x="108" y="1138"/>
                    </a:lnTo>
                    <a:cubicBezTo>
                      <a:pt x="99" y="1128"/>
                      <a:pt x="99" y="1112"/>
                      <a:pt x="110" y="1102"/>
                    </a:cubicBezTo>
                    <a:cubicBezTo>
                      <a:pt x="120" y="1093"/>
                      <a:pt x="136" y="1094"/>
                      <a:pt x="145" y="1104"/>
                    </a:cubicBezTo>
                    <a:close/>
                    <a:moveTo>
                      <a:pt x="418" y="1305"/>
                    </a:moveTo>
                    <a:lnTo>
                      <a:pt x="502" y="1349"/>
                    </a:lnTo>
                    <a:lnTo>
                      <a:pt x="551" y="1370"/>
                    </a:lnTo>
                    <a:cubicBezTo>
                      <a:pt x="564" y="1375"/>
                      <a:pt x="570" y="1390"/>
                      <a:pt x="564" y="1403"/>
                    </a:cubicBezTo>
                    <a:cubicBezTo>
                      <a:pt x="559" y="1415"/>
                      <a:pt x="544" y="1421"/>
                      <a:pt x="532" y="1416"/>
                    </a:cubicBezTo>
                    <a:lnTo>
                      <a:pt x="479" y="1394"/>
                    </a:lnTo>
                    <a:lnTo>
                      <a:pt x="395" y="1350"/>
                    </a:lnTo>
                    <a:cubicBezTo>
                      <a:pt x="383" y="1343"/>
                      <a:pt x="378" y="1328"/>
                      <a:pt x="384" y="1316"/>
                    </a:cubicBezTo>
                    <a:cubicBezTo>
                      <a:pt x="391" y="1304"/>
                      <a:pt x="406" y="1299"/>
                      <a:pt x="418" y="1305"/>
                    </a:cubicBezTo>
                    <a:close/>
                    <a:moveTo>
                      <a:pt x="736" y="1442"/>
                    </a:moveTo>
                    <a:lnTo>
                      <a:pt x="832" y="1475"/>
                    </a:lnTo>
                    <a:lnTo>
                      <a:pt x="877" y="1488"/>
                    </a:lnTo>
                    <a:cubicBezTo>
                      <a:pt x="890" y="1492"/>
                      <a:pt x="898" y="1506"/>
                      <a:pt x="894" y="1519"/>
                    </a:cubicBezTo>
                    <a:cubicBezTo>
                      <a:pt x="890" y="1532"/>
                      <a:pt x="877" y="1540"/>
                      <a:pt x="863" y="1536"/>
                    </a:cubicBezTo>
                    <a:lnTo>
                      <a:pt x="815" y="1522"/>
                    </a:lnTo>
                    <a:lnTo>
                      <a:pt x="720" y="1489"/>
                    </a:lnTo>
                    <a:cubicBezTo>
                      <a:pt x="706" y="1484"/>
                      <a:pt x="700" y="1470"/>
                      <a:pt x="704" y="1457"/>
                    </a:cubicBezTo>
                    <a:cubicBezTo>
                      <a:pt x="709" y="1444"/>
                      <a:pt x="723" y="1437"/>
                      <a:pt x="736" y="1442"/>
                    </a:cubicBezTo>
                    <a:close/>
                    <a:moveTo>
                      <a:pt x="1069" y="1541"/>
                    </a:moveTo>
                    <a:lnTo>
                      <a:pt x="1215" y="1576"/>
                    </a:lnTo>
                    <a:cubicBezTo>
                      <a:pt x="1228" y="1579"/>
                      <a:pt x="1236" y="1593"/>
                      <a:pt x="1233" y="1606"/>
                    </a:cubicBezTo>
                    <a:cubicBezTo>
                      <a:pt x="1230" y="1619"/>
                      <a:pt x="1216" y="1628"/>
                      <a:pt x="1203" y="1625"/>
                    </a:cubicBezTo>
                    <a:lnTo>
                      <a:pt x="1057" y="1590"/>
                    </a:lnTo>
                    <a:cubicBezTo>
                      <a:pt x="1044" y="1586"/>
                      <a:pt x="1035" y="1573"/>
                      <a:pt x="1039" y="1560"/>
                    </a:cubicBezTo>
                    <a:cubicBezTo>
                      <a:pt x="1042" y="1546"/>
                      <a:pt x="1055" y="1538"/>
                      <a:pt x="1069" y="1541"/>
                    </a:cubicBezTo>
                    <a:close/>
                    <a:moveTo>
                      <a:pt x="1410" y="1614"/>
                    </a:moveTo>
                    <a:lnTo>
                      <a:pt x="1456" y="1623"/>
                    </a:lnTo>
                    <a:lnTo>
                      <a:pt x="1557" y="1638"/>
                    </a:lnTo>
                    <a:cubicBezTo>
                      <a:pt x="1570" y="1640"/>
                      <a:pt x="1580" y="1653"/>
                      <a:pt x="1578" y="1667"/>
                    </a:cubicBezTo>
                    <a:cubicBezTo>
                      <a:pt x="1576" y="1680"/>
                      <a:pt x="1563" y="1690"/>
                      <a:pt x="1549" y="1688"/>
                    </a:cubicBezTo>
                    <a:lnTo>
                      <a:pt x="1447" y="1672"/>
                    </a:lnTo>
                    <a:lnTo>
                      <a:pt x="1400" y="1663"/>
                    </a:lnTo>
                    <a:cubicBezTo>
                      <a:pt x="1387" y="1661"/>
                      <a:pt x="1378" y="1647"/>
                      <a:pt x="1380" y="1634"/>
                    </a:cubicBezTo>
                    <a:cubicBezTo>
                      <a:pt x="1383" y="1620"/>
                      <a:pt x="1396" y="1611"/>
                      <a:pt x="1410" y="1614"/>
                    </a:cubicBezTo>
                    <a:close/>
                    <a:moveTo>
                      <a:pt x="1754" y="1666"/>
                    </a:moveTo>
                    <a:lnTo>
                      <a:pt x="1903" y="1683"/>
                    </a:lnTo>
                    <a:cubicBezTo>
                      <a:pt x="1917" y="1685"/>
                      <a:pt x="1927" y="1697"/>
                      <a:pt x="1925" y="1711"/>
                    </a:cubicBezTo>
                    <a:cubicBezTo>
                      <a:pt x="1923" y="1724"/>
                      <a:pt x="1911" y="1734"/>
                      <a:pt x="1897" y="1733"/>
                    </a:cubicBezTo>
                    <a:lnTo>
                      <a:pt x="1748" y="1715"/>
                    </a:lnTo>
                    <a:cubicBezTo>
                      <a:pt x="1734" y="1714"/>
                      <a:pt x="1725" y="1701"/>
                      <a:pt x="1726" y="1688"/>
                    </a:cubicBezTo>
                    <a:cubicBezTo>
                      <a:pt x="1728" y="1674"/>
                      <a:pt x="1740" y="1664"/>
                      <a:pt x="1754" y="1666"/>
                    </a:cubicBezTo>
                    <a:close/>
                    <a:moveTo>
                      <a:pt x="2101" y="1700"/>
                    </a:moveTo>
                    <a:lnTo>
                      <a:pt x="2203" y="1709"/>
                    </a:lnTo>
                    <a:lnTo>
                      <a:pt x="2250" y="1711"/>
                    </a:lnTo>
                    <a:cubicBezTo>
                      <a:pt x="2264" y="1711"/>
                      <a:pt x="2275" y="1723"/>
                      <a:pt x="2274" y="1737"/>
                    </a:cubicBezTo>
                    <a:cubicBezTo>
                      <a:pt x="2273" y="1751"/>
                      <a:pt x="2262" y="1761"/>
                      <a:pt x="2248" y="1761"/>
                    </a:cubicBezTo>
                    <a:lnTo>
                      <a:pt x="2199" y="1758"/>
                    </a:lnTo>
                    <a:lnTo>
                      <a:pt x="2097" y="1750"/>
                    </a:lnTo>
                    <a:cubicBezTo>
                      <a:pt x="2084" y="1749"/>
                      <a:pt x="2073" y="1737"/>
                      <a:pt x="2074" y="1723"/>
                    </a:cubicBezTo>
                    <a:cubicBezTo>
                      <a:pt x="2075" y="1710"/>
                      <a:pt x="2088" y="1699"/>
                      <a:pt x="2101" y="1700"/>
                    </a:cubicBezTo>
                    <a:close/>
                    <a:moveTo>
                      <a:pt x="2450" y="1720"/>
                    </a:moveTo>
                    <a:lnTo>
                      <a:pt x="2473" y="1721"/>
                    </a:lnTo>
                    <a:lnTo>
                      <a:pt x="2599" y="1724"/>
                    </a:lnTo>
                    <a:cubicBezTo>
                      <a:pt x="2613" y="1724"/>
                      <a:pt x="2624" y="1735"/>
                      <a:pt x="2624" y="1749"/>
                    </a:cubicBezTo>
                    <a:cubicBezTo>
                      <a:pt x="2623" y="1763"/>
                      <a:pt x="2612" y="1774"/>
                      <a:pt x="2598" y="1774"/>
                    </a:cubicBezTo>
                    <a:lnTo>
                      <a:pt x="2470" y="1771"/>
                    </a:lnTo>
                    <a:lnTo>
                      <a:pt x="2447" y="1770"/>
                    </a:lnTo>
                    <a:cubicBezTo>
                      <a:pt x="2434" y="1770"/>
                      <a:pt x="2423" y="1758"/>
                      <a:pt x="2424" y="1744"/>
                    </a:cubicBezTo>
                    <a:cubicBezTo>
                      <a:pt x="2424" y="1730"/>
                      <a:pt x="2436" y="1720"/>
                      <a:pt x="2450" y="1720"/>
                    </a:cubicBezTo>
                    <a:close/>
                    <a:moveTo>
                      <a:pt x="2798" y="1726"/>
                    </a:moveTo>
                    <a:lnTo>
                      <a:pt x="2948" y="1724"/>
                    </a:lnTo>
                    <a:cubicBezTo>
                      <a:pt x="2962" y="1723"/>
                      <a:pt x="2973" y="1734"/>
                      <a:pt x="2974" y="1748"/>
                    </a:cubicBezTo>
                    <a:cubicBezTo>
                      <a:pt x="2974" y="1762"/>
                      <a:pt x="2963" y="1773"/>
                      <a:pt x="2949" y="1774"/>
                    </a:cubicBezTo>
                    <a:lnTo>
                      <a:pt x="2799" y="1776"/>
                    </a:lnTo>
                    <a:cubicBezTo>
                      <a:pt x="2785" y="1776"/>
                      <a:pt x="2774" y="1765"/>
                      <a:pt x="2774" y="1751"/>
                    </a:cubicBezTo>
                    <a:cubicBezTo>
                      <a:pt x="2773" y="1737"/>
                      <a:pt x="2784" y="1726"/>
                      <a:pt x="2798" y="1726"/>
                    </a:cubicBezTo>
                    <a:close/>
                    <a:moveTo>
                      <a:pt x="3147" y="1716"/>
                    </a:moveTo>
                    <a:lnTo>
                      <a:pt x="3297" y="1709"/>
                    </a:lnTo>
                    <a:cubicBezTo>
                      <a:pt x="3311" y="1708"/>
                      <a:pt x="3322" y="1718"/>
                      <a:pt x="3323" y="1732"/>
                    </a:cubicBezTo>
                    <a:cubicBezTo>
                      <a:pt x="3324" y="1746"/>
                      <a:pt x="3313" y="1758"/>
                      <a:pt x="3300" y="1758"/>
                    </a:cubicBezTo>
                    <a:lnTo>
                      <a:pt x="3150" y="1766"/>
                    </a:lnTo>
                    <a:cubicBezTo>
                      <a:pt x="3136" y="1767"/>
                      <a:pt x="3124" y="1756"/>
                      <a:pt x="3123" y="1743"/>
                    </a:cubicBezTo>
                    <a:cubicBezTo>
                      <a:pt x="3123" y="1729"/>
                      <a:pt x="3133" y="1717"/>
                      <a:pt x="3147" y="1716"/>
                    </a:cubicBezTo>
                    <a:close/>
                    <a:moveTo>
                      <a:pt x="3496" y="1693"/>
                    </a:moveTo>
                    <a:lnTo>
                      <a:pt x="3559" y="1688"/>
                    </a:lnTo>
                    <a:lnTo>
                      <a:pt x="3644" y="1678"/>
                    </a:lnTo>
                    <a:cubicBezTo>
                      <a:pt x="3658" y="1676"/>
                      <a:pt x="3670" y="1686"/>
                      <a:pt x="3672" y="1700"/>
                    </a:cubicBezTo>
                    <a:cubicBezTo>
                      <a:pt x="3673" y="1713"/>
                      <a:pt x="3663" y="1726"/>
                      <a:pt x="3650" y="1727"/>
                    </a:cubicBezTo>
                    <a:lnTo>
                      <a:pt x="3563" y="1737"/>
                    </a:lnTo>
                    <a:lnTo>
                      <a:pt x="3500" y="1743"/>
                    </a:lnTo>
                    <a:cubicBezTo>
                      <a:pt x="3486" y="1744"/>
                      <a:pt x="3474" y="1733"/>
                      <a:pt x="3473" y="1720"/>
                    </a:cubicBezTo>
                    <a:cubicBezTo>
                      <a:pt x="3472" y="1706"/>
                      <a:pt x="3482" y="1694"/>
                      <a:pt x="3496" y="1693"/>
                    </a:cubicBezTo>
                    <a:close/>
                    <a:moveTo>
                      <a:pt x="3842" y="1654"/>
                    </a:moveTo>
                    <a:lnTo>
                      <a:pt x="3990" y="1631"/>
                    </a:lnTo>
                    <a:cubicBezTo>
                      <a:pt x="4004" y="1629"/>
                      <a:pt x="4016" y="1639"/>
                      <a:pt x="4018" y="1652"/>
                    </a:cubicBezTo>
                    <a:cubicBezTo>
                      <a:pt x="4020" y="1666"/>
                      <a:pt x="4011" y="1679"/>
                      <a:pt x="3997" y="1681"/>
                    </a:cubicBezTo>
                    <a:lnTo>
                      <a:pt x="3849" y="1703"/>
                    </a:lnTo>
                    <a:cubicBezTo>
                      <a:pt x="3835" y="1705"/>
                      <a:pt x="3823" y="1696"/>
                      <a:pt x="3821" y="1682"/>
                    </a:cubicBezTo>
                    <a:cubicBezTo>
                      <a:pt x="3819" y="1668"/>
                      <a:pt x="3828" y="1656"/>
                      <a:pt x="3842" y="1654"/>
                    </a:cubicBezTo>
                    <a:close/>
                    <a:moveTo>
                      <a:pt x="4186" y="1596"/>
                    </a:moveTo>
                    <a:lnTo>
                      <a:pt x="4270" y="1580"/>
                    </a:lnTo>
                    <a:lnTo>
                      <a:pt x="4331" y="1565"/>
                    </a:lnTo>
                    <a:cubicBezTo>
                      <a:pt x="4345" y="1562"/>
                      <a:pt x="4358" y="1570"/>
                      <a:pt x="4362" y="1584"/>
                    </a:cubicBezTo>
                    <a:cubicBezTo>
                      <a:pt x="4365" y="1597"/>
                      <a:pt x="4356" y="1611"/>
                      <a:pt x="4343" y="1614"/>
                    </a:cubicBezTo>
                    <a:lnTo>
                      <a:pt x="4279" y="1629"/>
                    </a:lnTo>
                    <a:lnTo>
                      <a:pt x="4195" y="1645"/>
                    </a:lnTo>
                    <a:cubicBezTo>
                      <a:pt x="4182" y="1648"/>
                      <a:pt x="4168" y="1639"/>
                      <a:pt x="4166" y="1625"/>
                    </a:cubicBezTo>
                    <a:cubicBezTo>
                      <a:pt x="4163" y="1612"/>
                      <a:pt x="4172" y="1599"/>
                      <a:pt x="4186" y="1596"/>
                    </a:cubicBezTo>
                    <a:close/>
                    <a:moveTo>
                      <a:pt x="4524" y="1517"/>
                    </a:moveTo>
                    <a:lnTo>
                      <a:pt x="4668" y="1475"/>
                    </a:lnTo>
                    <a:cubicBezTo>
                      <a:pt x="4681" y="1471"/>
                      <a:pt x="4695" y="1479"/>
                      <a:pt x="4699" y="1492"/>
                    </a:cubicBezTo>
                    <a:cubicBezTo>
                      <a:pt x="4703" y="1505"/>
                      <a:pt x="4695" y="1519"/>
                      <a:pt x="4682" y="1523"/>
                    </a:cubicBezTo>
                    <a:lnTo>
                      <a:pt x="4538" y="1565"/>
                    </a:lnTo>
                    <a:cubicBezTo>
                      <a:pt x="4525" y="1569"/>
                      <a:pt x="4511" y="1561"/>
                      <a:pt x="4507" y="1548"/>
                    </a:cubicBezTo>
                    <a:cubicBezTo>
                      <a:pt x="4503" y="1535"/>
                      <a:pt x="4511" y="1521"/>
                      <a:pt x="4524" y="1517"/>
                    </a:cubicBezTo>
                    <a:close/>
                    <a:moveTo>
                      <a:pt x="4854" y="1410"/>
                    </a:moveTo>
                    <a:lnTo>
                      <a:pt x="4993" y="1352"/>
                    </a:lnTo>
                    <a:cubicBezTo>
                      <a:pt x="5005" y="1347"/>
                      <a:pt x="5020" y="1353"/>
                      <a:pt x="5025" y="1365"/>
                    </a:cubicBezTo>
                    <a:cubicBezTo>
                      <a:pt x="5031" y="1378"/>
                      <a:pt x="5025" y="1393"/>
                      <a:pt x="5012" y="1398"/>
                    </a:cubicBezTo>
                    <a:lnTo>
                      <a:pt x="4874" y="1456"/>
                    </a:lnTo>
                    <a:cubicBezTo>
                      <a:pt x="4861" y="1461"/>
                      <a:pt x="4846" y="1455"/>
                      <a:pt x="4841" y="1443"/>
                    </a:cubicBezTo>
                    <a:cubicBezTo>
                      <a:pt x="4836" y="1430"/>
                      <a:pt x="4842" y="1415"/>
                      <a:pt x="4854" y="1410"/>
                    </a:cubicBezTo>
                    <a:close/>
                    <a:moveTo>
                      <a:pt x="5164" y="1259"/>
                    </a:moveTo>
                    <a:lnTo>
                      <a:pt x="5248" y="1204"/>
                    </a:lnTo>
                    <a:lnTo>
                      <a:pt x="5285" y="1174"/>
                    </a:lnTo>
                    <a:cubicBezTo>
                      <a:pt x="5296" y="1165"/>
                      <a:pt x="5311" y="1167"/>
                      <a:pt x="5320" y="1178"/>
                    </a:cubicBezTo>
                    <a:cubicBezTo>
                      <a:pt x="5329" y="1189"/>
                      <a:pt x="5327" y="1204"/>
                      <a:pt x="5316" y="1213"/>
                    </a:cubicBezTo>
                    <a:lnTo>
                      <a:pt x="5275" y="1245"/>
                    </a:lnTo>
                    <a:lnTo>
                      <a:pt x="5192" y="1301"/>
                    </a:lnTo>
                    <a:cubicBezTo>
                      <a:pt x="5180" y="1308"/>
                      <a:pt x="5165" y="1305"/>
                      <a:pt x="5157" y="1293"/>
                    </a:cubicBezTo>
                    <a:cubicBezTo>
                      <a:pt x="5149" y="1282"/>
                      <a:pt x="5153" y="1266"/>
                      <a:pt x="5164" y="1259"/>
                    </a:cubicBezTo>
                    <a:close/>
                    <a:moveTo>
                      <a:pt x="5410" y="1031"/>
                    </a:moveTo>
                    <a:lnTo>
                      <a:pt x="5423" y="1008"/>
                    </a:lnTo>
                    <a:lnTo>
                      <a:pt x="5421" y="1011"/>
                    </a:lnTo>
                    <a:lnTo>
                      <a:pt x="5438" y="967"/>
                    </a:lnTo>
                    <a:lnTo>
                      <a:pt x="5437" y="971"/>
                    </a:lnTo>
                    <a:lnTo>
                      <a:pt x="5447" y="927"/>
                    </a:lnTo>
                    <a:lnTo>
                      <a:pt x="5449" y="899"/>
                    </a:lnTo>
                    <a:cubicBezTo>
                      <a:pt x="5451" y="886"/>
                      <a:pt x="5463" y="875"/>
                      <a:pt x="5477" y="877"/>
                    </a:cubicBezTo>
                    <a:cubicBezTo>
                      <a:pt x="5490" y="878"/>
                      <a:pt x="5500" y="890"/>
                      <a:pt x="5499" y="904"/>
                    </a:cubicBezTo>
                    <a:lnTo>
                      <a:pt x="5496" y="938"/>
                    </a:lnTo>
                    <a:lnTo>
                      <a:pt x="5486" y="982"/>
                    </a:lnTo>
                    <a:cubicBezTo>
                      <a:pt x="5486" y="983"/>
                      <a:pt x="5485" y="984"/>
                      <a:pt x="5485" y="985"/>
                    </a:cubicBezTo>
                    <a:lnTo>
                      <a:pt x="5468" y="1029"/>
                    </a:lnTo>
                    <a:cubicBezTo>
                      <a:pt x="5467" y="1031"/>
                      <a:pt x="5467" y="1032"/>
                      <a:pt x="5466" y="1033"/>
                    </a:cubicBezTo>
                    <a:lnTo>
                      <a:pt x="5453" y="1056"/>
                    </a:lnTo>
                    <a:cubicBezTo>
                      <a:pt x="5446" y="1068"/>
                      <a:pt x="5431" y="1072"/>
                      <a:pt x="5419" y="1065"/>
                    </a:cubicBezTo>
                    <a:cubicBezTo>
                      <a:pt x="5407" y="1058"/>
                      <a:pt x="5403" y="1043"/>
                      <a:pt x="5410" y="1031"/>
                    </a:cubicBezTo>
                    <a:close/>
                    <a:moveTo>
                      <a:pt x="5399" y="728"/>
                    </a:moveTo>
                    <a:lnTo>
                      <a:pt x="5369" y="687"/>
                    </a:lnTo>
                    <a:lnTo>
                      <a:pt x="5335" y="648"/>
                    </a:lnTo>
                    <a:lnTo>
                      <a:pt x="5303" y="619"/>
                    </a:lnTo>
                    <a:cubicBezTo>
                      <a:pt x="5293" y="610"/>
                      <a:pt x="5293" y="594"/>
                      <a:pt x="5302" y="584"/>
                    </a:cubicBezTo>
                    <a:cubicBezTo>
                      <a:pt x="5311" y="574"/>
                      <a:pt x="5327" y="573"/>
                      <a:pt x="5337" y="582"/>
                    </a:cubicBezTo>
                    <a:lnTo>
                      <a:pt x="5372" y="615"/>
                    </a:lnTo>
                    <a:lnTo>
                      <a:pt x="5410" y="658"/>
                    </a:lnTo>
                    <a:lnTo>
                      <a:pt x="5439" y="698"/>
                    </a:lnTo>
                    <a:cubicBezTo>
                      <a:pt x="5448" y="709"/>
                      <a:pt x="5445" y="725"/>
                      <a:pt x="5434" y="733"/>
                    </a:cubicBezTo>
                    <a:cubicBezTo>
                      <a:pt x="5423" y="741"/>
                      <a:pt x="5407" y="739"/>
                      <a:pt x="5399" y="728"/>
                    </a:cubicBezTo>
                    <a:close/>
                    <a:moveTo>
                      <a:pt x="5144" y="505"/>
                    </a:moveTo>
                    <a:lnTo>
                      <a:pt x="5133" y="497"/>
                    </a:lnTo>
                    <a:lnTo>
                      <a:pt x="5014" y="436"/>
                    </a:lnTo>
                    <a:cubicBezTo>
                      <a:pt x="5002" y="429"/>
                      <a:pt x="4997" y="414"/>
                      <a:pt x="5004" y="402"/>
                    </a:cubicBezTo>
                    <a:cubicBezTo>
                      <a:pt x="5010" y="390"/>
                      <a:pt x="5025" y="385"/>
                      <a:pt x="5037" y="391"/>
                    </a:cubicBezTo>
                    <a:lnTo>
                      <a:pt x="5160" y="456"/>
                    </a:lnTo>
                    <a:lnTo>
                      <a:pt x="5172" y="463"/>
                    </a:lnTo>
                    <a:cubicBezTo>
                      <a:pt x="5183" y="471"/>
                      <a:pt x="5187" y="486"/>
                      <a:pt x="5179" y="498"/>
                    </a:cubicBezTo>
                    <a:cubicBezTo>
                      <a:pt x="5171" y="509"/>
                      <a:pt x="5156" y="513"/>
                      <a:pt x="5144" y="505"/>
                    </a:cubicBezTo>
                    <a:close/>
                    <a:moveTo>
                      <a:pt x="4834" y="358"/>
                    </a:moveTo>
                    <a:lnTo>
                      <a:pt x="4692" y="309"/>
                    </a:lnTo>
                    <a:cubicBezTo>
                      <a:pt x="4679" y="305"/>
                      <a:pt x="4672" y="290"/>
                      <a:pt x="4677" y="277"/>
                    </a:cubicBezTo>
                    <a:cubicBezTo>
                      <a:pt x="4681" y="264"/>
                      <a:pt x="4696" y="257"/>
                      <a:pt x="4709" y="262"/>
                    </a:cubicBezTo>
                    <a:lnTo>
                      <a:pt x="4850" y="311"/>
                    </a:lnTo>
                    <a:cubicBezTo>
                      <a:pt x="4863" y="315"/>
                      <a:pt x="4870" y="330"/>
                      <a:pt x="4866" y="343"/>
                    </a:cubicBezTo>
                    <a:cubicBezTo>
                      <a:pt x="4861" y="356"/>
                      <a:pt x="4847" y="363"/>
                      <a:pt x="4834" y="358"/>
                    </a:cubicBezTo>
                    <a:close/>
                    <a:moveTo>
                      <a:pt x="4502" y="253"/>
                    </a:moveTo>
                    <a:lnTo>
                      <a:pt x="4478" y="245"/>
                    </a:lnTo>
                    <a:lnTo>
                      <a:pt x="4357" y="217"/>
                    </a:lnTo>
                    <a:cubicBezTo>
                      <a:pt x="4344" y="214"/>
                      <a:pt x="4336" y="201"/>
                      <a:pt x="4339" y="187"/>
                    </a:cubicBezTo>
                    <a:cubicBezTo>
                      <a:pt x="4342" y="174"/>
                      <a:pt x="4355" y="166"/>
                      <a:pt x="4369" y="169"/>
                    </a:cubicBezTo>
                    <a:lnTo>
                      <a:pt x="4491" y="197"/>
                    </a:lnTo>
                    <a:lnTo>
                      <a:pt x="4516" y="205"/>
                    </a:lnTo>
                    <a:cubicBezTo>
                      <a:pt x="4529" y="208"/>
                      <a:pt x="4537" y="222"/>
                      <a:pt x="4533" y="235"/>
                    </a:cubicBezTo>
                    <a:cubicBezTo>
                      <a:pt x="4529" y="249"/>
                      <a:pt x="4515" y="256"/>
                      <a:pt x="4502" y="253"/>
                    </a:cubicBezTo>
                    <a:close/>
                    <a:moveTo>
                      <a:pt x="4163" y="176"/>
                    </a:moveTo>
                    <a:lnTo>
                      <a:pt x="4045" y="153"/>
                    </a:lnTo>
                    <a:lnTo>
                      <a:pt x="4016" y="149"/>
                    </a:lnTo>
                    <a:cubicBezTo>
                      <a:pt x="4003" y="147"/>
                      <a:pt x="3993" y="134"/>
                      <a:pt x="3995" y="120"/>
                    </a:cubicBezTo>
                    <a:cubicBezTo>
                      <a:pt x="3997" y="107"/>
                      <a:pt x="4010" y="97"/>
                      <a:pt x="4024" y="99"/>
                    </a:cubicBezTo>
                    <a:lnTo>
                      <a:pt x="4054" y="104"/>
                    </a:lnTo>
                    <a:lnTo>
                      <a:pt x="4172" y="127"/>
                    </a:lnTo>
                    <a:cubicBezTo>
                      <a:pt x="4186" y="130"/>
                      <a:pt x="4195" y="143"/>
                      <a:pt x="4192" y="156"/>
                    </a:cubicBezTo>
                    <a:cubicBezTo>
                      <a:pt x="4189" y="170"/>
                      <a:pt x="4176" y="179"/>
                      <a:pt x="4163" y="176"/>
                    </a:cubicBezTo>
                    <a:close/>
                    <a:moveTo>
                      <a:pt x="3819" y="119"/>
                    </a:moveTo>
                    <a:lnTo>
                      <a:pt x="3808" y="117"/>
                    </a:lnTo>
                    <a:lnTo>
                      <a:pt x="3670" y="101"/>
                    </a:lnTo>
                    <a:cubicBezTo>
                      <a:pt x="3657" y="100"/>
                      <a:pt x="3647" y="87"/>
                      <a:pt x="3648" y="74"/>
                    </a:cubicBezTo>
                    <a:cubicBezTo>
                      <a:pt x="3650" y="60"/>
                      <a:pt x="3662" y="50"/>
                      <a:pt x="3676" y="52"/>
                    </a:cubicBezTo>
                    <a:lnTo>
                      <a:pt x="3815" y="68"/>
                    </a:lnTo>
                    <a:lnTo>
                      <a:pt x="3826" y="69"/>
                    </a:lnTo>
                    <a:cubicBezTo>
                      <a:pt x="3840" y="71"/>
                      <a:pt x="3849" y="84"/>
                      <a:pt x="3847" y="98"/>
                    </a:cubicBezTo>
                    <a:cubicBezTo>
                      <a:pt x="3845" y="111"/>
                      <a:pt x="3832" y="121"/>
                      <a:pt x="3819" y="119"/>
                    </a:cubicBezTo>
                    <a:close/>
                    <a:moveTo>
                      <a:pt x="3472" y="81"/>
                    </a:moveTo>
                    <a:lnTo>
                      <a:pt x="3323" y="69"/>
                    </a:lnTo>
                    <a:cubicBezTo>
                      <a:pt x="3309" y="67"/>
                      <a:pt x="3299" y="55"/>
                      <a:pt x="3300" y="42"/>
                    </a:cubicBezTo>
                    <a:cubicBezTo>
                      <a:pt x="3301" y="28"/>
                      <a:pt x="3313" y="18"/>
                      <a:pt x="3327" y="19"/>
                    </a:cubicBezTo>
                    <a:lnTo>
                      <a:pt x="3476" y="31"/>
                    </a:lnTo>
                    <a:cubicBezTo>
                      <a:pt x="3490" y="32"/>
                      <a:pt x="3500" y="44"/>
                      <a:pt x="3499" y="58"/>
                    </a:cubicBezTo>
                    <a:cubicBezTo>
                      <a:pt x="3498" y="72"/>
                      <a:pt x="3486" y="82"/>
                      <a:pt x="3472" y="81"/>
                    </a:cubicBezTo>
                    <a:close/>
                    <a:moveTo>
                      <a:pt x="3124" y="58"/>
                    </a:moveTo>
                    <a:lnTo>
                      <a:pt x="3028" y="53"/>
                    </a:lnTo>
                    <a:cubicBezTo>
                      <a:pt x="3014" y="53"/>
                      <a:pt x="3004" y="41"/>
                      <a:pt x="3004" y="27"/>
                    </a:cubicBezTo>
                    <a:cubicBezTo>
                      <a:pt x="3005" y="13"/>
                      <a:pt x="3017" y="3"/>
                      <a:pt x="3031" y="3"/>
                    </a:cubicBezTo>
                    <a:lnTo>
                      <a:pt x="3126" y="8"/>
                    </a:lnTo>
                    <a:cubicBezTo>
                      <a:pt x="3140" y="9"/>
                      <a:pt x="3151" y="20"/>
                      <a:pt x="3150" y="34"/>
                    </a:cubicBezTo>
                    <a:cubicBezTo>
                      <a:pt x="3150" y="48"/>
                      <a:pt x="3138" y="59"/>
                      <a:pt x="3124" y="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3" name="Freeform 21"/>
              <p:cNvSpPr>
                <a:spLocks noEditPoints="1"/>
              </p:cNvSpPr>
              <p:nvPr/>
            </p:nvSpPr>
            <p:spPr bwMode="auto">
              <a:xfrm>
                <a:off x="4275" y="782"/>
                <a:ext cx="196" cy="224"/>
              </a:xfrm>
              <a:custGeom>
                <a:avLst/>
                <a:gdLst>
                  <a:gd name="T0" fmla="*/ 0 w 1338"/>
                  <a:gd name="T1" fmla="*/ 0 h 1638"/>
                  <a:gd name="T2" fmla="*/ 0 w 1338"/>
                  <a:gd name="T3" fmla="*/ 0 h 1638"/>
                  <a:gd name="T4" fmla="*/ 0 w 1338"/>
                  <a:gd name="T5" fmla="*/ 0 h 1638"/>
                  <a:gd name="T6" fmla="*/ 0 w 1338"/>
                  <a:gd name="T7" fmla="*/ 0 h 1638"/>
                  <a:gd name="T8" fmla="*/ 0 w 1338"/>
                  <a:gd name="T9" fmla="*/ 0 h 1638"/>
                  <a:gd name="T10" fmla="*/ 0 w 1338"/>
                  <a:gd name="T11" fmla="*/ 0 h 1638"/>
                  <a:gd name="T12" fmla="*/ 0 w 1338"/>
                  <a:gd name="T13" fmla="*/ 0 h 1638"/>
                  <a:gd name="T14" fmla="*/ 0 w 1338"/>
                  <a:gd name="T15" fmla="*/ 0 h 1638"/>
                  <a:gd name="T16" fmla="*/ 0 w 1338"/>
                  <a:gd name="T17" fmla="*/ 0 h 1638"/>
                  <a:gd name="T18" fmla="*/ 0 w 1338"/>
                  <a:gd name="T19" fmla="*/ 0 h 1638"/>
                  <a:gd name="T20" fmla="*/ 0 w 1338"/>
                  <a:gd name="T21" fmla="*/ 0 h 163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38"/>
                  <a:gd name="T34" fmla="*/ 0 h 1638"/>
                  <a:gd name="T35" fmla="*/ 1338 w 1338"/>
                  <a:gd name="T36" fmla="*/ 1638 h 163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38" h="1638">
                    <a:moveTo>
                      <a:pt x="1275" y="1621"/>
                    </a:moveTo>
                    <a:lnTo>
                      <a:pt x="185" y="280"/>
                    </a:lnTo>
                    <a:cubicBezTo>
                      <a:pt x="173" y="266"/>
                      <a:pt x="175" y="245"/>
                      <a:pt x="190" y="233"/>
                    </a:cubicBezTo>
                    <a:cubicBezTo>
                      <a:pt x="204" y="222"/>
                      <a:pt x="225" y="224"/>
                      <a:pt x="237" y="238"/>
                    </a:cubicBezTo>
                    <a:lnTo>
                      <a:pt x="1326" y="1579"/>
                    </a:lnTo>
                    <a:cubicBezTo>
                      <a:pt x="1338" y="1594"/>
                      <a:pt x="1336" y="1615"/>
                      <a:pt x="1321" y="1626"/>
                    </a:cubicBezTo>
                    <a:cubicBezTo>
                      <a:pt x="1307" y="1638"/>
                      <a:pt x="1286" y="1636"/>
                      <a:pt x="1275" y="1621"/>
                    </a:cubicBezTo>
                    <a:close/>
                    <a:moveTo>
                      <a:pt x="97" y="437"/>
                    </a:moveTo>
                    <a:lnTo>
                      <a:pt x="0" y="0"/>
                    </a:lnTo>
                    <a:lnTo>
                      <a:pt x="408" y="185"/>
                    </a:lnTo>
                    <a:lnTo>
                      <a:pt x="97" y="437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4" name="Freeform 22"/>
              <p:cNvSpPr>
                <a:spLocks noEditPoints="1"/>
              </p:cNvSpPr>
              <p:nvPr/>
            </p:nvSpPr>
            <p:spPr bwMode="auto">
              <a:xfrm>
                <a:off x="4224" y="994"/>
                <a:ext cx="242" cy="14"/>
              </a:xfrm>
              <a:custGeom>
                <a:avLst/>
                <a:gdLst>
                  <a:gd name="T0" fmla="*/ 0 w 242"/>
                  <a:gd name="T1" fmla="*/ 0 h 14"/>
                  <a:gd name="T2" fmla="*/ 15 w 242"/>
                  <a:gd name="T3" fmla="*/ 0 h 14"/>
                  <a:gd name="T4" fmla="*/ 15 w 242"/>
                  <a:gd name="T5" fmla="*/ 14 h 14"/>
                  <a:gd name="T6" fmla="*/ 0 w 242"/>
                  <a:gd name="T7" fmla="*/ 14 h 14"/>
                  <a:gd name="T8" fmla="*/ 0 w 242"/>
                  <a:gd name="T9" fmla="*/ 0 h 14"/>
                  <a:gd name="T10" fmla="*/ 29 w 242"/>
                  <a:gd name="T11" fmla="*/ 0 h 14"/>
                  <a:gd name="T12" fmla="*/ 44 w 242"/>
                  <a:gd name="T13" fmla="*/ 0 h 14"/>
                  <a:gd name="T14" fmla="*/ 44 w 242"/>
                  <a:gd name="T15" fmla="*/ 14 h 14"/>
                  <a:gd name="T16" fmla="*/ 29 w 242"/>
                  <a:gd name="T17" fmla="*/ 14 h 14"/>
                  <a:gd name="T18" fmla="*/ 29 w 242"/>
                  <a:gd name="T19" fmla="*/ 0 h 14"/>
                  <a:gd name="T20" fmla="*/ 59 w 242"/>
                  <a:gd name="T21" fmla="*/ 0 h 14"/>
                  <a:gd name="T22" fmla="*/ 73 w 242"/>
                  <a:gd name="T23" fmla="*/ 0 h 14"/>
                  <a:gd name="T24" fmla="*/ 73 w 242"/>
                  <a:gd name="T25" fmla="*/ 14 h 14"/>
                  <a:gd name="T26" fmla="*/ 59 w 242"/>
                  <a:gd name="T27" fmla="*/ 14 h 14"/>
                  <a:gd name="T28" fmla="*/ 59 w 242"/>
                  <a:gd name="T29" fmla="*/ 0 h 14"/>
                  <a:gd name="T30" fmla="*/ 88 w 242"/>
                  <a:gd name="T31" fmla="*/ 0 h 14"/>
                  <a:gd name="T32" fmla="*/ 102 w 242"/>
                  <a:gd name="T33" fmla="*/ 0 h 14"/>
                  <a:gd name="T34" fmla="*/ 102 w 242"/>
                  <a:gd name="T35" fmla="*/ 14 h 14"/>
                  <a:gd name="T36" fmla="*/ 88 w 242"/>
                  <a:gd name="T37" fmla="*/ 14 h 14"/>
                  <a:gd name="T38" fmla="*/ 88 w 242"/>
                  <a:gd name="T39" fmla="*/ 0 h 14"/>
                  <a:gd name="T40" fmla="*/ 117 w 242"/>
                  <a:gd name="T41" fmla="*/ 0 h 14"/>
                  <a:gd name="T42" fmla="*/ 132 w 242"/>
                  <a:gd name="T43" fmla="*/ 0 h 14"/>
                  <a:gd name="T44" fmla="*/ 132 w 242"/>
                  <a:gd name="T45" fmla="*/ 14 h 14"/>
                  <a:gd name="T46" fmla="*/ 117 w 242"/>
                  <a:gd name="T47" fmla="*/ 14 h 14"/>
                  <a:gd name="T48" fmla="*/ 117 w 242"/>
                  <a:gd name="T49" fmla="*/ 0 h 14"/>
                  <a:gd name="T50" fmla="*/ 146 w 242"/>
                  <a:gd name="T51" fmla="*/ 0 h 14"/>
                  <a:gd name="T52" fmla="*/ 161 w 242"/>
                  <a:gd name="T53" fmla="*/ 0 h 14"/>
                  <a:gd name="T54" fmla="*/ 161 w 242"/>
                  <a:gd name="T55" fmla="*/ 14 h 14"/>
                  <a:gd name="T56" fmla="*/ 146 w 242"/>
                  <a:gd name="T57" fmla="*/ 14 h 14"/>
                  <a:gd name="T58" fmla="*/ 146 w 242"/>
                  <a:gd name="T59" fmla="*/ 0 h 14"/>
                  <a:gd name="T60" fmla="*/ 176 w 242"/>
                  <a:gd name="T61" fmla="*/ 0 h 14"/>
                  <a:gd name="T62" fmla="*/ 190 w 242"/>
                  <a:gd name="T63" fmla="*/ 0 h 14"/>
                  <a:gd name="T64" fmla="*/ 190 w 242"/>
                  <a:gd name="T65" fmla="*/ 14 h 14"/>
                  <a:gd name="T66" fmla="*/ 176 w 242"/>
                  <a:gd name="T67" fmla="*/ 14 h 14"/>
                  <a:gd name="T68" fmla="*/ 176 w 242"/>
                  <a:gd name="T69" fmla="*/ 0 h 14"/>
                  <a:gd name="T70" fmla="*/ 205 w 242"/>
                  <a:gd name="T71" fmla="*/ 0 h 14"/>
                  <a:gd name="T72" fmla="*/ 220 w 242"/>
                  <a:gd name="T73" fmla="*/ 0 h 14"/>
                  <a:gd name="T74" fmla="*/ 220 w 242"/>
                  <a:gd name="T75" fmla="*/ 14 h 14"/>
                  <a:gd name="T76" fmla="*/ 205 w 242"/>
                  <a:gd name="T77" fmla="*/ 14 h 14"/>
                  <a:gd name="T78" fmla="*/ 205 w 242"/>
                  <a:gd name="T79" fmla="*/ 0 h 14"/>
                  <a:gd name="T80" fmla="*/ 234 w 242"/>
                  <a:gd name="T81" fmla="*/ 0 h 14"/>
                  <a:gd name="T82" fmla="*/ 242 w 242"/>
                  <a:gd name="T83" fmla="*/ 0 h 14"/>
                  <a:gd name="T84" fmla="*/ 242 w 242"/>
                  <a:gd name="T85" fmla="*/ 14 h 14"/>
                  <a:gd name="T86" fmla="*/ 234 w 242"/>
                  <a:gd name="T87" fmla="*/ 14 h 14"/>
                  <a:gd name="T88" fmla="*/ 234 w 242"/>
                  <a:gd name="T89" fmla="*/ 0 h 1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42"/>
                  <a:gd name="T136" fmla="*/ 0 h 14"/>
                  <a:gd name="T137" fmla="*/ 242 w 242"/>
                  <a:gd name="T138" fmla="*/ 14 h 1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42" h="14">
                    <a:moveTo>
                      <a:pt x="0" y="0"/>
                    </a:moveTo>
                    <a:lnTo>
                      <a:pt x="15" y="0"/>
                    </a:lnTo>
                    <a:lnTo>
                      <a:pt x="15" y="14"/>
                    </a:lnTo>
                    <a:lnTo>
                      <a:pt x="0" y="14"/>
                    </a:lnTo>
                    <a:lnTo>
                      <a:pt x="0" y="0"/>
                    </a:lnTo>
                    <a:close/>
                    <a:moveTo>
                      <a:pt x="29" y="0"/>
                    </a:moveTo>
                    <a:lnTo>
                      <a:pt x="44" y="0"/>
                    </a:lnTo>
                    <a:lnTo>
                      <a:pt x="44" y="14"/>
                    </a:lnTo>
                    <a:lnTo>
                      <a:pt x="29" y="14"/>
                    </a:lnTo>
                    <a:lnTo>
                      <a:pt x="29" y="0"/>
                    </a:lnTo>
                    <a:close/>
                    <a:moveTo>
                      <a:pt x="59" y="0"/>
                    </a:moveTo>
                    <a:lnTo>
                      <a:pt x="73" y="0"/>
                    </a:lnTo>
                    <a:lnTo>
                      <a:pt x="73" y="14"/>
                    </a:lnTo>
                    <a:lnTo>
                      <a:pt x="59" y="14"/>
                    </a:lnTo>
                    <a:lnTo>
                      <a:pt x="59" y="0"/>
                    </a:lnTo>
                    <a:close/>
                    <a:moveTo>
                      <a:pt x="88" y="0"/>
                    </a:moveTo>
                    <a:lnTo>
                      <a:pt x="102" y="0"/>
                    </a:lnTo>
                    <a:lnTo>
                      <a:pt x="102" y="14"/>
                    </a:lnTo>
                    <a:lnTo>
                      <a:pt x="88" y="14"/>
                    </a:lnTo>
                    <a:lnTo>
                      <a:pt x="88" y="0"/>
                    </a:lnTo>
                    <a:close/>
                    <a:moveTo>
                      <a:pt x="117" y="0"/>
                    </a:moveTo>
                    <a:lnTo>
                      <a:pt x="132" y="0"/>
                    </a:lnTo>
                    <a:lnTo>
                      <a:pt x="132" y="14"/>
                    </a:lnTo>
                    <a:lnTo>
                      <a:pt x="117" y="14"/>
                    </a:lnTo>
                    <a:lnTo>
                      <a:pt x="117" y="0"/>
                    </a:lnTo>
                    <a:close/>
                    <a:moveTo>
                      <a:pt x="146" y="0"/>
                    </a:moveTo>
                    <a:lnTo>
                      <a:pt x="161" y="0"/>
                    </a:lnTo>
                    <a:lnTo>
                      <a:pt x="161" y="14"/>
                    </a:lnTo>
                    <a:lnTo>
                      <a:pt x="146" y="14"/>
                    </a:lnTo>
                    <a:lnTo>
                      <a:pt x="146" y="0"/>
                    </a:lnTo>
                    <a:close/>
                    <a:moveTo>
                      <a:pt x="176" y="0"/>
                    </a:moveTo>
                    <a:lnTo>
                      <a:pt x="190" y="0"/>
                    </a:lnTo>
                    <a:lnTo>
                      <a:pt x="190" y="14"/>
                    </a:lnTo>
                    <a:lnTo>
                      <a:pt x="176" y="14"/>
                    </a:lnTo>
                    <a:lnTo>
                      <a:pt x="176" y="0"/>
                    </a:lnTo>
                    <a:close/>
                    <a:moveTo>
                      <a:pt x="205" y="0"/>
                    </a:moveTo>
                    <a:lnTo>
                      <a:pt x="220" y="0"/>
                    </a:lnTo>
                    <a:lnTo>
                      <a:pt x="220" y="14"/>
                    </a:lnTo>
                    <a:lnTo>
                      <a:pt x="205" y="14"/>
                    </a:lnTo>
                    <a:lnTo>
                      <a:pt x="205" y="0"/>
                    </a:lnTo>
                    <a:close/>
                    <a:moveTo>
                      <a:pt x="234" y="0"/>
                    </a:moveTo>
                    <a:lnTo>
                      <a:pt x="242" y="0"/>
                    </a:lnTo>
                    <a:lnTo>
                      <a:pt x="242" y="14"/>
                    </a:lnTo>
                    <a:lnTo>
                      <a:pt x="234" y="14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5" name="Freeform 23"/>
              <p:cNvSpPr>
                <a:spLocks noEditPoints="1"/>
              </p:cNvSpPr>
              <p:nvPr/>
            </p:nvSpPr>
            <p:spPr bwMode="auto">
              <a:xfrm>
                <a:off x="4468" y="839"/>
                <a:ext cx="164" cy="153"/>
              </a:xfrm>
              <a:custGeom>
                <a:avLst/>
                <a:gdLst>
                  <a:gd name="T0" fmla="*/ 0 w 164"/>
                  <a:gd name="T1" fmla="*/ 144 h 153"/>
                  <a:gd name="T2" fmla="*/ 10 w 164"/>
                  <a:gd name="T3" fmla="*/ 134 h 153"/>
                  <a:gd name="T4" fmla="*/ 21 w 164"/>
                  <a:gd name="T5" fmla="*/ 144 h 153"/>
                  <a:gd name="T6" fmla="*/ 10 w 164"/>
                  <a:gd name="T7" fmla="*/ 153 h 153"/>
                  <a:gd name="T8" fmla="*/ 0 w 164"/>
                  <a:gd name="T9" fmla="*/ 144 h 153"/>
                  <a:gd name="T10" fmla="*/ 21 w 164"/>
                  <a:gd name="T11" fmla="*/ 124 h 153"/>
                  <a:gd name="T12" fmla="*/ 31 w 164"/>
                  <a:gd name="T13" fmla="*/ 115 h 153"/>
                  <a:gd name="T14" fmla="*/ 41 w 164"/>
                  <a:gd name="T15" fmla="*/ 124 h 153"/>
                  <a:gd name="T16" fmla="*/ 31 w 164"/>
                  <a:gd name="T17" fmla="*/ 134 h 153"/>
                  <a:gd name="T18" fmla="*/ 21 w 164"/>
                  <a:gd name="T19" fmla="*/ 124 h 153"/>
                  <a:gd name="T20" fmla="*/ 41 w 164"/>
                  <a:gd name="T21" fmla="*/ 105 h 153"/>
                  <a:gd name="T22" fmla="*/ 52 w 164"/>
                  <a:gd name="T23" fmla="*/ 95 h 153"/>
                  <a:gd name="T24" fmla="*/ 62 w 164"/>
                  <a:gd name="T25" fmla="*/ 105 h 153"/>
                  <a:gd name="T26" fmla="*/ 52 w 164"/>
                  <a:gd name="T27" fmla="*/ 115 h 153"/>
                  <a:gd name="T28" fmla="*/ 41 w 164"/>
                  <a:gd name="T29" fmla="*/ 105 h 153"/>
                  <a:gd name="T30" fmla="*/ 62 w 164"/>
                  <a:gd name="T31" fmla="*/ 86 h 153"/>
                  <a:gd name="T32" fmla="*/ 72 w 164"/>
                  <a:gd name="T33" fmla="*/ 76 h 153"/>
                  <a:gd name="T34" fmla="*/ 83 w 164"/>
                  <a:gd name="T35" fmla="*/ 86 h 153"/>
                  <a:gd name="T36" fmla="*/ 72 w 164"/>
                  <a:gd name="T37" fmla="*/ 95 h 153"/>
                  <a:gd name="T38" fmla="*/ 62 w 164"/>
                  <a:gd name="T39" fmla="*/ 86 h 153"/>
                  <a:gd name="T40" fmla="*/ 83 w 164"/>
                  <a:gd name="T41" fmla="*/ 66 h 153"/>
                  <a:gd name="T42" fmla="*/ 93 w 164"/>
                  <a:gd name="T43" fmla="*/ 56 h 153"/>
                  <a:gd name="T44" fmla="*/ 103 w 164"/>
                  <a:gd name="T45" fmla="*/ 66 h 153"/>
                  <a:gd name="T46" fmla="*/ 93 w 164"/>
                  <a:gd name="T47" fmla="*/ 76 h 153"/>
                  <a:gd name="T48" fmla="*/ 83 w 164"/>
                  <a:gd name="T49" fmla="*/ 66 h 153"/>
                  <a:gd name="T50" fmla="*/ 103 w 164"/>
                  <a:gd name="T51" fmla="*/ 47 h 153"/>
                  <a:gd name="T52" fmla="*/ 114 w 164"/>
                  <a:gd name="T53" fmla="*/ 37 h 153"/>
                  <a:gd name="T54" fmla="*/ 124 w 164"/>
                  <a:gd name="T55" fmla="*/ 47 h 153"/>
                  <a:gd name="T56" fmla="*/ 114 w 164"/>
                  <a:gd name="T57" fmla="*/ 56 h 153"/>
                  <a:gd name="T58" fmla="*/ 103 w 164"/>
                  <a:gd name="T59" fmla="*/ 47 h 153"/>
                  <a:gd name="T60" fmla="*/ 124 w 164"/>
                  <a:gd name="T61" fmla="*/ 27 h 153"/>
                  <a:gd name="T62" fmla="*/ 134 w 164"/>
                  <a:gd name="T63" fmla="*/ 18 h 153"/>
                  <a:gd name="T64" fmla="*/ 145 w 164"/>
                  <a:gd name="T65" fmla="*/ 27 h 153"/>
                  <a:gd name="T66" fmla="*/ 134 w 164"/>
                  <a:gd name="T67" fmla="*/ 37 h 153"/>
                  <a:gd name="T68" fmla="*/ 124 w 164"/>
                  <a:gd name="T69" fmla="*/ 27 h 153"/>
                  <a:gd name="T70" fmla="*/ 145 w 164"/>
                  <a:gd name="T71" fmla="*/ 8 h 153"/>
                  <a:gd name="T72" fmla="*/ 154 w 164"/>
                  <a:gd name="T73" fmla="*/ 0 h 153"/>
                  <a:gd name="T74" fmla="*/ 164 w 164"/>
                  <a:gd name="T75" fmla="*/ 9 h 153"/>
                  <a:gd name="T76" fmla="*/ 155 w 164"/>
                  <a:gd name="T77" fmla="*/ 18 h 153"/>
                  <a:gd name="T78" fmla="*/ 145 w 164"/>
                  <a:gd name="T79" fmla="*/ 8 h 153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64"/>
                  <a:gd name="T121" fmla="*/ 0 h 153"/>
                  <a:gd name="T122" fmla="*/ 164 w 164"/>
                  <a:gd name="T123" fmla="*/ 153 h 153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64" h="153">
                    <a:moveTo>
                      <a:pt x="0" y="144"/>
                    </a:moveTo>
                    <a:lnTo>
                      <a:pt x="10" y="134"/>
                    </a:lnTo>
                    <a:lnTo>
                      <a:pt x="21" y="144"/>
                    </a:lnTo>
                    <a:lnTo>
                      <a:pt x="10" y="153"/>
                    </a:lnTo>
                    <a:lnTo>
                      <a:pt x="0" y="144"/>
                    </a:lnTo>
                    <a:close/>
                    <a:moveTo>
                      <a:pt x="21" y="124"/>
                    </a:moveTo>
                    <a:lnTo>
                      <a:pt x="31" y="115"/>
                    </a:lnTo>
                    <a:lnTo>
                      <a:pt x="41" y="124"/>
                    </a:lnTo>
                    <a:lnTo>
                      <a:pt x="31" y="134"/>
                    </a:lnTo>
                    <a:lnTo>
                      <a:pt x="21" y="124"/>
                    </a:lnTo>
                    <a:close/>
                    <a:moveTo>
                      <a:pt x="41" y="105"/>
                    </a:moveTo>
                    <a:lnTo>
                      <a:pt x="52" y="95"/>
                    </a:lnTo>
                    <a:lnTo>
                      <a:pt x="62" y="105"/>
                    </a:lnTo>
                    <a:lnTo>
                      <a:pt x="52" y="115"/>
                    </a:lnTo>
                    <a:lnTo>
                      <a:pt x="41" y="105"/>
                    </a:lnTo>
                    <a:close/>
                    <a:moveTo>
                      <a:pt x="62" y="86"/>
                    </a:moveTo>
                    <a:lnTo>
                      <a:pt x="72" y="76"/>
                    </a:lnTo>
                    <a:lnTo>
                      <a:pt x="83" y="86"/>
                    </a:lnTo>
                    <a:lnTo>
                      <a:pt x="72" y="95"/>
                    </a:lnTo>
                    <a:lnTo>
                      <a:pt x="62" y="86"/>
                    </a:lnTo>
                    <a:close/>
                    <a:moveTo>
                      <a:pt x="83" y="66"/>
                    </a:moveTo>
                    <a:lnTo>
                      <a:pt x="93" y="56"/>
                    </a:lnTo>
                    <a:lnTo>
                      <a:pt x="103" y="66"/>
                    </a:lnTo>
                    <a:lnTo>
                      <a:pt x="93" y="76"/>
                    </a:lnTo>
                    <a:lnTo>
                      <a:pt x="83" y="66"/>
                    </a:lnTo>
                    <a:close/>
                    <a:moveTo>
                      <a:pt x="103" y="47"/>
                    </a:moveTo>
                    <a:lnTo>
                      <a:pt x="114" y="37"/>
                    </a:lnTo>
                    <a:lnTo>
                      <a:pt x="124" y="47"/>
                    </a:lnTo>
                    <a:lnTo>
                      <a:pt x="114" y="56"/>
                    </a:lnTo>
                    <a:lnTo>
                      <a:pt x="103" y="47"/>
                    </a:lnTo>
                    <a:close/>
                    <a:moveTo>
                      <a:pt x="124" y="27"/>
                    </a:moveTo>
                    <a:lnTo>
                      <a:pt x="134" y="18"/>
                    </a:lnTo>
                    <a:lnTo>
                      <a:pt x="145" y="27"/>
                    </a:lnTo>
                    <a:lnTo>
                      <a:pt x="134" y="37"/>
                    </a:lnTo>
                    <a:lnTo>
                      <a:pt x="124" y="27"/>
                    </a:lnTo>
                    <a:close/>
                    <a:moveTo>
                      <a:pt x="145" y="8"/>
                    </a:moveTo>
                    <a:lnTo>
                      <a:pt x="154" y="0"/>
                    </a:lnTo>
                    <a:lnTo>
                      <a:pt x="164" y="9"/>
                    </a:lnTo>
                    <a:lnTo>
                      <a:pt x="155" y="18"/>
                    </a:lnTo>
                    <a:lnTo>
                      <a:pt x="145" y="8"/>
                    </a:ln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6" name="Freeform 24"/>
              <p:cNvSpPr>
                <a:spLocks noEditPoints="1"/>
              </p:cNvSpPr>
              <p:nvPr/>
            </p:nvSpPr>
            <p:spPr bwMode="auto">
              <a:xfrm>
                <a:off x="4279" y="799"/>
                <a:ext cx="7" cy="123"/>
              </a:xfrm>
              <a:custGeom>
                <a:avLst/>
                <a:gdLst>
                  <a:gd name="T0" fmla="*/ 0 w 50"/>
                  <a:gd name="T1" fmla="*/ 0 h 900"/>
                  <a:gd name="T2" fmla="*/ 0 w 50"/>
                  <a:gd name="T3" fmla="*/ 0 h 900"/>
                  <a:gd name="T4" fmla="*/ 0 w 50"/>
                  <a:gd name="T5" fmla="*/ 0 h 900"/>
                  <a:gd name="T6" fmla="*/ 0 w 50"/>
                  <a:gd name="T7" fmla="*/ 0 h 900"/>
                  <a:gd name="T8" fmla="*/ 0 w 50"/>
                  <a:gd name="T9" fmla="*/ 0 h 900"/>
                  <a:gd name="T10" fmla="*/ 0 w 50"/>
                  <a:gd name="T11" fmla="*/ 0 h 900"/>
                  <a:gd name="T12" fmla="*/ 0 w 50"/>
                  <a:gd name="T13" fmla="*/ 0 h 900"/>
                  <a:gd name="T14" fmla="*/ 0 w 50"/>
                  <a:gd name="T15" fmla="*/ 0 h 900"/>
                  <a:gd name="T16" fmla="*/ 0 w 50"/>
                  <a:gd name="T17" fmla="*/ 0 h 900"/>
                  <a:gd name="T18" fmla="*/ 0 w 50"/>
                  <a:gd name="T19" fmla="*/ 0 h 900"/>
                  <a:gd name="T20" fmla="*/ 0 w 50"/>
                  <a:gd name="T21" fmla="*/ 0 h 900"/>
                  <a:gd name="T22" fmla="*/ 0 w 50"/>
                  <a:gd name="T23" fmla="*/ 0 h 900"/>
                  <a:gd name="T24" fmla="*/ 0 w 50"/>
                  <a:gd name="T25" fmla="*/ 0 h 900"/>
                  <a:gd name="T26" fmla="*/ 0 w 50"/>
                  <a:gd name="T27" fmla="*/ 0 h 900"/>
                  <a:gd name="T28" fmla="*/ 0 w 50"/>
                  <a:gd name="T29" fmla="*/ 0 h 900"/>
                  <a:gd name="T30" fmla="*/ 0 w 50"/>
                  <a:gd name="T31" fmla="*/ 0 h 900"/>
                  <a:gd name="T32" fmla="*/ 0 w 50"/>
                  <a:gd name="T33" fmla="*/ 0 h 900"/>
                  <a:gd name="T34" fmla="*/ 0 w 50"/>
                  <a:gd name="T35" fmla="*/ 0 h 900"/>
                  <a:gd name="T36" fmla="*/ 0 w 50"/>
                  <a:gd name="T37" fmla="*/ 0 h 900"/>
                  <a:gd name="T38" fmla="*/ 0 w 50"/>
                  <a:gd name="T39" fmla="*/ 0 h 900"/>
                  <a:gd name="T40" fmla="*/ 0 w 50"/>
                  <a:gd name="T41" fmla="*/ 0 h 90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0"/>
                  <a:gd name="T64" fmla="*/ 0 h 900"/>
                  <a:gd name="T65" fmla="*/ 50 w 50"/>
                  <a:gd name="T66" fmla="*/ 900 h 900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0" h="900">
                    <a:moveTo>
                      <a:pt x="50" y="25"/>
                    </a:moveTo>
                    <a:lnTo>
                      <a:pt x="50" y="175"/>
                    </a:lnTo>
                    <a:cubicBezTo>
                      <a:pt x="50" y="189"/>
                      <a:pt x="39" y="200"/>
                      <a:pt x="25" y="200"/>
                    </a:cubicBezTo>
                    <a:cubicBezTo>
                      <a:pt x="12" y="200"/>
                      <a:pt x="0" y="189"/>
                      <a:pt x="0" y="175"/>
                    </a:cubicBezTo>
                    <a:lnTo>
                      <a:pt x="0" y="25"/>
                    </a:lnTo>
                    <a:cubicBezTo>
                      <a:pt x="0" y="12"/>
                      <a:pt x="12" y="0"/>
                      <a:pt x="25" y="0"/>
                    </a:cubicBezTo>
                    <a:cubicBezTo>
                      <a:pt x="39" y="0"/>
                      <a:pt x="50" y="12"/>
                      <a:pt x="50" y="25"/>
                    </a:cubicBezTo>
                    <a:close/>
                    <a:moveTo>
                      <a:pt x="50" y="375"/>
                    </a:moveTo>
                    <a:lnTo>
                      <a:pt x="50" y="525"/>
                    </a:lnTo>
                    <a:cubicBezTo>
                      <a:pt x="50" y="539"/>
                      <a:pt x="39" y="550"/>
                      <a:pt x="25" y="550"/>
                    </a:cubicBezTo>
                    <a:cubicBezTo>
                      <a:pt x="12" y="550"/>
                      <a:pt x="0" y="539"/>
                      <a:pt x="0" y="525"/>
                    </a:cubicBezTo>
                    <a:lnTo>
                      <a:pt x="0" y="375"/>
                    </a:lnTo>
                    <a:cubicBezTo>
                      <a:pt x="0" y="362"/>
                      <a:pt x="12" y="350"/>
                      <a:pt x="25" y="350"/>
                    </a:cubicBezTo>
                    <a:cubicBezTo>
                      <a:pt x="39" y="350"/>
                      <a:pt x="50" y="362"/>
                      <a:pt x="50" y="375"/>
                    </a:cubicBezTo>
                    <a:close/>
                    <a:moveTo>
                      <a:pt x="50" y="725"/>
                    </a:moveTo>
                    <a:lnTo>
                      <a:pt x="50" y="875"/>
                    </a:lnTo>
                    <a:cubicBezTo>
                      <a:pt x="50" y="889"/>
                      <a:pt x="39" y="900"/>
                      <a:pt x="25" y="900"/>
                    </a:cubicBezTo>
                    <a:cubicBezTo>
                      <a:pt x="12" y="900"/>
                      <a:pt x="0" y="889"/>
                      <a:pt x="0" y="875"/>
                    </a:cubicBezTo>
                    <a:lnTo>
                      <a:pt x="0" y="725"/>
                    </a:lnTo>
                    <a:cubicBezTo>
                      <a:pt x="0" y="712"/>
                      <a:pt x="12" y="700"/>
                      <a:pt x="25" y="700"/>
                    </a:cubicBezTo>
                    <a:cubicBezTo>
                      <a:pt x="39" y="700"/>
                      <a:pt x="50" y="712"/>
                      <a:pt x="50" y="7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87" name="Freeform 25"/>
              <p:cNvSpPr>
                <a:spLocks noEditPoints="1"/>
              </p:cNvSpPr>
              <p:nvPr/>
            </p:nvSpPr>
            <p:spPr bwMode="auto">
              <a:xfrm>
                <a:off x="4278" y="929"/>
                <a:ext cx="172" cy="69"/>
              </a:xfrm>
              <a:custGeom>
                <a:avLst/>
                <a:gdLst>
                  <a:gd name="T0" fmla="*/ 0 w 1171"/>
                  <a:gd name="T1" fmla="*/ 0 h 502"/>
                  <a:gd name="T2" fmla="*/ 0 w 1171"/>
                  <a:gd name="T3" fmla="*/ 0 h 502"/>
                  <a:gd name="T4" fmla="*/ 0 w 1171"/>
                  <a:gd name="T5" fmla="*/ 0 h 502"/>
                  <a:gd name="T6" fmla="*/ 0 w 1171"/>
                  <a:gd name="T7" fmla="*/ 0 h 502"/>
                  <a:gd name="T8" fmla="*/ 0 w 1171"/>
                  <a:gd name="T9" fmla="*/ 0 h 502"/>
                  <a:gd name="T10" fmla="*/ 0 w 1171"/>
                  <a:gd name="T11" fmla="*/ 0 h 502"/>
                  <a:gd name="T12" fmla="*/ 0 w 1171"/>
                  <a:gd name="T13" fmla="*/ 0 h 502"/>
                  <a:gd name="T14" fmla="*/ 0 w 1171"/>
                  <a:gd name="T15" fmla="*/ 0 h 502"/>
                  <a:gd name="T16" fmla="*/ 0 w 1171"/>
                  <a:gd name="T17" fmla="*/ 0 h 502"/>
                  <a:gd name="T18" fmla="*/ 0 w 1171"/>
                  <a:gd name="T19" fmla="*/ 0 h 502"/>
                  <a:gd name="T20" fmla="*/ 0 w 1171"/>
                  <a:gd name="T21" fmla="*/ 0 h 502"/>
                  <a:gd name="T22" fmla="*/ 0 w 1171"/>
                  <a:gd name="T23" fmla="*/ 0 h 502"/>
                  <a:gd name="T24" fmla="*/ 0 w 1171"/>
                  <a:gd name="T25" fmla="*/ 0 h 502"/>
                  <a:gd name="T26" fmla="*/ 0 w 1171"/>
                  <a:gd name="T27" fmla="*/ 0 h 502"/>
                  <a:gd name="T28" fmla="*/ 0 w 1171"/>
                  <a:gd name="T29" fmla="*/ 0 h 502"/>
                  <a:gd name="T30" fmla="*/ 0 w 1171"/>
                  <a:gd name="T31" fmla="*/ 0 h 502"/>
                  <a:gd name="T32" fmla="*/ 0 w 1171"/>
                  <a:gd name="T33" fmla="*/ 0 h 502"/>
                  <a:gd name="T34" fmla="*/ 0 w 1171"/>
                  <a:gd name="T35" fmla="*/ 0 h 502"/>
                  <a:gd name="T36" fmla="*/ 0 w 1171"/>
                  <a:gd name="T37" fmla="*/ 0 h 502"/>
                  <a:gd name="T38" fmla="*/ 0 w 1171"/>
                  <a:gd name="T39" fmla="*/ 0 h 502"/>
                  <a:gd name="T40" fmla="*/ 0 w 1171"/>
                  <a:gd name="T41" fmla="*/ 0 h 502"/>
                  <a:gd name="T42" fmla="*/ 0 w 1171"/>
                  <a:gd name="T43" fmla="*/ 0 h 502"/>
                  <a:gd name="T44" fmla="*/ 0 w 1171"/>
                  <a:gd name="T45" fmla="*/ 0 h 502"/>
                  <a:gd name="T46" fmla="*/ 0 w 1171"/>
                  <a:gd name="T47" fmla="*/ 0 h 502"/>
                  <a:gd name="T48" fmla="*/ 0 w 1171"/>
                  <a:gd name="T49" fmla="*/ 0 h 502"/>
                  <a:gd name="T50" fmla="*/ 0 w 1171"/>
                  <a:gd name="T51" fmla="*/ 0 h 502"/>
                  <a:gd name="T52" fmla="*/ 0 w 1171"/>
                  <a:gd name="T53" fmla="*/ 0 h 502"/>
                  <a:gd name="T54" fmla="*/ 0 w 1171"/>
                  <a:gd name="T55" fmla="*/ 0 h 502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171"/>
                  <a:gd name="T85" fmla="*/ 0 h 502"/>
                  <a:gd name="T86" fmla="*/ 1171 w 1171"/>
                  <a:gd name="T87" fmla="*/ 502 h 502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171" h="502">
                    <a:moveTo>
                      <a:pt x="38" y="5"/>
                    </a:moveTo>
                    <a:lnTo>
                      <a:pt x="177" y="61"/>
                    </a:lnTo>
                    <a:cubicBezTo>
                      <a:pt x="190" y="66"/>
                      <a:pt x="196" y="81"/>
                      <a:pt x="191" y="93"/>
                    </a:cubicBezTo>
                    <a:cubicBezTo>
                      <a:pt x="186" y="106"/>
                      <a:pt x="171" y="113"/>
                      <a:pt x="158" y="107"/>
                    </a:cubicBezTo>
                    <a:lnTo>
                      <a:pt x="19" y="52"/>
                    </a:lnTo>
                    <a:cubicBezTo>
                      <a:pt x="6" y="47"/>
                      <a:pt x="0" y="32"/>
                      <a:pt x="5" y="19"/>
                    </a:cubicBezTo>
                    <a:cubicBezTo>
                      <a:pt x="10" y="6"/>
                      <a:pt x="25" y="0"/>
                      <a:pt x="38" y="5"/>
                    </a:cubicBezTo>
                    <a:close/>
                    <a:moveTo>
                      <a:pt x="363" y="135"/>
                    </a:moveTo>
                    <a:lnTo>
                      <a:pt x="502" y="191"/>
                    </a:lnTo>
                    <a:cubicBezTo>
                      <a:pt x="515" y="196"/>
                      <a:pt x="521" y="211"/>
                      <a:pt x="516" y="223"/>
                    </a:cubicBezTo>
                    <a:cubicBezTo>
                      <a:pt x="511" y="236"/>
                      <a:pt x="496" y="243"/>
                      <a:pt x="483" y="237"/>
                    </a:cubicBezTo>
                    <a:lnTo>
                      <a:pt x="344" y="182"/>
                    </a:lnTo>
                    <a:cubicBezTo>
                      <a:pt x="331" y="177"/>
                      <a:pt x="325" y="162"/>
                      <a:pt x="330" y="149"/>
                    </a:cubicBezTo>
                    <a:cubicBezTo>
                      <a:pt x="335" y="136"/>
                      <a:pt x="350" y="130"/>
                      <a:pt x="363" y="135"/>
                    </a:cubicBezTo>
                    <a:close/>
                    <a:moveTo>
                      <a:pt x="688" y="265"/>
                    </a:moveTo>
                    <a:lnTo>
                      <a:pt x="827" y="321"/>
                    </a:lnTo>
                    <a:cubicBezTo>
                      <a:pt x="840" y="326"/>
                      <a:pt x="846" y="341"/>
                      <a:pt x="841" y="353"/>
                    </a:cubicBezTo>
                    <a:cubicBezTo>
                      <a:pt x="836" y="366"/>
                      <a:pt x="821" y="372"/>
                      <a:pt x="808" y="367"/>
                    </a:cubicBezTo>
                    <a:lnTo>
                      <a:pt x="669" y="312"/>
                    </a:lnTo>
                    <a:cubicBezTo>
                      <a:pt x="656" y="307"/>
                      <a:pt x="650" y="292"/>
                      <a:pt x="655" y="279"/>
                    </a:cubicBezTo>
                    <a:cubicBezTo>
                      <a:pt x="660" y="266"/>
                      <a:pt x="675" y="260"/>
                      <a:pt x="688" y="265"/>
                    </a:cubicBezTo>
                    <a:close/>
                    <a:moveTo>
                      <a:pt x="1013" y="395"/>
                    </a:moveTo>
                    <a:lnTo>
                      <a:pt x="1152" y="451"/>
                    </a:lnTo>
                    <a:cubicBezTo>
                      <a:pt x="1165" y="456"/>
                      <a:pt x="1171" y="471"/>
                      <a:pt x="1166" y="483"/>
                    </a:cubicBezTo>
                    <a:cubicBezTo>
                      <a:pt x="1161" y="496"/>
                      <a:pt x="1146" y="502"/>
                      <a:pt x="1133" y="497"/>
                    </a:cubicBezTo>
                    <a:lnTo>
                      <a:pt x="994" y="442"/>
                    </a:lnTo>
                    <a:cubicBezTo>
                      <a:pt x="981" y="437"/>
                      <a:pt x="975" y="422"/>
                      <a:pt x="980" y="409"/>
                    </a:cubicBezTo>
                    <a:cubicBezTo>
                      <a:pt x="985" y="396"/>
                      <a:pt x="1000" y="390"/>
                      <a:pt x="1013" y="3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>
                <a:solidFill>
                  <a:srgbClr val="000000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</p:grpSp>
      <p:sp>
        <p:nvSpPr>
          <p:cNvPr id="2061" name="Rectangle 26"/>
          <p:cNvSpPr>
            <a:spLocks noChangeArrowheads="1"/>
          </p:cNvSpPr>
          <p:nvPr/>
        </p:nvSpPr>
        <p:spPr bwMode="auto">
          <a:xfrm>
            <a:off x="6703428" y="716755"/>
            <a:ext cx="274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Symbol" pitchFamily="18" charset="2"/>
              </a:rPr>
              <a:t>W</a:t>
            </a:r>
            <a:endParaRPr lang="en-US" sz="2000" dirty="0"/>
          </a:p>
        </p:txBody>
      </p:sp>
      <p:sp>
        <p:nvSpPr>
          <p:cNvPr id="2062" name="Rectangle 27"/>
          <p:cNvSpPr>
            <a:spLocks noChangeArrowheads="1"/>
          </p:cNvSpPr>
          <p:nvPr/>
        </p:nvSpPr>
        <p:spPr bwMode="auto">
          <a:xfrm>
            <a:off x="4687888" y="659607"/>
            <a:ext cx="3847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sz="1600" dirty="0"/>
          </a:p>
        </p:txBody>
      </p:sp>
      <p:sp>
        <p:nvSpPr>
          <p:cNvPr id="2063" name="Rectangle 28"/>
          <p:cNvSpPr>
            <a:spLocks noChangeArrowheads="1"/>
          </p:cNvSpPr>
          <p:nvPr/>
        </p:nvSpPr>
        <p:spPr bwMode="auto">
          <a:xfrm>
            <a:off x="711201" y="2684860"/>
            <a:ext cx="613860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Times New Roman" pitchFamily="18" charset="0"/>
              </a:rPr>
              <a:t>          </a:t>
            </a:r>
            <a:r>
              <a:rPr lang="en-US" sz="1800" dirty="0">
                <a:solidFill>
                  <a:srgbClr val="000000"/>
                </a:solidFill>
                <a:latin typeface="Times New Roman" pitchFamily="18" charset="0"/>
              </a:rPr>
              <a:t>Configuration coordinates                        Velocity coordinates</a:t>
            </a:r>
            <a:endParaRPr lang="en-US" sz="1800" dirty="0"/>
          </a:p>
        </p:txBody>
      </p:sp>
      <p:sp>
        <p:nvSpPr>
          <p:cNvPr id="2064" name="Rectangle 29"/>
          <p:cNvSpPr>
            <a:spLocks noChangeArrowheads="1"/>
          </p:cNvSpPr>
          <p:nvPr/>
        </p:nvSpPr>
        <p:spPr bwMode="auto">
          <a:xfrm>
            <a:off x="6707188" y="2684860"/>
            <a:ext cx="4488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sz="1600" dirty="0"/>
          </a:p>
        </p:txBody>
      </p:sp>
      <p:grpSp>
        <p:nvGrpSpPr>
          <p:cNvPr id="2065" name="Group 45"/>
          <p:cNvGrpSpPr>
            <a:grpSpLocks/>
          </p:cNvGrpSpPr>
          <p:nvPr/>
        </p:nvGrpSpPr>
        <p:grpSpPr bwMode="auto">
          <a:xfrm>
            <a:off x="983298" y="3985660"/>
            <a:ext cx="4738688" cy="790576"/>
            <a:chOff x="642" y="3363"/>
            <a:chExt cx="2985" cy="664"/>
          </a:xfrm>
        </p:grpSpPr>
        <p:graphicFrame>
          <p:nvGraphicFramePr>
            <p:cNvPr id="2053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881615"/>
                </p:ext>
              </p:extLst>
            </p:nvPr>
          </p:nvGraphicFramePr>
          <p:xfrm>
            <a:off x="661" y="3377"/>
            <a:ext cx="112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4" name="Equation" r:id="rId3" imgW="1028520" imgH="291960" progId="Equation.DSMT4">
                    <p:embed/>
                  </p:oleObj>
                </mc:Choice>
                <mc:Fallback>
                  <p:oleObj name="Equation" r:id="rId3" imgW="1028520" imgH="29196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" y="3377"/>
                          <a:ext cx="1128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3" name="Text Box 31"/>
            <p:cNvSpPr txBox="1">
              <a:spLocks noChangeArrowheads="1"/>
            </p:cNvSpPr>
            <p:nvPr/>
          </p:nvSpPr>
          <p:spPr bwMode="auto">
            <a:xfrm>
              <a:off x="1791" y="3363"/>
              <a:ext cx="183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= independent variables</a:t>
              </a:r>
            </a:p>
          </p:txBody>
        </p:sp>
        <p:sp>
          <p:nvSpPr>
            <p:cNvPr id="2074" name="Text Box 32"/>
            <p:cNvSpPr txBox="1">
              <a:spLocks noChangeArrowheads="1"/>
            </p:cNvSpPr>
            <p:nvPr/>
          </p:nvSpPr>
          <p:spPr bwMode="auto">
            <a:xfrm>
              <a:off x="642" y="3665"/>
              <a:ext cx="104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Equivalence:</a:t>
              </a:r>
            </a:p>
          </p:txBody>
        </p:sp>
        <p:graphicFrame>
          <p:nvGraphicFramePr>
            <p:cNvPr id="2054" name="Object 33"/>
            <p:cNvGraphicFramePr>
              <a:graphicFrameLocks noChangeAspect="1"/>
            </p:cNvGraphicFramePr>
            <p:nvPr/>
          </p:nvGraphicFramePr>
          <p:xfrm>
            <a:off x="1779" y="3694"/>
            <a:ext cx="691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5" name="Equation" r:id="rId5" imgW="812447" imgH="291973" progId="Equation.DSMT4">
                    <p:embed/>
                  </p:oleObj>
                </mc:Choice>
                <mc:Fallback>
                  <p:oleObj name="Equation" r:id="rId5" imgW="812447" imgH="291973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9" y="3694"/>
                          <a:ext cx="691" cy="3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5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8209022"/>
                </p:ext>
              </p:extLst>
            </p:nvPr>
          </p:nvGraphicFramePr>
          <p:xfrm>
            <a:off x="2489" y="3665"/>
            <a:ext cx="831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6" name="Equation" r:id="rId7" imgW="965160" imgH="291960" progId="Equation.DSMT4">
                    <p:embed/>
                  </p:oleObj>
                </mc:Choice>
                <mc:Fallback>
                  <p:oleObj name="Equation" r:id="rId7" imgW="965160" imgH="29196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9" y="3665"/>
                          <a:ext cx="831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66" name="Group 35"/>
          <p:cNvGrpSpPr>
            <a:grpSpLocks/>
          </p:cNvGrpSpPr>
          <p:nvPr/>
        </p:nvGrpSpPr>
        <p:grpSpPr bwMode="auto">
          <a:xfrm>
            <a:off x="982663" y="3058715"/>
            <a:ext cx="7342188" cy="1726406"/>
            <a:chOff x="619" y="2569"/>
            <a:chExt cx="4625" cy="1450"/>
          </a:xfrm>
        </p:grpSpPr>
        <p:sp>
          <p:nvSpPr>
            <p:cNvPr id="2071" name="Text Box 36"/>
            <p:cNvSpPr txBox="1">
              <a:spLocks noChangeArrowheads="1"/>
            </p:cNvSpPr>
            <p:nvPr/>
          </p:nvSpPr>
          <p:spPr bwMode="auto">
            <a:xfrm>
              <a:off x="619" y="2642"/>
              <a:ext cx="1937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2000" dirty="0"/>
                <a:t>  is the neutron position</a:t>
              </a:r>
            </a:p>
            <a:p>
              <a:r>
                <a:rPr lang="en-US" sz="2000" b="1" dirty="0">
                  <a:latin typeface="Symbol" pitchFamily="18" charset="2"/>
                </a:rPr>
                <a:t>W</a:t>
              </a:r>
              <a:r>
                <a:rPr lang="en-US" sz="2000" dirty="0">
                  <a:latin typeface="Symbol" pitchFamily="18" charset="2"/>
                </a:rPr>
                <a:t> </a:t>
              </a:r>
              <a:r>
                <a:rPr lang="en-US" sz="2000" dirty="0"/>
                <a:t>is the neutron direction</a:t>
              </a:r>
              <a:endParaRPr lang="en-US" sz="2000" dirty="0">
                <a:latin typeface="Symbol" pitchFamily="18" charset="2"/>
              </a:endParaRPr>
            </a:p>
          </p:txBody>
        </p:sp>
        <p:graphicFrame>
          <p:nvGraphicFramePr>
            <p:cNvPr id="2050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5907766"/>
                </p:ext>
              </p:extLst>
            </p:nvPr>
          </p:nvGraphicFramePr>
          <p:xfrm>
            <a:off x="3992" y="2569"/>
            <a:ext cx="64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7" name="Equation" r:id="rId9" imgW="622080" imgH="203040" progId="Equation.DSMT4">
                    <p:embed/>
                  </p:oleObj>
                </mc:Choice>
                <mc:Fallback>
                  <p:oleObj name="Equation" r:id="rId9" imgW="622080" imgH="20304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2569"/>
                          <a:ext cx="640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7964283"/>
                </p:ext>
              </p:extLst>
            </p:nvPr>
          </p:nvGraphicFramePr>
          <p:xfrm>
            <a:off x="3932" y="2857"/>
            <a:ext cx="966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8" name="Equation" r:id="rId11" imgW="876240" imgH="469800" progId="Equation.DSMT4">
                    <p:embed/>
                  </p:oleObj>
                </mc:Choice>
                <mc:Fallback>
                  <p:oleObj name="Equation" r:id="rId11" imgW="876240" imgH="4698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2" y="2857"/>
                          <a:ext cx="966" cy="5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Object 39"/>
            <p:cNvGraphicFramePr>
              <a:graphicFrameLocks noChangeAspect="1"/>
            </p:cNvGraphicFramePr>
            <p:nvPr/>
          </p:nvGraphicFramePr>
          <p:xfrm>
            <a:off x="3149" y="2783"/>
            <a:ext cx="609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19" name="Equation" r:id="rId13" imgW="520560" imgH="330120" progId="Equation.DSMT4">
                    <p:embed/>
                  </p:oleObj>
                </mc:Choice>
                <mc:Fallback>
                  <p:oleObj name="Equation" r:id="rId13" imgW="520560" imgH="33012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2783"/>
                          <a:ext cx="609" cy="2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2" name="Text Box 41"/>
            <p:cNvSpPr txBox="1">
              <a:spLocks noChangeArrowheads="1"/>
            </p:cNvSpPr>
            <p:nvPr/>
          </p:nvSpPr>
          <p:spPr bwMode="auto">
            <a:xfrm>
              <a:off x="4632" y="3528"/>
              <a:ext cx="61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/>
                <a:t>Neutron </a:t>
              </a:r>
            </a:p>
            <a:p>
              <a:pPr algn="ctr"/>
              <a:r>
                <a:rPr lang="en-US" sz="1600" dirty="0"/>
                <a:t>Mass</a:t>
              </a:r>
            </a:p>
          </p:txBody>
        </p:sp>
      </p:grpSp>
      <p:sp>
        <p:nvSpPr>
          <p:cNvPr id="2067" name="Text Box 42"/>
          <p:cNvSpPr txBox="1">
            <a:spLocks noChangeArrowheads="1"/>
          </p:cNvSpPr>
          <p:nvPr/>
        </p:nvSpPr>
        <p:spPr bwMode="auto">
          <a:xfrm>
            <a:off x="5737226" y="2044304"/>
            <a:ext cx="23773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latin typeface="Tahoma" pitchFamily="34" charset="0"/>
              </a:rPr>
              <a:t>Total of 4</a:t>
            </a:r>
            <a:r>
              <a:rPr lang="en-US" sz="1800" dirty="0">
                <a:latin typeface="Symbol" pitchFamily="18" charset="2"/>
              </a:rPr>
              <a:t>p</a:t>
            </a:r>
            <a:r>
              <a:rPr lang="en-US" sz="1800" dirty="0">
                <a:latin typeface="Tahoma" pitchFamily="34" charset="0"/>
              </a:rPr>
              <a:t> steradians</a:t>
            </a:r>
          </a:p>
        </p:txBody>
      </p:sp>
      <p:sp>
        <p:nvSpPr>
          <p:cNvPr id="48" name="Footer Placeholder 47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29F0E7-C8F8-4BC6-BEB5-16E7FA90D8FA}" type="slidenum">
              <a:rPr lang="en-US" sz="1100"/>
              <a:pPr>
                <a:defRPr/>
              </a:pPr>
              <a:t>6</a:t>
            </a:fld>
            <a:endParaRPr lang="en-US" sz="1100" dirty="0"/>
          </a:p>
        </p:txBody>
      </p:sp>
      <p:cxnSp>
        <p:nvCxnSpPr>
          <p:cNvPr id="47" name="Straight Connector 46"/>
          <p:cNvCxnSpPr/>
          <p:nvPr/>
        </p:nvCxnSpPr>
        <p:spPr>
          <a:xfrm>
            <a:off x="7213600" y="3891280"/>
            <a:ext cx="520700" cy="3390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ext Box 10"/>
          <p:cNvSpPr txBox="1">
            <a:spLocks noChangeArrowheads="1"/>
          </p:cNvSpPr>
          <p:nvPr/>
        </p:nvSpPr>
        <p:spPr bwMode="auto">
          <a:xfrm>
            <a:off x="4683125" y="78581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en-US" sz="1800" dirty="0">
              <a:latin typeface="Tahoma" pitchFamily="34" charset="0"/>
            </a:endParaRPr>
          </a:p>
        </p:txBody>
      </p:sp>
      <p:sp>
        <p:nvSpPr>
          <p:cNvPr id="3080" name="Text Box 13"/>
          <p:cNvSpPr txBox="1">
            <a:spLocks noChangeArrowheads="1"/>
          </p:cNvSpPr>
          <p:nvPr/>
        </p:nvSpPr>
        <p:spPr bwMode="auto">
          <a:xfrm>
            <a:off x="6105525" y="121443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en-US" sz="1800" dirty="0">
              <a:latin typeface="Tahoma" pitchFamily="34" charset="0"/>
            </a:endParaRPr>
          </a:p>
        </p:txBody>
      </p:sp>
      <p:graphicFrame>
        <p:nvGraphicFramePr>
          <p:cNvPr id="30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84053"/>
              </p:ext>
            </p:extLst>
          </p:nvPr>
        </p:nvGraphicFramePr>
        <p:xfrm>
          <a:off x="6484938" y="1589088"/>
          <a:ext cx="21002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13" name="Equation" r:id="rId3" imgW="1041120" imgH="431640" progId="Equation.DSMT4">
                  <p:embed/>
                </p:oleObj>
              </mc:Choice>
              <mc:Fallback>
                <p:oleObj name="Equation" r:id="rId3" imgW="1041120" imgH="431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1589088"/>
                        <a:ext cx="2100262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Line 22"/>
          <p:cNvSpPr>
            <a:spLocks noChangeShapeType="1"/>
          </p:cNvSpPr>
          <p:nvPr/>
        </p:nvSpPr>
        <p:spPr bwMode="auto">
          <a:xfrm>
            <a:off x="5403850" y="1647825"/>
            <a:ext cx="1062038" cy="82154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082" name="Line 25"/>
          <p:cNvSpPr>
            <a:spLocks noChangeShapeType="1"/>
          </p:cNvSpPr>
          <p:nvPr/>
        </p:nvSpPr>
        <p:spPr bwMode="auto">
          <a:xfrm flipV="1">
            <a:off x="1543051" y="2846785"/>
            <a:ext cx="1323975" cy="170854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3" name="Rectangle 26"/>
          <p:cNvSpPr>
            <a:spLocks noChangeArrowheads="1"/>
          </p:cNvSpPr>
          <p:nvPr/>
        </p:nvSpPr>
        <p:spPr bwMode="auto">
          <a:xfrm>
            <a:off x="2214564" y="3643312"/>
            <a:ext cx="433387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3600" b="1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endParaRPr lang="en-US" sz="3600" dirty="0"/>
          </a:p>
        </p:txBody>
      </p:sp>
      <p:grpSp>
        <p:nvGrpSpPr>
          <p:cNvPr id="3084" name="Group 34"/>
          <p:cNvGrpSpPr>
            <a:grpSpLocks/>
          </p:cNvGrpSpPr>
          <p:nvPr/>
        </p:nvGrpSpPr>
        <p:grpSpPr bwMode="auto">
          <a:xfrm>
            <a:off x="923925" y="517922"/>
            <a:ext cx="5638800" cy="3739753"/>
            <a:chOff x="582" y="435"/>
            <a:chExt cx="3552" cy="3141"/>
          </a:xfrm>
        </p:grpSpPr>
        <p:grpSp>
          <p:nvGrpSpPr>
            <p:cNvPr id="3098" name="Group 33"/>
            <p:cNvGrpSpPr>
              <a:grpSpLocks/>
            </p:cNvGrpSpPr>
            <p:nvPr/>
          </p:nvGrpSpPr>
          <p:grpSpPr bwMode="auto">
            <a:xfrm>
              <a:off x="582" y="435"/>
              <a:ext cx="3552" cy="3141"/>
              <a:chOff x="582" y="435"/>
              <a:chExt cx="3552" cy="3141"/>
            </a:xfrm>
          </p:grpSpPr>
          <p:sp>
            <p:nvSpPr>
              <p:cNvPr id="3104" name="Line 6"/>
              <p:cNvSpPr>
                <a:spLocks noChangeShapeType="1"/>
              </p:cNvSpPr>
              <p:nvPr/>
            </p:nvSpPr>
            <p:spPr bwMode="auto">
              <a:xfrm>
                <a:off x="3382" y="1328"/>
                <a:ext cx="0" cy="16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graphicFrame>
            <p:nvGraphicFramePr>
              <p:cNvPr id="3075" name="Object 12"/>
              <p:cNvGraphicFramePr>
                <a:graphicFrameLocks noChangeAspect="1"/>
              </p:cNvGraphicFramePr>
              <p:nvPr/>
            </p:nvGraphicFramePr>
            <p:xfrm>
              <a:off x="1838" y="3064"/>
              <a:ext cx="220" cy="3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2314" name="Equation" r:id="rId5" imgW="126720" imgH="203040" progId="Equation.3">
                      <p:embed/>
                    </p:oleObj>
                  </mc:Choice>
                  <mc:Fallback>
                    <p:oleObj name="Equation" r:id="rId5" imgW="126720" imgH="20304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8" y="3064"/>
                            <a:ext cx="220" cy="3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105" name="Group 32"/>
              <p:cNvGrpSpPr>
                <a:grpSpLocks/>
              </p:cNvGrpSpPr>
              <p:nvPr/>
            </p:nvGrpSpPr>
            <p:grpSpPr bwMode="auto">
              <a:xfrm>
                <a:off x="582" y="435"/>
                <a:ext cx="3552" cy="3141"/>
                <a:chOff x="582" y="435"/>
                <a:chExt cx="3552" cy="3141"/>
              </a:xfrm>
            </p:grpSpPr>
            <p:sp>
              <p:nvSpPr>
                <p:cNvPr id="3106" name="Line 2"/>
                <p:cNvSpPr>
                  <a:spLocks noChangeShapeType="1"/>
                </p:cNvSpPr>
                <p:nvPr/>
              </p:nvSpPr>
              <p:spPr bwMode="auto">
                <a:xfrm>
                  <a:off x="1774" y="560"/>
                  <a:ext cx="0" cy="18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07" name="Line 3"/>
                <p:cNvSpPr>
                  <a:spLocks noChangeShapeType="1"/>
                </p:cNvSpPr>
                <p:nvPr/>
              </p:nvSpPr>
              <p:spPr bwMode="auto">
                <a:xfrm flipH="1">
                  <a:off x="582" y="2392"/>
                  <a:ext cx="1184" cy="11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08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1782" y="2392"/>
                  <a:ext cx="23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09" name="Line 7"/>
                <p:cNvSpPr>
                  <a:spLocks noChangeShapeType="1"/>
                </p:cNvSpPr>
                <p:nvPr/>
              </p:nvSpPr>
              <p:spPr bwMode="auto">
                <a:xfrm>
                  <a:off x="1774" y="2392"/>
                  <a:ext cx="1624" cy="5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10" name="Arc 8"/>
                <p:cNvSpPr>
                  <a:spLocks/>
                </p:cNvSpPr>
                <p:nvPr/>
              </p:nvSpPr>
              <p:spPr bwMode="auto">
                <a:xfrm rot="20016223" flipH="1" flipV="1">
                  <a:off x="1527" y="2603"/>
                  <a:ext cx="1169" cy="545"/>
                </a:xfrm>
                <a:custGeom>
                  <a:avLst/>
                  <a:gdLst>
                    <a:gd name="T0" fmla="*/ 0 w 29333"/>
                    <a:gd name="T1" fmla="*/ 0 h 21600"/>
                    <a:gd name="T2" fmla="*/ 0 w 29333"/>
                    <a:gd name="T3" fmla="*/ 0 h 21600"/>
                    <a:gd name="T4" fmla="*/ 0 w 2933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9333"/>
                    <a:gd name="T10" fmla="*/ 0 h 21600"/>
                    <a:gd name="T11" fmla="*/ 29333 w 2933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9333" h="21600" fill="none" extrusionOk="0">
                      <a:moveTo>
                        <a:pt x="-1" y="1431"/>
                      </a:moveTo>
                      <a:cubicBezTo>
                        <a:pt x="2468" y="485"/>
                        <a:pt x="5089" y="-1"/>
                        <a:pt x="7733" y="0"/>
                      </a:cubicBezTo>
                      <a:cubicBezTo>
                        <a:pt x="19662" y="0"/>
                        <a:pt x="29333" y="9670"/>
                        <a:pt x="29333" y="21600"/>
                      </a:cubicBezTo>
                    </a:path>
                    <a:path w="29333" h="21600" stroke="0" extrusionOk="0">
                      <a:moveTo>
                        <a:pt x="-1" y="1431"/>
                      </a:moveTo>
                      <a:cubicBezTo>
                        <a:pt x="2468" y="485"/>
                        <a:pt x="5089" y="-1"/>
                        <a:pt x="7733" y="0"/>
                      </a:cubicBezTo>
                      <a:cubicBezTo>
                        <a:pt x="19662" y="0"/>
                        <a:pt x="29333" y="9670"/>
                        <a:pt x="29333" y="21600"/>
                      </a:cubicBezTo>
                      <a:lnTo>
                        <a:pt x="7733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111" name="Arc 9"/>
                <p:cNvSpPr>
                  <a:spLocks/>
                </p:cNvSpPr>
                <p:nvPr/>
              </p:nvSpPr>
              <p:spPr bwMode="auto">
                <a:xfrm>
                  <a:off x="1838" y="984"/>
                  <a:ext cx="928" cy="6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graphicFrame>
              <p:nvGraphicFramePr>
                <p:cNvPr id="3076" name="Object 11"/>
                <p:cNvGraphicFramePr>
                  <a:graphicFrameLocks noChangeAspect="1"/>
                </p:cNvGraphicFramePr>
                <p:nvPr/>
              </p:nvGraphicFramePr>
              <p:xfrm>
                <a:off x="2406" y="856"/>
                <a:ext cx="336" cy="3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2315" name="Equation" r:id="rId7" imgW="126720" imgH="177480" progId="Equation.3">
                        <p:embed/>
                      </p:oleObj>
                    </mc:Choice>
                    <mc:Fallback>
                      <p:oleObj name="Equation" r:id="rId7" imgW="126720" imgH="177480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06" y="856"/>
                              <a:ext cx="336" cy="3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077" name="Object 1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01470553"/>
                    </p:ext>
                  </p:extLst>
                </p:nvPr>
              </p:nvGraphicFramePr>
              <p:xfrm>
                <a:off x="2151" y="435"/>
                <a:ext cx="870" cy="4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2316" name="Equation" r:id="rId9" imgW="723600" imgH="253800" progId="Equation.DSMT4">
                        <p:embed/>
                      </p:oleObj>
                    </mc:Choice>
                    <mc:Fallback>
                      <p:oleObj name="Equation" r:id="rId9" imgW="723600" imgH="253800" progId="Equation.DSMT4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51" y="435"/>
                              <a:ext cx="870" cy="408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078" name="Object 16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62935890"/>
                    </p:ext>
                  </p:extLst>
                </p:nvPr>
              </p:nvGraphicFramePr>
              <p:xfrm>
                <a:off x="3001" y="1578"/>
                <a:ext cx="264" cy="2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2317" name="Equation" r:id="rId11" imgW="164880" imgH="164880" progId="Equation.DSMT4">
                        <p:embed/>
                      </p:oleObj>
                    </mc:Choice>
                    <mc:Fallback>
                      <p:oleObj name="Equation" r:id="rId11" imgW="164880" imgH="164880" progId="Equation.DSMT4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01" y="1578"/>
                              <a:ext cx="264" cy="2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112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1766" y="1329"/>
                  <a:ext cx="1616" cy="10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3099" name="Group 31"/>
            <p:cNvGrpSpPr>
              <a:grpSpLocks/>
            </p:cNvGrpSpPr>
            <p:nvPr/>
          </p:nvGrpSpPr>
          <p:grpSpPr bwMode="auto">
            <a:xfrm>
              <a:off x="3164" y="1204"/>
              <a:ext cx="307" cy="360"/>
              <a:chOff x="3869" y="2890"/>
              <a:chExt cx="307" cy="360"/>
            </a:xfrm>
          </p:grpSpPr>
          <p:sp>
            <p:nvSpPr>
              <p:cNvPr id="3100" name="Arc 27"/>
              <p:cNvSpPr>
                <a:spLocks/>
              </p:cNvSpPr>
              <p:nvPr/>
            </p:nvSpPr>
            <p:spPr bwMode="auto">
              <a:xfrm>
                <a:off x="3869" y="3000"/>
                <a:ext cx="163" cy="25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01" name="Arc 28"/>
              <p:cNvSpPr>
                <a:spLocks/>
              </p:cNvSpPr>
              <p:nvPr/>
            </p:nvSpPr>
            <p:spPr bwMode="auto">
              <a:xfrm>
                <a:off x="4011" y="2894"/>
                <a:ext cx="163" cy="25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02" name="Line 29"/>
              <p:cNvSpPr>
                <a:spLocks noChangeShapeType="1"/>
              </p:cNvSpPr>
              <p:nvPr/>
            </p:nvSpPr>
            <p:spPr bwMode="auto">
              <a:xfrm flipV="1">
                <a:off x="3870" y="2890"/>
                <a:ext cx="150" cy="1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03" name="Line 30"/>
              <p:cNvSpPr>
                <a:spLocks noChangeShapeType="1"/>
              </p:cNvSpPr>
              <p:nvPr/>
            </p:nvSpPr>
            <p:spPr bwMode="auto">
              <a:xfrm flipV="1">
                <a:off x="4029" y="3130"/>
                <a:ext cx="147" cy="1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324B1B-4844-4FC2-B2B2-3D0551BC2588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087" name="TextBox 32"/>
          <p:cNvSpPr txBox="1">
            <a:spLocks noChangeArrowheads="1"/>
          </p:cNvSpPr>
          <p:nvPr/>
        </p:nvSpPr>
        <p:spPr bwMode="auto">
          <a:xfrm>
            <a:off x="1335088" y="4495801"/>
            <a:ext cx="380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Script MT Bold" pitchFamily="66" charset="0"/>
              </a:rPr>
              <a:t>O</a:t>
            </a:r>
          </a:p>
        </p:txBody>
      </p:sp>
      <p:cxnSp>
        <p:nvCxnSpPr>
          <p:cNvPr id="37" name="Straight Connector 36"/>
          <p:cNvCxnSpPr/>
          <p:nvPr/>
        </p:nvCxnSpPr>
        <p:spPr>
          <a:xfrm rot="5400000">
            <a:off x="5135166" y="1451372"/>
            <a:ext cx="159544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5206604" y="1493838"/>
            <a:ext cx="159544" cy="136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5246490" y="1544043"/>
            <a:ext cx="184547" cy="158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5168107" y="1472804"/>
            <a:ext cx="166688" cy="142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5400000">
            <a:off x="5230417" y="1511697"/>
            <a:ext cx="173831" cy="150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>
            <a:off x="5265738" y="1571625"/>
            <a:ext cx="195263" cy="1666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>
            <a:off x="5277049" y="1592858"/>
            <a:ext cx="210741" cy="1825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3103" idx="0"/>
          </p:cNvCxnSpPr>
          <p:nvPr/>
        </p:nvCxnSpPr>
        <p:spPr>
          <a:xfrm rot="5400000">
            <a:off x="5266730" y="1638895"/>
            <a:ext cx="225029" cy="204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>
            <a:off x="5100837" y="1492052"/>
            <a:ext cx="91679" cy="793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rot="5400000">
            <a:off x="5407621" y="1658739"/>
            <a:ext cx="108347" cy="103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171844"/>
              </p:ext>
            </p:extLst>
          </p:nvPr>
        </p:nvGraphicFramePr>
        <p:xfrm>
          <a:off x="3668713" y="3951288"/>
          <a:ext cx="7413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18" name="Equation" r:id="rId13" imgW="291960" imgH="164880" progId="Equation.DSMT4">
                  <p:embed/>
                </p:oleObj>
              </mc:Choice>
              <mc:Fallback>
                <p:oleObj name="Equation" r:id="rId13" imgW="2919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3951288"/>
                        <a:ext cx="74136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07840" y="3921760"/>
            <a:ext cx="2052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Direction vector</a:t>
            </a: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61051"/>
              </p:ext>
            </p:extLst>
          </p:nvPr>
        </p:nvGraphicFramePr>
        <p:xfrm>
          <a:off x="3472681" y="4370759"/>
          <a:ext cx="835160" cy="333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19" name="Equation" r:id="rId15" imgW="380880" imgH="177480" progId="Equation.DSMT4">
                  <p:embed/>
                </p:oleObj>
              </mc:Choice>
              <mc:Fallback>
                <p:oleObj name="Equation" r:id="rId15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2681" y="4370759"/>
                        <a:ext cx="835160" cy="3333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4348480" y="4318000"/>
            <a:ext cx="2052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differential solid angle (</a:t>
            </a:r>
            <a:r>
              <a:rPr lang="en-US" sz="2000" dirty="0" err="1"/>
              <a:t>sr</a:t>
            </a:r>
            <a:r>
              <a:rPr lang="en-US" sz="2000" dirty="0"/>
              <a:t>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2"/>
          <p:cNvSpPr>
            <a:spLocks noChangeArrowheads="1"/>
          </p:cNvSpPr>
          <p:nvPr/>
        </p:nvSpPr>
        <p:spPr bwMode="auto">
          <a:xfrm>
            <a:off x="0" y="2285970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000" dirty="0"/>
          </a:p>
        </p:txBody>
      </p:sp>
      <p:sp>
        <p:nvSpPr>
          <p:cNvPr id="4105" name="Rectangle 3"/>
          <p:cNvSpPr>
            <a:spLocks noChangeArrowheads="1"/>
          </p:cNvSpPr>
          <p:nvPr/>
        </p:nvSpPr>
        <p:spPr bwMode="auto">
          <a:xfrm>
            <a:off x="0" y="2300258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000" dirty="0"/>
          </a:p>
        </p:txBody>
      </p:sp>
      <p:sp>
        <p:nvSpPr>
          <p:cNvPr id="4108" name="Rectangle 7"/>
          <p:cNvSpPr>
            <a:spLocks noChangeArrowheads="1"/>
          </p:cNvSpPr>
          <p:nvPr/>
        </p:nvSpPr>
        <p:spPr bwMode="auto">
          <a:xfrm>
            <a:off x="0" y="2275255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000" dirty="0"/>
          </a:p>
        </p:txBody>
      </p:sp>
      <p:sp>
        <p:nvSpPr>
          <p:cNvPr id="4109" name="Rectangle 8"/>
          <p:cNvSpPr>
            <a:spLocks noChangeArrowheads="1"/>
          </p:cNvSpPr>
          <p:nvPr/>
        </p:nvSpPr>
        <p:spPr bwMode="auto">
          <a:xfrm>
            <a:off x="0" y="2300258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000" dirty="0"/>
          </a:p>
        </p:txBody>
      </p:sp>
      <p:sp>
        <p:nvSpPr>
          <p:cNvPr id="4110" name="Rectangle 9"/>
          <p:cNvSpPr>
            <a:spLocks noChangeArrowheads="1"/>
          </p:cNvSpPr>
          <p:nvPr/>
        </p:nvSpPr>
        <p:spPr bwMode="auto">
          <a:xfrm>
            <a:off x="0" y="2296686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000" dirty="0"/>
          </a:p>
        </p:txBody>
      </p:sp>
      <p:sp>
        <p:nvSpPr>
          <p:cNvPr id="4111" name="Rectangle 10"/>
          <p:cNvSpPr>
            <a:spLocks noChangeArrowheads="1"/>
          </p:cNvSpPr>
          <p:nvPr/>
        </p:nvSpPr>
        <p:spPr bwMode="auto">
          <a:xfrm>
            <a:off x="0" y="2300258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000" dirty="0"/>
          </a:p>
        </p:txBody>
      </p:sp>
      <p:sp>
        <p:nvSpPr>
          <p:cNvPr id="4112" name="Rectangle 11"/>
          <p:cNvSpPr>
            <a:spLocks noChangeArrowheads="1"/>
          </p:cNvSpPr>
          <p:nvPr/>
        </p:nvSpPr>
        <p:spPr bwMode="auto">
          <a:xfrm>
            <a:off x="0" y="2300258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2000" dirty="0"/>
          </a:p>
        </p:txBody>
      </p:sp>
      <p:sp>
        <p:nvSpPr>
          <p:cNvPr id="4115" name="Text Box 14"/>
          <p:cNvSpPr txBox="1">
            <a:spLocks noChangeArrowheads="1"/>
          </p:cNvSpPr>
          <p:nvPr/>
        </p:nvSpPr>
        <p:spPr bwMode="auto">
          <a:xfrm>
            <a:off x="5572125" y="2307432"/>
            <a:ext cx="471488" cy="235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4116" name="Text Box 15"/>
          <p:cNvSpPr txBox="1">
            <a:spLocks noChangeArrowheads="1"/>
          </p:cNvSpPr>
          <p:nvPr/>
        </p:nvSpPr>
        <p:spPr bwMode="auto">
          <a:xfrm>
            <a:off x="4040188" y="1488281"/>
            <a:ext cx="539750" cy="235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4117" name="Text Box 16"/>
          <p:cNvSpPr txBox="1">
            <a:spLocks noChangeArrowheads="1"/>
          </p:cNvSpPr>
          <p:nvPr/>
        </p:nvSpPr>
        <p:spPr bwMode="auto">
          <a:xfrm>
            <a:off x="3032126" y="2196704"/>
            <a:ext cx="347663" cy="246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4118" name="Text Box 17"/>
          <p:cNvSpPr txBox="1">
            <a:spLocks noChangeArrowheads="1"/>
          </p:cNvSpPr>
          <p:nvPr/>
        </p:nvSpPr>
        <p:spPr bwMode="auto">
          <a:xfrm>
            <a:off x="2990851" y="1432323"/>
            <a:ext cx="454025" cy="296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600" dirty="0"/>
          </a:p>
        </p:txBody>
      </p:sp>
      <p:sp>
        <p:nvSpPr>
          <p:cNvPr id="60" name="Footer Placeholder 59"/>
          <p:cNvSpPr>
            <a:spLocks noGrp="1"/>
          </p:cNvSpPr>
          <p:nvPr>
            <p:ph type="ftr" sz="quarter" idx="11"/>
          </p:nvPr>
        </p:nvSpPr>
        <p:spPr>
          <a:xfrm>
            <a:off x="-4762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57" name="Slide Number Placeholder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F6C44B-BA33-4E9E-A024-F845345555FE}" type="slidenum">
              <a:rPr lang="en-US" sz="1100"/>
              <a:pPr>
                <a:defRPr/>
              </a:pPr>
              <a:t>8</a:t>
            </a:fld>
            <a:endParaRPr lang="en-US" sz="1100" dirty="0"/>
          </a:p>
        </p:txBody>
      </p:sp>
      <p:grpSp>
        <p:nvGrpSpPr>
          <p:cNvPr id="78" name="Group 77"/>
          <p:cNvGrpSpPr/>
          <p:nvPr/>
        </p:nvGrpSpPr>
        <p:grpSpPr>
          <a:xfrm>
            <a:off x="3266440" y="3246120"/>
            <a:ext cx="914400" cy="1016853"/>
            <a:chOff x="3479800" y="3657600"/>
            <a:chExt cx="914400" cy="1355804"/>
          </a:xfrm>
        </p:grpSpPr>
        <p:sp>
          <p:nvSpPr>
            <p:cNvPr id="4122" name="Line 58"/>
            <p:cNvSpPr>
              <a:spLocks noChangeShapeType="1"/>
            </p:cNvSpPr>
            <p:nvPr/>
          </p:nvSpPr>
          <p:spPr bwMode="auto">
            <a:xfrm>
              <a:off x="3779838" y="3657600"/>
              <a:ext cx="0" cy="860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4123" name="Line 59"/>
            <p:cNvSpPr>
              <a:spLocks noChangeShapeType="1"/>
            </p:cNvSpPr>
            <p:nvPr/>
          </p:nvSpPr>
          <p:spPr bwMode="auto">
            <a:xfrm>
              <a:off x="3808413" y="4545013"/>
              <a:ext cx="5857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4124" name="Line 60"/>
            <p:cNvSpPr>
              <a:spLocks noChangeShapeType="1"/>
            </p:cNvSpPr>
            <p:nvPr/>
          </p:nvSpPr>
          <p:spPr bwMode="auto">
            <a:xfrm flipH="1">
              <a:off x="3479800" y="4545013"/>
              <a:ext cx="300038" cy="149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4127" name="TextBox 60"/>
            <p:cNvSpPr txBox="1">
              <a:spLocks noChangeArrowheads="1"/>
            </p:cNvSpPr>
            <p:nvPr/>
          </p:nvSpPr>
          <p:spPr bwMode="auto">
            <a:xfrm>
              <a:off x="3649663" y="4479924"/>
              <a:ext cx="348172" cy="533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Script MT Bold" pitchFamily="66" charset="0"/>
                </a:rPr>
                <a:t>O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924243" y="696040"/>
            <a:ext cx="6219825" cy="3678317"/>
            <a:chOff x="924243" y="928053"/>
            <a:chExt cx="6219825" cy="4904422"/>
          </a:xfrm>
        </p:grpSpPr>
        <p:sp>
          <p:nvSpPr>
            <p:cNvPr id="4113" name="Line 12"/>
            <p:cNvSpPr>
              <a:spLocks noChangeShapeType="1"/>
            </p:cNvSpPr>
            <p:nvPr/>
          </p:nvSpPr>
          <p:spPr bwMode="auto">
            <a:xfrm flipV="1">
              <a:off x="4481830" y="3916680"/>
              <a:ext cx="250190" cy="169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4114" name="Line 13"/>
            <p:cNvSpPr>
              <a:spLocks noChangeShapeType="1"/>
            </p:cNvSpPr>
            <p:nvPr/>
          </p:nvSpPr>
          <p:spPr bwMode="auto">
            <a:xfrm flipV="1">
              <a:off x="4483734" y="4251960"/>
              <a:ext cx="225425" cy="1739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924243" y="928053"/>
              <a:ext cx="6219825" cy="4904422"/>
              <a:chOff x="1135063" y="265113"/>
              <a:chExt cx="6219825" cy="4904422"/>
            </a:xfrm>
          </p:grpSpPr>
          <p:grpSp>
            <p:nvGrpSpPr>
              <p:cNvPr id="4106" name="Group 47"/>
              <p:cNvGrpSpPr>
                <a:grpSpLocks/>
              </p:cNvGrpSpPr>
              <p:nvPr/>
            </p:nvGrpSpPr>
            <p:grpSpPr bwMode="auto">
              <a:xfrm>
                <a:off x="1135063" y="776288"/>
                <a:ext cx="6219825" cy="1025525"/>
                <a:chOff x="715" y="489"/>
                <a:chExt cx="3918" cy="646"/>
              </a:xfrm>
            </p:grpSpPr>
            <p:sp>
              <p:nvSpPr>
                <p:cNvPr id="4161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715" y="489"/>
                  <a:ext cx="3918" cy="64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b="1" i="1" dirty="0">
                      <a:latin typeface="Times New Roman" pitchFamily="18" charset="0"/>
                    </a:rPr>
                    <a:t>P</a:t>
                  </a:r>
                  <a:r>
                    <a:rPr lang="en-US" sz="2000" dirty="0"/>
                    <a:t>  defines the neutron phase space with a differential</a:t>
                  </a:r>
                </a:p>
                <a:p>
                  <a:r>
                    <a:rPr lang="en-US" sz="2000" dirty="0"/>
                    <a:t>volume element</a:t>
                  </a:r>
                </a:p>
              </p:txBody>
            </p:sp>
            <p:graphicFrame>
              <p:nvGraphicFramePr>
                <p:cNvPr id="4103" name="Object 5"/>
                <p:cNvGraphicFramePr>
                  <a:graphicFrameLocks noChangeAspect="1"/>
                </p:cNvGraphicFramePr>
                <p:nvPr/>
              </p:nvGraphicFramePr>
              <p:xfrm>
                <a:off x="1991" y="839"/>
                <a:ext cx="1340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4238" name="Equation" r:id="rId3" imgW="1193800" imgH="190500" progId="Equation.DSMT4">
                        <p:embed/>
                      </p:oleObj>
                    </mc:Choice>
                    <mc:Fallback>
                      <p:oleObj name="Equation" r:id="rId3" imgW="1193800" imgH="190500" progId="Equation.DSMT4">
                        <p:embed/>
                        <p:pic>
                          <p:nvPicPr>
                            <p:cNvPr id="0" name="Object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91" y="839"/>
                              <a:ext cx="1340" cy="22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4120" name="Text Box 46"/>
              <p:cNvSpPr txBox="1">
                <a:spLocks noChangeArrowheads="1"/>
              </p:cNvSpPr>
              <p:nvPr/>
            </p:nvSpPr>
            <p:spPr bwMode="auto">
              <a:xfrm>
                <a:off x="2768600" y="265113"/>
                <a:ext cx="2708049" cy="533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b="1" dirty="0"/>
                  <a:t>Dependent Variables</a:t>
                </a:r>
              </a:p>
            </p:txBody>
          </p:sp>
          <p:grpSp>
            <p:nvGrpSpPr>
              <p:cNvPr id="74" name="Group 73"/>
              <p:cNvGrpSpPr/>
              <p:nvPr/>
            </p:nvGrpSpPr>
            <p:grpSpPr>
              <a:xfrm>
                <a:off x="2406333" y="1813560"/>
                <a:ext cx="3937000" cy="3355975"/>
                <a:chOff x="2431733" y="1826260"/>
                <a:chExt cx="3937000" cy="3355975"/>
              </a:xfrm>
            </p:grpSpPr>
            <p:grpSp>
              <p:nvGrpSpPr>
                <p:cNvPr id="73" name="Group 72"/>
                <p:cNvGrpSpPr/>
                <p:nvPr/>
              </p:nvGrpSpPr>
              <p:grpSpPr>
                <a:xfrm>
                  <a:off x="3990975" y="2482215"/>
                  <a:ext cx="407988" cy="422275"/>
                  <a:chOff x="3990975" y="2482215"/>
                  <a:chExt cx="407988" cy="422275"/>
                </a:xfrm>
              </p:grpSpPr>
              <p:cxnSp>
                <p:nvCxnSpPr>
                  <p:cNvPr id="63" name="Straight Connector 62"/>
                  <p:cNvCxnSpPr/>
                  <p:nvPr/>
                </p:nvCxnSpPr>
                <p:spPr>
                  <a:xfrm rot="10800000" flipH="1" flipV="1">
                    <a:off x="3990975" y="2733040"/>
                    <a:ext cx="212725" cy="17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/>
                  <p:cNvCxnSpPr/>
                  <p:nvPr/>
                </p:nvCxnSpPr>
                <p:spPr>
                  <a:xfrm rot="10800000" flipH="1" flipV="1">
                    <a:off x="4025900" y="2593658"/>
                    <a:ext cx="212725" cy="17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 rot="10800000" flipH="1" flipV="1">
                    <a:off x="4003675" y="2653348"/>
                    <a:ext cx="212725" cy="17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/>
                  <p:cNvCxnSpPr/>
                  <p:nvPr/>
                </p:nvCxnSpPr>
                <p:spPr>
                  <a:xfrm rot="10800000" flipH="1" flipV="1">
                    <a:off x="4081780" y="2558415"/>
                    <a:ext cx="212725" cy="17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/>
                  <p:cNvCxnSpPr/>
                  <p:nvPr/>
                </p:nvCxnSpPr>
                <p:spPr>
                  <a:xfrm rot="10800000" flipH="1" flipV="1">
                    <a:off x="4186238" y="2482215"/>
                    <a:ext cx="212725" cy="17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/>
                  <p:cNvCxnSpPr/>
                  <p:nvPr/>
                </p:nvCxnSpPr>
                <p:spPr>
                  <a:xfrm rot="10800000" flipH="1" flipV="1">
                    <a:off x="4119563" y="2506028"/>
                    <a:ext cx="212725" cy="17145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" name="Group 69"/>
                <p:cNvGrpSpPr/>
                <p:nvPr/>
              </p:nvGrpSpPr>
              <p:grpSpPr>
                <a:xfrm>
                  <a:off x="2431733" y="1826260"/>
                  <a:ext cx="3937000" cy="3355975"/>
                  <a:chOff x="2424113" y="1765300"/>
                  <a:chExt cx="3937000" cy="3355975"/>
                </a:xfrm>
              </p:grpSpPr>
              <p:sp>
                <p:nvSpPr>
                  <p:cNvPr id="4119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24113" y="4729163"/>
                    <a:ext cx="3937000" cy="3921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 sz="1200" dirty="0">
                        <a:latin typeface="Times New Roman" pitchFamily="18" charset="0"/>
                      </a:rPr>
                      <a:t>      </a:t>
                    </a:r>
                    <a:r>
                      <a:rPr lang="en-US" sz="1800" dirty="0">
                        <a:latin typeface="Times New Roman" pitchFamily="18" charset="0"/>
                      </a:rPr>
                      <a:t>Phase space volume element </a:t>
                    </a:r>
                    <a:endParaRPr lang="en-US" sz="1800" dirty="0"/>
                  </a:p>
                </p:txBody>
              </p:sp>
              <p:grpSp>
                <p:nvGrpSpPr>
                  <p:cNvPr id="4121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2579688" y="1765300"/>
                    <a:ext cx="3527425" cy="2774950"/>
                    <a:chOff x="1625" y="1112"/>
                    <a:chExt cx="2222" cy="1748"/>
                  </a:xfrm>
                </p:grpSpPr>
                <p:grpSp>
                  <p:nvGrpSpPr>
                    <p:cNvPr id="4135" name="Group 5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25" y="1112"/>
                      <a:ext cx="2222" cy="1748"/>
                      <a:chOff x="1625" y="1112"/>
                      <a:chExt cx="2222" cy="1748"/>
                    </a:xfrm>
                  </p:grpSpPr>
                  <p:sp>
                    <p:nvSpPr>
                      <p:cNvPr id="4141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41" y="1417"/>
                        <a:ext cx="65" cy="191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 sz="2000" dirty="0"/>
                      </a:p>
                    </p:txBody>
                  </p:sp>
                  <p:grpSp>
                    <p:nvGrpSpPr>
                      <p:cNvPr id="4142" name="Group 5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25" y="1112"/>
                        <a:ext cx="2222" cy="1748"/>
                        <a:chOff x="1625" y="1112"/>
                        <a:chExt cx="2222" cy="1748"/>
                      </a:xfrm>
                    </p:grpSpPr>
                    <p:grpSp>
                      <p:nvGrpSpPr>
                        <p:cNvPr id="4143" name="Group 5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263" y="2031"/>
                          <a:ext cx="136" cy="308"/>
                          <a:chOff x="3263" y="2031"/>
                          <a:chExt cx="136" cy="308"/>
                        </a:xfrm>
                      </p:grpSpPr>
                      <p:sp>
                        <p:nvSpPr>
                          <p:cNvPr id="4159" name="Line 2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263" y="2031"/>
                            <a:ext cx="136" cy="87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60" name="Line 2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263" y="2240"/>
                            <a:ext cx="135" cy="99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</p:grpSp>
                    <p:grpSp>
                      <p:nvGrpSpPr>
                        <p:cNvPr id="4144" name="Group 5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625" y="1112"/>
                          <a:ext cx="2222" cy="1748"/>
                          <a:chOff x="1625" y="1112"/>
                          <a:chExt cx="2222" cy="1748"/>
                        </a:xfrm>
                      </p:grpSpPr>
                      <p:sp>
                        <p:nvSpPr>
                          <p:cNvPr id="4145" name="Line 2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 flipV="1">
                            <a:off x="2622" y="1625"/>
                            <a:ext cx="564" cy="59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 type="triangle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46" name="Line 2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2383" y="2215"/>
                            <a:ext cx="800" cy="645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rgbClr val="000000"/>
                            </a:solidFill>
                            <a:round/>
                            <a:headEnd/>
                            <a:tailEnd type="stealth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47" name="Rectangle 2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972" y="2125"/>
                            <a:ext cx="291" cy="21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48" name="Rectangle 2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102" y="2031"/>
                            <a:ext cx="291" cy="21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49" name="Line 3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573" y="1780"/>
                            <a:ext cx="600" cy="425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0" name="Line 3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747" y="1567"/>
                            <a:ext cx="432" cy="65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1" name="Line 3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328" y="2099"/>
                            <a:ext cx="227" cy="93"/>
                          </a:xfrm>
                          <a:prstGeom prst="line">
                            <a:avLst/>
                          </a:prstGeom>
                          <a:noFill/>
                          <a:ln w="254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2" name="Line 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872" y="1295"/>
                            <a:ext cx="454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3" name="Line 3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24" y="1610"/>
                            <a:ext cx="344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4" name="Line 3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18" y="1489"/>
                            <a:ext cx="343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5" name="Line 3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080" y="1369"/>
                            <a:ext cx="0" cy="12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 type="triangle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6" name="Line 3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2086" y="1610"/>
                            <a:ext cx="0" cy="107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 type="triangle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sp>
                        <p:nvSpPr>
                          <p:cNvPr id="4157" name="Text Box 39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1929" y="1449"/>
                            <a:ext cx="324" cy="19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1600" dirty="0"/>
                          </a:p>
                        </p:txBody>
                      </p:sp>
                      <p:sp>
                        <p:nvSpPr>
                          <p:cNvPr id="4158" name="Line 4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879" y="1917"/>
                            <a:ext cx="453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US" sz="2000" dirty="0"/>
                          </a:p>
                        </p:txBody>
                      </p:sp>
                      <p:graphicFrame>
                        <p:nvGraphicFramePr>
                          <p:cNvPr id="4098" name="Object 41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1660" y="1112"/>
                          <a:ext cx="242" cy="273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24239" name="Equation" r:id="rId5" imgW="228501" imgH="253890" progId="Equation.DSMT4">
                                  <p:embed/>
                                </p:oleObj>
                              </mc:Choice>
                              <mc:Fallback>
                                <p:oleObj name="Equation" r:id="rId5" imgW="228501" imgH="253890" progId="Equation.DSMT4">
                                  <p:embed/>
                                  <p:pic>
                                    <p:nvPicPr>
                                      <p:cNvPr id="0" name="Object 41"/>
                                      <p:cNvPicPr>
                                        <a:picLocks noChangeAspect="1"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6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1660" y="1112"/>
                                        <a:ext cx="242" cy="273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4099" name="Object 42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1625" y="1460"/>
                          <a:ext cx="285" cy="203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24240" name="Equation" r:id="rId7" imgW="291973" imgH="190417" progId="Equation.DSMT4">
                                  <p:embed/>
                                </p:oleObj>
                              </mc:Choice>
                              <mc:Fallback>
                                <p:oleObj name="Equation" r:id="rId7" imgW="291973" imgH="190417" progId="Equation.DSMT4">
                                  <p:embed/>
                                  <p:pic>
                                    <p:nvPicPr>
                                      <p:cNvPr id="0" name="Object 42"/>
                                      <p:cNvPicPr>
                                        <a:picLocks noChangeAspect="1"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8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1625" y="1460"/>
                                        <a:ext cx="285" cy="203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4100" name="Object 43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1701" y="1806"/>
                          <a:ext cx="166" cy="232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24241" name="Equation" r:id="rId9" imgW="139639" imgH="203112" progId="Equation.DSMT4">
                                  <p:embed/>
                                </p:oleObj>
                              </mc:Choice>
                              <mc:Fallback>
                                <p:oleObj name="Equation" r:id="rId9" imgW="139639" imgH="203112" progId="Equation.DSMT4">
                                  <p:embed/>
                                  <p:pic>
                                    <p:nvPicPr>
                                      <p:cNvPr id="0" name="Object 43"/>
                                      <p:cNvPicPr>
                                        <a:picLocks noChangeAspect="1"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0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1701" y="1806"/>
                                        <a:ext cx="166" cy="2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4101" name="Object 44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2608" y="1175"/>
                          <a:ext cx="326" cy="226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24242" name="Equation" r:id="rId11" imgW="317225" imgH="190335" progId="Equation.DSMT4">
                                  <p:embed/>
                                </p:oleObj>
                              </mc:Choice>
                              <mc:Fallback>
                                <p:oleObj name="Equation" r:id="rId11" imgW="317225" imgH="190335" progId="Equation.DSMT4">
                                  <p:embed/>
                                  <p:pic>
                                    <p:nvPicPr>
                                      <p:cNvPr id="0" name="Object 44"/>
                                      <p:cNvPicPr>
                                        <a:picLocks noChangeAspect="1"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2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2608" y="1175"/>
                                        <a:ext cx="326" cy="226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graphicFrame>
                        <p:nvGraphicFramePr>
                          <p:cNvPr id="4102" name="Object 45"/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3562" y="1925"/>
                          <a:ext cx="285" cy="241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24243" name="Equation" r:id="rId13" imgW="253890" imgH="190417" progId="Equation.DSMT4">
                                  <p:embed/>
                                </p:oleObj>
                              </mc:Choice>
                              <mc:Fallback>
                                <p:oleObj name="Equation" r:id="rId13" imgW="253890" imgH="190417" progId="Equation.DSMT4">
                                  <p:embed/>
                                  <p:pic>
                                    <p:nvPicPr>
                                      <p:cNvPr id="0" name="Object 45"/>
                                      <p:cNvPicPr>
                                        <a:picLocks noChangeAspect="1" noChangeArrowheads="1"/>
                                      </p:cNvPicPr>
                                      <p:nvPr/>
                                    </p:nvPicPr>
                                    <p:blipFill>
                                      <a:blip r:embed="rId14">
                                        <a:extLst>
                                          <a:ext uri="{28A0092B-C50C-407E-A947-70E740481C1C}">
                                            <a14:useLocalDpi xmlns:a14="http://schemas.microsoft.com/office/drawing/2010/main" val="0"/>
                                          </a:ext>
                                        </a:extLst>
                                      </a:blip>
                                      <a:srcRect/>
                                      <a:stretch>
                                        <a:fillRect/>
                                      </a:stretch>
                                    </p:blipFill>
                                    <p:spPr bwMode="auto">
                                      <a:xfrm>
                                        <a:off x="3562" y="1925"/>
                                        <a:ext cx="285" cy="241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  <a:extLst>
                                        <a:ext uri="{909E8E84-426E-40DD-AFC4-6F175D3DCCD1}">
                                          <a14:hiddenFill xmlns:a14="http://schemas.microsoft.com/office/drawing/2010/main">
                                            <a:solidFill>
                                              <a:srgbClr val="FFFFFF"/>
                                            </a:solidFill>
                                          </a14:hiddenFill>
                                        </a:ext>
                                      </a:extLst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</p:grpSp>
                  </p:grpSp>
                </p:grpSp>
                <p:grpSp>
                  <p:nvGrpSpPr>
                    <p:cNvPr id="4136" name="Group 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01" y="1517"/>
                      <a:ext cx="332" cy="320"/>
                      <a:chOff x="3559" y="1320"/>
                      <a:chExt cx="332" cy="320"/>
                    </a:xfrm>
                  </p:grpSpPr>
                  <p:sp>
                    <p:nvSpPr>
                      <p:cNvPr id="4137" name="Arc 48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3568" y="1324"/>
                        <a:ext cx="189" cy="206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2000" dirty="0"/>
                      </a:p>
                    </p:txBody>
                  </p:sp>
                  <p:sp>
                    <p:nvSpPr>
                      <p:cNvPr id="4138" name="Arc 49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3702" y="1432"/>
                        <a:ext cx="189" cy="206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2000" dirty="0"/>
                      </a:p>
                    </p:txBody>
                  </p:sp>
                  <p:sp>
                    <p:nvSpPr>
                      <p:cNvPr id="4139" name="Line 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59" y="1522"/>
                        <a:ext cx="148" cy="118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 sz="2000" dirty="0"/>
                      </a:p>
                    </p:txBody>
                  </p:sp>
                  <p:sp>
                    <p:nvSpPr>
                      <p:cNvPr id="4140" name="Line 5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36" y="1320"/>
                        <a:ext cx="140" cy="11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 sz="2000" dirty="0"/>
                      </a:p>
                    </p:txBody>
                  </p:sp>
                </p:grpSp>
              </p:grpSp>
            </p:grpSp>
          </p:grpSp>
        </p:grp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z="1100" smtClean="0"/>
              <a:pPr>
                <a:defRPr/>
              </a:pPr>
              <a:t>9</a:t>
            </a:fld>
            <a:endParaRPr lang="en-US" sz="1100" dirty="0"/>
          </a:p>
        </p:txBody>
      </p:sp>
      <p:grpSp>
        <p:nvGrpSpPr>
          <p:cNvPr id="6" name="Group 5"/>
          <p:cNvGrpSpPr/>
          <p:nvPr/>
        </p:nvGrpSpPr>
        <p:grpSpPr>
          <a:xfrm>
            <a:off x="679563" y="719018"/>
            <a:ext cx="7060436" cy="3123932"/>
            <a:chOff x="664323" y="486250"/>
            <a:chExt cx="7060436" cy="4165243"/>
          </a:xfrm>
        </p:grpSpPr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664323" y="486250"/>
              <a:ext cx="6401111" cy="21749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/>
                <a:t>     </a:t>
              </a:r>
              <a:r>
                <a:rPr lang="en-US" sz="2000" b="1" dirty="0">
                  <a:solidFill>
                    <a:srgbClr val="FF0000"/>
                  </a:solidFill>
                </a:rPr>
                <a:t>Assumption 4</a:t>
              </a:r>
            </a:p>
            <a:p>
              <a:r>
                <a:rPr lang="en-US" sz="2000" dirty="0"/>
                <a:t>	Sufficiently large neutron population such that</a:t>
              </a:r>
            </a:p>
            <a:p>
              <a:r>
                <a:rPr lang="en-US" sz="2000" dirty="0"/>
                <a:t>      	statistical averaging over the phase space</a:t>
              </a:r>
            </a:p>
            <a:p>
              <a:r>
                <a:rPr lang="en-US" sz="2000" dirty="0"/>
                <a:t>             volume element makes physical/mathematical </a:t>
              </a:r>
            </a:p>
            <a:p>
              <a:r>
                <a:rPr lang="en-US" sz="2000" dirty="0"/>
                <a:t>             sense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554480" y="2661205"/>
              <a:ext cx="6170279" cy="1990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+ i.e., Expectation value or mean of a population has</a:t>
              </a:r>
            </a:p>
            <a:p>
              <a:r>
                <a:rPr lang="en-US" sz="2000" dirty="0"/>
                <a:t>          physical/mathematical meaning</a:t>
              </a:r>
            </a:p>
            <a:p>
              <a:endParaRPr lang="en-US" sz="1100" dirty="0"/>
            </a:p>
            <a:p>
              <a:r>
                <a:rPr lang="en-US" sz="2000" dirty="0"/>
                <a:t>+ Must integrate over a large enough phase space</a:t>
              </a:r>
            </a:p>
            <a:p>
              <a:r>
                <a:rPr lang="en-US" sz="2000" dirty="0"/>
                <a:t>   or over a sufficiently large duration </a:t>
              </a:r>
            </a:p>
          </p:txBody>
        </p:sp>
      </p:grpSp>
      <p:sp>
        <p:nvSpPr>
          <p:cNvPr id="7" name="Footer Placeholder 59"/>
          <p:cNvSpPr>
            <a:spLocks noGrp="1"/>
          </p:cNvSpPr>
          <p:nvPr>
            <p:ph type="ftr" sz="quarter" idx="11"/>
          </p:nvPr>
        </p:nvSpPr>
        <p:spPr>
          <a:xfrm>
            <a:off x="-4762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8" name="Group 26"/>
          <p:cNvGrpSpPr>
            <a:grpSpLocks/>
          </p:cNvGrpSpPr>
          <p:nvPr/>
        </p:nvGrpSpPr>
        <p:grpSpPr bwMode="auto">
          <a:xfrm>
            <a:off x="1801814" y="3169444"/>
            <a:ext cx="5548312" cy="708422"/>
            <a:chOff x="886" y="2662"/>
            <a:chExt cx="3495" cy="595"/>
          </a:xfrm>
        </p:grpSpPr>
        <p:graphicFrame>
          <p:nvGraphicFramePr>
            <p:cNvPr id="512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3108412"/>
                </p:ext>
              </p:extLst>
            </p:nvPr>
          </p:nvGraphicFramePr>
          <p:xfrm>
            <a:off x="886" y="2704"/>
            <a:ext cx="71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62" name="Equation" r:id="rId3" imgW="939600" imgH="291960" progId="Equation.DSMT4">
                    <p:embed/>
                  </p:oleObj>
                </mc:Choice>
                <mc:Fallback>
                  <p:oleObj name="Equation" r:id="rId3" imgW="939600" imgH="29196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" y="2704"/>
                          <a:ext cx="718" cy="3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5" name="Text Box 6"/>
            <p:cNvSpPr txBox="1">
              <a:spLocks noChangeArrowheads="1"/>
            </p:cNvSpPr>
            <p:nvPr/>
          </p:nvSpPr>
          <p:spPr bwMode="auto">
            <a:xfrm>
              <a:off x="1629" y="2662"/>
              <a:ext cx="2752" cy="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is the number of neutrons per phase </a:t>
              </a:r>
            </a:p>
            <a:p>
              <a:r>
                <a:rPr lang="en-US" sz="2000" dirty="0"/>
                <a:t>element [</a:t>
              </a:r>
              <a:r>
                <a:rPr lang="en-US" sz="2000" i="1" dirty="0"/>
                <a:t>n/cm</a:t>
              </a:r>
              <a:r>
                <a:rPr lang="en-US" sz="2000" i="1" baseline="30000" dirty="0"/>
                <a:t>3</a:t>
              </a:r>
              <a:r>
                <a:rPr lang="en-US" sz="2000" i="1" dirty="0"/>
                <a:t>-sr-MeV</a:t>
              </a:r>
              <a:r>
                <a:rPr lang="en-US" sz="2000" dirty="0"/>
                <a:t>]</a:t>
              </a:r>
            </a:p>
          </p:txBody>
        </p:sp>
      </p:grpSp>
      <p:sp>
        <p:nvSpPr>
          <p:cNvPr id="5129" name="Text Box 8"/>
          <p:cNvSpPr txBox="1">
            <a:spLocks noChangeArrowheads="1"/>
          </p:cNvSpPr>
          <p:nvPr/>
        </p:nvSpPr>
        <p:spPr bwMode="auto">
          <a:xfrm>
            <a:off x="1449389" y="429816"/>
            <a:ext cx="45288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Abstract phase space volume element</a:t>
            </a:r>
          </a:p>
        </p:txBody>
      </p:sp>
      <p:grpSp>
        <p:nvGrpSpPr>
          <p:cNvPr id="5130" name="Group 21"/>
          <p:cNvGrpSpPr>
            <a:grpSpLocks/>
          </p:cNvGrpSpPr>
          <p:nvPr/>
        </p:nvGrpSpPr>
        <p:grpSpPr bwMode="auto">
          <a:xfrm>
            <a:off x="1787844" y="981234"/>
            <a:ext cx="5322887" cy="1905000"/>
            <a:chOff x="1619" y="850"/>
            <a:chExt cx="3353" cy="1600"/>
          </a:xfrm>
        </p:grpSpPr>
        <p:sp>
          <p:nvSpPr>
            <p:cNvPr id="5136" name="AutoShape 7"/>
            <p:cNvSpPr>
              <a:spLocks noChangeArrowheads="1"/>
            </p:cNvSpPr>
            <p:nvPr/>
          </p:nvSpPr>
          <p:spPr bwMode="auto">
            <a:xfrm>
              <a:off x="2065" y="850"/>
              <a:ext cx="1293" cy="1216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00" dirty="0"/>
            </a:p>
          </p:txBody>
        </p:sp>
        <p:grpSp>
          <p:nvGrpSpPr>
            <p:cNvPr id="5137" name="Group 20"/>
            <p:cNvGrpSpPr>
              <a:grpSpLocks/>
            </p:cNvGrpSpPr>
            <p:nvPr/>
          </p:nvGrpSpPr>
          <p:grpSpPr bwMode="auto">
            <a:xfrm>
              <a:off x="1619" y="851"/>
              <a:ext cx="3353" cy="1599"/>
              <a:chOff x="1619" y="851"/>
              <a:chExt cx="3353" cy="1599"/>
            </a:xfrm>
          </p:grpSpPr>
          <p:graphicFrame>
            <p:nvGraphicFramePr>
              <p:cNvPr id="5123" name="Object 9"/>
              <p:cNvGraphicFramePr>
                <a:graphicFrameLocks noChangeAspect="1"/>
              </p:cNvGraphicFramePr>
              <p:nvPr/>
            </p:nvGraphicFramePr>
            <p:xfrm>
              <a:off x="2408" y="2246"/>
              <a:ext cx="357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263" name="Equation" r:id="rId5" imgW="317160" imgH="190440" progId="Equation.DSMT4">
                      <p:embed/>
                    </p:oleObj>
                  </mc:Choice>
                  <mc:Fallback>
                    <p:oleObj name="Equation" r:id="rId5" imgW="317160" imgH="19044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8" y="2246"/>
                            <a:ext cx="357" cy="2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4" name="Object 10"/>
              <p:cNvGraphicFramePr>
                <a:graphicFrameLocks noChangeAspect="1"/>
              </p:cNvGraphicFramePr>
              <p:nvPr/>
            </p:nvGraphicFramePr>
            <p:xfrm>
              <a:off x="1619" y="1455"/>
              <a:ext cx="285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264" name="Equation" r:id="rId7" imgW="253800" imgH="190440" progId="Equation.DSMT4">
                      <p:embed/>
                    </p:oleObj>
                  </mc:Choice>
                  <mc:Fallback>
                    <p:oleObj name="Equation" r:id="rId7" imgW="253800" imgH="19044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9" y="1455"/>
                            <a:ext cx="285" cy="27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5" name="Object 11"/>
              <p:cNvGraphicFramePr>
                <a:graphicFrameLocks noChangeAspect="1"/>
              </p:cNvGraphicFramePr>
              <p:nvPr/>
            </p:nvGraphicFramePr>
            <p:xfrm>
              <a:off x="3398" y="1870"/>
              <a:ext cx="327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265" name="Equation" r:id="rId9" imgW="291960" imgH="190440" progId="Equation.DSMT4">
                      <p:embed/>
                    </p:oleObj>
                  </mc:Choice>
                  <mc:Fallback>
                    <p:oleObj name="Equation" r:id="rId9" imgW="291960" imgH="19044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8" y="1870"/>
                            <a:ext cx="327" cy="2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38" name="Line 12"/>
              <p:cNvSpPr>
                <a:spLocks noChangeShapeType="1"/>
              </p:cNvSpPr>
              <p:nvPr/>
            </p:nvSpPr>
            <p:spPr bwMode="auto">
              <a:xfrm>
                <a:off x="1929" y="1169"/>
                <a:ext cx="0" cy="9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39" name="Line 13"/>
              <p:cNvSpPr>
                <a:spLocks noChangeShapeType="1"/>
              </p:cNvSpPr>
              <p:nvPr/>
            </p:nvSpPr>
            <p:spPr bwMode="auto">
              <a:xfrm flipV="1">
                <a:off x="3160" y="1775"/>
                <a:ext cx="264" cy="3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40" name="Line 14"/>
              <p:cNvSpPr>
                <a:spLocks noChangeShapeType="1"/>
              </p:cNvSpPr>
              <p:nvPr/>
            </p:nvSpPr>
            <p:spPr bwMode="auto">
              <a:xfrm>
                <a:off x="2053" y="2151"/>
                <a:ext cx="1083" cy="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graphicFrame>
            <p:nvGraphicFramePr>
              <p:cNvPr id="5126" name="Object 15"/>
              <p:cNvGraphicFramePr>
                <a:graphicFrameLocks noChangeAspect="1"/>
              </p:cNvGraphicFramePr>
              <p:nvPr/>
            </p:nvGraphicFramePr>
            <p:xfrm>
              <a:off x="3695" y="950"/>
              <a:ext cx="1277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266" name="Equation" r:id="rId11" imgW="1193760" imgH="190440" progId="Equation.DSMT4">
                      <p:embed/>
                    </p:oleObj>
                  </mc:Choice>
                  <mc:Fallback>
                    <p:oleObj name="Equation" r:id="rId11" imgW="1193760" imgH="190440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5" y="950"/>
                            <a:ext cx="1277" cy="2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41" name="Line 16"/>
              <p:cNvSpPr>
                <a:spLocks noChangeShapeType="1"/>
              </p:cNvSpPr>
              <p:nvPr/>
            </p:nvSpPr>
            <p:spPr bwMode="auto">
              <a:xfrm flipH="1">
                <a:off x="2794" y="1308"/>
                <a:ext cx="537" cy="239"/>
              </a:xfrm>
              <a:prstGeom prst="line">
                <a:avLst/>
              </a:prstGeom>
              <a:ln>
                <a:prstDash val="dash"/>
                <a:headEnd/>
                <a:tailE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n-US" sz="2000" dirty="0"/>
              </a:p>
            </p:txBody>
          </p:sp>
          <p:sp>
            <p:nvSpPr>
              <p:cNvPr id="5142" name="Line 17"/>
              <p:cNvSpPr>
                <a:spLocks noChangeShapeType="1"/>
              </p:cNvSpPr>
              <p:nvPr/>
            </p:nvSpPr>
            <p:spPr bwMode="auto">
              <a:xfrm>
                <a:off x="2381" y="851"/>
                <a:ext cx="0" cy="8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43" name="Line 18"/>
              <p:cNvSpPr>
                <a:spLocks noChangeShapeType="1"/>
              </p:cNvSpPr>
              <p:nvPr/>
            </p:nvSpPr>
            <p:spPr bwMode="auto">
              <a:xfrm flipV="1">
                <a:off x="2072" y="1728"/>
                <a:ext cx="300" cy="3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5144" name="Line 19"/>
              <p:cNvSpPr>
                <a:spLocks noChangeShapeType="1"/>
              </p:cNvSpPr>
              <p:nvPr/>
            </p:nvSpPr>
            <p:spPr bwMode="auto">
              <a:xfrm>
                <a:off x="2374" y="1745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</p:grpSp>
      <p:grpSp>
        <p:nvGrpSpPr>
          <p:cNvPr id="5131" name="Group 27"/>
          <p:cNvGrpSpPr>
            <a:grpSpLocks/>
          </p:cNvGrpSpPr>
          <p:nvPr/>
        </p:nvGrpSpPr>
        <p:grpSpPr bwMode="auto">
          <a:xfrm>
            <a:off x="1844675" y="3937403"/>
            <a:ext cx="4897438" cy="461963"/>
            <a:chOff x="1162" y="3377"/>
            <a:chExt cx="3085" cy="388"/>
          </a:xfrm>
        </p:grpSpPr>
        <p:graphicFrame>
          <p:nvGraphicFramePr>
            <p:cNvPr id="5122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4253485"/>
                </p:ext>
              </p:extLst>
            </p:nvPr>
          </p:nvGraphicFramePr>
          <p:xfrm>
            <a:off x="1162" y="3433"/>
            <a:ext cx="1089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67" name="Equation" r:id="rId13" imgW="1422360" imgH="291960" progId="Equation.DSMT4">
                    <p:embed/>
                  </p:oleObj>
                </mc:Choice>
                <mc:Fallback>
                  <p:oleObj name="Equation" r:id="rId13" imgW="1422360" imgH="29196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2" y="3433"/>
                          <a:ext cx="1089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5" name="Text Box 24"/>
            <p:cNvSpPr txBox="1">
              <a:spLocks noChangeArrowheads="1"/>
            </p:cNvSpPr>
            <p:nvPr/>
          </p:nvSpPr>
          <p:spPr bwMode="auto">
            <a:xfrm>
              <a:off x="2254" y="3377"/>
              <a:ext cx="199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Number of neutrons in </a:t>
              </a:r>
              <a:r>
                <a:rPr lang="en-US" dirty="0">
                  <a:latin typeface="Symbol" pitchFamily="18" charset="2"/>
                </a:rPr>
                <a:t>D</a:t>
              </a:r>
              <a:r>
                <a:rPr lang="en-US" b="1" i="1" dirty="0">
                  <a:latin typeface="Times New Roman" pitchFamily="18" charset="0"/>
                </a:rPr>
                <a:t>P</a:t>
              </a:r>
            </a:p>
          </p:txBody>
        </p:sp>
      </p:grp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EC7816-0CD1-4423-8781-6C8A75B6599D}" type="slidenum">
              <a:rPr lang="en-US" sz="1100"/>
              <a:pPr>
                <a:defRPr/>
              </a:pPr>
              <a:t>10</a:t>
            </a:fld>
            <a:endParaRPr lang="en-US" sz="1100" dirty="0"/>
          </a:p>
        </p:txBody>
      </p:sp>
      <p:sp>
        <p:nvSpPr>
          <p:cNvPr id="5134" name="TextBox 24"/>
          <p:cNvSpPr txBox="1">
            <a:spLocks noChangeArrowheads="1"/>
          </p:cNvSpPr>
          <p:nvPr/>
        </p:nvSpPr>
        <p:spPr bwMode="auto">
          <a:xfrm>
            <a:off x="2033588" y="4363641"/>
            <a:ext cx="45945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+ Dependent variable based on phase </a:t>
            </a:r>
          </a:p>
          <a:p>
            <a:r>
              <a:rPr lang="en-US" sz="2000" dirty="0"/>
              <a:t>   space volume element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24350" y="1301591"/>
            <a:ext cx="746760" cy="2514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z="1100" smtClean="0"/>
              <a:pPr>
                <a:defRPr/>
              </a:pPr>
              <a:t>11</a:t>
            </a:fld>
            <a:endParaRPr lang="en-US" sz="1100" dirty="0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058863" y="3985020"/>
            <a:ext cx="6173788" cy="477440"/>
            <a:chOff x="488" y="3173"/>
            <a:chExt cx="3889" cy="401"/>
          </a:xfrm>
        </p:grpSpPr>
        <p:graphicFrame>
          <p:nvGraphicFramePr>
            <p:cNvPr id="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9503536"/>
                </p:ext>
              </p:extLst>
            </p:nvPr>
          </p:nvGraphicFramePr>
          <p:xfrm>
            <a:off x="488" y="3173"/>
            <a:ext cx="1955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78" name="Equation" r:id="rId3" imgW="2273040" imgH="291960" progId="Equation.DSMT4">
                    <p:embed/>
                  </p:oleObj>
                </mc:Choice>
                <mc:Fallback>
                  <p:oleObj name="Equation" r:id="rId3" imgW="227304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" y="3173"/>
                          <a:ext cx="1955" cy="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6017051"/>
                </p:ext>
              </p:extLst>
            </p:nvPr>
          </p:nvGraphicFramePr>
          <p:xfrm>
            <a:off x="2470" y="3281"/>
            <a:ext cx="211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79" name="Equation" r:id="rId5" imgW="152280" imgH="139680" progId="Equation.DSMT4">
                    <p:embed/>
                  </p:oleObj>
                </mc:Choice>
                <mc:Fallback>
                  <p:oleObj name="Equation" r:id="rId5" imgW="1522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0" y="3281"/>
                          <a:ext cx="211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3"/>
            <p:cNvSpPr txBox="1">
              <a:spLocks noChangeArrowheads="1"/>
            </p:cNvSpPr>
            <p:nvPr/>
          </p:nvSpPr>
          <p:spPr bwMode="auto">
            <a:xfrm>
              <a:off x="2673" y="3196"/>
              <a:ext cx="170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Angular current vector</a:t>
              </a:r>
            </a:p>
          </p:txBody>
        </p:sp>
      </p:grpSp>
      <p:sp>
        <p:nvSpPr>
          <p:cNvPr id="8" name="Text Box 19"/>
          <p:cNvSpPr txBox="1">
            <a:spLocks noChangeArrowheads="1"/>
          </p:cNvSpPr>
          <p:nvPr/>
        </p:nvSpPr>
        <p:spPr bwMode="auto">
          <a:xfrm>
            <a:off x="1149350" y="414338"/>
            <a:ext cx="33169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Consider volume </a:t>
            </a:r>
            <a:r>
              <a:rPr lang="en-US" sz="2000" dirty="0">
                <a:latin typeface="Symbol" pitchFamily="18" charset="2"/>
              </a:rPr>
              <a:t>D</a:t>
            </a:r>
            <a:r>
              <a:rPr lang="en-US" sz="2000" b="1" i="1" dirty="0">
                <a:latin typeface="Times New Roman" pitchFamily="18" charset="0"/>
              </a:rPr>
              <a:t>r</a:t>
            </a:r>
            <a:r>
              <a:rPr lang="en-US" sz="2000" dirty="0"/>
              <a:t> after </a:t>
            </a:r>
            <a:r>
              <a:rPr lang="en-US" sz="2000" dirty="0">
                <a:latin typeface="Symbol" pitchFamily="18" charset="2"/>
              </a:rPr>
              <a:t>D</a:t>
            </a:r>
            <a:r>
              <a:rPr lang="en-US" sz="2000" i="1" dirty="0"/>
              <a:t>t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731776"/>
              </p:ext>
            </p:extLst>
          </p:nvPr>
        </p:nvGraphicFramePr>
        <p:xfrm>
          <a:off x="5656263" y="1120775"/>
          <a:ext cx="295751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80" name="Equation" r:id="rId7" imgW="1955520" imgH="533160" progId="Equation.DSMT4">
                  <p:embed/>
                </p:oleObj>
              </mc:Choice>
              <mc:Fallback>
                <p:oleObj name="Equation" r:id="rId7" imgW="19555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263" y="1120775"/>
                        <a:ext cx="2957512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712256"/>
              </p:ext>
            </p:extLst>
          </p:nvPr>
        </p:nvGraphicFramePr>
        <p:xfrm>
          <a:off x="942975" y="535781"/>
          <a:ext cx="6400800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81" name="Document" r:id="rId9" imgW="6829043" imgH="3145389" progId="Word.Document.8">
                  <p:embed/>
                </p:oleObj>
              </mc:Choice>
              <mc:Fallback>
                <p:oleObj name="Document" r:id="rId9" imgW="6829043" imgH="31453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535781"/>
                        <a:ext cx="6400800" cy="218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49"/>
          <p:cNvGrpSpPr>
            <a:grpSpLocks/>
          </p:cNvGrpSpPr>
          <p:nvPr/>
        </p:nvGrpSpPr>
        <p:grpSpPr bwMode="auto">
          <a:xfrm>
            <a:off x="2322514" y="1290637"/>
            <a:ext cx="1411287" cy="804863"/>
            <a:chOff x="1623" y="1223"/>
            <a:chExt cx="889" cy="676"/>
          </a:xfrm>
        </p:grpSpPr>
        <p:sp>
          <p:nvSpPr>
            <p:cNvPr id="12" name="Line 25"/>
            <p:cNvSpPr>
              <a:spLocks noChangeShapeType="1"/>
            </p:cNvSpPr>
            <p:nvPr/>
          </p:nvSpPr>
          <p:spPr bwMode="auto">
            <a:xfrm rot="479286" flipV="1">
              <a:off x="1762" y="1362"/>
              <a:ext cx="318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 rot="479286" flipV="1">
              <a:off x="1917" y="1567"/>
              <a:ext cx="318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4" name="Line 28"/>
            <p:cNvSpPr>
              <a:spLocks noChangeShapeType="1"/>
            </p:cNvSpPr>
            <p:nvPr/>
          </p:nvSpPr>
          <p:spPr bwMode="auto">
            <a:xfrm rot="479286" flipV="1">
              <a:off x="1994" y="1670"/>
              <a:ext cx="318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5" name="Line 36"/>
            <p:cNvSpPr>
              <a:spLocks noChangeShapeType="1"/>
            </p:cNvSpPr>
            <p:nvPr/>
          </p:nvSpPr>
          <p:spPr bwMode="auto">
            <a:xfrm rot="479286" flipV="1">
              <a:off x="1902" y="1516"/>
              <a:ext cx="318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6" name="Line 42"/>
            <p:cNvSpPr>
              <a:spLocks noChangeShapeType="1"/>
            </p:cNvSpPr>
            <p:nvPr/>
          </p:nvSpPr>
          <p:spPr bwMode="auto">
            <a:xfrm rot="479286" flipV="1">
              <a:off x="1811" y="1448"/>
              <a:ext cx="318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 dirty="0"/>
            </a:p>
          </p:txBody>
        </p:sp>
        <p:grpSp>
          <p:nvGrpSpPr>
            <p:cNvPr id="17" name="Group 45"/>
            <p:cNvGrpSpPr>
              <a:grpSpLocks/>
            </p:cNvGrpSpPr>
            <p:nvPr/>
          </p:nvGrpSpPr>
          <p:grpSpPr bwMode="auto">
            <a:xfrm rot="479286">
              <a:off x="1623" y="1223"/>
              <a:ext cx="889" cy="676"/>
              <a:chOff x="1698" y="849"/>
              <a:chExt cx="889" cy="676"/>
            </a:xfrm>
          </p:grpSpPr>
          <p:sp>
            <p:nvSpPr>
              <p:cNvPr id="18" name="Line 20"/>
              <p:cNvSpPr>
                <a:spLocks noChangeShapeType="1"/>
              </p:cNvSpPr>
              <p:nvPr/>
            </p:nvSpPr>
            <p:spPr bwMode="auto">
              <a:xfrm flipV="1">
                <a:off x="1702" y="1075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19" name="Line 21"/>
              <p:cNvSpPr>
                <a:spLocks noChangeShapeType="1"/>
              </p:cNvSpPr>
              <p:nvPr/>
            </p:nvSpPr>
            <p:spPr bwMode="auto">
              <a:xfrm flipV="1">
                <a:off x="1793" y="1166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0" name="Line 22"/>
              <p:cNvSpPr>
                <a:spLocks noChangeShapeType="1"/>
              </p:cNvSpPr>
              <p:nvPr/>
            </p:nvSpPr>
            <p:spPr bwMode="auto">
              <a:xfrm flipV="1">
                <a:off x="1884" y="1257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1" name="Line 23"/>
              <p:cNvSpPr>
                <a:spLocks noChangeShapeType="1"/>
              </p:cNvSpPr>
              <p:nvPr/>
            </p:nvSpPr>
            <p:spPr bwMode="auto">
              <a:xfrm flipV="1">
                <a:off x="1975" y="1348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2" name="Line 24"/>
              <p:cNvSpPr>
                <a:spLocks noChangeShapeType="1"/>
              </p:cNvSpPr>
              <p:nvPr/>
            </p:nvSpPr>
            <p:spPr bwMode="auto">
              <a:xfrm flipV="1">
                <a:off x="2066" y="1439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3" name="Line 29"/>
              <p:cNvSpPr>
                <a:spLocks noChangeShapeType="1"/>
              </p:cNvSpPr>
              <p:nvPr/>
            </p:nvSpPr>
            <p:spPr bwMode="auto">
              <a:xfrm flipV="1">
                <a:off x="2183" y="1316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4" name="Line 30"/>
              <p:cNvSpPr>
                <a:spLocks noChangeShapeType="1"/>
              </p:cNvSpPr>
              <p:nvPr/>
            </p:nvSpPr>
            <p:spPr bwMode="auto">
              <a:xfrm flipV="1">
                <a:off x="1905" y="849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5" name="Line 31"/>
              <p:cNvSpPr>
                <a:spLocks noChangeShapeType="1"/>
              </p:cNvSpPr>
              <p:nvPr/>
            </p:nvSpPr>
            <p:spPr bwMode="auto">
              <a:xfrm flipV="1">
                <a:off x="1996" y="940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6" name="Line 32"/>
              <p:cNvSpPr>
                <a:spLocks noChangeShapeType="1"/>
              </p:cNvSpPr>
              <p:nvPr/>
            </p:nvSpPr>
            <p:spPr bwMode="auto">
              <a:xfrm flipV="1">
                <a:off x="2087" y="1031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7" name="Line 33"/>
              <p:cNvSpPr>
                <a:spLocks noChangeShapeType="1"/>
              </p:cNvSpPr>
              <p:nvPr/>
            </p:nvSpPr>
            <p:spPr bwMode="auto">
              <a:xfrm flipV="1">
                <a:off x="2178" y="1122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8" name="Line 34"/>
              <p:cNvSpPr>
                <a:spLocks noChangeShapeType="1"/>
              </p:cNvSpPr>
              <p:nvPr/>
            </p:nvSpPr>
            <p:spPr bwMode="auto">
              <a:xfrm flipV="1">
                <a:off x="2269" y="1213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29" name="Line 35"/>
              <p:cNvSpPr>
                <a:spLocks noChangeShapeType="1"/>
              </p:cNvSpPr>
              <p:nvPr/>
            </p:nvSpPr>
            <p:spPr bwMode="auto">
              <a:xfrm flipV="1">
                <a:off x="1888" y="994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30" name="Line 37"/>
              <p:cNvSpPr>
                <a:spLocks noChangeShapeType="1"/>
              </p:cNvSpPr>
              <p:nvPr/>
            </p:nvSpPr>
            <p:spPr bwMode="auto">
              <a:xfrm flipV="1">
                <a:off x="2070" y="1176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31" name="Line 38"/>
              <p:cNvSpPr>
                <a:spLocks noChangeShapeType="1"/>
              </p:cNvSpPr>
              <p:nvPr/>
            </p:nvSpPr>
            <p:spPr bwMode="auto">
              <a:xfrm flipV="1">
                <a:off x="2161" y="1267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32" name="Line 39"/>
              <p:cNvSpPr>
                <a:spLocks noChangeShapeType="1"/>
              </p:cNvSpPr>
              <p:nvPr/>
            </p:nvSpPr>
            <p:spPr bwMode="auto">
              <a:xfrm flipV="1">
                <a:off x="2252" y="1358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33" name="Line 40"/>
              <p:cNvSpPr>
                <a:spLocks noChangeShapeType="1"/>
              </p:cNvSpPr>
              <p:nvPr/>
            </p:nvSpPr>
            <p:spPr bwMode="auto">
              <a:xfrm flipV="1">
                <a:off x="1698" y="849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34" name="Line 41"/>
              <p:cNvSpPr>
                <a:spLocks noChangeShapeType="1"/>
              </p:cNvSpPr>
              <p:nvPr/>
            </p:nvSpPr>
            <p:spPr bwMode="auto">
              <a:xfrm flipV="1">
                <a:off x="1789" y="940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35" name="Line 43"/>
              <p:cNvSpPr>
                <a:spLocks noChangeShapeType="1"/>
              </p:cNvSpPr>
              <p:nvPr/>
            </p:nvSpPr>
            <p:spPr bwMode="auto">
              <a:xfrm flipV="1">
                <a:off x="1971" y="1122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36" name="Line 44"/>
              <p:cNvSpPr>
                <a:spLocks noChangeShapeType="1"/>
              </p:cNvSpPr>
              <p:nvPr/>
            </p:nvSpPr>
            <p:spPr bwMode="auto">
              <a:xfrm flipV="1">
                <a:off x="2062" y="1213"/>
                <a:ext cx="318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</p:grpSp>
      <p:sp>
        <p:nvSpPr>
          <p:cNvPr id="37" name="Line 47"/>
          <p:cNvSpPr>
            <a:spLocks noChangeShapeType="1"/>
          </p:cNvSpPr>
          <p:nvPr/>
        </p:nvSpPr>
        <p:spPr bwMode="auto">
          <a:xfrm flipH="1">
            <a:off x="2042795" y="1725930"/>
            <a:ext cx="1889125" cy="2233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 sz="2000" dirty="0"/>
          </a:p>
        </p:txBody>
      </p:sp>
      <p:grpSp>
        <p:nvGrpSpPr>
          <p:cNvPr id="38" name="Group 59"/>
          <p:cNvGrpSpPr>
            <a:grpSpLocks/>
          </p:cNvGrpSpPr>
          <p:nvPr/>
        </p:nvGrpSpPr>
        <p:grpSpPr bwMode="auto">
          <a:xfrm>
            <a:off x="1001713" y="2892029"/>
            <a:ext cx="6305550" cy="1140619"/>
            <a:chOff x="631" y="2429"/>
            <a:chExt cx="3972" cy="958"/>
          </a:xfrm>
        </p:grpSpPr>
        <p:grpSp>
          <p:nvGrpSpPr>
            <p:cNvPr id="39" name="Group 57"/>
            <p:cNvGrpSpPr>
              <a:grpSpLocks/>
            </p:cNvGrpSpPr>
            <p:nvPr/>
          </p:nvGrpSpPr>
          <p:grpSpPr bwMode="auto">
            <a:xfrm>
              <a:off x="631" y="2429"/>
              <a:ext cx="3972" cy="958"/>
              <a:chOff x="631" y="2429"/>
              <a:chExt cx="3972" cy="958"/>
            </a:xfrm>
          </p:grpSpPr>
          <p:graphicFrame>
            <p:nvGraphicFramePr>
              <p:cNvPr id="43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9783310"/>
                  </p:ext>
                </p:extLst>
              </p:nvPr>
            </p:nvGraphicFramePr>
            <p:xfrm>
              <a:off x="631" y="2429"/>
              <a:ext cx="2772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1382" name="Equation" r:id="rId11" imgW="2577960" imgH="291960" progId="Equation.DSMT4">
                      <p:embed/>
                    </p:oleObj>
                  </mc:Choice>
                  <mc:Fallback>
                    <p:oleObj name="Equation" r:id="rId11" imgW="2577960" imgH="29196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1" y="2429"/>
                            <a:ext cx="2772" cy="3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Text Box 7"/>
              <p:cNvSpPr txBox="1">
                <a:spLocks noChangeArrowheads="1"/>
              </p:cNvSpPr>
              <p:nvPr/>
            </p:nvSpPr>
            <p:spPr bwMode="auto">
              <a:xfrm>
                <a:off x="1507" y="2792"/>
                <a:ext cx="2888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Number of neutrons passing through </a:t>
                </a:r>
                <a:r>
                  <a:rPr lang="en-US" sz="2000" i="1" dirty="0"/>
                  <a:t>A</a:t>
                </a:r>
              </a:p>
              <a:p>
                <a:r>
                  <a:rPr lang="en-US" sz="2000" dirty="0"/>
                  <a:t>(of       ) during </a:t>
                </a:r>
                <a:r>
                  <a:rPr lang="en-US" sz="2000" dirty="0">
                    <a:latin typeface="Symbol" pitchFamily="18" charset="2"/>
                  </a:rPr>
                  <a:t>D</a:t>
                </a:r>
                <a:r>
                  <a:rPr lang="en-US" sz="2000" i="1" dirty="0"/>
                  <a:t>t</a:t>
                </a:r>
                <a:r>
                  <a:rPr lang="en-US" sz="2000" dirty="0"/>
                  <a:t>  and which are in </a:t>
                </a:r>
              </a:p>
            </p:txBody>
          </p:sp>
          <p:graphicFrame>
            <p:nvGraphicFramePr>
              <p:cNvPr id="45" name="Object 8"/>
              <p:cNvGraphicFramePr>
                <a:graphicFrameLocks noChangeAspect="1"/>
              </p:cNvGraphicFramePr>
              <p:nvPr/>
            </p:nvGraphicFramePr>
            <p:xfrm>
              <a:off x="1783" y="3109"/>
              <a:ext cx="300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1383" name="Equation" r:id="rId13" imgW="241200" imgH="177480" progId="Equation.DSMT4">
                      <p:embed/>
                    </p:oleObj>
                  </mc:Choice>
                  <mc:Fallback>
                    <p:oleObj name="Equation" r:id="rId13" imgW="24120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3" y="3109"/>
                            <a:ext cx="300" cy="2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4929176"/>
                  </p:ext>
                </p:extLst>
              </p:nvPr>
            </p:nvGraphicFramePr>
            <p:xfrm>
              <a:off x="4079" y="3134"/>
              <a:ext cx="52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1384" name="Equation" r:id="rId15" imgW="723600" imgH="228600" progId="Equation.DSMT4">
                      <p:embed/>
                    </p:oleObj>
                  </mc:Choice>
                  <mc:Fallback>
                    <p:oleObj name="Equation" r:id="rId15" imgW="7236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79" y="3134"/>
                            <a:ext cx="524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" name="Group 58"/>
            <p:cNvGrpSpPr>
              <a:grpSpLocks/>
            </p:cNvGrpSpPr>
            <p:nvPr/>
          </p:nvGrpSpPr>
          <p:grpSpPr bwMode="auto">
            <a:xfrm>
              <a:off x="1298" y="2750"/>
              <a:ext cx="211" cy="414"/>
              <a:chOff x="1298" y="2750"/>
              <a:chExt cx="211" cy="414"/>
            </a:xfrm>
          </p:grpSpPr>
          <p:sp>
            <p:nvSpPr>
              <p:cNvPr id="41" name="AutoShape 52"/>
              <p:cNvSpPr>
                <a:spLocks noChangeAspect="1" noChangeArrowheads="1" noTextEdit="1"/>
              </p:cNvSpPr>
              <p:nvPr/>
            </p:nvSpPr>
            <p:spPr bwMode="auto">
              <a:xfrm>
                <a:off x="1298" y="2898"/>
                <a:ext cx="211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42" name="Rectangle 54"/>
              <p:cNvSpPr>
                <a:spLocks noChangeArrowheads="1"/>
              </p:cNvSpPr>
              <p:nvPr/>
            </p:nvSpPr>
            <p:spPr bwMode="auto">
              <a:xfrm>
                <a:off x="1329" y="2750"/>
                <a:ext cx="142" cy="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3200" dirty="0">
                    <a:solidFill>
                      <a:srgbClr val="000000"/>
                    </a:solidFill>
                    <a:latin typeface="Symbol" pitchFamily="18" charset="2"/>
                  </a:rPr>
                  <a:t>º</a:t>
                </a:r>
                <a:endParaRPr lang="en-US" sz="2000" dirty="0"/>
              </a:p>
            </p:txBody>
          </p:sp>
        </p:grpSp>
      </p:grpSp>
      <p:sp>
        <p:nvSpPr>
          <p:cNvPr id="47" name="Footer Placeholder 52"/>
          <p:cNvSpPr txBox="1">
            <a:spLocks/>
          </p:cNvSpPr>
          <p:nvPr/>
        </p:nvSpPr>
        <p:spPr>
          <a:xfrm>
            <a:off x="0" y="0"/>
            <a:ext cx="3352800" cy="216694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shade val="75000"/>
                  </a:scheme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HEURISTIC DERIVATION</a:t>
            </a:r>
          </a:p>
        </p:txBody>
      </p:sp>
      <p:sp>
        <p:nvSpPr>
          <p:cNvPr id="48" name="Slide Number Placeholder 49"/>
          <p:cNvSpPr txBox="1">
            <a:spLocks/>
          </p:cNvSpPr>
          <p:nvPr/>
        </p:nvSpPr>
        <p:spPr>
          <a:xfrm>
            <a:off x="8229600" y="4857751"/>
            <a:ext cx="762000" cy="183356"/>
          </a:xfrm>
          <a:prstGeom prst="rect">
            <a:avLst/>
          </a:prstGeom>
        </p:spPr>
        <p:txBody>
          <a:bodyPr vert="horz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FED43B-BF48-46FC-8AC9-B8EDD72D88E8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shade val="75000"/>
                  </a:scheme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shade val="75000"/>
                </a:scheme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9" name="TextBox 50"/>
          <p:cNvSpPr txBox="1">
            <a:spLocks noChangeArrowheads="1"/>
          </p:cNvSpPr>
          <p:nvPr/>
        </p:nvSpPr>
        <p:spPr bwMode="auto">
          <a:xfrm>
            <a:off x="2033588" y="4363641"/>
            <a:ext cx="47532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+ Dependent variable based on physical</a:t>
            </a:r>
          </a:p>
          <a:p>
            <a:r>
              <a:rPr lang="en-US" sz="2000" dirty="0"/>
              <a:t>   phase space area</a:t>
            </a:r>
          </a:p>
        </p:txBody>
      </p:sp>
      <p:grpSp>
        <p:nvGrpSpPr>
          <p:cNvPr id="50" name="Group 69"/>
          <p:cNvGrpSpPr>
            <a:grpSpLocks/>
          </p:cNvGrpSpPr>
          <p:nvPr/>
        </p:nvGrpSpPr>
        <p:grpSpPr bwMode="auto">
          <a:xfrm>
            <a:off x="2981326" y="912019"/>
            <a:ext cx="3876675" cy="1139429"/>
            <a:chOff x="2981941" y="1215845"/>
            <a:chExt cx="3876059" cy="1546406"/>
          </a:xfrm>
        </p:grpSpPr>
        <p:grpSp>
          <p:nvGrpSpPr>
            <p:cNvPr id="51" name="Group 65"/>
            <p:cNvGrpSpPr>
              <a:grpSpLocks/>
            </p:cNvGrpSpPr>
            <p:nvPr/>
          </p:nvGrpSpPr>
          <p:grpSpPr bwMode="auto">
            <a:xfrm>
              <a:off x="2981941" y="1215845"/>
              <a:ext cx="2244726" cy="1546406"/>
              <a:chOff x="3000991" y="1301569"/>
              <a:chExt cx="2244726" cy="1651181"/>
            </a:xfrm>
          </p:grpSpPr>
          <p:grpSp>
            <p:nvGrpSpPr>
              <p:cNvPr id="53" name="Group 60"/>
              <p:cNvGrpSpPr>
                <a:grpSpLocks/>
              </p:cNvGrpSpPr>
              <p:nvPr/>
            </p:nvGrpSpPr>
            <p:grpSpPr bwMode="auto">
              <a:xfrm rot="-167765">
                <a:off x="3000991" y="1301569"/>
                <a:ext cx="2244726" cy="1630414"/>
                <a:chOff x="3314566" y="1254126"/>
                <a:chExt cx="2244860" cy="1735837"/>
              </a:xfrm>
            </p:grpSpPr>
            <p:grpSp>
              <p:nvGrpSpPr>
                <p:cNvPr id="56" name="Group 112"/>
                <p:cNvGrpSpPr>
                  <a:grpSpLocks/>
                </p:cNvGrpSpPr>
                <p:nvPr/>
              </p:nvGrpSpPr>
              <p:grpSpPr bwMode="auto">
                <a:xfrm>
                  <a:off x="4648201" y="1254126"/>
                  <a:ext cx="911225" cy="1377950"/>
                  <a:chOff x="2928" y="790"/>
                  <a:chExt cx="574" cy="868"/>
                </a:xfrm>
              </p:grpSpPr>
              <p:sp>
                <p:nvSpPr>
                  <p:cNvPr id="63" name="Line 10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120" y="825"/>
                    <a:ext cx="327" cy="76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64" name="Oval 110"/>
                  <p:cNvSpPr>
                    <a:spLocks noChangeArrowheads="1"/>
                  </p:cNvSpPr>
                  <p:nvPr/>
                </p:nvSpPr>
                <p:spPr bwMode="auto">
                  <a:xfrm rot="20353665">
                    <a:off x="2925" y="788"/>
                    <a:ext cx="574" cy="868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000" dirty="0"/>
                  </a:p>
                </p:txBody>
              </p:sp>
              <p:sp>
                <p:nvSpPr>
                  <p:cNvPr id="65" name="Line 1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40" y="1008"/>
                    <a:ext cx="359" cy="45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</p:grpSp>
            <p:grpSp>
              <p:nvGrpSpPr>
                <p:cNvPr id="57" name="Group 112"/>
                <p:cNvGrpSpPr>
                  <a:grpSpLocks/>
                </p:cNvGrpSpPr>
                <p:nvPr/>
              </p:nvGrpSpPr>
              <p:grpSpPr bwMode="auto">
                <a:xfrm>
                  <a:off x="3314566" y="1612013"/>
                  <a:ext cx="765175" cy="1377950"/>
                  <a:chOff x="3017" y="773"/>
                  <a:chExt cx="482" cy="868"/>
                </a:xfrm>
              </p:grpSpPr>
              <p:sp>
                <p:nvSpPr>
                  <p:cNvPr id="60" name="Line 10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120" y="825"/>
                    <a:ext cx="327" cy="76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  <p:sp>
                <p:nvSpPr>
                  <p:cNvPr id="61" name="Oval 110"/>
                  <p:cNvSpPr>
                    <a:spLocks noChangeArrowheads="1"/>
                  </p:cNvSpPr>
                  <p:nvPr/>
                </p:nvSpPr>
                <p:spPr bwMode="auto">
                  <a:xfrm rot="-1246335">
                    <a:off x="3016" y="771"/>
                    <a:ext cx="482" cy="868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000" dirty="0"/>
                  </a:p>
                </p:txBody>
              </p:sp>
              <p:sp>
                <p:nvSpPr>
                  <p:cNvPr id="62" name="Line 1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25" y="1069"/>
                    <a:ext cx="335" cy="37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000" dirty="0"/>
                  </a:p>
                </p:txBody>
              </p:sp>
            </p:grpSp>
            <p:cxnSp>
              <p:nvCxnSpPr>
                <p:cNvPr id="58" name="Straight Connector 57"/>
                <p:cNvCxnSpPr>
                  <a:endCxn id="61" idx="0"/>
                </p:cNvCxnSpPr>
                <p:nvPr/>
              </p:nvCxnSpPr>
              <p:spPr>
                <a:xfrm rot="5567765" flipH="1" flipV="1">
                  <a:off x="3955976" y="780837"/>
                  <a:ext cx="429843" cy="138892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 rot="5400000" flipH="1" flipV="1">
                  <a:off x="4425981" y="2023098"/>
                  <a:ext cx="385756" cy="147464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Connector 53"/>
              <p:cNvCxnSpPr/>
              <p:nvPr/>
            </p:nvCxnSpPr>
            <p:spPr>
              <a:xfrm rot="16200000" flipH="1">
                <a:off x="2778947" y="2083110"/>
                <a:ext cx="1225014" cy="5142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61" idx="0"/>
              </p:cNvCxnSpPr>
              <p:nvPr/>
            </p:nvCxnSpPr>
            <p:spPr>
              <a:xfrm rot="16200000" flipH="1">
                <a:off x="4170825" y="1674749"/>
                <a:ext cx="1228464" cy="5269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/>
            <p:cNvCxnSpPr/>
            <p:nvPr/>
          </p:nvCxnSpPr>
          <p:spPr>
            <a:xfrm flipV="1">
              <a:off x="4404750" y="2298490"/>
              <a:ext cx="2453250" cy="8402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/>
          <p:cNvSpPr txBox="1"/>
          <p:nvPr/>
        </p:nvSpPr>
        <p:spPr>
          <a:xfrm>
            <a:off x="1026221" y="2292351"/>
            <a:ext cx="6009979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Neutrons passing through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move into </a:t>
            </a:r>
            <a:r>
              <a:rPr lang="en-US" sz="2000" dirty="0" err="1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during </a:t>
            </a:r>
            <a:r>
              <a:rPr lang="en-US" sz="2000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02690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51"/>
          <p:cNvGrpSpPr>
            <a:grpSpLocks/>
          </p:cNvGrpSpPr>
          <p:nvPr/>
        </p:nvGrpSpPr>
        <p:grpSpPr bwMode="auto">
          <a:xfrm>
            <a:off x="741363" y="575072"/>
            <a:ext cx="7570789" cy="2325291"/>
            <a:chOff x="493" y="964"/>
            <a:chExt cx="4769" cy="1953"/>
          </a:xfrm>
        </p:grpSpPr>
        <p:grpSp>
          <p:nvGrpSpPr>
            <p:cNvPr id="7180" name="Group 44"/>
            <p:cNvGrpSpPr>
              <a:grpSpLocks/>
            </p:cNvGrpSpPr>
            <p:nvPr/>
          </p:nvGrpSpPr>
          <p:grpSpPr bwMode="auto">
            <a:xfrm>
              <a:off x="493" y="964"/>
              <a:ext cx="4769" cy="595"/>
              <a:chOff x="467" y="404"/>
              <a:chExt cx="4769" cy="595"/>
            </a:xfrm>
          </p:grpSpPr>
          <p:graphicFrame>
            <p:nvGraphicFramePr>
              <p:cNvPr id="7173" name="Object 38"/>
              <p:cNvGraphicFramePr>
                <a:graphicFrameLocks noChangeAspect="1"/>
              </p:cNvGraphicFramePr>
              <p:nvPr/>
            </p:nvGraphicFramePr>
            <p:xfrm>
              <a:off x="467" y="418"/>
              <a:ext cx="1295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279" name="Equation" r:id="rId3" imgW="1371600" imgH="291960" progId="Equation.DSMT4">
                      <p:embed/>
                    </p:oleObj>
                  </mc:Choice>
                  <mc:Fallback>
                    <p:oleObj name="Equation" r:id="rId3" imgW="1371600" imgH="291960" progId="Equation.DSMT4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7" y="418"/>
                            <a:ext cx="1295" cy="39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4" name="Text Box 39"/>
              <p:cNvSpPr txBox="1">
                <a:spLocks noChangeArrowheads="1"/>
              </p:cNvSpPr>
              <p:nvPr/>
            </p:nvSpPr>
            <p:spPr bwMode="auto">
              <a:xfrm>
                <a:off x="1822" y="404"/>
                <a:ext cx="3414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Rate of neutrons passing through      per area </a:t>
                </a:r>
              </a:p>
              <a:p>
                <a:r>
                  <a:rPr lang="en-US" sz="2000" dirty="0"/>
                  <a:t>oriented in direction      per </a:t>
                </a:r>
                <a:r>
                  <a:rPr lang="en-US" sz="2000" i="1" dirty="0"/>
                  <a:t>MeV-sr-cm</a:t>
                </a:r>
                <a:r>
                  <a:rPr lang="en-US" sz="2000" i="1" baseline="30000" dirty="0"/>
                  <a:t>2</a:t>
                </a:r>
              </a:p>
            </p:txBody>
          </p:sp>
          <p:graphicFrame>
            <p:nvGraphicFramePr>
              <p:cNvPr id="7174" name="Object 4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4005368"/>
                  </p:ext>
                </p:extLst>
              </p:nvPr>
            </p:nvGraphicFramePr>
            <p:xfrm>
              <a:off x="4261" y="418"/>
              <a:ext cx="250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280" name="Equation" r:id="rId5" imgW="152280" imgH="215640" progId="Equation.DSMT4">
                      <p:embed/>
                    </p:oleObj>
                  </mc:Choice>
                  <mc:Fallback>
                    <p:oleObj name="Equation" r:id="rId5" imgW="152280" imgH="215640" progId="Equation.DSMT4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1" y="418"/>
                            <a:ext cx="250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181" name="Group 45"/>
            <p:cNvGrpSpPr>
              <a:grpSpLocks/>
            </p:cNvGrpSpPr>
            <p:nvPr/>
          </p:nvGrpSpPr>
          <p:grpSpPr bwMode="auto">
            <a:xfrm>
              <a:off x="2422" y="1733"/>
              <a:ext cx="972" cy="1184"/>
              <a:chOff x="737" y="770"/>
              <a:chExt cx="972" cy="1184"/>
            </a:xfrm>
          </p:grpSpPr>
          <p:sp>
            <p:nvSpPr>
              <p:cNvPr id="7182" name="Oval 41"/>
              <p:cNvSpPr>
                <a:spLocks noChangeArrowheads="1"/>
              </p:cNvSpPr>
              <p:nvPr/>
            </p:nvSpPr>
            <p:spPr bwMode="auto">
              <a:xfrm rot="19282183">
                <a:off x="737" y="911"/>
                <a:ext cx="731" cy="1043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7183" name="Line 42"/>
              <p:cNvSpPr>
                <a:spLocks noChangeShapeType="1"/>
              </p:cNvSpPr>
              <p:nvPr/>
            </p:nvSpPr>
            <p:spPr bwMode="auto">
              <a:xfrm flipV="1">
                <a:off x="1144" y="997"/>
                <a:ext cx="565" cy="42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graphicFrame>
            <p:nvGraphicFramePr>
              <p:cNvPr id="7172" name="Object 4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5844975"/>
                  </p:ext>
                </p:extLst>
              </p:nvPr>
            </p:nvGraphicFramePr>
            <p:xfrm>
              <a:off x="1312" y="770"/>
              <a:ext cx="194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281" name="Equation" r:id="rId7" imgW="152280" imgH="215640" progId="Equation.DSMT4">
                      <p:embed/>
                    </p:oleObj>
                  </mc:Choice>
                  <mc:Fallback>
                    <p:oleObj name="Equation" r:id="rId7" imgW="152280" imgH="215640" progId="Equation.DSMT4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12" y="770"/>
                            <a:ext cx="194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170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85214"/>
              </p:ext>
            </p:extLst>
          </p:nvPr>
        </p:nvGraphicFramePr>
        <p:xfrm>
          <a:off x="1743075" y="3524250"/>
          <a:ext cx="53117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2" name="Equation" r:id="rId8" imgW="3720960" imgH="291960" progId="Equation.DSMT4">
                  <p:embed/>
                </p:oleObj>
              </mc:Choice>
              <mc:Fallback>
                <p:oleObj name="Equation" r:id="rId8" imgW="3720960" imgH="29196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3524250"/>
                        <a:ext cx="5311775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3FFBC7-791C-438A-AC50-389A90E67567}" type="slidenum">
              <a:rPr lang="en-US" sz="1100"/>
              <a:pPr>
                <a:defRPr/>
              </a:pPr>
              <a:t>12</a:t>
            </a:fld>
            <a:endParaRPr lang="en-US" sz="1100" dirty="0"/>
          </a:p>
        </p:txBody>
      </p:sp>
      <p:grpSp>
        <p:nvGrpSpPr>
          <p:cNvPr id="7178" name="Group 37"/>
          <p:cNvGrpSpPr>
            <a:grpSpLocks/>
          </p:cNvGrpSpPr>
          <p:nvPr/>
        </p:nvGrpSpPr>
        <p:grpSpPr bwMode="auto">
          <a:xfrm>
            <a:off x="1708151" y="4076702"/>
            <a:ext cx="3190876" cy="436960"/>
            <a:chOff x="361" y="2240"/>
            <a:chExt cx="2010" cy="367"/>
          </a:xfrm>
        </p:grpSpPr>
        <p:graphicFrame>
          <p:nvGraphicFramePr>
            <p:cNvPr id="7171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9987648"/>
                </p:ext>
              </p:extLst>
            </p:nvPr>
          </p:nvGraphicFramePr>
          <p:xfrm>
            <a:off x="361" y="2243"/>
            <a:ext cx="101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283" name="Equation" r:id="rId10" imgW="1104840" imgH="291960" progId="Equation.DSMT4">
                    <p:embed/>
                  </p:oleObj>
                </mc:Choice>
                <mc:Fallback>
                  <p:oleObj name="Equation" r:id="rId10" imgW="1104840" imgH="29196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" y="2243"/>
                          <a:ext cx="1019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9" name="Text Box 34"/>
            <p:cNvSpPr txBox="1">
              <a:spLocks noChangeArrowheads="1"/>
            </p:cNvSpPr>
            <p:nvPr/>
          </p:nvSpPr>
          <p:spPr bwMode="auto">
            <a:xfrm>
              <a:off x="1401" y="2240"/>
              <a:ext cx="97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Angular flux</a:t>
              </a:r>
            </a:p>
          </p:txBody>
        </p:sp>
      </p:grpSp>
      <p:graphicFrame>
        <p:nvGraphicFramePr>
          <p:cNvPr id="17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292003"/>
              </p:ext>
            </p:extLst>
          </p:nvPr>
        </p:nvGraphicFramePr>
        <p:xfrm>
          <a:off x="5262352" y="923409"/>
          <a:ext cx="28257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4" name="Equation" r:id="rId12" imgW="190440" imgH="190440" progId="Equation.DSMT4">
                  <p:embed/>
                </p:oleObj>
              </mc:Choice>
              <mc:Fallback>
                <p:oleObj name="Equation" r:id="rId12" imgW="1904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2352" y="923409"/>
                        <a:ext cx="282575" cy="306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8" name="Group 4"/>
          <p:cNvGrpSpPr>
            <a:grpSpLocks/>
          </p:cNvGrpSpPr>
          <p:nvPr/>
        </p:nvGrpSpPr>
        <p:grpSpPr bwMode="auto">
          <a:xfrm>
            <a:off x="2778125" y="440531"/>
            <a:ext cx="3392488" cy="1282304"/>
            <a:chOff x="1174" y="1501"/>
            <a:chExt cx="2137" cy="1077"/>
          </a:xfrm>
        </p:grpSpPr>
        <p:grpSp>
          <p:nvGrpSpPr>
            <p:cNvPr id="8205" name="Group 5"/>
            <p:cNvGrpSpPr>
              <a:grpSpLocks/>
            </p:cNvGrpSpPr>
            <p:nvPr/>
          </p:nvGrpSpPr>
          <p:grpSpPr bwMode="auto">
            <a:xfrm>
              <a:off x="1552" y="1501"/>
              <a:ext cx="1403" cy="1077"/>
              <a:chOff x="1871" y="1432"/>
              <a:chExt cx="1403" cy="1077"/>
            </a:xfrm>
          </p:grpSpPr>
          <p:sp>
            <p:nvSpPr>
              <p:cNvPr id="8222" name="AutoShape 6"/>
              <p:cNvSpPr>
                <a:spLocks noChangeArrowheads="1"/>
              </p:cNvSpPr>
              <p:nvPr/>
            </p:nvSpPr>
            <p:spPr bwMode="auto">
              <a:xfrm>
                <a:off x="1871" y="1433"/>
                <a:ext cx="1403" cy="1075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000" dirty="0"/>
              </a:p>
            </p:txBody>
          </p:sp>
          <p:sp>
            <p:nvSpPr>
              <p:cNvPr id="8223" name="Line 7"/>
              <p:cNvSpPr>
                <a:spLocks noChangeShapeType="1"/>
              </p:cNvSpPr>
              <p:nvPr/>
            </p:nvSpPr>
            <p:spPr bwMode="auto">
              <a:xfrm flipH="1">
                <a:off x="2137" y="1432"/>
                <a:ext cx="8" cy="7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8224" name="Line 8"/>
              <p:cNvSpPr>
                <a:spLocks noChangeShapeType="1"/>
              </p:cNvSpPr>
              <p:nvPr/>
            </p:nvSpPr>
            <p:spPr bwMode="auto">
              <a:xfrm flipV="1">
                <a:off x="1880" y="2221"/>
                <a:ext cx="265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8225" name="Line 9"/>
              <p:cNvSpPr>
                <a:spLocks noChangeShapeType="1"/>
              </p:cNvSpPr>
              <p:nvPr/>
            </p:nvSpPr>
            <p:spPr bwMode="auto">
              <a:xfrm>
                <a:off x="2145" y="2228"/>
                <a:ext cx="1122" cy="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</p:grpSp>
        <p:grpSp>
          <p:nvGrpSpPr>
            <p:cNvPr id="8206" name="Group 10"/>
            <p:cNvGrpSpPr>
              <a:grpSpLocks/>
            </p:cNvGrpSpPr>
            <p:nvPr/>
          </p:nvGrpSpPr>
          <p:grpSpPr bwMode="auto">
            <a:xfrm>
              <a:off x="1174" y="1509"/>
              <a:ext cx="2137" cy="1008"/>
              <a:chOff x="1410" y="1326"/>
              <a:chExt cx="2137" cy="1008"/>
            </a:xfrm>
          </p:grpSpPr>
          <p:grpSp>
            <p:nvGrpSpPr>
              <p:cNvPr id="8207" name="Group 11"/>
              <p:cNvGrpSpPr>
                <a:grpSpLocks/>
              </p:cNvGrpSpPr>
              <p:nvPr/>
            </p:nvGrpSpPr>
            <p:grpSpPr bwMode="auto">
              <a:xfrm>
                <a:off x="2160" y="1804"/>
                <a:ext cx="750" cy="462"/>
                <a:chOff x="2160" y="1804"/>
                <a:chExt cx="750" cy="462"/>
              </a:xfrm>
            </p:grpSpPr>
            <p:sp>
              <p:nvSpPr>
                <p:cNvPr id="8220" name="Line 12"/>
                <p:cNvSpPr>
                  <a:spLocks noChangeShapeType="1"/>
                </p:cNvSpPr>
                <p:nvPr/>
              </p:nvSpPr>
              <p:spPr bwMode="auto">
                <a:xfrm flipH="1" flipV="1">
                  <a:off x="2160" y="1804"/>
                  <a:ext cx="697" cy="18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21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448" y="2046"/>
                  <a:ext cx="462" cy="2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  <p:grpSp>
            <p:nvGrpSpPr>
              <p:cNvPr id="8208" name="Group 14"/>
              <p:cNvGrpSpPr>
                <a:grpSpLocks/>
              </p:cNvGrpSpPr>
              <p:nvPr/>
            </p:nvGrpSpPr>
            <p:grpSpPr bwMode="auto">
              <a:xfrm>
                <a:off x="1410" y="1326"/>
                <a:ext cx="2137" cy="1008"/>
                <a:chOff x="1410" y="1326"/>
                <a:chExt cx="2137" cy="1008"/>
              </a:xfrm>
            </p:grpSpPr>
            <p:sp>
              <p:nvSpPr>
                <p:cNvPr id="8209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410" y="1880"/>
                  <a:ext cx="682" cy="4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0" name="Line 16"/>
                <p:cNvSpPr>
                  <a:spLocks noChangeShapeType="1"/>
                </p:cNvSpPr>
                <p:nvPr/>
              </p:nvSpPr>
              <p:spPr bwMode="auto">
                <a:xfrm>
                  <a:off x="2107" y="1880"/>
                  <a:ext cx="137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1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2259" y="1895"/>
                  <a:ext cx="113" cy="1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2" name="Line 18"/>
                <p:cNvSpPr>
                  <a:spLocks noChangeShapeType="1"/>
                </p:cNvSpPr>
                <p:nvPr/>
              </p:nvSpPr>
              <p:spPr bwMode="auto">
                <a:xfrm>
                  <a:off x="2365" y="1910"/>
                  <a:ext cx="257" cy="3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622" y="1857"/>
                  <a:ext cx="15" cy="3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4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281" y="1789"/>
                  <a:ext cx="356" cy="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5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2274" y="1660"/>
                  <a:ext cx="462" cy="12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6" name="Line 22"/>
                <p:cNvSpPr>
                  <a:spLocks noChangeShapeType="1"/>
                </p:cNvSpPr>
                <p:nvPr/>
              </p:nvSpPr>
              <p:spPr bwMode="auto">
                <a:xfrm>
                  <a:off x="2728" y="1660"/>
                  <a:ext cx="122" cy="31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7" name="Line 23"/>
                <p:cNvSpPr>
                  <a:spLocks noChangeShapeType="1"/>
                </p:cNvSpPr>
                <p:nvPr/>
              </p:nvSpPr>
              <p:spPr bwMode="auto">
                <a:xfrm>
                  <a:off x="2175" y="1811"/>
                  <a:ext cx="281" cy="4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8" name="Line 24"/>
                <p:cNvSpPr>
                  <a:spLocks noChangeShapeType="1"/>
                </p:cNvSpPr>
                <p:nvPr/>
              </p:nvSpPr>
              <p:spPr bwMode="auto">
                <a:xfrm flipH="1" flipV="1">
                  <a:off x="2228" y="1614"/>
                  <a:ext cx="697" cy="44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  <p:sp>
              <p:nvSpPr>
                <p:cNvPr id="8219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2228" y="1326"/>
                  <a:ext cx="1319" cy="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2000" dirty="0"/>
                </a:p>
              </p:txBody>
            </p:sp>
          </p:grpSp>
        </p:grpSp>
      </p:grpSp>
      <p:grpSp>
        <p:nvGrpSpPr>
          <p:cNvPr id="8199" name="Group 38"/>
          <p:cNvGrpSpPr>
            <a:grpSpLocks/>
          </p:cNvGrpSpPr>
          <p:nvPr/>
        </p:nvGrpSpPr>
        <p:grpSpPr bwMode="auto">
          <a:xfrm>
            <a:off x="384020" y="1855581"/>
            <a:ext cx="8080376" cy="708423"/>
            <a:chOff x="308" y="1804"/>
            <a:chExt cx="5090" cy="595"/>
          </a:xfrm>
        </p:grpSpPr>
        <p:grpSp>
          <p:nvGrpSpPr>
            <p:cNvPr id="8203" name="Group 27"/>
            <p:cNvGrpSpPr>
              <a:grpSpLocks/>
            </p:cNvGrpSpPr>
            <p:nvPr/>
          </p:nvGrpSpPr>
          <p:grpSpPr bwMode="auto">
            <a:xfrm>
              <a:off x="308" y="1804"/>
              <a:ext cx="5090" cy="595"/>
              <a:chOff x="214" y="3378"/>
              <a:chExt cx="5090" cy="595"/>
            </a:xfrm>
          </p:grpSpPr>
          <p:graphicFrame>
            <p:nvGraphicFramePr>
              <p:cNvPr id="8196" name="Object 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68506539"/>
                  </p:ext>
                </p:extLst>
              </p:nvPr>
            </p:nvGraphicFramePr>
            <p:xfrm>
              <a:off x="214" y="3396"/>
              <a:ext cx="2646" cy="3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94" name="Equation" r:id="rId3" imgW="2831760" imgH="291960" progId="Equation.DSMT4">
                      <p:embed/>
                    </p:oleObj>
                  </mc:Choice>
                  <mc:Fallback>
                    <p:oleObj name="Equation" r:id="rId3" imgW="2831760" imgH="291960" progId="Equation.DSMT4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" y="3396"/>
                            <a:ext cx="2646" cy="39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97" name="Object 29"/>
              <p:cNvGraphicFramePr>
                <a:graphicFrameLocks noChangeAspect="1"/>
              </p:cNvGraphicFramePr>
              <p:nvPr/>
            </p:nvGraphicFramePr>
            <p:xfrm>
              <a:off x="2809" y="3499"/>
              <a:ext cx="228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95" name="Equation" r:id="rId5" imgW="152280" imgH="126720" progId="Equation.DSMT4">
                      <p:embed/>
                    </p:oleObj>
                  </mc:Choice>
                  <mc:Fallback>
                    <p:oleObj name="Equation" r:id="rId5" imgW="152280" imgH="126720" progId="Equation.DSMT4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09" y="3499"/>
                            <a:ext cx="228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04" name="Rectangle 30"/>
              <p:cNvSpPr>
                <a:spLocks noChangeArrowheads="1"/>
              </p:cNvSpPr>
              <p:nvPr/>
            </p:nvSpPr>
            <p:spPr bwMode="auto">
              <a:xfrm>
                <a:off x="2906" y="3378"/>
                <a:ext cx="2398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 dirty="0"/>
                  <a:t> Total track length/</a:t>
                </a:r>
                <a:r>
                  <a:rPr lang="en-US" sz="2000" i="1" dirty="0"/>
                  <a:t>s </a:t>
                </a:r>
                <a:r>
                  <a:rPr lang="en-US" sz="2000" dirty="0"/>
                  <a:t>of all  </a:t>
                </a:r>
              </a:p>
              <a:p>
                <a:r>
                  <a:rPr lang="en-US" sz="2000" dirty="0"/>
                  <a:t> neutrons in </a:t>
                </a:r>
              </a:p>
            </p:txBody>
          </p:sp>
        </p:grpSp>
        <p:graphicFrame>
          <p:nvGraphicFramePr>
            <p:cNvPr id="8195" name="Object 31"/>
            <p:cNvGraphicFramePr>
              <a:graphicFrameLocks noChangeAspect="1"/>
            </p:cNvGraphicFramePr>
            <p:nvPr/>
          </p:nvGraphicFramePr>
          <p:xfrm>
            <a:off x="3929" y="2121"/>
            <a:ext cx="377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96" name="Equation" r:id="rId7" imgW="342720" imgH="177480" progId="Equation.DSMT4">
                    <p:embed/>
                  </p:oleObj>
                </mc:Choice>
                <mc:Fallback>
                  <p:oleObj name="Equation" r:id="rId7" imgW="342720" imgH="1774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9" y="2121"/>
                          <a:ext cx="377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0" name="Text Box 35"/>
          <p:cNvSpPr txBox="1">
            <a:spLocks noChangeArrowheads="1"/>
          </p:cNvSpPr>
          <p:nvPr/>
        </p:nvSpPr>
        <p:spPr bwMode="auto">
          <a:xfrm>
            <a:off x="1666875" y="3525441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Notation:</a:t>
            </a:r>
          </a:p>
        </p:txBody>
      </p:sp>
      <p:graphicFrame>
        <p:nvGraphicFramePr>
          <p:cNvPr id="819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962118"/>
              </p:ext>
            </p:extLst>
          </p:nvPr>
        </p:nvGraphicFramePr>
        <p:xfrm>
          <a:off x="2925763" y="3193844"/>
          <a:ext cx="3600450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97" name="Equation" r:id="rId9" imgW="2641320" imgH="1091880" progId="Equation.DSMT4">
                  <p:embed/>
                </p:oleObj>
              </mc:Choice>
              <mc:Fallback>
                <p:oleObj name="Equation" r:id="rId9" imgW="2641320" imgH="109188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3193844"/>
                        <a:ext cx="3600450" cy="1492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ooter Placeholder 3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AA63C9-73CA-467B-9ECC-83A7F1859699}" type="slidenum">
              <a:rPr lang="en-US" sz="1100"/>
              <a:pPr>
                <a:defRPr/>
              </a:pPr>
              <a:t>13</a:t>
            </a:fld>
            <a:endParaRPr lang="en-US" sz="1100" dirty="0"/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B37EACD2-1761-4248-9E1E-C403AB35C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298" y="3617104"/>
            <a:ext cx="138211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Scalar flux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Text Box 2"/>
          <p:cNvSpPr txBox="1">
            <a:spLocks noChangeArrowheads="1"/>
          </p:cNvSpPr>
          <p:nvPr/>
        </p:nvSpPr>
        <p:spPr bwMode="auto">
          <a:xfrm>
            <a:off x="2834225" y="212835"/>
            <a:ext cx="29017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 dirty="0">
                <a:latin typeface="Tahoma" pitchFamily="34" charset="0"/>
              </a:rPr>
              <a:t>Distribution Function</a:t>
            </a:r>
          </a:p>
        </p:txBody>
      </p:sp>
      <p:sp>
        <p:nvSpPr>
          <p:cNvPr id="9228" name="Text Box 5"/>
          <p:cNvSpPr txBox="1">
            <a:spLocks noChangeArrowheads="1"/>
          </p:cNvSpPr>
          <p:nvPr/>
        </p:nvSpPr>
        <p:spPr bwMode="auto">
          <a:xfrm>
            <a:off x="1006475" y="822265"/>
            <a:ext cx="38313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Transformation of a distribution:</a:t>
            </a:r>
          </a:p>
        </p:txBody>
      </p:sp>
      <p:graphicFrame>
        <p:nvGraphicFramePr>
          <p:cNvPr id="92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040624"/>
              </p:ext>
            </p:extLst>
          </p:nvPr>
        </p:nvGraphicFramePr>
        <p:xfrm>
          <a:off x="1724025" y="3823434"/>
          <a:ext cx="411956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34" name="Equation" r:id="rId3" imgW="2476440" imgH="533160" progId="Equation.DSMT4">
                  <p:embed/>
                </p:oleObj>
              </mc:Choice>
              <mc:Fallback>
                <p:oleObj name="Equation" r:id="rId3" imgW="2476440" imgH="5331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3823434"/>
                        <a:ext cx="4119563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9" name="Group 32"/>
          <p:cNvGrpSpPr>
            <a:grpSpLocks/>
          </p:cNvGrpSpPr>
          <p:nvPr/>
        </p:nvGrpSpPr>
        <p:grpSpPr bwMode="auto">
          <a:xfrm>
            <a:off x="1177925" y="1238985"/>
            <a:ext cx="6965950" cy="1044179"/>
            <a:chOff x="742" y="1336"/>
            <a:chExt cx="4388" cy="877"/>
          </a:xfrm>
        </p:grpSpPr>
        <p:grpSp>
          <p:nvGrpSpPr>
            <p:cNvPr id="9238" name="Group 31"/>
            <p:cNvGrpSpPr>
              <a:grpSpLocks/>
            </p:cNvGrpSpPr>
            <p:nvPr/>
          </p:nvGrpSpPr>
          <p:grpSpPr bwMode="auto">
            <a:xfrm>
              <a:off x="1306" y="1336"/>
              <a:ext cx="3824" cy="877"/>
              <a:chOff x="1306" y="1336"/>
              <a:chExt cx="3824" cy="877"/>
            </a:xfrm>
          </p:grpSpPr>
          <p:sp>
            <p:nvSpPr>
              <p:cNvPr id="9240" name="Text Box 8"/>
              <p:cNvSpPr txBox="1">
                <a:spLocks noChangeArrowheads="1"/>
              </p:cNvSpPr>
              <p:nvPr/>
            </p:nvSpPr>
            <p:spPr bwMode="auto">
              <a:xfrm>
                <a:off x="3005" y="1336"/>
                <a:ext cx="2125" cy="8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is a </a:t>
                </a:r>
                <a:r>
                  <a:rPr lang="en-US" sz="2000" i="1" dirty="0">
                    <a:latin typeface="Tahoma" pitchFamily="34" charset="0"/>
                  </a:rPr>
                  <a:t>physical quantity</a:t>
                </a:r>
                <a:r>
                  <a:rPr lang="en-US" sz="2000" dirty="0">
                    <a:latin typeface="Tahoma" pitchFamily="34" charset="0"/>
                  </a:rPr>
                  <a:t> based 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on the </a:t>
                </a:r>
                <a:r>
                  <a:rPr lang="en-US" sz="2000" i="1" dirty="0">
                    <a:latin typeface="Tahoma" pitchFamily="34" charset="0"/>
                  </a:rPr>
                  <a:t>phase space element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of</a:t>
                </a:r>
              </a:p>
            </p:txBody>
          </p:sp>
          <p:graphicFrame>
            <p:nvGraphicFramePr>
              <p:cNvPr id="9224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027210"/>
                  </p:ext>
                </p:extLst>
              </p:nvPr>
            </p:nvGraphicFramePr>
            <p:xfrm>
              <a:off x="1306" y="1344"/>
              <a:ext cx="1667" cy="3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235" name="Equation" r:id="rId5" imgW="1663560" imgH="291960" progId="Equation.DSMT4">
                      <p:embed/>
                    </p:oleObj>
                  </mc:Choice>
                  <mc:Fallback>
                    <p:oleObj name="Equation" r:id="rId5" imgW="1663560" imgH="29196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06" y="1344"/>
                            <a:ext cx="1667" cy="3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5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35243718"/>
                  </p:ext>
                </p:extLst>
              </p:nvPr>
            </p:nvGraphicFramePr>
            <p:xfrm>
              <a:off x="3233" y="1883"/>
              <a:ext cx="891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236" name="Equation" r:id="rId7" imgW="1028520" imgH="291960" progId="Equation.DSMT4">
                      <p:embed/>
                    </p:oleObj>
                  </mc:Choice>
                  <mc:Fallback>
                    <p:oleObj name="Equation" r:id="rId7" imgW="1028520" imgH="29196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3" y="1883"/>
                            <a:ext cx="891" cy="33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39" name="Text Box 19"/>
            <p:cNvSpPr txBox="1">
              <a:spLocks noChangeArrowheads="1"/>
            </p:cNvSpPr>
            <p:nvPr/>
          </p:nvSpPr>
          <p:spPr bwMode="auto">
            <a:xfrm>
              <a:off x="742" y="1341"/>
              <a:ext cx="539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From:</a:t>
              </a:r>
            </a:p>
          </p:txBody>
        </p:sp>
      </p:grpSp>
      <p:grpSp>
        <p:nvGrpSpPr>
          <p:cNvPr id="9230" name="Group 23"/>
          <p:cNvGrpSpPr>
            <a:grpSpLocks/>
          </p:cNvGrpSpPr>
          <p:nvPr/>
        </p:nvGrpSpPr>
        <p:grpSpPr bwMode="auto">
          <a:xfrm>
            <a:off x="1412876" y="2208152"/>
            <a:ext cx="6842125" cy="1021556"/>
            <a:chOff x="829" y="2340"/>
            <a:chExt cx="4310" cy="858"/>
          </a:xfrm>
        </p:grpSpPr>
        <p:grpSp>
          <p:nvGrpSpPr>
            <p:cNvPr id="9235" name="Group 10"/>
            <p:cNvGrpSpPr>
              <a:grpSpLocks/>
            </p:cNvGrpSpPr>
            <p:nvPr/>
          </p:nvGrpSpPr>
          <p:grpSpPr bwMode="auto">
            <a:xfrm>
              <a:off x="1366" y="2340"/>
              <a:ext cx="3773" cy="858"/>
              <a:chOff x="1377" y="2733"/>
              <a:chExt cx="3773" cy="858"/>
            </a:xfrm>
          </p:grpSpPr>
          <p:graphicFrame>
            <p:nvGraphicFramePr>
              <p:cNvPr id="9222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3236956"/>
                  </p:ext>
                </p:extLst>
              </p:nvPr>
            </p:nvGraphicFramePr>
            <p:xfrm>
              <a:off x="1377" y="2744"/>
              <a:ext cx="1200" cy="4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237" name="Equation" r:id="rId9" imgW="1168200" imgH="291960" progId="Equation.DSMT4">
                      <p:embed/>
                    </p:oleObj>
                  </mc:Choice>
                  <mc:Fallback>
                    <p:oleObj name="Equation" r:id="rId9" imgW="1168200" imgH="29196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77" y="2744"/>
                            <a:ext cx="1200" cy="4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37" name="Text Box 12"/>
              <p:cNvSpPr txBox="1">
                <a:spLocks noChangeArrowheads="1"/>
              </p:cNvSpPr>
              <p:nvPr/>
            </p:nvSpPr>
            <p:spPr bwMode="auto">
              <a:xfrm>
                <a:off x="2951" y="2733"/>
                <a:ext cx="2199" cy="8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is a </a:t>
                </a:r>
                <a:r>
                  <a:rPr lang="en-US" sz="2000" i="1" dirty="0">
                    <a:latin typeface="Tahoma" pitchFamily="34" charset="0"/>
                  </a:rPr>
                  <a:t>physical quantity</a:t>
                </a:r>
                <a:r>
                  <a:rPr lang="en-US" sz="2000" dirty="0">
                    <a:latin typeface="Tahoma" pitchFamily="34" charset="0"/>
                  </a:rPr>
                  <a:t> related 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to the phase space element</a:t>
                </a:r>
              </a:p>
              <a:p>
                <a:pPr eaLnBrk="0" hangingPunct="0"/>
                <a:r>
                  <a:rPr lang="en-US" sz="2000" dirty="0">
                    <a:latin typeface="Tahoma" pitchFamily="34" charset="0"/>
                  </a:rPr>
                  <a:t>of</a:t>
                </a:r>
              </a:p>
            </p:txBody>
          </p:sp>
          <p:graphicFrame>
            <p:nvGraphicFramePr>
              <p:cNvPr id="9223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3271647"/>
                  </p:ext>
                </p:extLst>
              </p:nvPr>
            </p:nvGraphicFramePr>
            <p:xfrm>
              <a:off x="3178" y="3275"/>
              <a:ext cx="691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238" name="Equation" r:id="rId11" imgW="812520" imgH="291960" progId="Equation.DSMT4">
                      <p:embed/>
                    </p:oleObj>
                  </mc:Choice>
                  <mc:Fallback>
                    <p:oleObj name="Equation" r:id="rId11" imgW="812520" imgH="29196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8" y="3275"/>
                            <a:ext cx="691" cy="3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36" name="Text Box 20"/>
            <p:cNvSpPr txBox="1">
              <a:spLocks noChangeArrowheads="1"/>
            </p:cNvSpPr>
            <p:nvPr/>
          </p:nvSpPr>
          <p:spPr bwMode="auto">
            <a:xfrm>
              <a:off x="829" y="2360"/>
              <a:ext cx="40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000" dirty="0">
                  <a:latin typeface="Tahoma" pitchFamily="34" charset="0"/>
                </a:rPr>
                <a:t>To:</a:t>
              </a:r>
            </a:p>
          </p:txBody>
        </p:sp>
      </p:grpSp>
      <p:graphicFrame>
        <p:nvGraphicFramePr>
          <p:cNvPr id="922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78770"/>
              </p:ext>
            </p:extLst>
          </p:nvPr>
        </p:nvGraphicFramePr>
        <p:xfrm>
          <a:off x="1749425" y="3278922"/>
          <a:ext cx="52689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39" name="Equation" r:id="rId13" imgW="3416040" imgH="291960" progId="Equation.DSMT4">
                  <p:embed/>
                </p:oleObj>
              </mc:Choice>
              <mc:Fallback>
                <p:oleObj name="Equation" r:id="rId13" imgW="3416040" imgH="29196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3278922"/>
                        <a:ext cx="52689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B5FE10-18D1-473B-8EDE-A93688D9D63D}" type="slidenum">
              <a:rPr lang="en-US" sz="1100"/>
              <a:pPr>
                <a:defRPr/>
              </a:pPr>
              <a:t>14</a:t>
            </a:fld>
            <a:endParaRPr lang="en-US" sz="1100" dirty="0"/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154612" y="3715169"/>
            <a:ext cx="1586214" cy="875425"/>
            <a:chOff x="5154891" y="5423506"/>
            <a:chExt cx="1586060" cy="1165840"/>
          </a:xfrm>
        </p:grpSpPr>
        <p:cxnSp>
          <p:nvCxnSpPr>
            <p:cNvPr id="23" name="Straight Arrow Connector 22"/>
            <p:cNvCxnSpPr/>
            <p:nvPr/>
          </p:nvCxnSpPr>
          <p:spPr>
            <a:xfrm flipV="1">
              <a:off x="5154891" y="5928148"/>
              <a:ext cx="914311" cy="6611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9221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1078741"/>
                </p:ext>
              </p:extLst>
            </p:nvPr>
          </p:nvGraphicFramePr>
          <p:xfrm>
            <a:off x="6089202" y="5423506"/>
            <a:ext cx="651749" cy="591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40" name="Equation" r:id="rId15" imgW="355320" imgH="253800" progId="Equation.DSMT4">
                    <p:embed/>
                  </p:oleObj>
                </mc:Choice>
                <mc:Fallback>
                  <p:oleObj name="Equation" r:id="rId15" imgW="355320" imgH="2538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9202" y="5423506"/>
                          <a:ext cx="651749" cy="59195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Text Box 2"/>
          <p:cNvSpPr txBox="1">
            <a:spLocks noChangeArrowheads="1"/>
          </p:cNvSpPr>
          <p:nvPr/>
        </p:nvSpPr>
        <p:spPr bwMode="auto">
          <a:xfrm>
            <a:off x="3371850" y="136922"/>
            <a:ext cx="18565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itchFamily="34" charset="0"/>
              </a:rPr>
              <a:t>Nuclear Data</a:t>
            </a:r>
          </a:p>
        </p:txBody>
      </p:sp>
      <p:grpSp>
        <p:nvGrpSpPr>
          <p:cNvPr id="10249" name="Group 22"/>
          <p:cNvGrpSpPr>
            <a:grpSpLocks/>
          </p:cNvGrpSpPr>
          <p:nvPr/>
        </p:nvGrpSpPr>
        <p:grpSpPr bwMode="auto">
          <a:xfrm>
            <a:off x="576263" y="997744"/>
            <a:ext cx="7953376" cy="1019176"/>
            <a:chOff x="363" y="838"/>
            <a:chExt cx="5010" cy="856"/>
          </a:xfrm>
        </p:grpSpPr>
        <p:graphicFrame>
          <p:nvGraphicFramePr>
            <p:cNvPr id="10246" name="Object 4"/>
            <p:cNvGraphicFramePr>
              <a:graphicFrameLocks noChangeAspect="1"/>
            </p:cNvGraphicFramePr>
            <p:nvPr/>
          </p:nvGraphicFramePr>
          <p:xfrm>
            <a:off x="363" y="862"/>
            <a:ext cx="913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04" name="Equation" r:id="rId3" imgW="977476" imgH="291973" progId="Equation.DSMT4">
                    <p:embed/>
                  </p:oleObj>
                </mc:Choice>
                <mc:Fallback>
                  <p:oleObj name="Equation" r:id="rId3" imgW="977476" imgH="291973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862"/>
                          <a:ext cx="913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0" name="Rectangle 5"/>
            <p:cNvSpPr>
              <a:spLocks noChangeArrowheads="1"/>
            </p:cNvSpPr>
            <p:nvPr/>
          </p:nvSpPr>
          <p:spPr bwMode="auto">
            <a:xfrm>
              <a:off x="988" y="838"/>
              <a:ext cx="4385" cy="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just"/>
              <a:r>
                <a:rPr lang="en-US" sz="1200" dirty="0">
                  <a:cs typeface="Times New Roman" pitchFamily="18" charset="0"/>
                </a:rPr>
                <a:t>           </a:t>
              </a:r>
              <a:r>
                <a:rPr lang="en-US" sz="2000" dirty="0">
                  <a:cs typeface="Times New Roman" pitchFamily="18" charset="0"/>
                </a:rPr>
                <a:t>Fractional probability of </a:t>
              </a:r>
              <a:r>
                <a:rPr lang="en-US" sz="2000" u="sng" dirty="0">
                  <a:cs typeface="Times New Roman" pitchFamily="18" charset="0"/>
                </a:rPr>
                <a:t>independent</a:t>
              </a:r>
              <a:r>
                <a:rPr lang="en-US" sz="2000" dirty="0">
                  <a:cs typeface="Times New Roman" pitchFamily="18" charset="0"/>
                </a:rPr>
                <a:t> neutron</a:t>
              </a:r>
            </a:p>
            <a:p>
              <a:pPr algn="just"/>
              <a:r>
                <a:rPr lang="en-US" sz="2000" dirty="0">
                  <a:cs typeface="Times New Roman" pitchFamily="18" charset="0"/>
                </a:rPr>
                <a:t>       interactions </a:t>
              </a:r>
              <a:r>
                <a:rPr lang="en-US" sz="2000" i="1" dirty="0">
                  <a:cs typeface="Times New Roman" pitchFamily="18" charset="0"/>
                </a:rPr>
                <a:t>i </a:t>
              </a:r>
              <a:r>
                <a:rPr lang="en-US" sz="2000" dirty="0">
                  <a:cs typeface="Times New Roman" pitchFamily="18" charset="0"/>
                </a:rPr>
                <a:t>with nuclide </a:t>
              </a:r>
              <a:r>
                <a:rPr lang="en-US" sz="2000" i="1" dirty="0">
                  <a:cs typeface="Times New Roman" pitchFamily="18" charset="0"/>
                </a:rPr>
                <a:t>j</a:t>
              </a:r>
              <a:r>
                <a:rPr lang="en-US" sz="2000" dirty="0">
                  <a:cs typeface="Times New Roman" pitchFamily="18" charset="0"/>
                </a:rPr>
                <a:t> per path length of travel</a:t>
              </a:r>
              <a:endParaRPr lang="en-US" sz="2000" dirty="0"/>
            </a:p>
            <a:p>
              <a:pPr algn="just" eaLnBrk="0" hangingPunct="0"/>
              <a:r>
                <a:rPr lang="en-US" sz="2000" dirty="0">
                  <a:cs typeface="Times New Roman" pitchFamily="18" charset="0"/>
                </a:rPr>
                <a:t>      </a:t>
              </a:r>
              <a:endParaRPr lang="en-US" sz="2000" dirty="0"/>
            </a:p>
          </p:txBody>
        </p:sp>
        <p:graphicFrame>
          <p:nvGraphicFramePr>
            <p:cNvPr id="10247" name="Object 6"/>
            <p:cNvGraphicFramePr>
              <a:graphicFrameLocks noChangeAspect="1"/>
            </p:cNvGraphicFramePr>
            <p:nvPr/>
          </p:nvGraphicFramePr>
          <p:xfrm>
            <a:off x="2181" y="1388"/>
            <a:ext cx="129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05" name="Equation" r:id="rId5" imgW="1473120" imgH="241200" progId="Equation.DSMT4">
                    <p:embed/>
                  </p:oleObj>
                </mc:Choice>
                <mc:Fallback>
                  <p:oleObj name="Equation" r:id="rId5" imgW="1473120" imgH="241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1" y="1388"/>
                          <a:ext cx="1296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50" name="Group 23"/>
          <p:cNvGrpSpPr>
            <a:grpSpLocks/>
          </p:cNvGrpSpPr>
          <p:nvPr/>
        </p:nvGrpSpPr>
        <p:grpSpPr bwMode="auto">
          <a:xfrm>
            <a:off x="539751" y="2058593"/>
            <a:ext cx="6524626" cy="819151"/>
            <a:chOff x="340" y="1729"/>
            <a:chExt cx="4110" cy="688"/>
          </a:xfrm>
        </p:grpSpPr>
        <p:graphicFrame>
          <p:nvGraphicFramePr>
            <p:cNvPr id="1024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2071856"/>
                </p:ext>
              </p:extLst>
            </p:nvPr>
          </p:nvGraphicFramePr>
          <p:xfrm>
            <a:off x="340" y="1729"/>
            <a:ext cx="187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06" name="Equation" r:id="rId7" imgW="2158920" imgH="291960" progId="Equation.DSMT4">
                    <p:embed/>
                  </p:oleObj>
                </mc:Choice>
                <mc:Fallback>
                  <p:oleObj name="Equation" r:id="rId7" imgW="2158920" imgH="29196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1729"/>
                          <a:ext cx="1873" cy="3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58" name="Group 9"/>
            <p:cNvGrpSpPr>
              <a:grpSpLocks/>
            </p:cNvGrpSpPr>
            <p:nvPr/>
          </p:nvGrpSpPr>
          <p:grpSpPr bwMode="auto">
            <a:xfrm>
              <a:off x="1112" y="2081"/>
              <a:ext cx="3338" cy="336"/>
              <a:chOff x="458" y="2395"/>
              <a:chExt cx="3338" cy="336"/>
            </a:xfrm>
          </p:grpSpPr>
          <p:graphicFrame>
            <p:nvGraphicFramePr>
              <p:cNvPr id="10245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5074201"/>
                  </p:ext>
                </p:extLst>
              </p:nvPr>
            </p:nvGraphicFramePr>
            <p:xfrm>
              <a:off x="458" y="2477"/>
              <a:ext cx="196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7307" name="Equation" r:id="rId9" imgW="139680" imgH="126720" progId="Equation.DSMT4">
                      <p:embed/>
                    </p:oleObj>
                  </mc:Choice>
                  <mc:Fallback>
                    <p:oleObj name="Equation" r:id="rId9" imgW="139680" imgH="12672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" y="2477"/>
                            <a:ext cx="196" cy="18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59" name="Rectangle 11"/>
              <p:cNvSpPr>
                <a:spLocks noChangeArrowheads="1"/>
              </p:cNvSpPr>
              <p:nvPr/>
            </p:nvSpPr>
            <p:spPr bwMode="auto">
              <a:xfrm>
                <a:off x="646" y="2395"/>
                <a:ext cx="3150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just"/>
                <a:r>
                  <a:rPr lang="en-US" sz="2000" dirty="0">
                    <a:cs typeface="Times New Roman" pitchFamily="18" charset="0"/>
                  </a:rPr>
                  <a:t>Reaction rate for interaction </a:t>
                </a:r>
                <a:r>
                  <a:rPr lang="en-US" sz="2000" i="1" dirty="0">
                    <a:cs typeface="Times New Roman" pitchFamily="18" charset="0"/>
                  </a:rPr>
                  <a:t>i </a:t>
                </a:r>
                <a:r>
                  <a:rPr lang="en-US" sz="2000" dirty="0">
                    <a:cs typeface="Times New Roman" pitchFamily="18" charset="0"/>
                  </a:rPr>
                  <a:t>with nuclide </a:t>
                </a:r>
                <a:r>
                  <a:rPr lang="en-US" sz="2000" i="1" dirty="0">
                    <a:cs typeface="Times New Roman" pitchFamily="18" charset="0"/>
                  </a:rPr>
                  <a:t>j</a:t>
                </a:r>
                <a:endParaRPr lang="en-US" sz="2000" dirty="0"/>
              </a:p>
            </p:txBody>
          </p:sp>
        </p:grpSp>
      </p:grpSp>
      <p:sp>
        <p:nvSpPr>
          <p:cNvPr id="10251" name="Rectangle 12"/>
          <p:cNvSpPr>
            <a:spLocks noChangeArrowheads="1"/>
          </p:cNvSpPr>
          <p:nvPr/>
        </p:nvSpPr>
        <p:spPr bwMode="auto">
          <a:xfrm>
            <a:off x="3162655" y="3632211"/>
            <a:ext cx="169950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1200" dirty="0">
                <a:cs typeface="Times New Roman" pitchFamily="18" charset="0"/>
              </a:rPr>
              <a:t>                                   </a:t>
            </a:r>
            <a:endParaRPr lang="en-US" sz="1600" dirty="0"/>
          </a:p>
        </p:txBody>
      </p:sp>
      <p:sp>
        <p:nvSpPr>
          <p:cNvPr id="10252" name="Text Box 13"/>
          <p:cNvSpPr txBox="1">
            <a:spLocks noChangeArrowheads="1"/>
          </p:cNvSpPr>
          <p:nvPr/>
        </p:nvSpPr>
        <p:spPr bwMode="auto">
          <a:xfrm>
            <a:off x="452439" y="3056335"/>
            <a:ext cx="738375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 </a:t>
            </a:r>
            <a:r>
              <a:rPr lang="en-US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Gives the connection between point-particle physics</a:t>
            </a:r>
          </a:p>
          <a:p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continuum physics</a:t>
            </a:r>
          </a:p>
        </p:txBody>
      </p:sp>
      <p:grpSp>
        <p:nvGrpSpPr>
          <p:cNvPr id="10253" name="Group 21"/>
          <p:cNvGrpSpPr>
            <a:grpSpLocks/>
          </p:cNvGrpSpPr>
          <p:nvPr/>
        </p:nvGrpSpPr>
        <p:grpSpPr bwMode="auto">
          <a:xfrm>
            <a:off x="462639" y="3801669"/>
            <a:ext cx="6988119" cy="1158478"/>
            <a:chOff x="386" y="3111"/>
            <a:chExt cx="4265" cy="973"/>
          </a:xfrm>
        </p:grpSpPr>
        <p:graphicFrame>
          <p:nvGraphicFramePr>
            <p:cNvPr id="10242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8075104"/>
                </p:ext>
              </p:extLst>
            </p:nvPr>
          </p:nvGraphicFramePr>
          <p:xfrm>
            <a:off x="1846" y="3111"/>
            <a:ext cx="2805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08" name="Equation" r:id="rId11" imgW="3479760" imgH="545760" progId="Equation.DSMT4">
                    <p:embed/>
                  </p:oleObj>
                </mc:Choice>
                <mc:Fallback>
                  <p:oleObj name="Equation" r:id="rId11" imgW="3479760" imgH="54576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6" y="3111"/>
                          <a:ext cx="2805" cy="7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Text Box 18"/>
            <p:cNvSpPr txBox="1">
              <a:spLocks noChangeArrowheads="1"/>
            </p:cNvSpPr>
            <p:nvPr/>
          </p:nvSpPr>
          <p:spPr bwMode="auto">
            <a:xfrm>
              <a:off x="386" y="3272"/>
              <a:ext cx="1443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Total cross section:</a:t>
              </a:r>
            </a:p>
          </p:txBody>
        </p:sp>
        <p:graphicFrame>
          <p:nvGraphicFramePr>
            <p:cNvPr id="1024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2619500"/>
                </p:ext>
              </p:extLst>
            </p:nvPr>
          </p:nvGraphicFramePr>
          <p:xfrm>
            <a:off x="1852" y="3722"/>
            <a:ext cx="1871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09" name="Equation" r:id="rId13" imgW="2019240" imgH="253800" progId="Equation.DSMT4">
                    <p:embed/>
                  </p:oleObj>
                </mc:Choice>
                <mc:Fallback>
                  <p:oleObj name="Equation" r:id="rId13" imgW="2019240" imgH="2538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2" y="3722"/>
                          <a:ext cx="1871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54" name="Text Box 20"/>
          <p:cNvSpPr txBox="1">
            <a:spLocks noChangeArrowheads="1"/>
          </p:cNvSpPr>
          <p:nvPr/>
        </p:nvSpPr>
        <p:spPr bwMode="auto">
          <a:xfrm>
            <a:off x="328614" y="473869"/>
            <a:ext cx="36904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 dirty="0"/>
              <a:t>Macroscopic Cross Sections</a:t>
            </a: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FB23CD-C4A8-4690-93FD-DD58B51DE14E}" type="slidenum">
              <a:rPr lang="en-US" sz="1100"/>
              <a:pPr>
                <a:defRPr/>
              </a:pPr>
              <a:t>15</a:t>
            </a:fld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D6BC29C-157D-43B1-BB06-0DE623BE010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9307" y="33618"/>
            <a:ext cx="2148902" cy="9356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D9B5B47-1AC9-44AD-B424-1C5EEF86A86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8946" y="969264"/>
            <a:ext cx="1049263" cy="4457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B887D0-0879-482A-AF3F-FD6D202A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C4243-2A24-4524-8BB6-8409D929A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090" y="987087"/>
            <a:ext cx="4877223" cy="556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D65C04-8691-47C5-8DC6-029214EA5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648" y="532802"/>
            <a:ext cx="1737511" cy="251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8C402E-0647-4F15-A8C5-CD9DC4F43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015" y="1716066"/>
            <a:ext cx="4564650" cy="3141685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475A0E73-140A-421E-BA54-22A918878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24" y="38476"/>
            <a:ext cx="39853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itchFamily="34" charset="0"/>
              </a:rPr>
              <a:t>Nuclear Data - </a:t>
            </a:r>
            <a:r>
              <a:rPr lang="en-US" sz="2000" b="1" dirty="0"/>
              <a:t>Cross Sections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1EED99-71EC-4ACD-BD6F-F562D0CA96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806"/>
          <a:stretch/>
        </p:blipFill>
        <p:spPr>
          <a:xfrm>
            <a:off x="6879313" y="987087"/>
            <a:ext cx="986736" cy="556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32E84E-6EB3-442F-9A41-9E5CA10258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147" y="2498169"/>
            <a:ext cx="3741744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19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2D846-1A1D-4DC8-AF96-77D1539F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65AC3-EE02-453C-907B-0AEDD1C8B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81" y="1340803"/>
            <a:ext cx="1889924" cy="548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CF4C4D-9CBC-4996-AE55-CAB76DC0DBB3}"/>
              </a:ext>
            </a:extLst>
          </p:cNvPr>
          <p:cNvSpPr txBox="1"/>
          <p:nvPr/>
        </p:nvSpPr>
        <p:spPr>
          <a:xfrm>
            <a:off x="2213317" y="607723"/>
            <a:ext cx="4214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Integral (microscopic) cross-section</a:t>
            </a:r>
            <a:endParaRPr lang="en-IL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4FEB-C1A3-4F59-B01D-4D5C59A5BC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37" t="6493"/>
          <a:stretch/>
        </p:blipFill>
        <p:spPr>
          <a:xfrm>
            <a:off x="2450205" y="1340803"/>
            <a:ext cx="1088310" cy="548688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A374C2A3-5E75-4622-BAC4-D032BEF68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1524" y="38476"/>
            <a:ext cx="39853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Tahoma" pitchFamily="34" charset="0"/>
              </a:rPr>
              <a:t>Nuclear Data - </a:t>
            </a:r>
            <a:r>
              <a:rPr lang="en-US" sz="2000" b="1" dirty="0"/>
              <a:t>Cross Sections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F053A9-5B53-4E76-9977-C75EEF99D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812" y="1300044"/>
            <a:ext cx="1767993" cy="281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85D044-DF28-4BF5-9123-E46522947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609" y="1701922"/>
            <a:ext cx="4747671" cy="138696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F0A233D-DF55-45F8-B90C-1D96C117791D}"/>
              </a:ext>
            </a:extLst>
          </p:cNvPr>
          <p:cNvGrpSpPr/>
          <p:nvPr/>
        </p:nvGrpSpPr>
        <p:grpSpPr>
          <a:xfrm>
            <a:off x="1284444" y="3483780"/>
            <a:ext cx="5022016" cy="605843"/>
            <a:chOff x="435697" y="3483780"/>
            <a:chExt cx="5022016" cy="60584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44296C9-F8D0-4F44-9407-0634D01F21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9433" b="-9435"/>
            <a:stretch/>
          </p:blipFill>
          <p:spPr>
            <a:xfrm>
              <a:off x="435697" y="3483780"/>
              <a:ext cx="2476715" cy="60584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C978E35-402E-42A8-B48F-985D8C428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12412" y="3483780"/>
              <a:ext cx="1379340" cy="54868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BA39268-7C05-420A-891E-2FBA4F95BF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697"/>
            <a:stretch/>
          </p:blipFill>
          <p:spPr>
            <a:xfrm>
              <a:off x="4291752" y="3488788"/>
              <a:ext cx="1165961" cy="5504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6352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371600" y="2915841"/>
          <a:ext cx="5378451" cy="816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4" name="Equation" r:id="rId3" imgW="3835080" imgH="533160" progId="Equation.DSMT4">
                  <p:embed/>
                </p:oleObj>
              </mc:Choice>
              <mc:Fallback>
                <p:oleObj name="Equation" r:id="rId3" imgW="3835080" imgH="5331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915841"/>
                        <a:ext cx="5378451" cy="8167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3"/>
          <p:cNvSpPr>
            <a:spLocks noChangeArrowheads="1"/>
          </p:cNvSpPr>
          <p:nvPr/>
        </p:nvSpPr>
        <p:spPr bwMode="auto">
          <a:xfrm>
            <a:off x="2146116" y="3682275"/>
            <a:ext cx="6242415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just"/>
            <a:r>
              <a:rPr lang="en-US" sz="2000" dirty="0">
                <a:cs typeface="Times New Roman" pitchFamily="18" charset="0"/>
              </a:rPr>
              <a:t>Fractional probability of a fission neutron isotropically</a:t>
            </a:r>
          </a:p>
          <a:p>
            <a:pPr algn="just"/>
            <a:r>
              <a:rPr lang="en-US" sz="2000" dirty="0">
                <a:cs typeface="Times New Roman" pitchFamily="18" charset="0"/>
              </a:rPr>
              <a:t>appearing in the direction range         </a:t>
            </a:r>
            <a:r>
              <a:rPr lang="en-US" sz="2000" dirty="0"/>
              <a:t>and energy </a:t>
            </a:r>
          </a:p>
          <a:p>
            <a:pPr algn="just"/>
            <a:r>
              <a:rPr lang="en-US" sz="2000" dirty="0"/>
              <a:t>range </a:t>
            </a:r>
          </a:p>
          <a:p>
            <a:pPr algn="just"/>
            <a:endParaRPr lang="en-US" sz="2000" dirty="0"/>
          </a:p>
        </p:txBody>
      </p:sp>
      <p:graphicFrame>
        <p:nvGraphicFramePr>
          <p:cNvPr id="112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110687"/>
              </p:ext>
            </p:extLst>
          </p:nvPr>
        </p:nvGraphicFramePr>
        <p:xfrm>
          <a:off x="5866607" y="4066787"/>
          <a:ext cx="571500" cy="27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5" name="Equation" r:id="rId5" imgW="317225" imgH="190335" progId="Equation.DSMT4">
                  <p:embed/>
                </p:oleObj>
              </mc:Choice>
              <mc:Fallback>
                <p:oleObj name="Equation" r:id="rId5" imgW="317225" imgH="19033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6607" y="4066787"/>
                        <a:ext cx="571500" cy="2738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5"/>
          <p:cNvGraphicFramePr>
            <a:graphicFrameLocks noChangeAspect="1"/>
          </p:cNvGraphicFramePr>
          <p:nvPr/>
        </p:nvGraphicFramePr>
        <p:xfrm>
          <a:off x="2930299" y="4342551"/>
          <a:ext cx="601662" cy="288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6" name="Equation" r:id="rId7" imgW="291973" imgH="190417" progId="Equation.DSMT4">
                  <p:embed/>
                </p:oleObj>
              </mc:Choice>
              <mc:Fallback>
                <p:oleObj name="Equation" r:id="rId7" imgW="291973" imgH="1904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299" y="4342551"/>
                        <a:ext cx="601662" cy="2881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473154"/>
              </p:ext>
            </p:extLst>
          </p:nvPr>
        </p:nvGraphicFramePr>
        <p:xfrm>
          <a:off x="1923143" y="3806939"/>
          <a:ext cx="268288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7" name="Equation" r:id="rId9" imgW="152280" imgH="139680" progId="Equation.DSMT4">
                  <p:embed/>
                </p:oleObj>
              </mc:Choice>
              <mc:Fallback>
                <p:oleObj name="Equation" r:id="rId9" imgW="152280" imgH="1396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3143" y="3806939"/>
                        <a:ext cx="268288" cy="20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403039"/>
              </p:ext>
            </p:extLst>
          </p:nvPr>
        </p:nvGraphicFramePr>
        <p:xfrm>
          <a:off x="3941354" y="4313318"/>
          <a:ext cx="1317400" cy="748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8" name="Equation" r:id="rId11" imgW="1040948" imgH="520474" progId="Equation.DSMT4">
                  <p:embed/>
                </p:oleObj>
              </mc:Choice>
              <mc:Fallback>
                <p:oleObj name="Equation" r:id="rId11" imgW="1040948" imgH="52047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354" y="4313318"/>
                        <a:ext cx="1317400" cy="748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861212"/>
              </p:ext>
            </p:extLst>
          </p:nvPr>
        </p:nvGraphicFramePr>
        <p:xfrm>
          <a:off x="681675" y="544116"/>
          <a:ext cx="314937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9" name="Equation" r:id="rId13" imgW="2247840" imgH="291960" progId="Equation.DSMT4">
                  <p:embed/>
                </p:oleObj>
              </mc:Choice>
              <mc:Fallback>
                <p:oleObj name="Equation" r:id="rId13" imgW="2247840" imgH="2919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5" y="544116"/>
                        <a:ext cx="3149372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9" name="Group 23"/>
          <p:cNvGrpSpPr>
            <a:grpSpLocks/>
          </p:cNvGrpSpPr>
          <p:nvPr/>
        </p:nvGrpSpPr>
        <p:grpSpPr bwMode="auto">
          <a:xfrm>
            <a:off x="2041889" y="810019"/>
            <a:ext cx="5971194" cy="1015663"/>
            <a:chOff x="1967469" y="1094528"/>
            <a:chExt cx="5972253" cy="1354418"/>
          </a:xfrm>
        </p:grpSpPr>
        <p:grpSp>
          <p:nvGrpSpPr>
            <p:cNvPr id="11289" name="Group 21"/>
            <p:cNvGrpSpPr>
              <a:grpSpLocks/>
            </p:cNvGrpSpPr>
            <p:nvPr/>
          </p:nvGrpSpPr>
          <p:grpSpPr bwMode="auto">
            <a:xfrm>
              <a:off x="1967469" y="1094528"/>
              <a:ext cx="5972253" cy="1354418"/>
              <a:chOff x="1967469" y="1094528"/>
              <a:chExt cx="5972253" cy="1354418"/>
            </a:xfrm>
          </p:grpSpPr>
          <p:grpSp>
            <p:nvGrpSpPr>
              <p:cNvPr id="11290" name="Group 20"/>
              <p:cNvGrpSpPr>
                <a:grpSpLocks/>
              </p:cNvGrpSpPr>
              <p:nvPr/>
            </p:nvGrpSpPr>
            <p:grpSpPr bwMode="auto">
              <a:xfrm>
                <a:off x="1967469" y="1094528"/>
                <a:ext cx="5972253" cy="1354418"/>
                <a:chOff x="1425028" y="1094528"/>
                <a:chExt cx="5972253" cy="1354418"/>
              </a:xfrm>
            </p:grpSpPr>
            <p:sp>
              <p:nvSpPr>
                <p:cNvPr id="11291" name="Rectangle 8"/>
                <p:cNvSpPr>
                  <a:spLocks noChangeArrowheads="1"/>
                </p:cNvSpPr>
                <p:nvPr/>
              </p:nvSpPr>
              <p:spPr bwMode="auto">
                <a:xfrm>
                  <a:off x="1686051" y="1094528"/>
                  <a:ext cx="5711230" cy="13544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just"/>
                  <a:r>
                    <a:rPr lang="en-US" sz="2000" dirty="0">
                      <a:cs typeface="Times New Roman" pitchFamily="18" charset="0"/>
                    </a:rPr>
                    <a:t>Fractional probability of scattering from direction </a:t>
                  </a:r>
                  <a:endParaRPr lang="en-US" sz="2000" dirty="0"/>
                </a:p>
                <a:p>
                  <a:pPr algn="just" eaLnBrk="0" hangingPunct="0"/>
                  <a:r>
                    <a:rPr lang="en-US" sz="2000" dirty="0"/>
                    <a:t>      and energy        to direction range         and </a:t>
                  </a:r>
                </a:p>
                <a:p>
                  <a:pPr algn="just" eaLnBrk="0" hangingPunct="0"/>
                  <a:r>
                    <a:rPr lang="en-US" sz="2000" dirty="0"/>
                    <a:t>energy range</a:t>
                  </a:r>
                </a:p>
              </p:txBody>
            </p:sp>
            <p:graphicFrame>
              <p:nvGraphicFramePr>
                <p:cNvPr id="11275" name="Object 1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81473178"/>
                    </p:ext>
                  </p:extLst>
                </p:nvPr>
              </p:nvGraphicFramePr>
              <p:xfrm>
                <a:off x="1765071" y="1614781"/>
                <a:ext cx="436563" cy="349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8660" name="Equation" r:id="rId15" imgW="241195" imgH="190417" progId="Equation.DSMT4">
                        <p:embed/>
                      </p:oleObj>
                    </mc:Choice>
                    <mc:Fallback>
                      <p:oleObj name="Equation" r:id="rId15" imgW="241195" imgH="190417" progId="Equation.DSMT4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65071" y="1614781"/>
                              <a:ext cx="436563" cy="34925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276" name="Object 1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20585321"/>
                    </p:ext>
                  </p:extLst>
                </p:nvPr>
              </p:nvGraphicFramePr>
              <p:xfrm>
                <a:off x="6002518" y="1604686"/>
                <a:ext cx="661988" cy="3429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8661" name="Equation" r:id="rId17" imgW="317225" imgH="190335" progId="Equation.DSMT4">
                        <p:embed/>
                      </p:oleObj>
                    </mc:Choice>
                    <mc:Fallback>
                      <p:oleObj name="Equation" r:id="rId17" imgW="317225" imgH="190335" progId="Equation.DSMT4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02518" y="1604686"/>
                              <a:ext cx="661988" cy="3429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277" name="Object 1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06831202"/>
                    </p:ext>
                  </p:extLst>
                </p:nvPr>
              </p:nvGraphicFramePr>
              <p:xfrm>
                <a:off x="1425028" y="1263430"/>
                <a:ext cx="269875" cy="2365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8662" name="Equation" r:id="rId19" imgW="139680" imgH="126720" progId="Equation.DSMT4">
                        <p:embed/>
                      </p:oleObj>
                    </mc:Choice>
                    <mc:Fallback>
                      <p:oleObj name="Equation" r:id="rId19" imgW="139680" imgH="126720" progId="Equation.DSMT4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25028" y="1263430"/>
                              <a:ext cx="269875" cy="2365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1274" name="Object 11"/>
              <p:cNvGraphicFramePr>
                <a:graphicFrameLocks noChangeAspect="1"/>
              </p:cNvGraphicFramePr>
              <p:nvPr/>
            </p:nvGraphicFramePr>
            <p:xfrm>
              <a:off x="4080459" y="1593871"/>
              <a:ext cx="444500" cy="3714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663" name="Equation" r:id="rId21" imgW="228600" imgH="203040" progId="Equation.DSMT4">
                      <p:embed/>
                    </p:oleObj>
                  </mc:Choice>
                  <mc:Fallback>
                    <p:oleObj name="Equation" r:id="rId21" imgW="228600" imgH="20304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459" y="1593871"/>
                            <a:ext cx="444500" cy="3714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27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2851544"/>
                </p:ext>
              </p:extLst>
            </p:nvPr>
          </p:nvGraphicFramePr>
          <p:xfrm>
            <a:off x="3839159" y="1991776"/>
            <a:ext cx="482600" cy="355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664" name="Equation" r:id="rId23" imgW="291973" imgH="190417" progId="Equation.DSMT4">
                    <p:embed/>
                  </p:oleObj>
                </mc:Choice>
                <mc:Fallback>
                  <p:oleObj name="Equation" r:id="rId23" imgW="291973" imgH="190417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9159" y="1991776"/>
                          <a:ext cx="482600" cy="3555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72" name="Object 15"/>
          <p:cNvGraphicFramePr>
            <a:graphicFrameLocks noChangeAspect="1"/>
          </p:cNvGraphicFramePr>
          <p:nvPr/>
        </p:nvGraphicFramePr>
        <p:xfrm>
          <a:off x="1349829" y="1797844"/>
          <a:ext cx="2876096" cy="789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65" name="Equation" r:id="rId25" imgW="2514600" imgH="571320" progId="Equation.DSMT4">
                  <p:embed/>
                </p:oleObj>
              </mc:Choice>
              <mc:Fallback>
                <p:oleObj name="Equation" r:id="rId25" imgW="2514600" imgH="5713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829" y="1797844"/>
                        <a:ext cx="2876096" cy="7893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4328432" y="1961503"/>
            <a:ext cx="34335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Assume rotational invariance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493033" y="160054"/>
            <a:ext cx="200728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 dirty="0"/>
              <a:t>Scattering Law</a:t>
            </a: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490538" y="2674144"/>
            <a:ext cx="16514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 dirty="0"/>
              <a:t>Fission Law</a:t>
            </a: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3C4BA2-D604-4522-828F-D10DD888A630}" type="slidenum">
              <a:rPr lang="en-US" sz="1100"/>
              <a:pPr>
                <a:defRPr/>
              </a:pPr>
              <a:t>18</a:t>
            </a:fld>
            <a:endParaRPr lang="en-US" sz="1100" dirty="0"/>
          </a:p>
        </p:txBody>
      </p:sp>
      <p:sp>
        <p:nvSpPr>
          <p:cNvPr id="11285" name="TextBox 23"/>
          <p:cNvSpPr txBox="1">
            <a:spLocks noChangeArrowheads="1"/>
          </p:cNvSpPr>
          <p:nvPr/>
        </p:nvSpPr>
        <p:spPr bwMode="auto">
          <a:xfrm>
            <a:off x="4053206" y="1416130"/>
            <a:ext cx="33828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   (differential scattering law)</a:t>
            </a: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5148917" y="2466005"/>
            <a:ext cx="3390672" cy="1299943"/>
            <a:chOff x="5150113" y="3287645"/>
            <a:chExt cx="3390040" cy="1733805"/>
          </a:xfrm>
        </p:grpSpPr>
        <p:cxnSp>
          <p:nvCxnSpPr>
            <p:cNvPr id="26" name="Straight Arrow Connector 25"/>
            <p:cNvCxnSpPr/>
            <p:nvPr/>
          </p:nvCxnSpPr>
          <p:spPr>
            <a:xfrm rot="5400000" flipH="1" flipV="1">
              <a:off x="5525311" y="3773592"/>
              <a:ext cx="1256110" cy="123960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88" name="TextBox 26"/>
            <p:cNvSpPr txBox="1">
              <a:spLocks noChangeArrowheads="1"/>
            </p:cNvSpPr>
            <p:nvPr/>
          </p:nvSpPr>
          <p:spPr bwMode="auto">
            <a:xfrm>
              <a:off x="5150113" y="3287645"/>
              <a:ext cx="3390040" cy="533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isotropic emission on fission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5747CC0-6D0B-47AF-84F4-28CC3D06470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814" y="3590041"/>
            <a:ext cx="1237759" cy="150117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2" name="Group 56"/>
          <p:cNvGrpSpPr>
            <a:grpSpLocks/>
          </p:cNvGrpSpPr>
          <p:nvPr/>
        </p:nvGrpSpPr>
        <p:grpSpPr bwMode="auto">
          <a:xfrm>
            <a:off x="2678113" y="1203723"/>
            <a:ext cx="3783012" cy="1721644"/>
            <a:chOff x="1687" y="1011"/>
            <a:chExt cx="2383" cy="1446"/>
          </a:xfrm>
        </p:grpSpPr>
        <p:sp>
          <p:nvSpPr>
            <p:cNvPr id="12339" name="Freeform 3"/>
            <p:cNvSpPr>
              <a:spLocks/>
            </p:cNvSpPr>
            <p:nvPr/>
          </p:nvSpPr>
          <p:spPr bwMode="auto">
            <a:xfrm>
              <a:off x="1687" y="1011"/>
              <a:ext cx="2383" cy="1446"/>
            </a:xfrm>
            <a:custGeom>
              <a:avLst/>
              <a:gdLst>
                <a:gd name="T0" fmla="*/ 0 w 19860"/>
                <a:gd name="T1" fmla="*/ 0 h 12050"/>
                <a:gd name="T2" fmla="*/ 0 w 19860"/>
                <a:gd name="T3" fmla="*/ 0 h 12050"/>
                <a:gd name="T4" fmla="*/ 0 w 19860"/>
                <a:gd name="T5" fmla="*/ 0 h 12050"/>
                <a:gd name="T6" fmla="*/ 0 w 19860"/>
                <a:gd name="T7" fmla="*/ 0 h 12050"/>
                <a:gd name="T8" fmla="*/ 0 w 19860"/>
                <a:gd name="T9" fmla="*/ 0 h 12050"/>
                <a:gd name="T10" fmla="*/ 0 w 19860"/>
                <a:gd name="T11" fmla="*/ 0 h 12050"/>
                <a:gd name="T12" fmla="*/ 0 w 19860"/>
                <a:gd name="T13" fmla="*/ 0 h 12050"/>
                <a:gd name="T14" fmla="*/ 0 w 19860"/>
                <a:gd name="T15" fmla="*/ 0 h 12050"/>
                <a:gd name="T16" fmla="*/ 0 w 19860"/>
                <a:gd name="T17" fmla="*/ 0 h 12050"/>
                <a:gd name="T18" fmla="*/ 0 w 19860"/>
                <a:gd name="T19" fmla="*/ 0 h 12050"/>
                <a:gd name="T20" fmla="*/ 0 w 19860"/>
                <a:gd name="T21" fmla="*/ 0 h 12050"/>
                <a:gd name="T22" fmla="*/ 0 w 19860"/>
                <a:gd name="T23" fmla="*/ 0 h 12050"/>
                <a:gd name="T24" fmla="*/ 0 w 19860"/>
                <a:gd name="T25" fmla="*/ 0 h 12050"/>
                <a:gd name="T26" fmla="*/ 0 w 19860"/>
                <a:gd name="T27" fmla="*/ 0 h 12050"/>
                <a:gd name="T28" fmla="*/ 0 w 19860"/>
                <a:gd name="T29" fmla="*/ 0 h 12050"/>
                <a:gd name="T30" fmla="*/ 0 w 19860"/>
                <a:gd name="T31" fmla="*/ 0 h 12050"/>
                <a:gd name="T32" fmla="*/ 0 w 19860"/>
                <a:gd name="T33" fmla="*/ 0 h 12050"/>
                <a:gd name="T34" fmla="*/ 0 w 19860"/>
                <a:gd name="T35" fmla="*/ 0 h 12050"/>
                <a:gd name="T36" fmla="*/ 0 w 19860"/>
                <a:gd name="T37" fmla="*/ 0 h 12050"/>
                <a:gd name="T38" fmla="*/ 0 w 19860"/>
                <a:gd name="T39" fmla="*/ 0 h 12050"/>
                <a:gd name="T40" fmla="*/ 0 w 19860"/>
                <a:gd name="T41" fmla="*/ 0 h 12050"/>
                <a:gd name="T42" fmla="*/ 0 w 19860"/>
                <a:gd name="T43" fmla="*/ 0 h 12050"/>
                <a:gd name="T44" fmla="*/ 0 w 19860"/>
                <a:gd name="T45" fmla="*/ 0 h 12050"/>
                <a:gd name="T46" fmla="*/ 0 w 19860"/>
                <a:gd name="T47" fmla="*/ 0 h 12050"/>
                <a:gd name="T48" fmla="*/ 0 w 19860"/>
                <a:gd name="T49" fmla="*/ 0 h 12050"/>
                <a:gd name="T50" fmla="*/ 0 w 19860"/>
                <a:gd name="T51" fmla="*/ 0 h 12050"/>
                <a:gd name="T52" fmla="*/ 0 w 19860"/>
                <a:gd name="T53" fmla="*/ 0 h 12050"/>
                <a:gd name="T54" fmla="*/ 0 w 19860"/>
                <a:gd name="T55" fmla="*/ 0 h 12050"/>
                <a:gd name="T56" fmla="*/ 0 w 19860"/>
                <a:gd name="T57" fmla="*/ 0 h 12050"/>
                <a:gd name="T58" fmla="*/ 0 w 19860"/>
                <a:gd name="T59" fmla="*/ 0 h 12050"/>
                <a:gd name="T60" fmla="*/ 0 w 19860"/>
                <a:gd name="T61" fmla="*/ 0 h 12050"/>
                <a:gd name="T62" fmla="*/ 0 w 19860"/>
                <a:gd name="T63" fmla="*/ 0 h 12050"/>
                <a:gd name="T64" fmla="*/ 0 w 19860"/>
                <a:gd name="T65" fmla="*/ 0 h 1205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9860"/>
                <a:gd name="T100" fmla="*/ 0 h 12050"/>
                <a:gd name="T101" fmla="*/ 19860 w 19860"/>
                <a:gd name="T102" fmla="*/ 12050 h 1205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9860" h="12050">
                  <a:moveTo>
                    <a:pt x="5910" y="250"/>
                  </a:moveTo>
                  <a:cubicBezTo>
                    <a:pt x="5843" y="263"/>
                    <a:pt x="5540" y="320"/>
                    <a:pt x="5460" y="350"/>
                  </a:cubicBezTo>
                  <a:cubicBezTo>
                    <a:pt x="5390" y="377"/>
                    <a:pt x="5330" y="427"/>
                    <a:pt x="5260" y="450"/>
                  </a:cubicBezTo>
                  <a:cubicBezTo>
                    <a:pt x="5006" y="533"/>
                    <a:pt x="4723" y="583"/>
                    <a:pt x="4460" y="650"/>
                  </a:cubicBezTo>
                  <a:cubicBezTo>
                    <a:pt x="4386" y="667"/>
                    <a:pt x="4330" y="723"/>
                    <a:pt x="4260" y="750"/>
                  </a:cubicBezTo>
                  <a:cubicBezTo>
                    <a:pt x="4056" y="830"/>
                    <a:pt x="3956" y="850"/>
                    <a:pt x="3760" y="900"/>
                  </a:cubicBezTo>
                  <a:cubicBezTo>
                    <a:pt x="3693" y="950"/>
                    <a:pt x="3633" y="1013"/>
                    <a:pt x="3560" y="1050"/>
                  </a:cubicBezTo>
                  <a:cubicBezTo>
                    <a:pt x="3500" y="1080"/>
                    <a:pt x="3426" y="1080"/>
                    <a:pt x="3360" y="1100"/>
                  </a:cubicBezTo>
                  <a:cubicBezTo>
                    <a:pt x="3066" y="1183"/>
                    <a:pt x="3353" y="1103"/>
                    <a:pt x="3060" y="1250"/>
                  </a:cubicBezTo>
                  <a:cubicBezTo>
                    <a:pt x="3013" y="1273"/>
                    <a:pt x="2956" y="1273"/>
                    <a:pt x="2910" y="1300"/>
                  </a:cubicBezTo>
                  <a:cubicBezTo>
                    <a:pt x="2753" y="1387"/>
                    <a:pt x="2610" y="1500"/>
                    <a:pt x="2460" y="1600"/>
                  </a:cubicBezTo>
                  <a:cubicBezTo>
                    <a:pt x="2410" y="1633"/>
                    <a:pt x="2310" y="1700"/>
                    <a:pt x="2310" y="1700"/>
                  </a:cubicBezTo>
                  <a:cubicBezTo>
                    <a:pt x="2166" y="1917"/>
                    <a:pt x="2043" y="1897"/>
                    <a:pt x="1860" y="2050"/>
                  </a:cubicBezTo>
                  <a:cubicBezTo>
                    <a:pt x="1713" y="2173"/>
                    <a:pt x="1533" y="2303"/>
                    <a:pt x="1410" y="2450"/>
                  </a:cubicBezTo>
                  <a:cubicBezTo>
                    <a:pt x="1356" y="2513"/>
                    <a:pt x="1320" y="2590"/>
                    <a:pt x="1260" y="2650"/>
                  </a:cubicBezTo>
                  <a:cubicBezTo>
                    <a:pt x="863" y="3047"/>
                    <a:pt x="1236" y="2570"/>
                    <a:pt x="910" y="2950"/>
                  </a:cubicBezTo>
                  <a:cubicBezTo>
                    <a:pt x="516" y="3410"/>
                    <a:pt x="416" y="3787"/>
                    <a:pt x="160" y="4300"/>
                  </a:cubicBezTo>
                  <a:cubicBezTo>
                    <a:pt x="10" y="5043"/>
                    <a:pt x="0" y="4887"/>
                    <a:pt x="110" y="5900"/>
                  </a:cubicBezTo>
                  <a:cubicBezTo>
                    <a:pt x="143" y="6197"/>
                    <a:pt x="383" y="6497"/>
                    <a:pt x="510" y="6750"/>
                  </a:cubicBezTo>
                  <a:cubicBezTo>
                    <a:pt x="610" y="6950"/>
                    <a:pt x="613" y="7067"/>
                    <a:pt x="810" y="7200"/>
                  </a:cubicBezTo>
                  <a:cubicBezTo>
                    <a:pt x="996" y="7577"/>
                    <a:pt x="1256" y="7917"/>
                    <a:pt x="1610" y="8150"/>
                  </a:cubicBezTo>
                  <a:cubicBezTo>
                    <a:pt x="1750" y="8430"/>
                    <a:pt x="1936" y="8500"/>
                    <a:pt x="2160" y="8700"/>
                  </a:cubicBezTo>
                  <a:cubicBezTo>
                    <a:pt x="2413" y="8927"/>
                    <a:pt x="2563" y="9087"/>
                    <a:pt x="2860" y="9250"/>
                  </a:cubicBezTo>
                  <a:cubicBezTo>
                    <a:pt x="3076" y="9370"/>
                    <a:pt x="3343" y="9430"/>
                    <a:pt x="3560" y="9550"/>
                  </a:cubicBezTo>
                  <a:cubicBezTo>
                    <a:pt x="3633" y="9590"/>
                    <a:pt x="3686" y="9660"/>
                    <a:pt x="3760" y="9700"/>
                  </a:cubicBezTo>
                  <a:cubicBezTo>
                    <a:pt x="4030" y="9850"/>
                    <a:pt x="4360" y="9973"/>
                    <a:pt x="4660" y="10050"/>
                  </a:cubicBezTo>
                  <a:cubicBezTo>
                    <a:pt x="4850" y="10177"/>
                    <a:pt x="4980" y="10203"/>
                    <a:pt x="5210" y="10250"/>
                  </a:cubicBezTo>
                  <a:cubicBezTo>
                    <a:pt x="6020" y="10653"/>
                    <a:pt x="7020" y="10877"/>
                    <a:pt x="7910" y="10950"/>
                  </a:cubicBezTo>
                  <a:cubicBezTo>
                    <a:pt x="8566" y="11113"/>
                    <a:pt x="9090" y="11120"/>
                    <a:pt x="9810" y="11150"/>
                  </a:cubicBezTo>
                  <a:cubicBezTo>
                    <a:pt x="10253" y="11190"/>
                    <a:pt x="10666" y="11260"/>
                    <a:pt x="11110" y="11300"/>
                  </a:cubicBezTo>
                  <a:cubicBezTo>
                    <a:pt x="11606" y="11423"/>
                    <a:pt x="11996" y="11507"/>
                    <a:pt x="12510" y="11550"/>
                  </a:cubicBezTo>
                  <a:cubicBezTo>
                    <a:pt x="12983" y="11707"/>
                    <a:pt x="13463" y="11800"/>
                    <a:pt x="13960" y="11850"/>
                  </a:cubicBezTo>
                  <a:cubicBezTo>
                    <a:pt x="14320" y="11970"/>
                    <a:pt x="13893" y="11840"/>
                    <a:pt x="14610" y="11950"/>
                  </a:cubicBezTo>
                  <a:cubicBezTo>
                    <a:pt x="14663" y="11957"/>
                    <a:pt x="14706" y="11990"/>
                    <a:pt x="14760" y="12000"/>
                  </a:cubicBezTo>
                  <a:cubicBezTo>
                    <a:pt x="14910" y="12023"/>
                    <a:pt x="15060" y="12033"/>
                    <a:pt x="15210" y="12050"/>
                  </a:cubicBezTo>
                  <a:cubicBezTo>
                    <a:pt x="15760" y="12033"/>
                    <a:pt x="16310" y="12030"/>
                    <a:pt x="16860" y="12000"/>
                  </a:cubicBezTo>
                  <a:cubicBezTo>
                    <a:pt x="17050" y="11990"/>
                    <a:pt x="17393" y="11867"/>
                    <a:pt x="17510" y="11750"/>
                  </a:cubicBezTo>
                  <a:cubicBezTo>
                    <a:pt x="17560" y="11700"/>
                    <a:pt x="17600" y="11637"/>
                    <a:pt x="17660" y="11600"/>
                  </a:cubicBezTo>
                  <a:cubicBezTo>
                    <a:pt x="17796" y="11520"/>
                    <a:pt x="17973" y="11527"/>
                    <a:pt x="18110" y="11450"/>
                  </a:cubicBezTo>
                  <a:cubicBezTo>
                    <a:pt x="18303" y="11343"/>
                    <a:pt x="18460" y="11200"/>
                    <a:pt x="18660" y="11100"/>
                  </a:cubicBezTo>
                  <a:cubicBezTo>
                    <a:pt x="18786" y="10913"/>
                    <a:pt x="18943" y="10840"/>
                    <a:pt x="19110" y="10700"/>
                  </a:cubicBezTo>
                  <a:cubicBezTo>
                    <a:pt x="19493" y="10380"/>
                    <a:pt x="19036" y="10697"/>
                    <a:pt x="19410" y="10450"/>
                  </a:cubicBezTo>
                  <a:cubicBezTo>
                    <a:pt x="19470" y="10267"/>
                    <a:pt x="19586" y="10130"/>
                    <a:pt x="19660" y="9950"/>
                  </a:cubicBezTo>
                  <a:cubicBezTo>
                    <a:pt x="19840" y="9503"/>
                    <a:pt x="19666" y="9790"/>
                    <a:pt x="19860" y="9500"/>
                  </a:cubicBezTo>
                  <a:cubicBezTo>
                    <a:pt x="19843" y="9133"/>
                    <a:pt x="19840" y="8767"/>
                    <a:pt x="19810" y="8400"/>
                  </a:cubicBezTo>
                  <a:cubicBezTo>
                    <a:pt x="19793" y="8173"/>
                    <a:pt x="19670" y="7913"/>
                    <a:pt x="19610" y="7700"/>
                  </a:cubicBezTo>
                  <a:cubicBezTo>
                    <a:pt x="19516" y="7373"/>
                    <a:pt x="19463" y="7057"/>
                    <a:pt x="19310" y="6750"/>
                  </a:cubicBezTo>
                  <a:cubicBezTo>
                    <a:pt x="19230" y="6357"/>
                    <a:pt x="19163" y="6060"/>
                    <a:pt x="19010" y="5700"/>
                  </a:cubicBezTo>
                  <a:cubicBezTo>
                    <a:pt x="18870" y="5373"/>
                    <a:pt x="18820" y="5060"/>
                    <a:pt x="18560" y="4800"/>
                  </a:cubicBezTo>
                  <a:cubicBezTo>
                    <a:pt x="18473" y="4370"/>
                    <a:pt x="18336" y="4390"/>
                    <a:pt x="18110" y="4050"/>
                  </a:cubicBezTo>
                  <a:cubicBezTo>
                    <a:pt x="18023" y="3920"/>
                    <a:pt x="17943" y="3783"/>
                    <a:pt x="17860" y="3650"/>
                  </a:cubicBezTo>
                  <a:cubicBezTo>
                    <a:pt x="17820" y="3587"/>
                    <a:pt x="17720" y="3593"/>
                    <a:pt x="17660" y="3550"/>
                  </a:cubicBezTo>
                  <a:cubicBezTo>
                    <a:pt x="17193" y="3200"/>
                    <a:pt x="17716" y="3487"/>
                    <a:pt x="17260" y="3200"/>
                  </a:cubicBezTo>
                  <a:cubicBezTo>
                    <a:pt x="16936" y="2997"/>
                    <a:pt x="17183" y="3203"/>
                    <a:pt x="16810" y="3000"/>
                  </a:cubicBezTo>
                  <a:cubicBezTo>
                    <a:pt x="16306" y="2727"/>
                    <a:pt x="16710" y="2850"/>
                    <a:pt x="16310" y="2750"/>
                  </a:cubicBezTo>
                  <a:cubicBezTo>
                    <a:pt x="16120" y="2623"/>
                    <a:pt x="15990" y="2597"/>
                    <a:pt x="15760" y="2550"/>
                  </a:cubicBezTo>
                  <a:cubicBezTo>
                    <a:pt x="15320" y="2257"/>
                    <a:pt x="16023" y="2707"/>
                    <a:pt x="15310" y="2350"/>
                  </a:cubicBezTo>
                  <a:cubicBezTo>
                    <a:pt x="14993" y="2193"/>
                    <a:pt x="14650" y="1987"/>
                    <a:pt x="14310" y="1900"/>
                  </a:cubicBezTo>
                  <a:cubicBezTo>
                    <a:pt x="13903" y="1593"/>
                    <a:pt x="14250" y="1800"/>
                    <a:pt x="13410" y="1700"/>
                  </a:cubicBezTo>
                  <a:cubicBezTo>
                    <a:pt x="13113" y="1663"/>
                    <a:pt x="12836" y="1503"/>
                    <a:pt x="12560" y="1400"/>
                  </a:cubicBezTo>
                  <a:cubicBezTo>
                    <a:pt x="12320" y="1310"/>
                    <a:pt x="12083" y="1223"/>
                    <a:pt x="11860" y="1100"/>
                  </a:cubicBezTo>
                  <a:cubicBezTo>
                    <a:pt x="11343" y="813"/>
                    <a:pt x="11750" y="963"/>
                    <a:pt x="11410" y="850"/>
                  </a:cubicBezTo>
                  <a:cubicBezTo>
                    <a:pt x="10526" y="187"/>
                    <a:pt x="9370" y="150"/>
                    <a:pt x="8310" y="0"/>
                  </a:cubicBezTo>
                  <a:cubicBezTo>
                    <a:pt x="7726" y="17"/>
                    <a:pt x="7143" y="20"/>
                    <a:pt x="6560" y="50"/>
                  </a:cubicBezTo>
                  <a:cubicBezTo>
                    <a:pt x="6400" y="57"/>
                    <a:pt x="6000" y="130"/>
                    <a:pt x="5860" y="200"/>
                  </a:cubicBezTo>
                  <a:cubicBezTo>
                    <a:pt x="5840" y="210"/>
                    <a:pt x="5893" y="233"/>
                    <a:pt x="5910" y="250"/>
                  </a:cubicBezTo>
                </a:path>
              </a:pathLst>
            </a:custGeom>
            <a:solidFill>
              <a:srgbClr val="FF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2340" name="Freeform 4"/>
            <p:cNvSpPr>
              <a:spLocks/>
            </p:cNvSpPr>
            <p:nvPr/>
          </p:nvSpPr>
          <p:spPr bwMode="auto">
            <a:xfrm>
              <a:off x="1687" y="1011"/>
              <a:ext cx="2383" cy="1446"/>
            </a:xfrm>
            <a:custGeom>
              <a:avLst/>
              <a:gdLst>
                <a:gd name="T0" fmla="*/ 655 w 2383"/>
                <a:gd name="T1" fmla="*/ 42 h 1446"/>
                <a:gd name="T2" fmla="*/ 535 w 2383"/>
                <a:gd name="T3" fmla="*/ 78 h 1446"/>
                <a:gd name="T4" fmla="*/ 451 w 2383"/>
                <a:gd name="T5" fmla="*/ 108 h 1446"/>
                <a:gd name="T6" fmla="*/ 403 w 2383"/>
                <a:gd name="T7" fmla="*/ 132 h 1446"/>
                <a:gd name="T8" fmla="*/ 349 w 2383"/>
                <a:gd name="T9" fmla="*/ 156 h 1446"/>
                <a:gd name="T10" fmla="*/ 277 w 2383"/>
                <a:gd name="T11" fmla="*/ 204 h 1446"/>
                <a:gd name="T12" fmla="*/ 169 w 2383"/>
                <a:gd name="T13" fmla="*/ 294 h 1446"/>
                <a:gd name="T14" fmla="*/ 109 w 2383"/>
                <a:gd name="T15" fmla="*/ 354 h 1446"/>
                <a:gd name="T16" fmla="*/ 13 w 2383"/>
                <a:gd name="T17" fmla="*/ 708 h 1446"/>
                <a:gd name="T18" fmla="*/ 97 w 2383"/>
                <a:gd name="T19" fmla="*/ 864 h 1446"/>
                <a:gd name="T20" fmla="*/ 259 w 2383"/>
                <a:gd name="T21" fmla="*/ 1044 h 1446"/>
                <a:gd name="T22" fmla="*/ 427 w 2383"/>
                <a:gd name="T23" fmla="*/ 1146 h 1446"/>
                <a:gd name="T24" fmla="*/ 559 w 2383"/>
                <a:gd name="T25" fmla="*/ 1206 h 1446"/>
                <a:gd name="T26" fmla="*/ 949 w 2383"/>
                <a:gd name="T27" fmla="*/ 1314 h 1446"/>
                <a:gd name="T28" fmla="*/ 1333 w 2383"/>
                <a:gd name="T29" fmla="*/ 1356 h 1446"/>
                <a:gd name="T30" fmla="*/ 1675 w 2383"/>
                <a:gd name="T31" fmla="*/ 1422 h 1446"/>
                <a:gd name="T32" fmla="*/ 1771 w 2383"/>
                <a:gd name="T33" fmla="*/ 1440 h 1446"/>
                <a:gd name="T34" fmla="*/ 2023 w 2383"/>
                <a:gd name="T35" fmla="*/ 1440 h 1446"/>
                <a:gd name="T36" fmla="*/ 2119 w 2383"/>
                <a:gd name="T37" fmla="*/ 1392 h 1446"/>
                <a:gd name="T38" fmla="*/ 2239 w 2383"/>
                <a:gd name="T39" fmla="*/ 1332 h 1446"/>
                <a:gd name="T40" fmla="*/ 2329 w 2383"/>
                <a:gd name="T41" fmla="*/ 1254 h 1446"/>
                <a:gd name="T42" fmla="*/ 2383 w 2383"/>
                <a:gd name="T43" fmla="*/ 1140 h 1446"/>
                <a:gd name="T44" fmla="*/ 2353 w 2383"/>
                <a:gd name="T45" fmla="*/ 924 h 1446"/>
                <a:gd name="T46" fmla="*/ 2281 w 2383"/>
                <a:gd name="T47" fmla="*/ 684 h 1446"/>
                <a:gd name="T48" fmla="*/ 2173 w 2383"/>
                <a:gd name="T49" fmla="*/ 486 h 1446"/>
                <a:gd name="T50" fmla="*/ 2119 w 2383"/>
                <a:gd name="T51" fmla="*/ 426 h 1446"/>
                <a:gd name="T52" fmla="*/ 2017 w 2383"/>
                <a:gd name="T53" fmla="*/ 360 h 1446"/>
                <a:gd name="T54" fmla="*/ 1891 w 2383"/>
                <a:gd name="T55" fmla="*/ 306 h 1446"/>
                <a:gd name="T56" fmla="*/ 1717 w 2383"/>
                <a:gd name="T57" fmla="*/ 228 h 1446"/>
                <a:gd name="T58" fmla="*/ 1507 w 2383"/>
                <a:gd name="T59" fmla="*/ 168 h 1446"/>
                <a:gd name="T60" fmla="*/ 1369 w 2383"/>
                <a:gd name="T61" fmla="*/ 102 h 1446"/>
                <a:gd name="T62" fmla="*/ 787 w 2383"/>
                <a:gd name="T63" fmla="*/ 6 h 1446"/>
                <a:gd name="T64" fmla="*/ 709 w 2383"/>
                <a:gd name="T65" fmla="*/ 30 h 14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83"/>
                <a:gd name="T100" fmla="*/ 0 h 1446"/>
                <a:gd name="T101" fmla="*/ 2383 w 2383"/>
                <a:gd name="T102" fmla="*/ 1446 h 144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83" h="1446">
                  <a:moveTo>
                    <a:pt x="709" y="30"/>
                  </a:moveTo>
                  <a:cubicBezTo>
                    <a:pt x="701" y="32"/>
                    <a:pt x="665" y="39"/>
                    <a:pt x="655" y="42"/>
                  </a:cubicBezTo>
                  <a:cubicBezTo>
                    <a:pt x="647" y="45"/>
                    <a:pt x="640" y="51"/>
                    <a:pt x="631" y="54"/>
                  </a:cubicBezTo>
                  <a:cubicBezTo>
                    <a:pt x="601" y="64"/>
                    <a:pt x="567" y="70"/>
                    <a:pt x="535" y="78"/>
                  </a:cubicBezTo>
                  <a:cubicBezTo>
                    <a:pt x="526" y="80"/>
                    <a:pt x="520" y="87"/>
                    <a:pt x="511" y="90"/>
                  </a:cubicBezTo>
                  <a:cubicBezTo>
                    <a:pt x="487" y="100"/>
                    <a:pt x="475" y="102"/>
                    <a:pt x="451" y="108"/>
                  </a:cubicBezTo>
                  <a:cubicBezTo>
                    <a:pt x="443" y="114"/>
                    <a:pt x="436" y="122"/>
                    <a:pt x="427" y="126"/>
                  </a:cubicBezTo>
                  <a:cubicBezTo>
                    <a:pt x="420" y="130"/>
                    <a:pt x="411" y="130"/>
                    <a:pt x="403" y="132"/>
                  </a:cubicBezTo>
                  <a:cubicBezTo>
                    <a:pt x="368" y="142"/>
                    <a:pt x="403" y="133"/>
                    <a:pt x="367" y="150"/>
                  </a:cubicBezTo>
                  <a:cubicBezTo>
                    <a:pt x="362" y="153"/>
                    <a:pt x="355" y="153"/>
                    <a:pt x="349" y="156"/>
                  </a:cubicBezTo>
                  <a:cubicBezTo>
                    <a:pt x="331" y="167"/>
                    <a:pt x="313" y="180"/>
                    <a:pt x="295" y="192"/>
                  </a:cubicBezTo>
                  <a:cubicBezTo>
                    <a:pt x="289" y="196"/>
                    <a:pt x="277" y="204"/>
                    <a:pt x="277" y="204"/>
                  </a:cubicBezTo>
                  <a:cubicBezTo>
                    <a:pt x="260" y="230"/>
                    <a:pt x="245" y="228"/>
                    <a:pt x="223" y="246"/>
                  </a:cubicBezTo>
                  <a:cubicBezTo>
                    <a:pt x="206" y="261"/>
                    <a:pt x="184" y="276"/>
                    <a:pt x="169" y="294"/>
                  </a:cubicBezTo>
                  <a:cubicBezTo>
                    <a:pt x="163" y="302"/>
                    <a:pt x="159" y="311"/>
                    <a:pt x="151" y="318"/>
                  </a:cubicBezTo>
                  <a:cubicBezTo>
                    <a:pt x="104" y="366"/>
                    <a:pt x="148" y="309"/>
                    <a:pt x="109" y="354"/>
                  </a:cubicBezTo>
                  <a:cubicBezTo>
                    <a:pt x="62" y="409"/>
                    <a:pt x="50" y="455"/>
                    <a:pt x="19" y="516"/>
                  </a:cubicBezTo>
                  <a:cubicBezTo>
                    <a:pt x="1" y="605"/>
                    <a:pt x="0" y="587"/>
                    <a:pt x="13" y="708"/>
                  </a:cubicBezTo>
                  <a:cubicBezTo>
                    <a:pt x="17" y="744"/>
                    <a:pt x="46" y="780"/>
                    <a:pt x="61" y="810"/>
                  </a:cubicBezTo>
                  <a:cubicBezTo>
                    <a:pt x="73" y="834"/>
                    <a:pt x="74" y="848"/>
                    <a:pt x="97" y="864"/>
                  </a:cubicBezTo>
                  <a:cubicBezTo>
                    <a:pt x="120" y="909"/>
                    <a:pt x="151" y="950"/>
                    <a:pt x="193" y="978"/>
                  </a:cubicBezTo>
                  <a:cubicBezTo>
                    <a:pt x="210" y="1012"/>
                    <a:pt x="232" y="1020"/>
                    <a:pt x="259" y="1044"/>
                  </a:cubicBezTo>
                  <a:cubicBezTo>
                    <a:pt x="290" y="1071"/>
                    <a:pt x="308" y="1090"/>
                    <a:pt x="343" y="1110"/>
                  </a:cubicBezTo>
                  <a:cubicBezTo>
                    <a:pt x="369" y="1124"/>
                    <a:pt x="401" y="1132"/>
                    <a:pt x="427" y="1146"/>
                  </a:cubicBezTo>
                  <a:cubicBezTo>
                    <a:pt x="436" y="1151"/>
                    <a:pt x="442" y="1159"/>
                    <a:pt x="451" y="1164"/>
                  </a:cubicBezTo>
                  <a:cubicBezTo>
                    <a:pt x="484" y="1182"/>
                    <a:pt x="523" y="1197"/>
                    <a:pt x="559" y="1206"/>
                  </a:cubicBezTo>
                  <a:cubicBezTo>
                    <a:pt x="582" y="1221"/>
                    <a:pt x="598" y="1224"/>
                    <a:pt x="625" y="1230"/>
                  </a:cubicBezTo>
                  <a:cubicBezTo>
                    <a:pt x="723" y="1278"/>
                    <a:pt x="843" y="1305"/>
                    <a:pt x="949" y="1314"/>
                  </a:cubicBezTo>
                  <a:cubicBezTo>
                    <a:pt x="1028" y="1334"/>
                    <a:pt x="1091" y="1334"/>
                    <a:pt x="1177" y="1338"/>
                  </a:cubicBezTo>
                  <a:cubicBezTo>
                    <a:pt x="1231" y="1343"/>
                    <a:pt x="1280" y="1351"/>
                    <a:pt x="1333" y="1356"/>
                  </a:cubicBezTo>
                  <a:cubicBezTo>
                    <a:pt x="1393" y="1371"/>
                    <a:pt x="1440" y="1381"/>
                    <a:pt x="1501" y="1386"/>
                  </a:cubicBezTo>
                  <a:cubicBezTo>
                    <a:pt x="1558" y="1405"/>
                    <a:pt x="1616" y="1416"/>
                    <a:pt x="1675" y="1422"/>
                  </a:cubicBezTo>
                  <a:cubicBezTo>
                    <a:pt x="1719" y="1436"/>
                    <a:pt x="1667" y="1421"/>
                    <a:pt x="1753" y="1434"/>
                  </a:cubicBezTo>
                  <a:cubicBezTo>
                    <a:pt x="1760" y="1435"/>
                    <a:pt x="1765" y="1439"/>
                    <a:pt x="1771" y="1440"/>
                  </a:cubicBezTo>
                  <a:cubicBezTo>
                    <a:pt x="1789" y="1443"/>
                    <a:pt x="1807" y="1444"/>
                    <a:pt x="1825" y="1446"/>
                  </a:cubicBezTo>
                  <a:cubicBezTo>
                    <a:pt x="1891" y="1444"/>
                    <a:pt x="1957" y="1444"/>
                    <a:pt x="2023" y="1440"/>
                  </a:cubicBezTo>
                  <a:cubicBezTo>
                    <a:pt x="2046" y="1439"/>
                    <a:pt x="2087" y="1424"/>
                    <a:pt x="2101" y="1410"/>
                  </a:cubicBezTo>
                  <a:cubicBezTo>
                    <a:pt x="2107" y="1404"/>
                    <a:pt x="2112" y="1396"/>
                    <a:pt x="2119" y="1392"/>
                  </a:cubicBezTo>
                  <a:cubicBezTo>
                    <a:pt x="2136" y="1382"/>
                    <a:pt x="2157" y="1383"/>
                    <a:pt x="2173" y="1374"/>
                  </a:cubicBezTo>
                  <a:cubicBezTo>
                    <a:pt x="2197" y="1361"/>
                    <a:pt x="2215" y="1344"/>
                    <a:pt x="2239" y="1332"/>
                  </a:cubicBezTo>
                  <a:cubicBezTo>
                    <a:pt x="2255" y="1310"/>
                    <a:pt x="2273" y="1301"/>
                    <a:pt x="2293" y="1284"/>
                  </a:cubicBezTo>
                  <a:cubicBezTo>
                    <a:pt x="2339" y="1246"/>
                    <a:pt x="2285" y="1284"/>
                    <a:pt x="2329" y="1254"/>
                  </a:cubicBezTo>
                  <a:cubicBezTo>
                    <a:pt x="2337" y="1232"/>
                    <a:pt x="2351" y="1216"/>
                    <a:pt x="2359" y="1194"/>
                  </a:cubicBezTo>
                  <a:cubicBezTo>
                    <a:pt x="2381" y="1140"/>
                    <a:pt x="2360" y="1175"/>
                    <a:pt x="2383" y="1140"/>
                  </a:cubicBezTo>
                  <a:cubicBezTo>
                    <a:pt x="2381" y="1096"/>
                    <a:pt x="2381" y="1052"/>
                    <a:pt x="2377" y="1008"/>
                  </a:cubicBezTo>
                  <a:cubicBezTo>
                    <a:pt x="2375" y="981"/>
                    <a:pt x="2361" y="950"/>
                    <a:pt x="2353" y="924"/>
                  </a:cubicBezTo>
                  <a:cubicBezTo>
                    <a:pt x="2342" y="885"/>
                    <a:pt x="2336" y="847"/>
                    <a:pt x="2317" y="810"/>
                  </a:cubicBezTo>
                  <a:cubicBezTo>
                    <a:pt x="2308" y="763"/>
                    <a:pt x="2300" y="727"/>
                    <a:pt x="2281" y="684"/>
                  </a:cubicBezTo>
                  <a:cubicBezTo>
                    <a:pt x="2265" y="645"/>
                    <a:pt x="2259" y="607"/>
                    <a:pt x="2227" y="576"/>
                  </a:cubicBezTo>
                  <a:cubicBezTo>
                    <a:pt x="2217" y="524"/>
                    <a:pt x="2201" y="527"/>
                    <a:pt x="2173" y="486"/>
                  </a:cubicBezTo>
                  <a:cubicBezTo>
                    <a:pt x="2163" y="471"/>
                    <a:pt x="2153" y="454"/>
                    <a:pt x="2143" y="438"/>
                  </a:cubicBezTo>
                  <a:cubicBezTo>
                    <a:pt x="2139" y="431"/>
                    <a:pt x="2127" y="431"/>
                    <a:pt x="2119" y="426"/>
                  </a:cubicBezTo>
                  <a:cubicBezTo>
                    <a:pt x="2063" y="384"/>
                    <a:pt x="2126" y="419"/>
                    <a:pt x="2071" y="384"/>
                  </a:cubicBezTo>
                  <a:cubicBezTo>
                    <a:pt x="2033" y="360"/>
                    <a:pt x="2062" y="384"/>
                    <a:pt x="2017" y="360"/>
                  </a:cubicBezTo>
                  <a:cubicBezTo>
                    <a:pt x="1957" y="327"/>
                    <a:pt x="2005" y="342"/>
                    <a:pt x="1957" y="330"/>
                  </a:cubicBezTo>
                  <a:cubicBezTo>
                    <a:pt x="1935" y="315"/>
                    <a:pt x="1919" y="312"/>
                    <a:pt x="1891" y="306"/>
                  </a:cubicBezTo>
                  <a:cubicBezTo>
                    <a:pt x="1839" y="271"/>
                    <a:pt x="1923" y="325"/>
                    <a:pt x="1837" y="282"/>
                  </a:cubicBezTo>
                  <a:cubicBezTo>
                    <a:pt x="1799" y="263"/>
                    <a:pt x="1758" y="239"/>
                    <a:pt x="1717" y="228"/>
                  </a:cubicBezTo>
                  <a:cubicBezTo>
                    <a:pt x="1669" y="191"/>
                    <a:pt x="1710" y="216"/>
                    <a:pt x="1609" y="204"/>
                  </a:cubicBezTo>
                  <a:cubicBezTo>
                    <a:pt x="1574" y="200"/>
                    <a:pt x="1541" y="181"/>
                    <a:pt x="1507" y="168"/>
                  </a:cubicBezTo>
                  <a:cubicBezTo>
                    <a:pt x="1479" y="157"/>
                    <a:pt x="1450" y="147"/>
                    <a:pt x="1423" y="132"/>
                  </a:cubicBezTo>
                  <a:cubicBezTo>
                    <a:pt x="1361" y="98"/>
                    <a:pt x="1410" y="116"/>
                    <a:pt x="1369" y="102"/>
                  </a:cubicBezTo>
                  <a:cubicBezTo>
                    <a:pt x="1263" y="23"/>
                    <a:pt x="1125" y="18"/>
                    <a:pt x="997" y="0"/>
                  </a:cubicBezTo>
                  <a:cubicBezTo>
                    <a:pt x="927" y="2"/>
                    <a:pt x="857" y="3"/>
                    <a:pt x="787" y="6"/>
                  </a:cubicBezTo>
                  <a:cubicBezTo>
                    <a:pt x="768" y="7"/>
                    <a:pt x="720" y="16"/>
                    <a:pt x="703" y="24"/>
                  </a:cubicBezTo>
                  <a:cubicBezTo>
                    <a:pt x="701" y="25"/>
                    <a:pt x="707" y="28"/>
                    <a:pt x="709" y="3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2303" name="Group 5"/>
          <p:cNvGrpSpPr>
            <a:grpSpLocks/>
          </p:cNvGrpSpPr>
          <p:nvPr/>
        </p:nvGrpSpPr>
        <p:grpSpPr bwMode="auto">
          <a:xfrm>
            <a:off x="2743199" y="1672828"/>
            <a:ext cx="3667125" cy="661988"/>
            <a:chOff x="1708" y="1513"/>
            <a:chExt cx="2348" cy="479"/>
          </a:xfrm>
        </p:grpSpPr>
        <p:sp>
          <p:nvSpPr>
            <p:cNvPr id="12337" name="Freeform 6"/>
            <p:cNvSpPr>
              <a:spLocks/>
            </p:cNvSpPr>
            <p:nvPr/>
          </p:nvSpPr>
          <p:spPr bwMode="auto">
            <a:xfrm>
              <a:off x="1708" y="1513"/>
              <a:ext cx="2348" cy="479"/>
            </a:xfrm>
            <a:custGeom>
              <a:avLst/>
              <a:gdLst>
                <a:gd name="T0" fmla="*/ 0 w 19570"/>
                <a:gd name="T1" fmla="*/ 0 h 3997"/>
                <a:gd name="T2" fmla="*/ 0 w 19570"/>
                <a:gd name="T3" fmla="*/ 0 h 3997"/>
                <a:gd name="T4" fmla="*/ 0 w 19570"/>
                <a:gd name="T5" fmla="*/ 0 h 3997"/>
                <a:gd name="T6" fmla="*/ 0 w 19570"/>
                <a:gd name="T7" fmla="*/ 0 h 3997"/>
                <a:gd name="T8" fmla="*/ 0 w 19570"/>
                <a:gd name="T9" fmla="*/ 0 h 39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570"/>
                <a:gd name="T16" fmla="*/ 0 h 3997"/>
                <a:gd name="T17" fmla="*/ 19570 w 19570"/>
                <a:gd name="T18" fmla="*/ 3997 h 39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570" h="3997">
                  <a:moveTo>
                    <a:pt x="9940" y="935"/>
                  </a:moveTo>
                  <a:cubicBezTo>
                    <a:pt x="4582" y="155"/>
                    <a:pt x="171" y="0"/>
                    <a:pt x="85" y="587"/>
                  </a:cubicBezTo>
                  <a:cubicBezTo>
                    <a:pt x="0" y="1175"/>
                    <a:pt x="4273" y="2283"/>
                    <a:pt x="9630" y="3062"/>
                  </a:cubicBezTo>
                  <a:cubicBezTo>
                    <a:pt x="14987" y="3842"/>
                    <a:pt x="19399" y="3997"/>
                    <a:pt x="19484" y="3409"/>
                  </a:cubicBezTo>
                  <a:cubicBezTo>
                    <a:pt x="19570" y="2822"/>
                    <a:pt x="15297" y="1714"/>
                    <a:pt x="9940" y="935"/>
                  </a:cubicBezTo>
                </a:path>
              </a:pathLst>
            </a:custGeom>
            <a:solidFill>
              <a:srgbClr val="FFFF99"/>
            </a:solidFill>
            <a:ln w="0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2338" name="Freeform 7"/>
            <p:cNvSpPr>
              <a:spLocks/>
            </p:cNvSpPr>
            <p:nvPr/>
          </p:nvSpPr>
          <p:spPr bwMode="auto">
            <a:xfrm>
              <a:off x="1708" y="1513"/>
              <a:ext cx="2348" cy="479"/>
            </a:xfrm>
            <a:custGeom>
              <a:avLst/>
              <a:gdLst>
                <a:gd name="T0" fmla="*/ 1192 w 2348"/>
                <a:gd name="T1" fmla="*/ 112 h 479"/>
                <a:gd name="T2" fmla="*/ 10 w 2348"/>
                <a:gd name="T3" fmla="*/ 70 h 479"/>
                <a:gd name="T4" fmla="*/ 1155 w 2348"/>
                <a:gd name="T5" fmla="*/ 367 h 479"/>
                <a:gd name="T6" fmla="*/ 2338 w 2348"/>
                <a:gd name="T7" fmla="*/ 409 h 479"/>
                <a:gd name="T8" fmla="*/ 1192 w 2348"/>
                <a:gd name="T9" fmla="*/ 112 h 4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8"/>
                <a:gd name="T16" fmla="*/ 0 h 479"/>
                <a:gd name="T17" fmla="*/ 2348 w 2348"/>
                <a:gd name="T18" fmla="*/ 479 h 4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8" h="479">
                  <a:moveTo>
                    <a:pt x="1192" y="112"/>
                  </a:moveTo>
                  <a:cubicBezTo>
                    <a:pt x="549" y="18"/>
                    <a:pt x="20" y="0"/>
                    <a:pt x="10" y="70"/>
                  </a:cubicBezTo>
                  <a:cubicBezTo>
                    <a:pt x="0" y="140"/>
                    <a:pt x="512" y="273"/>
                    <a:pt x="1155" y="367"/>
                  </a:cubicBezTo>
                  <a:cubicBezTo>
                    <a:pt x="1798" y="460"/>
                    <a:pt x="2328" y="479"/>
                    <a:pt x="2338" y="409"/>
                  </a:cubicBezTo>
                  <a:cubicBezTo>
                    <a:pt x="2348" y="338"/>
                    <a:pt x="1835" y="205"/>
                    <a:pt x="1192" y="112"/>
                  </a:cubicBez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12304" name="Oval 8"/>
          <p:cNvSpPr>
            <a:spLocks noChangeArrowheads="1"/>
          </p:cNvSpPr>
          <p:nvPr/>
        </p:nvSpPr>
        <p:spPr bwMode="auto">
          <a:xfrm>
            <a:off x="4105275" y="1220391"/>
            <a:ext cx="711200" cy="1557338"/>
          </a:xfrm>
          <a:prstGeom prst="ellips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2305" name="Freeform 9"/>
          <p:cNvSpPr>
            <a:spLocks noEditPoints="1"/>
          </p:cNvSpPr>
          <p:nvPr/>
        </p:nvSpPr>
        <p:spPr bwMode="auto">
          <a:xfrm>
            <a:off x="3875088" y="2070497"/>
            <a:ext cx="685800" cy="381000"/>
          </a:xfrm>
          <a:custGeom>
            <a:avLst/>
            <a:gdLst>
              <a:gd name="T0" fmla="*/ 2147483647 w 288"/>
              <a:gd name="T1" fmla="*/ 2147483647 h 224"/>
              <a:gd name="T2" fmla="*/ 2147483647 w 288"/>
              <a:gd name="T3" fmla="*/ 2147483647 h 224"/>
              <a:gd name="T4" fmla="*/ 2147483647 w 288"/>
              <a:gd name="T5" fmla="*/ 2147483647 h 224"/>
              <a:gd name="T6" fmla="*/ 2147483647 w 288"/>
              <a:gd name="T7" fmla="*/ 0 h 224"/>
              <a:gd name="T8" fmla="*/ 2147483647 w 288"/>
              <a:gd name="T9" fmla="*/ 2147483647 h 224"/>
              <a:gd name="T10" fmla="*/ 2147483647 w 288"/>
              <a:gd name="T11" fmla="*/ 2147483647 h 224"/>
              <a:gd name="T12" fmla="*/ 2147483647 w 288"/>
              <a:gd name="T13" fmla="*/ 2147483647 h 224"/>
              <a:gd name="T14" fmla="*/ 2147483647 w 288"/>
              <a:gd name="T15" fmla="*/ 2147483647 h 224"/>
              <a:gd name="T16" fmla="*/ 2147483647 w 288"/>
              <a:gd name="T17" fmla="*/ 2147483647 h 224"/>
              <a:gd name="T18" fmla="*/ 2147483647 w 288"/>
              <a:gd name="T19" fmla="*/ 2147483647 h 224"/>
              <a:gd name="T20" fmla="*/ 2147483647 w 288"/>
              <a:gd name="T21" fmla="*/ 2147483647 h 224"/>
              <a:gd name="T22" fmla="*/ 2147483647 w 288"/>
              <a:gd name="T23" fmla="*/ 2147483647 h 224"/>
              <a:gd name="T24" fmla="*/ 2147483647 w 288"/>
              <a:gd name="T25" fmla="*/ 2147483647 h 224"/>
              <a:gd name="T26" fmla="*/ 2147483647 w 288"/>
              <a:gd name="T27" fmla="*/ 2147483647 h 224"/>
              <a:gd name="T28" fmla="*/ 2147483647 w 288"/>
              <a:gd name="T29" fmla="*/ 2147483647 h 224"/>
              <a:gd name="T30" fmla="*/ 2147483647 w 288"/>
              <a:gd name="T31" fmla="*/ 2147483647 h 224"/>
              <a:gd name="T32" fmla="*/ 2147483647 w 288"/>
              <a:gd name="T33" fmla="*/ 2147483647 h 224"/>
              <a:gd name="T34" fmla="*/ 2147483647 w 288"/>
              <a:gd name="T35" fmla="*/ 2147483647 h 224"/>
              <a:gd name="T36" fmla="*/ 2147483647 w 288"/>
              <a:gd name="T37" fmla="*/ 2147483647 h 224"/>
              <a:gd name="T38" fmla="*/ 2147483647 w 288"/>
              <a:gd name="T39" fmla="*/ 2147483647 h 224"/>
              <a:gd name="T40" fmla="*/ 2147483647 w 288"/>
              <a:gd name="T41" fmla="*/ 2147483647 h 224"/>
              <a:gd name="T42" fmla="*/ 2147483647 w 288"/>
              <a:gd name="T43" fmla="*/ 2147483647 h 224"/>
              <a:gd name="T44" fmla="*/ 2147483647 w 288"/>
              <a:gd name="T45" fmla="*/ 2147483647 h 224"/>
              <a:gd name="T46" fmla="*/ 2147483647 w 288"/>
              <a:gd name="T47" fmla="*/ 2147483647 h 224"/>
              <a:gd name="T48" fmla="*/ 2147483647 w 288"/>
              <a:gd name="T49" fmla="*/ 2147483647 h 224"/>
              <a:gd name="T50" fmla="*/ 2147483647 w 288"/>
              <a:gd name="T51" fmla="*/ 2147483647 h 224"/>
              <a:gd name="T52" fmla="*/ 2147483647 w 288"/>
              <a:gd name="T53" fmla="*/ 2147483647 h 224"/>
              <a:gd name="T54" fmla="*/ 0 w 288"/>
              <a:gd name="T55" fmla="*/ 2147483647 h 224"/>
              <a:gd name="T56" fmla="*/ 2147483647 w 288"/>
              <a:gd name="T57" fmla="*/ 2147483647 h 224"/>
              <a:gd name="T58" fmla="*/ 2147483647 w 288"/>
              <a:gd name="T59" fmla="*/ 2147483647 h 224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288"/>
              <a:gd name="T91" fmla="*/ 0 h 224"/>
              <a:gd name="T92" fmla="*/ 288 w 288"/>
              <a:gd name="T93" fmla="*/ 224 h 224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288" h="224">
                <a:moveTo>
                  <a:pt x="288" y="8"/>
                </a:moveTo>
                <a:lnTo>
                  <a:pt x="257" y="32"/>
                </a:lnTo>
                <a:lnTo>
                  <a:pt x="251" y="24"/>
                </a:lnTo>
                <a:lnTo>
                  <a:pt x="282" y="0"/>
                </a:lnTo>
                <a:lnTo>
                  <a:pt x="288" y="8"/>
                </a:lnTo>
                <a:close/>
                <a:moveTo>
                  <a:pt x="233" y="51"/>
                </a:moveTo>
                <a:lnTo>
                  <a:pt x="201" y="75"/>
                </a:lnTo>
                <a:lnTo>
                  <a:pt x="195" y="67"/>
                </a:lnTo>
                <a:lnTo>
                  <a:pt x="227" y="43"/>
                </a:lnTo>
                <a:lnTo>
                  <a:pt x="233" y="51"/>
                </a:lnTo>
                <a:close/>
                <a:moveTo>
                  <a:pt x="177" y="93"/>
                </a:moveTo>
                <a:lnTo>
                  <a:pt x="145" y="117"/>
                </a:lnTo>
                <a:lnTo>
                  <a:pt x="139" y="110"/>
                </a:lnTo>
                <a:lnTo>
                  <a:pt x="171" y="85"/>
                </a:lnTo>
                <a:lnTo>
                  <a:pt x="177" y="93"/>
                </a:lnTo>
                <a:close/>
                <a:moveTo>
                  <a:pt x="122" y="136"/>
                </a:moveTo>
                <a:lnTo>
                  <a:pt x="90" y="160"/>
                </a:lnTo>
                <a:lnTo>
                  <a:pt x="84" y="152"/>
                </a:lnTo>
                <a:lnTo>
                  <a:pt x="116" y="128"/>
                </a:lnTo>
                <a:lnTo>
                  <a:pt x="122" y="136"/>
                </a:lnTo>
                <a:close/>
                <a:moveTo>
                  <a:pt x="66" y="178"/>
                </a:moveTo>
                <a:lnTo>
                  <a:pt x="34" y="203"/>
                </a:lnTo>
                <a:lnTo>
                  <a:pt x="28" y="195"/>
                </a:lnTo>
                <a:lnTo>
                  <a:pt x="60" y="170"/>
                </a:lnTo>
                <a:lnTo>
                  <a:pt x="66" y="178"/>
                </a:lnTo>
                <a:close/>
                <a:moveTo>
                  <a:pt x="11" y="221"/>
                </a:moveTo>
                <a:lnTo>
                  <a:pt x="6" y="224"/>
                </a:lnTo>
                <a:lnTo>
                  <a:pt x="0" y="216"/>
                </a:lnTo>
                <a:lnTo>
                  <a:pt x="4" y="213"/>
                </a:lnTo>
                <a:lnTo>
                  <a:pt x="11" y="221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2306" name="Freeform 10"/>
          <p:cNvSpPr>
            <a:spLocks noEditPoints="1"/>
          </p:cNvSpPr>
          <p:nvPr/>
        </p:nvSpPr>
        <p:spPr bwMode="auto">
          <a:xfrm>
            <a:off x="4557714" y="796529"/>
            <a:ext cx="15875" cy="1278731"/>
          </a:xfrm>
          <a:custGeom>
            <a:avLst/>
            <a:gdLst>
              <a:gd name="T0" fmla="*/ 2147483647 w 10"/>
              <a:gd name="T1" fmla="*/ 2147483647 h 1074"/>
              <a:gd name="T2" fmla="*/ 0 w 10"/>
              <a:gd name="T3" fmla="*/ 0 h 1074"/>
              <a:gd name="T4" fmla="*/ 2147483647 w 10"/>
              <a:gd name="T5" fmla="*/ 2147483647 h 1074"/>
              <a:gd name="T6" fmla="*/ 0 w 10"/>
              <a:gd name="T7" fmla="*/ 2147483647 h 1074"/>
              <a:gd name="T8" fmla="*/ 2147483647 w 10"/>
              <a:gd name="T9" fmla="*/ 2147483647 h 1074"/>
              <a:gd name="T10" fmla="*/ 2147483647 w 10"/>
              <a:gd name="T11" fmla="*/ 2147483647 h 1074"/>
              <a:gd name="T12" fmla="*/ 0 w 10"/>
              <a:gd name="T13" fmla="*/ 2147483647 h 1074"/>
              <a:gd name="T14" fmla="*/ 2147483647 w 10"/>
              <a:gd name="T15" fmla="*/ 2147483647 h 1074"/>
              <a:gd name="T16" fmla="*/ 0 w 10"/>
              <a:gd name="T17" fmla="*/ 2147483647 h 1074"/>
              <a:gd name="T18" fmla="*/ 2147483647 w 10"/>
              <a:gd name="T19" fmla="*/ 2147483647 h 1074"/>
              <a:gd name="T20" fmla="*/ 2147483647 w 10"/>
              <a:gd name="T21" fmla="*/ 2147483647 h 1074"/>
              <a:gd name="T22" fmla="*/ 0 w 10"/>
              <a:gd name="T23" fmla="*/ 2147483647 h 1074"/>
              <a:gd name="T24" fmla="*/ 2147483647 w 10"/>
              <a:gd name="T25" fmla="*/ 2147483647 h 1074"/>
              <a:gd name="T26" fmla="*/ 0 w 10"/>
              <a:gd name="T27" fmla="*/ 2147483647 h 1074"/>
              <a:gd name="T28" fmla="*/ 2147483647 w 10"/>
              <a:gd name="T29" fmla="*/ 2147483647 h 1074"/>
              <a:gd name="T30" fmla="*/ 2147483647 w 10"/>
              <a:gd name="T31" fmla="*/ 2147483647 h 1074"/>
              <a:gd name="T32" fmla="*/ 0 w 10"/>
              <a:gd name="T33" fmla="*/ 2147483647 h 1074"/>
              <a:gd name="T34" fmla="*/ 2147483647 w 10"/>
              <a:gd name="T35" fmla="*/ 2147483647 h 1074"/>
              <a:gd name="T36" fmla="*/ 0 w 10"/>
              <a:gd name="T37" fmla="*/ 2147483647 h 1074"/>
              <a:gd name="T38" fmla="*/ 2147483647 w 10"/>
              <a:gd name="T39" fmla="*/ 2147483647 h 1074"/>
              <a:gd name="T40" fmla="*/ 2147483647 w 10"/>
              <a:gd name="T41" fmla="*/ 2147483647 h 1074"/>
              <a:gd name="T42" fmla="*/ 0 w 10"/>
              <a:gd name="T43" fmla="*/ 2147483647 h 1074"/>
              <a:gd name="T44" fmla="*/ 2147483647 w 10"/>
              <a:gd name="T45" fmla="*/ 2147483647 h 1074"/>
              <a:gd name="T46" fmla="*/ 0 w 10"/>
              <a:gd name="T47" fmla="*/ 2147483647 h 1074"/>
              <a:gd name="T48" fmla="*/ 2147483647 w 10"/>
              <a:gd name="T49" fmla="*/ 2147483647 h 1074"/>
              <a:gd name="T50" fmla="*/ 2147483647 w 10"/>
              <a:gd name="T51" fmla="*/ 2147483647 h 1074"/>
              <a:gd name="T52" fmla="*/ 0 w 10"/>
              <a:gd name="T53" fmla="*/ 2147483647 h 1074"/>
              <a:gd name="T54" fmla="*/ 2147483647 w 10"/>
              <a:gd name="T55" fmla="*/ 2147483647 h 1074"/>
              <a:gd name="T56" fmla="*/ 0 w 10"/>
              <a:gd name="T57" fmla="*/ 2147483647 h 1074"/>
              <a:gd name="T58" fmla="*/ 2147483647 w 10"/>
              <a:gd name="T59" fmla="*/ 2147483647 h 1074"/>
              <a:gd name="T60" fmla="*/ 2147483647 w 10"/>
              <a:gd name="T61" fmla="*/ 2147483647 h 1074"/>
              <a:gd name="T62" fmla="*/ 0 w 10"/>
              <a:gd name="T63" fmla="*/ 2147483647 h 1074"/>
              <a:gd name="T64" fmla="*/ 2147483647 w 10"/>
              <a:gd name="T65" fmla="*/ 2147483647 h 1074"/>
              <a:gd name="T66" fmla="*/ 0 w 10"/>
              <a:gd name="T67" fmla="*/ 2147483647 h 1074"/>
              <a:gd name="T68" fmla="*/ 2147483647 w 10"/>
              <a:gd name="T69" fmla="*/ 2147483647 h 1074"/>
              <a:gd name="T70" fmla="*/ 2147483647 w 10"/>
              <a:gd name="T71" fmla="*/ 2147483647 h 1074"/>
              <a:gd name="T72" fmla="*/ 0 w 10"/>
              <a:gd name="T73" fmla="*/ 2147483647 h 1074"/>
              <a:gd name="T74" fmla="*/ 2147483647 w 10"/>
              <a:gd name="T75" fmla="*/ 2147483647 h 1074"/>
              <a:gd name="T76" fmla="*/ 0 w 10"/>
              <a:gd name="T77" fmla="*/ 2147483647 h 1074"/>
              <a:gd name="T78" fmla="*/ 2147483647 w 10"/>
              <a:gd name="T79" fmla="*/ 2147483647 h 107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0"/>
              <a:gd name="T121" fmla="*/ 0 h 1074"/>
              <a:gd name="T122" fmla="*/ 10 w 10"/>
              <a:gd name="T123" fmla="*/ 1074 h 107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0" h="1074">
                <a:moveTo>
                  <a:pt x="10" y="0"/>
                </a:moveTo>
                <a:lnTo>
                  <a:pt x="10" y="40"/>
                </a:lnTo>
                <a:lnTo>
                  <a:pt x="0" y="40"/>
                </a:lnTo>
                <a:lnTo>
                  <a:pt x="0" y="0"/>
                </a:lnTo>
                <a:lnTo>
                  <a:pt x="10" y="0"/>
                </a:lnTo>
                <a:close/>
                <a:moveTo>
                  <a:pt x="10" y="70"/>
                </a:moveTo>
                <a:lnTo>
                  <a:pt x="10" y="110"/>
                </a:lnTo>
                <a:lnTo>
                  <a:pt x="0" y="110"/>
                </a:lnTo>
                <a:lnTo>
                  <a:pt x="0" y="70"/>
                </a:lnTo>
                <a:lnTo>
                  <a:pt x="10" y="70"/>
                </a:lnTo>
                <a:close/>
                <a:moveTo>
                  <a:pt x="10" y="140"/>
                </a:moveTo>
                <a:lnTo>
                  <a:pt x="10" y="180"/>
                </a:lnTo>
                <a:lnTo>
                  <a:pt x="0" y="180"/>
                </a:lnTo>
                <a:lnTo>
                  <a:pt x="0" y="140"/>
                </a:lnTo>
                <a:lnTo>
                  <a:pt x="10" y="140"/>
                </a:lnTo>
                <a:close/>
                <a:moveTo>
                  <a:pt x="10" y="210"/>
                </a:moveTo>
                <a:lnTo>
                  <a:pt x="10" y="250"/>
                </a:lnTo>
                <a:lnTo>
                  <a:pt x="0" y="250"/>
                </a:lnTo>
                <a:lnTo>
                  <a:pt x="0" y="210"/>
                </a:lnTo>
                <a:lnTo>
                  <a:pt x="10" y="210"/>
                </a:lnTo>
                <a:close/>
                <a:moveTo>
                  <a:pt x="10" y="280"/>
                </a:moveTo>
                <a:lnTo>
                  <a:pt x="10" y="320"/>
                </a:lnTo>
                <a:lnTo>
                  <a:pt x="0" y="320"/>
                </a:lnTo>
                <a:lnTo>
                  <a:pt x="0" y="280"/>
                </a:lnTo>
                <a:lnTo>
                  <a:pt x="10" y="280"/>
                </a:lnTo>
                <a:close/>
                <a:moveTo>
                  <a:pt x="10" y="350"/>
                </a:moveTo>
                <a:lnTo>
                  <a:pt x="10" y="390"/>
                </a:lnTo>
                <a:lnTo>
                  <a:pt x="0" y="390"/>
                </a:lnTo>
                <a:lnTo>
                  <a:pt x="0" y="350"/>
                </a:lnTo>
                <a:lnTo>
                  <a:pt x="10" y="350"/>
                </a:lnTo>
                <a:close/>
                <a:moveTo>
                  <a:pt x="10" y="420"/>
                </a:moveTo>
                <a:lnTo>
                  <a:pt x="10" y="460"/>
                </a:lnTo>
                <a:lnTo>
                  <a:pt x="0" y="460"/>
                </a:lnTo>
                <a:lnTo>
                  <a:pt x="0" y="420"/>
                </a:lnTo>
                <a:lnTo>
                  <a:pt x="10" y="420"/>
                </a:lnTo>
                <a:close/>
                <a:moveTo>
                  <a:pt x="10" y="490"/>
                </a:moveTo>
                <a:lnTo>
                  <a:pt x="10" y="530"/>
                </a:lnTo>
                <a:lnTo>
                  <a:pt x="0" y="530"/>
                </a:lnTo>
                <a:lnTo>
                  <a:pt x="0" y="490"/>
                </a:lnTo>
                <a:lnTo>
                  <a:pt x="10" y="490"/>
                </a:lnTo>
                <a:close/>
                <a:moveTo>
                  <a:pt x="10" y="560"/>
                </a:moveTo>
                <a:lnTo>
                  <a:pt x="10" y="600"/>
                </a:lnTo>
                <a:lnTo>
                  <a:pt x="0" y="600"/>
                </a:lnTo>
                <a:lnTo>
                  <a:pt x="0" y="560"/>
                </a:lnTo>
                <a:lnTo>
                  <a:pt x="10" y="560"/>
                </a:lnTo>
                <a:close/>
                <a:moveTo>
                  <a:pt x="10" y="630"/>
                </a:moveTo>
                <a:lnTo>
                  <a:pt x="10" y="670"/>
                </a:lnTo>
                <a:lnTo>
                  <a:pt x="0" y="670"/>
                </a:lnTo>
                <a:lnTo>
                  <a:pt x="0" y="630"/>
                </a:lnTo>
                <a:lnTo>
                  <a:pt x="10" y="630"/>
                </a:lnTo>
                <a:close/>
                <a:moveTo>
                  <a:pt x="10" y="700"/>
                </a:moveTo>
                <a:lnTo>
                  <a:pt x="10" y="740"/>
                </a:lnTo>
                <a:lnTo>
                  <a:pt x="0" y="740"/>
                </a:lnTo>
                <a:lnTo>
                  <a:pt x="0" y="700"/>
                </a:lnTo>
                <a:lnTo>
                  <a:pt x="10" y="700"/>
                </a:lnTo>
                <a:close/>
                <a:moveTo>
                  <a:pt x="10" y="770"/>
                </a:moveTo>
                <a:lnTo>
                  <a:pt x="10" y="810"/>
                </a:lnTo>
                <a:lnTo>
                  <a:pt x="0" y="810"/>
                </a:lnTo>
                <a:lnTo>
                  <a:pt x="0" y="770"/>
                </a:lnTo>
                <a:lnTo>
                  <a:pt x="10" y="770"/>
                </a:lnTo>
                <a:close/>
                <a:moveTo>
                  <a:pt x="10" y="840"/>
                </a:moveTo>
                <a:lnTo>
                  <a:pt x="10" y="880"/>
                </a:lnTo>
                <a:lnTo>
                  <a:pt x="0" y="880"/>
                </a:lnTo>
                <a:lnTo>
                  <a:pt x="0" y="840"/>
                </a:lnTo>
                <a:lnTo>
                  <a:pt x="10" y="840"/>
                </a:lnTo>
                <a:close/>
                <a:moveTo>
                  <a:pt x="10" y="910"/>
                </a:moveTo>
                <a:lnTo>
                  <a:pt x="10" y="950"/>
                </a:lnTo>
                <a:lnTo>
                  <a:pt x="0" y="950"/>
                </a:lnTo>
                <a:lnTo>
                  <a:pt x="0" y="910"/>
                </a:lnTo>
                <a:lnTo>
                  <a:pt x="10" y="910"/>
                </a:lnTo>
                <a:close/>
                <a:moveTo>
                  <a:pt x="10" y="980"/>
                </a:moveTo>
                <a:lnTo>
                  <a:pt x="10" y="1020"/>
                </a:lnTo>
                <a:lnTo>
                  <a:pt x="0" y="1020"/>
                </a:lnTo>
                <a:lnTo>
                  <a:pt x="0" y="980"/>
                </a:lnTo>
                <a:lnTo>
                  <a:pt x="10" y="980"/>
                </a:lnTo>
                <a:close/>
                <a:moveTo>
                  <a:pt x="10" y="1050"/>
                </a:moveTo>
                <a:lnTo>
                  <a:pt x="10" y="1074"/>
                </a:lnTo>
                <a:lnTo>
                  <a:pt x="0" y="1074"/>
                </a:lnTo>
                <a:lnTo>
                  <a:pt x="0" y="1050"/>
                </a:lnTo>
                <a:lnTo>
                  <a:pt x="10" y="1050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2307" name="Freeform 11"/>
          <p:cNvSpPr>
            <a:spLocks noEditPoints="1"/>
          </p:cNvSpPr>
          <p:nvPr/>
        </p:nvSpPr>
        <p:spPr bwMode="auto">
          <a:xfrm>
            <a:off x="4564064" y="2062163"/>
            <a:ext cx="2490787" cy="265510"/>
          </a:xfrm>
          <a:custGeom>
            <a:avLst/>
            <a:gdLst>
              <a:gd name="T0" fmla="*/ 2147483647 w 1532"/>
              <a:gd name="T1" fmla="*/ 2147483647 h 304"/>
              <a:gd name="T2" fmla="*/ 0 w 1532"/>
              <a:gd name="T3" fmla="*/ 2147483647 h 304"/>
              <a:gd name="T4" fmla="*/ 2147483647 w 1532"/>
              <a:gd name="T5" fmla="*/ 2147483647 h 304"/>
              <a:gd name="T6" fmla="*/ 2147483647 w 1532"/>
              <a:gd name="T7" fmla="*/ 2147483647 h 304"/>
              <a:gd name="T8" fmla="*/ 2147483647 w 1532"/>
              <a:gd name="T9" fmla="*/ 2147483647 h 304"/>
              <a:gd name="T10" fmla="*/ 2147483647 w 1532"/>
              <a:gd name="T11" fmla="*/ 2147483647 h 304"/>
              <a:gd name="T12" fmla="*/ 2147483647 w 1532"/>
              <a:gd name="T13" fmla="*/ 2147483647 h 304"/>
              <a:gd name="T14" fmla="*/ 2147483647 w 1532"/>
              <a:gd name="T15" fmla="*/ 2147483647 h 304"/>
              <a:gd name="T16" fmla="*/ 2147483647 w 1532"/>
              <a:gd name="T17" fmla="*/ 2147483647 h 304"/>
              <a:gd name="T18" fmla="*/ 2147483647 w 1532"/>
              <a:gd name="T19" fmla="*/ 2147483647 h 304"/>
              <a:gd name="T20" fmla="*/ 2147483647 w 1532"/>
              <a:gd name="T21" fmla="*/ 2147483647 h 304"/>
              <a:gd name="T22" fmla="*/ 2147483647 w 1532"/>
              <a:gd name="T23" fmla="*/ 2147483647 h 304"/>
              <a:gd name="T24" fmla="*/ 2147483647 w 1532"/>
              <a:gd name="T25" fmla="*/ 2147483647 h 304"/>
              <a:gd name="T26" fmla="*/ 2147483647 w 1532"/>
              <a:gd name="T27" fmla="*/ 2147483647 h 304"/>
              <a:gd name="T28" fmla="*/ 2147483647 w 1532"/>
              <a:gd name="T29" fmla="*/ 2147483647 h 304"/>
              <a:gd name="T30" fmla="*/ 2147483647 w 1532"/>
              <a:gd name="T31" fmla="*/ 2147483647 h 304"/>
              <a:gd name="T32" fmla="*/ 2147483647 w 1532"/>
              <a:gd name="T33" fmla="*/ 2147483647 h 304"/>
              <a:gd name="T34" fmla="*/ 2147483647 w 1532"/>
              <a:gd name="T35" fmla="*/ 2147483647 h 304"/>
              <a:gd name="T36" fmla="*/ 2147483647 w 1532"/>
              <a:gd name="T37" fmla="*/ 2147483647 h 304"/>
              <a:gd name="T38" fmla="*/ 2147483647 w 1532"/>
              <a:gd name="T39" fmla="*/ 2147483647 h 304"/>
              <a:gd name="T40" fmla="*/ 2147483647 w 1532"/>
              <a:gd name="T41" fmla="*/ 2147483647 h 304"/>
              <a:gd name="T42" fmla="*/ 2147483647 w 1532"/>
              <a:gd name="T43" fmla="*/ 2147483647 h 304"/>
              <a:gd name="T44" fmla="*/ 2147483647 w 1532"/>
              <a:gd name="T45" fmla="*/ 2147483647 h 304"/>
              <a:gd name="T46" fmla="*/ 2147483647 w 1532"/>
              <a:gd name="T47" fmla="*/ 2147483647 h 304"/>
              <a:gd name="T48" fmla="*/ 2147483647 w 1532"/>
              <a:gd name="T49" fmla="*/ 2147483647 h 304"/>
              <a:gd name="T50" fmla="*/ 2147483647 w 1532"/>
              <a:gd name="T51" fmla="*/ 2147483647 h 304"/>
              <a:gd name="T52" fmla="*/ 2147483647 w 1532"/>
              <a:gd name="T53" fmla="*/ 2147483647 h 304"/>
              <a:gd name="T54" fmla="*/ 2147483647 w 1532"/>
              <a:gd name="T55" fmla="*/ 2147483647 h 304"/>
              <a:gd name="T56" fmla="*/ 2147483647 w 1532"/>
              <a:gd name="T57" fmla="*/ 2147483647 h 304"/>
              <a:gd name="T58" fmla="*/ 2147483647 w 1532"/>
              <a:gd name="T59" fmla="*/ 2147483647 h 304"/>
              <a:gd name="T60" fmla="*/ 2147483647 w 1532"/>
              <a:gd name="T61" fmla="*/ 2147483647 h 304"/>
              <a:gd name="T62" fmla="*/ 2147483647 w 1532"/>
              <a:gd name="T63" fmla="*/ 2147483647 h 304"/>
              <a:gd name="T64" fmla="*/ 2147483647 w 1532"/>
              <a:gd name="T65" fmla="*/ 2147483647 h 304"/>
              <a:gd name="T66" fmla="*/ 2147483647 w 1532"/>
              <a:gd name="T67" fmla="*/ 2147483647 h 304"/>
              <a:gd name="T68" fmla="*/ 2147483647 w 1532"/>
              <a:gd name="T69" fmla="*/ 2147483647 h 304"/>
              <a:gd name="T70" fmla="*/ 2147483647 w 1532"/>
              <a:gd name="T71" fmla="*/ 2147483647 h 304"/>
              <a:gd name="T72" fmla="*/ 2147483647 w 1532"/>
              <a:gd name="T73" fmla="*/ 2147483647 h 304"/>
              <a:gd name="T74" fmla="*/ 2147483647 w 1532"/>
              <a:gd name="T75" fmla="*/ 2147483647 h 304"/>
              <a:gd name="T76" fmla="*/ 2147483647 w 1532"/>
              <a:gd name="T77" fmla="*/ 2147483647 h 304"/>
              <a:gd name="T78" fmla="*/ 2147483647 w 1532"/>
              <a:gd name="T79" fmla="*/ 2147483647 h 304"/>
              <a:gd name="T80" fmla="*/ 2147483647 w 1532"/>
              <a:gd name="T81" fmla="*/ 2147483647 h 304"/>
              <a:gd name="T82" fmla="*/ 2147483647 w 1532"/>
              <a:gd name="T83" fmla="*/ 2147483647 h 304"/>
              <a:gd name="T84" fmla="*/ 2147483647 w 1532"/>
              <a:gd name="T85" fmla="*/ 2147483647 h 304"/>
              <a:gd name="T86" fmla="*/ 2147483647 w 1532"/>
              <a:gd name="T87" fmla="*/ 2147483647 h 304"/>
              <a:gd name="T88" fmla="*/ 2147483647 w 1532"/>
              <a:gd name="T89" fmla="*/ 2147483647 h 304"/>
              <a:gd name="T90" fmla="*/ 2147483647 w 1532"/>
              <a:gd name="T91" fmla="*/ 2147483647 h 304"/>
              <a:gd name="T92" fmla="*/ 2147483647 w 1532"/>
              <a:gd name="T93" fmla="*/ 2147483647 h 304"/>
              <a:gd name="T94" fmla="*/ 2147483647 w 1532"/>
              <a:gd name="T95" fmla="*/ 2147483647 h 304"/>
              <a:gd name="T96" fmla="*/ 2147483647 w 1532"/>
              <a:gd name="T97" fmla="*/ 2147483647 h 304"/>
              <a:gd name="T98" fmla="*/ 2147483647 w 1532"/>
              <a:gd name="T99" fmla="*/ 2147483647 h 304"/>
              <a:gd name="T100" fmla="*/ 2147483647 w 1532"/>
              <a:gd name="T101" fmla="*/ 2147483647 h 304"/>
              <a:gd name="T102" fmla="*/ 2147483647 w 1532"/>
              <a:gd name="T103" fmla="*/ 2147483647 h 304"/>
              <a:gd name="T104" fmla="*/ 2147483647 w 1532"/>
              <a:gd name="T105" fmla="*/ 2147483647 h 304"/>
              <a:gd name="T106" fmla="*/ 2147483647 w 1532"/>
              <a:gd name="T107" fmla="*/ 2147483647 h 304"/>
              <a:gd name="T108" fmla="*/ 2147483647 w 1532"/>
              <a:gd name="T109" fmla="*/ 2147483647 h 304"/>
              <a:gd name="T110" fmla="*/ 2147483647 w 1532"/>
              <a:gd name="T111" fmla="*/ 2147483647 h 304"/>
              <a:gd name="T112" fmla="*/ 2147483647 w 1532"/>
              <a:gd name="T113" fmla="*/ 2147483647 h 30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1532"/>
              <a:gd name="T172" fmla="*/ 0 h 304"/>
              <a:gd name="T173" fmla="*/ 1532 w 1532"/>
              <a:gd name="T174" fmla="*/ 304 h 304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1532" h="304">
                <a:moveTo>
                  <a:pt x="2" y="0"/>
                </a:moveTo>
                <a:lnTo>
                  <a:pt x="42" y="8"/>
                </a:lnTo>
                <a:lnTo>
                  <a:pt x="40" y="18"/>
                </a:lnTo>
                <a:lnTo>
                  <a:pt x="0" y="10"/>
                </a:lnTo>
                <a:lnTo>
                  <a:pt x="2" y="0"/>
                </a:lnTo>
                <a:close/>
                <a:moveTo>
                  <a:pt x="71" y="13"/>
                </a:moveTo>
                <a:lnTo>
                  <a:pt x="110" y="21"/>
                </a:lnTo>
                <a:lnTo>
                  <a:pt x="108" y="31"/>
                </a:lnTo>
                <a:lnTo>
                  <a:pt x="69" y="23"/>
                </a:lnTo>
                <a:lnTo>
                  <a:pt x="71" y="13"/>
                </a:lnTo>
                <a:close/>
                <a:moveTo>
                  <a:pt x="140" y="27"/>
                </a:moveTo>
                <a:lnTo>
                  <a:pt x="179" y="34"/>
                </a:lnTo>
                <a:lnTo>
                  <a:pt x="177" y="44"/>
                </a:lnTo>
                <a:lnTo>
                  <a:pt x="138" y="36"/>
                </a:lnTo>
                <a:lnTo>
                  <a:pt x="140" y="27"/>
                </a:lnTo>
                <a:close/>
                <a:moveTo>
                  <a:pt x="209" y="40"/>
                </a:moveTo>
                <a:lnTo>
                  <a:pt x="248" y="47"/>
                </a:lnTo>
                <a:lnTo>
                  <a:pt x="246" y="57"/>
                </a:lnTo>
                <a:lnTo>
                  <a:pt x="207" y="50"/>
                </a:lnTo>
                <a:lnTo>
                  <a:pt x="209" y="40"/>
                </a:lnTo>
                <a:close/>
                <a:moveTo>
                  <a:pt x="277" y="53"/>
                </a:moveTo>
                <a:lnTo>
                  <a:pt x="317" y="60"/>
                </a:lnTo>
                <a:lnTo>
                  <a:pt x="315" y="70"/>
                </a:lnTo>
                <a:lnTo>
                  <a:pt x="275" y="63"/>
                </a:lnTo>
                <a:lnTo>
                  <a:pt x="277" y="53"/>
                </a:lnTo>
                <a:close/>
                <a:moveTo>
                  <a:pt x="346" y="66"/>
                </a:moveTo>
                <a:lnTo>
                  <a:pt x="385" y="74"/>
                </a:lnTo>
                <a:lnTo>
                  <a:pt x="383" y="84"/>
                </a:lnTo>
                <a:lnTo>
                  <a:pt x="344" y="76"/>
                </a:lnTo>
                <a:lnTo>
                  <a:pt x="346" y="66"/>
                </a:lnTo>
                <a:close/>
                <a:moveTo>
                  <a:pt x="415" y="79"/>
                </a:moveTo>
                <a:lnTo>
                  <a:pt x="454" y="87"/>
                </a:lnTo>
                <a:lnTo>
                  <a:pt x="452" y="97"/>
                </a:lnTo>
                <a:lnTo>
                  <a:pt x="413" y="89"/>
                </a:lnTo>
                <a:lnTo>
                  <a:pt x="415" y="79"/>
                </a:lnTo>
                <a:close/>
                <a:moveTo>
                  <a:pt x="484" y="93"/>
                </a:moveTo>
                <a:lnTo>
                  <a:pt x="523" y="100"/>
                </a:lnTo>
                <a:lnTo>
                  <a:pt x="521" y="110"/>
                </a:lnTo>
                <a:lnTo>
                  <a:pt x="482" y="102"/>
                </a:lnTo>
                <a:lnTo>
                  <a:pt x="484" y="93"/>
                </a:lnTo>
                <a:close/>
                <a:moveTo>
                  <a:pt x="552" y="106"/>
                </a:moveTo>
                <a:lnTo>
                  <a:pt x="592" y="113"/>
                </a:lnTo>
                <a:lnTo>
                  <a:pt x="590" y="123"/>
                </a:lnTo>
                <a:lnTo>
                  <a:pt x="550" y="116"/>
                </a:lnTo>
                <a:lnTo>
                  <a:pt x="552" y="106"/>
                </a:lnTo>
                <a:close/>
                <a:moveTo>
                  <a:pt x="621" y="119"/>
                </a:moveTo>
                <a:lnTo>
                  <a:pt x="660" y="127"/>
                </a:lnTo>
                <a:lnTo>
                  <a:pt x="658" y="136"/>
                </a:lnTo>
                <a:lnTo>
                  <a:pt x="619" y="129"/>
                </a:lnTo>
                <a:lnTo>
                  <a:pt x="621" y="119"/>
                </a:lnTo>
                <a:close/>
                <a:moveTo>
                  <a:pt x="690" y="132"/>
                </a:moveTo>
                <a:lnTo>
                  <a:pt x="729" y="140"/>
                </a:lnTo>
                <a:lnTo>
                  <a:pt x="727" y="150"/>
                </a:lnTo>
                <a:lnTo>
                  <a:pt x="688" y="142"/>
                </a:lnTo>
                <a:lnTo>
                  <a:pt x="690" y="132"/>
                </a:lnTo>
                <a:close/>
                <a:moveTo>
                  <a:pt x="759" y="145"/>
                </a:moveTo>
                <a:lnTo>
                  <a:pt x="798" y="153"/>
                </a:lnTo>
                <a:lnTo>
                  <a:pt x="796" y="163"/>
                </a:lnTo>
                <a:lnTo>
                  <a:pt x="757" y="155"/>
                </a:lnTo>
                <a:lnTo>
                  <a:pt x="759" y="145"/>
                </a:lnTo>
                <a:close/>
                <a:moveTo>
                  <a:pt x="827" y="159"/>
                </a:moveTo>
                <a:lnTo>
                  <a:pt x="867" y="166"/>
                </a:lnTo>
                <a:lnTo>
                  <a:pt x="865" y="176"/>
                </a:lnTo>
                <a:lnTo>
                  <a:pt x="825" y="168"/>
                </a:lnTo>
                <a:lnTo>
                  <a:pt x="827" y="159"/>
                </a:lnTo>
                <a:close/>
                <a:moveTo>
                  <a:pt x="896" y="172"/>
                </a:moveTo>
                <a:lnTo>
                  <a:pt x="935" y="179"/>
                </a:lnTo>
                <a:lnTo>
                  <a:pt x="933" y="189"/>
                </a:lnTo>
                <a:lnTo>
                  <a:pt x="894" y="182"/>
                </a:lnTo>
                <a:lnTo>
                  <a:pt x="896" y="172"/>
                </a:lnTo>
                <a:close/>
                <a:moveTo>
                  <a:pt x="965" y="185"/>
                </a:moveTo>
                <a:lnTo>
                  <a:pt x="1004" y="193"/>
                </a:lnTo>
                <a:lnTo>
                  <a:pt x="1002" y="202"/>
                </a:lnTo>
                <a:lnTo>
                  <a:pt x="963" y="195"/>
                </a:lnTo>
                <a:lnTo>
                  <a:pt x="965" y="185"/>
                </a:lnTo>
                <a:close/>
                <a:moveTo>
                  <a:pt x="1033" y="198"/>
                </a:moveTo>
                <a:lnTo>
                  <a:pt x="1073" y="206"/>
                </a:lnTo>
                <a:lnTo>
                  <a:pt x="1071" y="216"/>
                </a:lnTo>
                <a:lnTo>
                  <a:pt x="1032" y="208"/>
                </a:lnTo>
                <a:lnTo>
                  <a:pt x="1033" y="198"/>
                </a:lnTo>
                <a:close/>
                <a:moveTo>
                  <a:pt x="1102" y="211"/>
                </a:moveTo>
                <a:lnTo>
                  <a:pt x="1142" y="219"/>
                </a:lnTo>
                <a:lnTo>
                  <a:pt x="1140" y="229"/>
                </a:lnTo>
                <a:lnTo>
                  <a:pt x="1100" y="221"/>
                </a:lnTo>
                <a:lnTo>
                  <a:pt x="1102" y="211"/>
                </a:lnTo>
                <a:close/>
                <a:moveTo>
                  <a:pt x="1171" y="225"/>
                </a:moveTo>
                <a:lnTo>
                  <a:pt x="1210" y="232"/>
                </a:lnTo>
                <a:lnTo>
                  <a:pt x="1208" y="242"/>
                </a:lnTo>
                <a:lnTo>
                  <a:pt x="1169" y="234"/>
                </a:lnTo>
                <a:lnTo>
                  <a:pt x="1171" y="225"/>
                </a:lnTo>
                <a:close/>
                <a:moveTo>
                  <a:pt x="1240" y="238"/>
                </a:moveTo>
                <a:lnTo>
                  <a:pt x="1279" y="245"/>
                </a:lnTo>
                <a:lnTo>
                  <a:pt x="1277" y="255"/>
                </a:lnTo>
                <a:lnTo>
                  <a:pt x="1238" y="248"/>
                </a:lnTo>
                <a:lnTo>
                  <a:pt x="1240" y="238"/>
                </a:lnTo>
                <a:close/>
                <a:moveTo>
                  <a:pt x="1308" y="251"/>
                </a:moveTo>
                <a:lnTo>
                  <a:pt x="1348" y="259"/>
                </a:lnTo>
                <a:lnTo>
                  <a:pt x="1346" y="268"/>
                </a:lnTo>
                <a:lnTo>
                  <a:pt x="1307" y="261"/>
                </a:lnTo>
                <a:lnTo>
                  <a:pt x="1308" y="251"/>
                </a:lnTo>
                <a:close/>
                <a:moveTo>
                  <a:pt x="1377" y="264"/>
                </a:moveTo>
                <a:lnTo>
                  <a:pt x="1416" y="272"/>
                </a:lnTo>
                <a:lnTo>
                  <a:pt x="1415" y="282"/>
                </a:lnTo>
                <a:lnTo>
                  <a:pt x="1375" y="274"/>
                </a:lnTo>
                <a:lnTo>
                  <a:pt x="1377" y="264"/>
                </a:lnTo>
                <a:close/>
                <a:moveTo>
                  <a:pt x="1446" y="278"/>
                </a:moveTo>
                <a:lnTo>
                  <a:pt x="1485" y="285"/>
                </a:lnTo>
                <a:lnTo>
                  <a:pt x="1483" y="295"/>
                </a:lnTo>
                <a:lnTo>
                  <a:pt x="1444" y="287"/>
                </a:lnTo>
                <a:lnTo>
                  <a:pt x="1446" y="278"/>
                </a:lnTo>
                <a:close/>
                <a:moveTo>
                  <a:pt x="1515" y="291"/>
                </a:moveTo>
                <a:lnTo>
                  <a:pt x="1532" y="294"/>
                </a:lnTo>
                <a:lnTo>
                  <a:pt x="1530" y="304"/>
                </a:lnTo>
                <a:lnTo>
                  <a:pt x="1513" y="301"/>
                </a:lnTo>
                <a:lnTo>
                  <a:pt x="1515" y="291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2309" name="Rectangle 15"/>
          <p:cNvSpPr>
            <a:spLocks noChangeArrowheads="1"/>
          </p:cNvSpPr>
          <p:nvPr/>
        </p:nvSpPr>
        <p:spPr bwMode="auto">
          <a:xfrm>
            <a:off x="1781178" y="148502"/>
            <a:ext cx="571182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latin typeface="Tahoma" pitchFamily="34" charset="0"/>
              </a:rPr>
              <a:t>Contributions to the Total Neutron Balance</a:t>
            </a:r>
          </a:p>
          <a:p>
            <a:pPr algn="ctr"/>
            <a:r>
              <a:rPr lang="en-US" sz="2000" b="1" dirty="0">
                <a:latin typeface="Tahoma" pitchFamily="34" charset="0"/>
              </a:rPr>
              <a:t>during </a:t>
            </a:r>
            <a:r>
              <a:rPr lang="en-US" sz="2000" b="1" dirty="0">
                <a:latin typeface="Symbol" pitchFamily="18" charset="2"/>
              </a:rPr>
              <a:t>D</a:t>
            </a:r>
            <a:r>
              <a:rPr lang="en-US" sz="2000" i="1" dirty="0">
                <a:latin typeface="Tahoma" pitchFamily="34" charset="0"/>
              </a:rPr>
              <a:t>t</a:t>
            </a:r>
            <a:r>
              <a:rPr lang="en-US" sz="2000" b="1" dirty="0">
                <a:latin typeface="Tahoma" pitchFamily="34" charset="0"/>
              </a:rPr>
              <a:t> </a:t>
            </a:r>
          </a:p>
        </p:txBody>
      </p:sp>
      <p:graphicFrame>
        <p:nvGraphicFramePr>
          <p:cNvPr id="12290" name="Object 16"/>
          <p:cNvGraphicFramePr>
            <a:graphicFrameLocks noChangeAspect="1"/>
          </p:cNvGraphicFramePr>
          <p:nvPr/>
        </p:nvGraphicFramePr>
        <p:xfrm>
          <a:off x="3932239" y="1453754"/>
          <a:ext cx="363537" cy="367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74" name="Equation" r:id="rId4" imgW="152268" imgH="253780" progId="Equation.DSMT4">
                  <p:embed/>
                </p:oleObj>
              </mc:Choice>
              <mc:Fallback>
                <p:oleObj name="Equation" r:id="rId4" imgW="152268" imgH="2537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9" y="1453754"/>
                        <a:ext cx="363537" cy="367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0" name="Rectangle 17"/>
          <p:cNvSpPr>
            <a:spLocks noChangeArrowheads="1"/>
          </p:cNvSpPr>
          <p:nvPr/>
        </p:nvSpPr>
        <p:spPr bwMode="auto">
          <a:xfrm>
            <a:off x="2901950" y="694135"/>
            <a:ext cx="577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</p:txBody>
      </p:sp>
      <p:sp>
        <p:nvSpPr>
          <p:cNvPr id="12311" name="Rectangle 18"/>
          <p:cNvSpPr>
            <a:spLocks noChangeArrowheads="1"/>
          </p:cNvSpPr>
          <p:nvPr/>
        </p:nvSpPr>
        <p:spPr bwMode="auto">
          <a:xfrm>
            <a:off x="557389" y="694135"/>
            <a:ext cx="2608086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Medium in and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absorbing environment</a:t>
            </a:r>
            <a:endParaRPr lang="en-US" sz="2000" dirty="0"/>
          </a:p>
        </p:txBody>
      </p:sp>
      <p:sp>
        <p:nvSpPr>
          <p:cNvPr id="12313" name="Freeform 28"/>
          <p:cNvSpPr>
            <a:spLocks noEditPoints="1"/>
          </p:cNvSpPr>
          <p:nvPr/>
        </p:nvSpPr>
        <p:spPr bwMode="auto">
          <a:xfrm>
            <a:off x="5180013" y="1356123"/>
            <a:ext cx="1611312" cy="401240"/>
          </a:xfrm>
          <a:custGeom>
            <a:avLst/>
            <a:gdLst>
              <a:gd name="T0" fmla="*/ 2147483647 w 8456"/>
              <a:gd name="T1" fmla="*/ 2147483647 h 2806"/>
              <a:gd name="T2" fmla="*/ 2147483647 w 8456"/>
              <a:gd name="T3" fmla="*/ 2147483647 h 2806"/>
              <a:gd name="T4" fmla="*/ 2147483647 w 8456"/>
              <a:gd name="T5" fmla="*/ 2147483647 h 2806"/>
              <a:gd name="T6" fmla="*/ 2147483647 w 8456"/>
              <a:gd name="T7" fmla="*/ 2147483647 h 2806"/>
              <a:gd name="T8" fmla="*/ 2147483647 w 8456"/>
              <a:gd name="T9" fmla="*/ 2147483647 h 2806"/>
              <a:gd name="T10" fmla="*/ 2147483647 w 8456"/>
              <a:gd name="T11" fmla="*/ 2147483647 h 2806"/>
              <a:gd name="T12" fmla="*/ 2147483647 w 8456"/>
              <a:gd name="T13" fmla="*/ 2147483647 h 2806"/>
              <a:gd name="T14" fmla="*/ 2147483647 w 8456"/>
              <a:gd name="T15" fmla="*/ 2147483647 h 2806"/>
              <a:gd name="T16" fmla="*/ 2147483647 w 8456"/>
              <a:gd name="T17" fmla="*/ 2147483647 h 2806"/>
              <a:gd name="T18" fmla="*/ 2147483647 w 8456"/>
              <a:gd name="T19" fmla="*/ 2147483647 h 2806"/>
              <a:gd name="T20" fmla="*/ 2147483647 w 8456"/>
              <a:gd name="T21" fmla="*/ 2147483647 h 2806"/>
              <a:gd name="T22" fmla="*/ 2147483647 w 8456"/>
              <a:gd name="T23" fmla="*/ 2147483647 h 2806"/>
              <a:gd name="T24" fmla="*/ 2147483647 w 8456"/>
              <a:gd name="T25" fmla="*/ 2147483647 h 2806"/>
              <a:gd name="T26" fmla="*/ 2147483647 w 8456"/>
              <a:gd name="T27" fmla="*/ 2147483647 h 2806"/>
              <a:gd name="T28" fmla="*/ 2147483647 w 8456"/>
              <a:gd name="T29" fmla="*/ 2147483647 h 2806"/>
              <a:gd name="T30" fmla="*/ 2147483647 w 8456"/>
              <a:gd name="T31" fmla="*/ 2147483647 h 2806"/>
              <a:gd name="T32" fmla="*/ 2147483647 w 8456"/>
              <a:gd name="T33" fmla="*/ 2147483647 h 2806"/>
              <a:gd name="T34" fmla="*/ 2147483647 w 8456"/>
              <a:gd name="T35" fmla="*/ 2147483647 h 2806"/>
              <a:gd name="T36" fmla="*/ 2147483647 w 8456"/>
              <a:gd name="T37" fmla="*/ 2147483647 h 2806"/>
              <a:gd name="T38" fmla="*/ 2147483647 w 8456"/>
              <a:gd name="T39" fmla="*/ 2147483647 h 2806"/>
              <a:gd name="T40" fmla="*/ 2147483647 w 8456"/>
              <a:gd name="T41" fmla="*/ 2147483647 h 2806"/>
              <a:gd name="T42" fmla="*/ 2147483647 w 8456"/>
              <a:gd name="T43" fmla="*/ 2147483647 h 2806"/>
              <a:gd name="T44" fmla="*/ 2147483647 w 8456"/>
              <a:gd name="T45" fmla="*/ 2147483647 h 2806"/>
              <a:gd name="T46" fmla="*/ 2147483647 w 8456"/>
              <a:gd name="T47" fmla="*/ 2147483647 h 2806"/>
              <a:gd name="T48" fmla="*/ 2147483647 w 8456"/>
              <a:gd name="T49" fmla="*/ 2147483647 h 2806"/>
              <a:gd name="T50" fmla="*/ 2147483647 w 8456"/>
              <a:gd name="T51" fmla="*/ 2147483647 h 2806"/>
              <a:gd name="T52" fmla="*/ 2147483647 w 8456"/>
              <a:gd name="T53" fmla="*/ 2147483647 h 2806"/>
              <a:gd name="T54" fmla="*/ 2147483647 w 8456"/>
              <a:gd name="T55" fmla="*/ 2147483647 h 2806"/>
              <a:gd name="T56" fmla="*/ 2147483647 w 8456"/>
              <a:gd name="T57" fmla="*/ 2147483647 h 2806"/>
              <a:gd name="T58" fmla="*/ 2147483647 w 8456"/>
              <a:gd name="T59" fmla="*/ 2147483647 h 2806"/>
              <a:gd name="T60" fmla="*/ 2147483647 w 8456"/>
              <a:gd name="T61" fmla="*/ 2147483647 h 2806"/>
              <a:gd name="T62" fmla="*/ 2147483647 w 8456"/>
              <a:gd name="T63" fmla="*/ 2147483647 h 2806"/>
              <a:gd name="T64" fmla="*/ 2147483647 w 8456"/>
              <a:gd name="T65" fmla="*/ 2147483647 h 2806"/>
              <a:gd name="T66" fmla="*/ 2147483647 w 8456"/>
              <a:gd name="T67" fmla="*/ 2147483647 h 2806"/>
              <a:gd name="T68" fmla="*/ 2147483647 w 8456"/>
              <a:gd name="T69" fmla="*/ 2147483647 h 2806"/>
              <a:gd name="T70" fmla="*/ 2147483647 w 8456"/>
              <a:gd name="T71" fmla="*/ 2147483647 h 2806"/>
              <a:gd name="T72" fmla="*/ 2147483647 w 8456"/>
              <a:gd name="T73" fmla="*/ 2147483647 h 2806"/>
              <a:gd name="T74" fmla="*/ 2147483647 w 8456"/>
              <a:gd name="T75" fmla="*/ 2147483647 h 2806"/>
              <a:gd name="T76" fmla="*/ 2147483647 w 8456"/>
              <a:gd name="T77" fmla="*/ 2147483647 h 2806"/>
              <a:gd name="T78" fmla="*/ 2147483647 w 8456"/>
              <a:gd name="T79" fmla="*/ 2147483647 h 2806"/>
              <a:gd name="T80" fmla="*/ 2147483647 w 8456"/>
              <a:gd name="T81" fmla="*/ 2147483647 h 2806"/>
              <a:gd name="T82" fmla="*/ 2147483647 w 8456"/>
              <a:gd name="T83" fmla="*/ 2147483647 h 2806"/>
              <a:gd name="T84" fmla="*/ 2147483647 w 8456"/>
              <a:gd name="T85" fmla="*/ 2147483647 h 2806"/>
              <a:gd name="T86" fmla="*/ 2147483647 w 8456"/>
              <a:gd name="T87" fmla="*/ 2147483647 h 2806"/>
              <a:gd name="T88" fmla="*/ 2147483647 w 8456"/>
              <a:gd name="T89" fmla="*/ 2147483647 h 2806"/>
              <a:gd name="T90" fmla="*/ 2147483647 w 8456"/>
              <a:gd name="T91" fmla="*/ 2147483647 h 2806"/>
              <a:gd name="T92" fmla="*/ 2147483647 w 8456"/>
              <a:gd name="T93" fmla="*/ 2147483647 h 2806"/>
              <a:gd name="T94" fmla="*/ 2147483647 w 8456"/>
              <a:gd name="T95" fmla="*/ 2147483647 h 2806"/>
              <a:gd name="T96" fmla="*/ 2147483647 w 8456"/>
              <a:gd name="T97" fmla="*/ 2147483647 h 2806"/>
              <a:gd name="T98" fmla="*/ 2147483647 w 8456"/>
              <a:gd name="T99" fmla="*/ 2147483647 h 2806"/>
              <a:gd name="T100" fmla="*/ 2147483647 w 8456"/>
              <a:gd name="T101" fmla="*/ 2147483647 h 2806"/>
              <a:gd name="T102" fmla="*/ 2147483647 w 8456"/>
              <a:gd name="T103" fmla="*/ 2147483647 h 2806"/>
              <a:gd name="T104" fmla="*/ 2147483647 w 8456"/>
              <a:gd name="T105" fmla="*/ 2147483647 h 2806"/>
              <a:gd name="T106" fmla="*/ 2147483647 w 8456"/>
              <a:gd name="T107" fmla="*/ 2147483647 h 2806"/>
              <a:gd name="T108" fmla="*/ 2147483647 w 8456"/>
              <a:gd name="T109" fmla="*/ 2147483647 h 2806"/>
              <a:gd name="T110" fmla="*/ 2147483647 w 8456"/>
              <a:gd name="T111" fmla="*/ 2147483647 h 2806"/>
              <a:gd name="T112" fmla="*/ 2147483647 w 8456"/>
              <a:gd name="T113" fmla="*/ 2147483647 h 2806"/>
              <a:gd name="T114" fmla="*/ 2147483647 w 8456"/>
              <a:gd name="T115" fmla="*/ 2147483647 h 2806"/>
              <a:gd name="T116" fmla="*/ 2147483647 w 8456"/>
              <a:gd name="T117" fmla="*/ 2147483647 h 2806"/>
              <a:gd name="T118" fmla="*/ 2147483647 w 8456"/>
              <a:gd name="T119" fmla="*/ 2147483647 h 280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8456"/>
              <a:gd name="T181" fmla="*/ 0 h 2806"/>
              <a:gd name="T182" fmla="*/ 8456 w 8456"/>
              <a:gd name="T183" fmla="*/ 2806 h 280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8456" h="2806">
                <a:moveTo>
                  <a:pt x="20" y="2754"/>
                </a:moveTo>
                <a:lnTo>
                  <a:pt x="163" y="2707"/>
                </a:lnTo>
                <a:cubicBezTo>
                  <a:pt x="176" y="2703"/>
                  <a:pt x="190" y="2710"/>
                  <a:pt x="194" y="2723"/>
                </a:cubicBezTo>
                <a:cubicBezTo>
                  <a:pt x="198" y="2736"/>
                  <a:pt x="191" y="2751"/>
                  <a:pt x="178" y="2755"/>
                </a:cubicBezTo>
                <a:lnTo>
                  <a:pt x="36" y="2802"/>
                </a:lnTo>
                <a:cubicBezTo>
                  <a:pt x="22" y="2806"/>
                  <a:pt x="8" y="2799"/>
                  <a:pt x="4" y="2786"/>
                </a:cubicBezTo>
                <a:cubicBezTo>
                  <a:pt x="0" y="2772"/>
                  <a:pt x="7" y="2758"/>
                  <a:pt x="20" y="2754"/>
                </a:cubicBezTo>
                <a:close/>
                <a:moveTo>
                  <a:pt x="353" y="2645"/>
                </a:moveTo>
                <a:lnTo>
                  <a:pt x="495" y="2598"/>
                </a:lnTo>
                <a:cubicBezTo>
                  <a:pt x="508" y="2594"/>
                  <a:pt x="522" y="2601"/>
                  <a:pt x="527" y="2614"/>
                </a:cubicBezTo>
                <a:cubicBezTo>
                  <a:pt x="531" y="2628"/>
                  <a:pt x="524" y="2642"/>
                  <a:pt x="511" y="2646"/>
                </a:cubicBezTo>
                <a:lnTo>
                  <a:pt x="368" y="2693"/>
                </a:lnTo>
                <a:cubicBezTo>
                  <a:pt x="355" y="2697"/>
                  <a:pt x="341" y="2690"/>
                  <a:pt x="337" y="2677"/>
                </a:cubicBezTo>
                <a:cubicBezTo>
                  <a:pt x="332" y="2664"/>
                  <a:pt x="340" y="2649"/>
                  <a:pt x="353" y="2645"/>
                </a:cubicBezTo>
                <a:close/>
                <a:moveTo>
                  <a:pt x="685" y="2536"/>
                </a:moveTo>
                <a:lnTo>
                  <a:pt x="828" y="2490"/>
                </a:lnTo>
                <a:cubicBezTo>
                  <a:pt x="841" y="2485"/>
                  <a:pt x="855" y="2492"/>
                  <a:pt x="859" y="2506"/>
                </a:cubicBezTo>
                <a:cubicBezTo>
                  <a:pt x="864" y="2519"/>
                  <a:pt x="857" y="2533"/>
                  <a:pt x="843" y="2537"/>
                </a:cubicBezTo>
                <a:lnTo>
                  <a:pt x="701" y="2584"/>
                </a:lnTo>
                <a:cubicBezTo>
                  <a:pt x="688" y="2588"/>
                  <a:pt x="674" y="2581"/>
                  <a:pt x="669" y="2568"/>
                </a:cubicBezTo>
                <a:cubicBezTo>
                  <a:pt x="665" y="2555"/>
                  <a:pt x="672" y="2541"/>
                  <a:pt x="685" y="2536"/>
                </a:cubicBezTo>
                <a:close/>
                <a:moveTo>
                  <a:pt x="1018" y="2427"/>
                </a:moveTo>
                <a:lnTo>
                  <a:pt x="1160" y="2381"/>
                </a:lnTo>
                <a:cubicBezTo>
                  <a:pt x="1174" y="2376"/>
                  <a:pt x="1188" y="2384"/>
                  <a:pt x="1192" y="2397"/>
                </a:cubicBezTo>
                <a:cubicBezTo>
                  <a:pt x="1196" y="2410"/>
                  <a:pt x="1189" y="2424"/>
                  <a:pt x="1176" y="2428"/>
                </a:cubicBezTo>
                <a:lnTo>
                  <a:pt x="1033" y="2475"/>
                </a:lnTo>
                <a:cubicBezTo>
                  <a:pt x="1020" y="2479"/>
                  <a:pt x="1006" y="2472"/>
                  <a:pt x="1002" y="2459"/>
                </a:cubicBezTo>
                <a:cubicBezTo>
                  <a:pt x="998" y="2446"/>
                  <a:pt x="1005" y="2432"/>
                  <a:pt x="1018" y="2427"/>
                </a:cubicBezTo>
                <a:close/>
                <a:moveTo>
                  <a:pt x="1351" y="2318"/>
                </a:moveTo>
                <a:lnTo>
                  <a:pt x="1493" y="2272"/>
                </a:lnTo>
                <a:cubicBezTo>
                  <a:pt x="1506" y="2267"/>
                  <a:pt x="1520" y="2275"/>
                  <a:pt x="1525" y="2288"/>
                </a:cubicBezTo>
                <a:cubicBezTo>
                  <a:pt x="1529" y="2301"/>
                  <a:pt x="1522" y="2315"/>
                  <a:pt x="1509" y="2319"/>
                </a:cubicBezTo>
                <a:lnTo>
                  <a:pt x="1366" y="2366"/>
                </a:lnTo>
                <a:cubicBezTo>
                  <a:pt x="1353" y="2370"/>
                  <a:pt x="1339" y="2363"/>
                  <a:pt x="1335" y="2350"/>
                </a:cubicBezTo>
                <a:cubicBezTo>
                  <a:pt x="1330" y="2337"/>
                  <a:pt x="1337" y="2323"/>
                  <a:pt x="1351" y="2318"/>
                </a:cubicBezTo>
                <a:close/>
                <a:moveTo>
                  <a:pt x="1683" y="2210"/>
                </a:moveTo>
                <a:lnTo>
                  <a:pt x="1826" y="2163"/>
                </a:lnTo>
                <a:cubicBezTo>
                  <a:pt x="1839" y="2159"/>
                  <a:pt x="1853" y="2166"/>
                  <a:pt x="1857" y="2179"/>
                </a:cubicBezTo>
                <a:cubicBezTo>
                  <a:pt x="1862" y="2192"/>
                  <a:pt x="1854" y="2206"/>
                  <a:pt x="1841" y="2210"/>
                </a:cubicBezTo>
                <a:lnTo>
                  <a:pt x="1699" y="2257"/>
                </a:lnTo>
                <a:cubicBezTo>
                  <a:pt x="1686" y="2261"/>
                  <a:pt x="1671" y="2254"/>
                  <a:pt x="1667" y="2241"/>
                </a:cubicBezTo>
                <a:cubicBezTo>
                  <a:pt x="1663" y="2228"/>
                  <a:pt x="1670" y="2214"/>
                  <a:pt x="1683" y="2210"/>
                </a:cubicBezTo>
                <a:close/>
                <a:moveTo>
                  <a:pt x="2016" y="2101"/>
                </a:moveTo>
                <a:lnTo>
                  <a:pt x="2158" y="2054"/>
                </a:lnTo>
                <a:cubicBezTo>
                  <a:pt x="2171" y="2050"/>
                  <a:pt x="2186" y="2057"/>
                  <a:pt x="2190" y="2070"/>
                </a:cubicBezTo>
                <a:cubicBezTo>
                  <a:pt x="2194" y="2083"/>
                  <a:pt x="2187" y="2097"/>
                  <a:pt x="2174" y="2102"/>
                </a:cubicBezTo>
                <a:lnTo>
                  <a:pt x="2031" y="2148"/>
                </a:lnTo>
                <a:cubicBezTo>
                  <a:pt x="2018" y="2152"/>
                  <a:pt x="2004" y="2145"/>
                  <a:pt x="2000" y="2132"/>
                </a:cubicBezTo>
                <a:cubicBezTo>
                  <a:pt x="1996" y="2119"/>
                  <a:pt x="2003" y="2105"/>
                  <a:pt x="2016" y="2101"/>
                </a:cubicBezTo>
                <a:close/>
                <a:moveTo>
                  <a:pt x="2348" y="1992"/>
                </a:moveTo>
                <a:lnTo>
                  <a:pt x="2491" y="1945"/>
                </a:lnTo>
                <a:cubicBezTo>
                  <a:pt x="2504" y="1941"/>
                  <a:pt x="2518" y="1948"/>
                  <a:pt x="2523" y="1961"/>
                </a:cubicBezTo>
                <a:cubicBezTo>
                  <a:pt x="2527" y="1974"/>
                  <a:pt x="2520" y="1988"/>
                  <a:pt x="2507" y="1993"/>
                </a:cubicBezTo>
                <a:lnTo>
                  <a:pt x="2364" y="2039"/>
                </a:lnTo>
                <a:cubicBezTo>
                  <a:pt x="2351" y="2044"/>
                  <a:pt x="2337" y="2036"/>
                  <a:pt x="2332" y="2023"/>
                </a:cubicBezTo>
                <a:cubicBezTo>
                  <a:pt x="2328" y="2010"/>
                  <a:pt x="2335" y="1996"/>
                  <a:pt x="2348" y="1992"/>
                </a:cubicBezTo>
                <a:close/>
                <a:moveTo>
                  <a:pt x="2681" y="1883"/>
                </a:moveTo>
                <a:lnTo>
                  <a:pt x="2824" y="1836"/>
                </a:lnTo>
                <a:cubicBezTo>
                  <a:pt x="2837" y="1832"/>
                  <a:pt x="2851" y="1839"/>
                  <a:pt x="2855" y="1852"/>
                </a:cubicBezTo>
                <a:cubicBezTo>
                  <a:pt x="2859" y="1865"/>
                  <a:pt x="2852" y="1879"/>
                  <a:pt x="2839" y="1884"/>
                </a:cubicBezTo>
                <a:lnTo>
                  <a:pt x="2697" y="1930"/>
                </a:lnTo>
                <a:cubicBezTo>
                  <a:pt x="2683" y="1935"/>
                  <a:pt x="2669" y="1928"/>
                  <a:pt x="2665" y="1914"/>
                </a:cubicBezTo>
                <a:cubicBezTo>
                  <a:pt x="2661" y="1901"/>
                  <a:pt x="2668" y="1887"/>
                  <a:pt x="2681" y="1883"/>
                </a:cubicBezTo>
                <a:close/>
                <a:moveTo>
                  <a:pt x="3014" y="1774"/>
                </a:moveTo>
                <a:lnTo>
                  <a:pt x="3156" y="1727"/>
                </a:lnTo>
                <a:cubicBezTo>
                  <a:pt x="3169" y="1723"/>
                  <a:pt x="3183" y="1730"/>
                  <a:pt x="3188" y="1743"/>
                </a:cubicBezTo>
                <a:cubicBezTo>
                  <a:pt x="3192" y="1756"/>
                  <a:pt x="3185" y="1771"/>
                  <a:pt x="3172" y="1775"/>
                </a:cubicBezTo>
                <a:lnTo>
                  <a:pt x="3029" y="1821"/>
                </a:lnTo>
                <a:cubicBezTo>
                  <a:pt x="3016" y="1826"/>
                  <a:pt x="3002" y="1819"/>
                  <a:pt x="2998" y="1806"/>
                </a:cubicBezTo>
                <a:cubicBezTo>
                  <a:pt x="2993" y="1792"/>
                  <a:pt x="3001" y="1778"/>
                  <a:pt x="3014" y="1774"/>
                </a:cubicBezTo>
                <a:close/>
                <a:moveTo>
                  <a:pt x="3346" y="1665"/>
                </a:moveTo>
                <a:lnTo>
                  <a:pt x="3489" y="1618"/>
                </a:lnTo>
                <a:cubicBezTo>
                  <a:pt x="3502" y="1614"/>
                  <a:pt x="3516" y="1621"/>
                  <a:pt x="3520" y="1634"/>
                </a:cubicBezTo>
                <a:cubicBezTo>
                  <a:pt x="3525" y="1648"/>
                  <a:pt x="3518" y="1662"/>
                  <a:pt x="3504" y="1666"/>
                </a:cubicBezTo>
                <a:lnTo>
                  <a:pt x="3362" y="1713"/>
                </a:lnTo>
                <a:cubicBezTo>
                  <a:pt x="3349" y="1717"/>
                  <a:pt x="3335" y="1710"/>
                  <a:pt x="3330" y="1697"/>
                </a:cubicBezTo>
                <a:cubicBezTo>
                  <a:pt x="3326" y="1683"/>
                  <a:pt x="3333" y="1669"/>
                  <a:pt x="3346" y="1665"/>
                </a:cubicBezTo>
                <a:close/>
                <a:moveTo>
                  <a:pt x="3679" y="1556"/>
                </a:moveTo>
                <a:lnTo>
                  <a:pt x="3821" y="1510"/>
                </a:lnTo>
                <a:cubicBezTo>
                  <a:pt x="3835" y="1505"/>
                  <a:pt x="3849" y="1512"/>
                  <a:pt x="3853" y="1525"/>
                </a:cubicBezTo>
                <a:cubicBezTo>
                  <a:pt x="3857" y="1539"/>
                  <a:pt x="3850" y="1553"/>
                  <a:pt x="3837" y="1557"/>
                </a:cubicBezTo>
                <a:lnTo>
                  <a:pt x="3694" y="1604"/>
                </a:lnTo>
                <a:cubicBezTo>
                  <a:pt x="3681" y="1608"/>
                  <a:pt x="3667" y="1601"/>
                  <a:pt x="3663" y="1588"/>
                </a:cubicBezTo>
                <a:cubicBezTo>
                  <a:pt x="3659" y="1575"/>
                  <a:pt x="3666" y="1560"/>
                  <a:pt x="3679" y="1556"/>
                </a:cubicBezTo>
                <a:close/>
                <a:moveTo>
                  <a:pt x="4012" y="1447"/>
                </a:moveTo>
                <a:lnTo>
                  <a:pt x="4154" y="1401"/>
                </a:lnTo>
                <a:cubicBezTo>
                  <a:pt x="4167" y="1396"/>
                  <a:pt x="4181" y="1403"/>
                  <a:pt x="4186" y="1417"/>
                </a:cubicBezTo>
                <a:cubicBezTo>
                  <a:pt x="4190" y="1430"/>
                  <a:pt x="4183" y="1444"/>
                  <a:pt x="4170" y="1448"/>
                </a:cubicBezTo>
                <a:lnTo>
                  <a:pt x="4027" y="1495"/>
                </a:lnTo>
                <a:cubicBezTo>
                  <a:pt x="4014" y="1499"/>
                  <a:pt x="4000" y="1492"/>
                  <a:pt x="3996" y="1479"/>
                </a:cubicBezTo>
                <a:cubicBezTo>
                  <a:pt x="3991" y="1466"/>
                  <a:pt x="3998" y="1452"/>
                  <a:pt x="4012" y="1447"/>
                </a:cubicBezTo>
                <a:close/>
                <a:moveTo>
                  <a:pt x="4344" y="1338"/>
                </a:moveTo>
                <a:lnTo>
                  <a:pt x="4487" y="1292"/>
                </a:lnTo>
                <a:cubicBezTo>
                  <a:pt x="4500" y="1287"/>
                  <a:pt x="4514" y="1295"/>
                  <a:pt x="4518" y="1308"/>
                </a:cubicBezTo>
                <a:cubicBezTo>
                  <a:pt x="4523" y="1321"/>
                  <a:pt x="4515" y="1335"/>
                  <a:pt x="4502" y="1339"/>
                </a:cubicBezTo>
                <a:lnTo>
                  <a:pt x="4360" y="1386"/>
                </a:lnTo>
                <a:cubicBezTo>
                  <a:pt x="4347" y="1390"/>
                  <a:pt x="4332" y="1383"/>
                  <a:pt x="4328" y="1370"/>
                </a:cubicBezTo>
                <a:cubicBezTo>
                  <a:pt x="4324" y="1357"/>
                  <a:pt x="4331" y="1343"/>
                  <a:pt x="4344" y="1338"/>
                </a:cubicBezTo>
                <a:close/>
                <a:moveTo>
                  <a:pt x="4677" y="1229"/>
                </a:moveTo>
                <a:lnTo>
                  <a:pt x="4819" y="1183"/>
                </a:lnTo>
                <a:cubicBezTo>
                  <a:pt x="4832" y="1179"/>
                  <a:pt x="4847" y="1186"/>
                  <a:pt x="4851" y="1199"/>
                </a:cubicBezTo>
                <a:cubicBezTo>
                  <a:pt x="4855" y="1212"/>
                  <a:pt x="4848" y="1226"/>
                  <a:pt x="4835" y="1230"/>
                </a:cubicBezTo>
                <a:lnTo>
                  <a:pt x="4692" y="1277"/>
                </a:lnTo>
                <a:cubicBezTo>
                  <a:pt x="4679" y="1281"/>
                  <a:pt x="4665" y="1274"/>
                  <a:pt x="4661" y="1261"/>
                </a:cubicBezTo>
                <a:cubicBezTo>
                  <a:pt x="4657" y="1248"/>
                  <a:pt x="4664" y="1234"/>
                  <a:pt x="4677" y="1229"/>
                </a:cubicBezTo>
                <a:close/>
                <a:moveTo>
                  <a:pt x="5009" y="1121"/>
                </a:moveTo>
                <a:lnTo>
                  <a:pt x="5152" y="1074"/>
                </a:lnTo>
                <a:cubicBezTo>
                  <a:pt x="5165" y="1070"/>
                  <a:pt x="5179" y="1077"/>
                  <a:pt x="5184" y="1090"/>
                </a:cubicBezTo>
                <a:cubicBezTo>
                  <a:pt x="5188" y="1103"/>
                  <a:pt x="5181" y="1117"/>
                  <a:pt x="5168" y="1121"/>
                </a:cubicBezTo>
                <a:lnTo>
                  <a:pt x="5025" y="1168"/>
                </a:lnTo>
                <a:cubicBezTo>
                  <a:pt x="5012" y="1172"/>
                  <a:pt x="4998" y="1165"/>
                  <a:pt x="4993" y="1152"/>
                </a:cubicBezTo>
                <a:cubicBezTo>
                  <a:pt x="4989" y="1139"/>
                  <a:pt x="4996" y="1125"/>
                  <a:pt x="5009" y="1121"/>
                </a:cubicBezTo>
                <a:close/>
                <a:moveTo>
                  <a:pt x="5342" y="1012"/>
                </a:moveTo>
                <a:lnTo>
                  <a:pt x="5485" y="965"/>
                </a:lnTo>
                <a:cubicBezTo>
                  <a:pt x="5498" y="961"/>
                  <a:pt x="5512" y="968"/>
                  <a:pt x="5516" y="981"/>
                </a:cubicBezTo>
                <a:cubicBezTo>
                  <a:pt x="5520" y="994"/>
                  <a:pt x="5513" y="1008"/>
                  <a:pt x="5500" y="1013"/>
                </a:cubicBezTo>
                <a:lnTo>
                  <a:pt x="5358" y="1059"/>
                </a:lnTo>
                <a:cubicBezTo>
                  <a:pt x="5344" y="1064"/>
                  <a:pt x="5330" y="1056"/>
                  <a:pt x="5326" y="1043"/>
                </a:cubicBezTo>
                <a:cubicBezTo>
                  <a:pt x="5322" y="1030"/>
                  <a:pt x="5329" y="1016"/>
                  <a:pt x="5342" y="1012"/>
                </a:cubicBezTo>
                <a:close/>
                <a:moveTo>
                  <a:pt x="5675" y="903"/>
                </a:moveTo>
                <a:lnTo>
                  <a:pt x="5817" y="856"/>
                </a:lnTo>
                <a:cubicBezTo>
                  <a:pt x="5830" y="852"/>
                  <a:pt x="5844" y="859"/>
                  <a:pt x="5849" y="872"/>
                </a:cubicBezTo>
                <a:cubicBezTo>
                  <a:pt x="5853" y="885"/>
                  <a:pt x="5846" y="899"/>
                  <a:pt x="5833" y="904"/>
                </a:cubicBezTo>
                <a:lnTo>
                  <a:pt x="5690" y="950"/>
                </a:lnTo>
                <a:cubicBezTo>
                  <a:pt x="5677" y="955"/>
                  <a:pt x="5663" y="947"/>
                  <a:pt x="5659" y="934"/>
                </a:cubicBezTo>
                <a:cubicBezTo>
                  <a:pt x="5654" y="921"/>
                  <a:pt x="5662" y="907"/>
                  <a:pt x="5675" y="903"/>
                </a:cubicBezTo>
                <a:close/>
                <a:moveTo>
                  <a:pt x="6007" y="794"/>
                </a:moveTo>
                <a:lnTo>
                  <a:pt x="6150" y="747"/>
                </a:lnTo>
                <a:cubicBezTo>
                  <a:pt x="6163" y="743"/>
                  <a:pt x="6177" y="750"/>
                  <a:pt x="6181" y="763"/>
                </a:cubicBezTo>
                <a:cubicBezTo>
                  <a:pt x="6186" y="776"/>
                  <a:pt x="6179" y="790"/>
                  <a:pt x="6165" y="795"/>
                </a:cubicBezTo>
                <a:lnTo>
                  <a:pt x="6023" y="841"/>
                </a:lnTo>
                <a:cubicBezTo>
                  <a:pt x="6010" y="846"/>
                  <a:pt x="5996" y="839"/>
                  <a:pt x="5991" y="825"/>
                </a:cubicBezTo>
                <a:cubicBezTo>
                  <a:pt x="5987" y="812"/>
                  <a:pt x="5994" y="798"/>
                  <a:pt x="6007" y="794"/>
                </a:cubicBezTo>
                <a:close/>
                <a:moveTo>
                  <a:pt x="6340" y="685"/>
                </a:moveTo>
                <a:lnTo>
                  <a:pt x="6483" y="638"/>
                </a:lnTo>
                <a:cubicBezTo>
                  <a:pt x="6496" y="634"/>
                  <a:pt x="6510" y="641"/>
                  <a:pt x="6514" y="654"/>
                </a:cubicBezTo>
                <a:cubicBezTo>
                  <a:pt x="6518" y="667"/>
                  <a:pt x="6511" y="682"/>
                  <a:pt x="6498" y="686"/>
                </a:cubicBezTo>
                <a:lnTo>
                  <a:pt x="6356" y="733"/>
                </a:lnTo>
                <a:cubicBezTo>
                  <a:pt x="6342" y="737"/>
                  <a:pt x="6328" y="730"/>
                  <a:pt x="6324" y="717"/>
                </a:cubicBezTo>
                <a:cubicBezTo>
                  <a:pt x="6320" y="703"/>
                  <a:pt x="6327" y="689"/>
                  <a:pt x="6340" y="685"/>
                </a:cubicBezTo>
                <a:close/>
                <a:moveTo>
                  <a:pt x="6673" y="576"/>
                </a:moveTo>
                <a:lnTo>
                  <a:pt x="6815" y="529"/>
                </a:lnTo>
                <a:cubicBezTo>
                  <a:pt x="6828" y="525"/>
                  <a:pt x="6842" y="532"/>
                  <a:pt x="6847" y="545"/>
                </a:cubicBezTo>
                <a:cubicBezTo>
                  <a:pt x="6851" y="559"/>
                  <a:pt x="6844" y="573"/>
                  <a:pt x="6831" y="577"/>
                </a:cubicBezTo>
                <a:lnTo>
                  <a:pt x="6688" y="624"/>
                </a:lnTo>
                <a:cubicBezTo>
                  <a:pt x="6675" y="628"/>
                  <a:pt x="6661" y="621"/>
                  <a:pt x="6657" y="608"/>
                </a:cubicBezTo>
                <a:cubicBezTo>
                  <a:pt x="6652" y="595"/>
                  <a:pt x="6659" y="580"/>
                  <a:pt x="6673" y="576"/>
                </a:cubicBezTo>
                <a:close/>
                <a:moveTo>
                  <a:pt x="7005" y="467"/>
                </a:moveTo>
                <a:lnTo>
                  <a:pt x="7148" y="421"/>
                </a:lnTo>
                <a:cubicBezTo>
                  <a:pt x="7161" y="416"/>
                  <a:pt x="7175" y="423"/>
                  <a:pt x="7179" y="437"/>
                </a:cubicBezTo>
                <a:cubicBezTo>
                  <a:pt x="7184" y="450"/>
                  <a:pt x="7176" y="464"/>
                  <a:pt x="7163" y="468"/>
                </a:cubicBezTo>
                <a:lnTo>
                  <a:pt x="7021" y="515"/>
                </a:lnTo>
                <a:cubicBezTo>
                  <a:pt x="7008" y="519"/>
                  <a:pt x="6994" y="512"/>
                  <a:pt x="6989" y="499"/>
                </a:cubicBezTo>
                <a:cubicBezTo>
                  <a:pt x="6985" y="486"/>
                  <a:pt x="6992" y="472"/>
                  <a:pt x="7005" y="467"/>
                </a:cubicBezTo>
                <a:close/>
                <a:moveTo>
                  <a:pt x="7338" y="358"/>
                </a:moveTo>
                <a:lnTo>
                  <a:pt x="7480" y="312"/>
                </a:lnTo>
                <a:cubicBezTo>
                  <a:pt x="7494" y="307"/>
                  <a:pt x="7508" y="315"/>
                  <a:pt x="7512" y="328"/>
                </a:cubicBezTo>
                <a:cubicBezTo>
                  <a:pt x="7516" y="341"/>
                  <a:pt x="7509" y="355"/>
                  <a:pt x="7496" y="359"/>
                </a:cubicBezTo>
                <a:lnTo>
                  <a:pt x="7353" y="406"/>
                </a:lnTo>
                <a:cubicBezTo>
                  <a:pt x="7340" y="410"/>
                  <a:pt x="7326" y="403"/>
                  <a:pt x="7322" y="390"/>
                </a:cubicBezTo>
                <a:cubicBezTo>
                  <a:pt x="7318" y="377"/>
                  <a:pt x="7325" y="363"/>
                  <a:pt x="7338" y="358"/>
                </a:cubicBezTo>
                <a:close/>
                <a:moveTo>
                  <a:pt x="7670" y="249"/>
                </a:moveTo>
                <a:lnTo>
                  <a:pt x="7813" y="203"/>
                </a:lnTo>
                <a:cubicBezTo>
                  <a:pt x="7826" y="198"/>
                  <a:pt x="7840" y="206"/>
                  <a:pt x="7845" y="219"/>
                </a:cubicBezTo>
                <a:cubicBezTo>
                  <a:pt x="7849" y="232"/>
                  <a:pt x="7842" y="246"/>
                  <a:pt x="7829" y="250"/>
                </a:cubicBezTo>
                <a:lnTo>
                  <a:pt x="7686" y="297"/>
                </a:lnTo>
                <a:cubicBezTo>
                  <a:pt x="7673" y="301"/>
                  <a:pt x="7659" y="294"/>
                  <a:pt x="7654" y="281"/>
                </a:cubicBezTo>
                <a:cubicBezTo>
                  <a:pt x="7650" y="268"/>
                  <a:pt x="7657" y="254"/>
                  <a:pt x="7670" y="249"/>
                </a:cubicBezTo>
                <a:close/>
                <a:moveTo>
                  <a:pt x="8003" y="141"/>
                </a:moveTo>
                <a:lnTo>
                  <a:pt x="8146" y="94"/>
                </a:lnTo>
                <a:cubicBezTo>
                  <a:pt x="8159" y="90"/>
                  <a:pt x="8173" y="97"/>
                  <a:pt x="8177" y="110"/>
                </a:cubicBezTo>
                <a:cubicBezTo>
                  <a:pt x="8181" y="123"/>
                  <a:pt x="8174" y="137"/>
                  <a:pt x="8161" y="141"/>
                </a:cubicBezTo>
                <a:lnTo>
                  <a:pt x="8019" y="188"/>
                </a:lnTo>
                <a:cubicBezTo>
                  <a:pt x="8006" y="192"/>
                  <a:pt x="7991" y="185"/>
                  <a:pt x="7987" y="172"/>
                </a:cubicBezTo>
                <a:cubicBezTo>
                  <a:pt x="7983" y="159"/>
                  <a:pt x="7990" y="145"/>
                  <a:pt x="8003" y="141"/>
                </a:cubicBezTo>
                <a:close/>
                <a:moveTo>
                  <a:pt x="8336" y="32"/>
                </a:moveTo>
                <a:lnTo>
                  <a:pt x="8420" y="4"/>
                </a:lnTo>
                <a:cubicBezTo>
                  <a:pt x="8433" y="0"/>
                  <a:pt x="8447" y="7"/>
                  <a:pt x="8452" y="20"/>
                </a:cubicBezTo>
                <a:cubicBezTo>
                  <a:pt x="8456" y="33"/>
                  <a:pt x="8449" y="47"/>
                  <a:pt x="8436" y="52"/>
                </a:cubicBezTo>
                <a:lnTo>
                  <a:pt x="8351" y="79"/>
                </a:lnTo>
                <a:cubicBezTo>
                  <a:pt x="8338" y="83"/>
                  <a:pt x="8324" y="76"/>
                  <a:pt x="8320" y="63"/>
                </a:cubicBezTo>
                <a:cubicBezTo>
                  <a:pt x="8315" y="50"/>
                  <a:pt x="8323" y="36"/>
                  <a:pt x="8336" y="32"/>
                </a:cubicBez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2314" name="Rectangle 29"/>
          <p:cNvSpPr>
            <a:spLocks noChangeArrowheads="1"/>
          </p:cNvSpPr>
          <p:nvPr/>
        </p:nvSpPr>
        <p:spPr bwMode="auto">
          <a:xfrm>
            <a:off x="6856414" y="1212057"/>
            <a:ext cx="1570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endParaRPr lang="en-US" sz="2000" dirty="0"/>
          </a:p>
        </p:txBody>
      </p:sp>
      <p:grpSp>
        <p:nvGrpSpPr>
          <p:cNvPr id="12315" name="Group 30"/>
          <p:cNvGrpSpPr>
            <a:grpSpLocks/>
          </p:cNvGrpSpPr>
          <p:nvPr/>
        </p:nvGrpSpPr>
        <p:grpSpPr bwMode="auto">
          <a:xfrm>
            <a:off x="716857" y="3220797"/>
            <a:ext cx="8334375" cy="1545431"/>
            <a:chOff x="206" y="2792"/>
            <a:chExt cx="5250" cy="1298"/>
          </a:xfrm>
        </p:grpSpPr>
        <p:grpSp>
          <p:nvGrpSpPr>
            <p:cNvPr id="12318" name="Group 31"/>
            <p:cNvGrpSpPr>
              <a:grpSpLocks/>
            </p:cNvGrpSpPr>
            <p:nvPr/>
          </p:nvGrpSpPr>
          <p:grpSpPr bwMode="auto">
            <a:xfrm>
              <a:off x="206" y="2794"/>
              <a:ext cx="1807" cy="595"/>
              <a:chOff x="643" y="3228"/>
              <a:chExt cx="1807" cy="595"/>
            </a:xfrm>
          </p:grpSpPr>
          <p:sp>
            <p:nvSpPr>
              <p:cNvPr id="12329" name="Text Box 32"/>
              <p:cNvSpPr txBox="1">
                <a:spLocks noChangeArrowheads="1"/>
              </p:cNvSpPr>
              <p:nvPr/>
            </p:nvSpPr>
            <p:spPr bwMode="auto">
              <a:xfrm>
                <a:off x="643" y="3228"/>
                <a:ext cx="1807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Number in</a:t>
                </a:r>
                <a:r>
                  <a:rPr lang="en-US" sz="1600" dirty="0"/>
                  <a:t>                          </a:t>
                </a:r>
              </a:p>
              <a:p>
                <a:r>
                  <a:rPr lang="en-US" sz="2000" dirty="0"/>
                  <a:t>at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2297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95256360"/>
                  </p:ext>
                </p:extLst>
              </p:nvPr>
            </p:nvGraphicFramePr>
            <p:xfrm>
              <a:off x="1510" y="3286"/>
              <a:ext cx="674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75" name="Equation" r:id="rId6" imgW="685800" imgH="203040" progId="Equation.DSMT4">
                      <p:embed/>
                    </p:oleObj>
                  </mc:Choice>
                  <mc:Fallback>
                    <p:oleObj name="Equation" r:id="rId6" imgW="685800" imgH="203040" progId="Equation.DSMT4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10" y="3286"/>
                            <a:ext cx="674" cy="24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98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3423703"/>
                  </p:ext>
                </p:extLst>
              </p:nvPr>
            </p:nvGraphicFramePr>
            <p:xfrm>
              <a:off x="869" y="3533"/>
              <a:ext cx="375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76" name="Equation" r:id="rId8" imgW="457002" imgH="203112" progId="Equation.DSMT4">
                      <p:embed/>
                    </p:oleObj>
                  </mc:Choice>
                  <mc:Fallback>
                    <p:oleObj name="Equation" r:id="rId8" imgW="457002" imgH="203112" progId="Equation.DSMT4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9" y="3533"/>
                            <a:ext cx="375" cy="23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19" name="Group 35"/>
            <p:cNvGrpSpPr>
              <a:grpSpLocks/>
            </p:cNvGrpSpPr>
            <p:nvPr/>
          </p:nvGrpSpPr>
          <p:grpSpPr bwMode="auto">
            <a:xfrm>
              <a:off x="2541" y="2792"/>
              <a:ext cx="1807" cy="595"/>
              <a:chOff x="2711" y="3014"/>
              <a:chExt cx="1807" cy="595"/>
            </a:xfrm>
          </p:grpSpPr>
          <p:sp>
            <p:nvSpPr>
              <p:cNvPr id="12328" name="Text Box 36"/>
              <p:cNvSpPr txBox="1">
                <a:spLocks noChangeArrowheads="1"/>
              </p:cNvSpPr>
              <p:nvPr/>
            </p:nvSpPr>
            <p:spPr bwMode="auto">
              <a:xfrm>
                <a:off x="2711" y="3014"/>
                <a:ext cx="1807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Number in</a:t>
                </a:r>
                <a:r>
                  <a:rPr lang="en-US" sz="1600" dirty="0"/>
                  <a:t>                          </a:t>
                </a:r>
              </a:p>
              <a:p>
                <a:r>
                  <a:rPr lang="en-US" sz="2000" dirty="0"/>
                  <a:t>at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2295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7433923"/>
                  </p:ext>
                </p:extLst>
              </p:nvPr>
            </p:nvGraphicFramePr>
            <p:xfrm>
              <a:off x="3558" y="3081"/>
              <a:ext cx="613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77" name="Equation" r:id="rId10" imgW="685800" imgH="203040" progId="Equation.DSMT4">
                      <p:embed/>
                    </p:oleObj>
                  </mc:Choice>
                  <mc:Fallback>
                    <p:oleObj name="Equation" r:id="rId10" imgW="685800" imgH="203040" progId="Equation.DSMT4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8" y="3081"/>
                            <a:ext cx="613" cy="24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96" name="Object 38"/>
              <p:cNvGraphicFramePr>
                <a:graphicFrameLocks noChangeAspect="1"/>
              </p:cNvGraphicFramePr>
              <p:nvPr/>
            </p:nvGraphicFramePr>
            <p:xfrm>
              <a:off x="2963" y="3349"/>
              <a:ext cx="125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78" name="Equation" r:id="rId11" imgW="101520" imgH="177480" progId="Equation.DSMT4">
                      <p:embed/>
                    </p:oleObj>
                  </mc:Choice>
                  <mc:Fallback>
                    <p:oleObj name="Equation" r:id="rId11" imgW="101520" imgH="177480" progId="Equation.DSMT4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3" y="3349"/>
                            <a:ext cx="125" cy="20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20" name="Group 39"/>
            <p:cNvGrpSpPr>
              <a:grpSpLocks/>
            </p:cNvGrpSpPr>
            <p:nvPr/>
          </p:nvGrpSpPr>
          <p:grpSpPr bwMode="auto">
            <a:xfrm>
              <a:off x="1322" y="3495"/>
              <a:ext cx="1912" cy="595"/>
              <a:chOff x="517" y="3590"/>
              <a:chExt cx="1912" cy="595"/>
            </a:xfrm>
          </p:grpSpPr>
          <p:sp>
            <p:nvSpPr>
              <p:cNvPr id="12327" name="Text Box 40"/>
              <p:cNvSpPr txBox="1">
                <a:spLocks noChangeArrowheads="1"/>
              </p:cNvSpPr>
              <p:nvPr/>
            </p:nvSpPr>
            <p:spPr bwMode="auto">
              <a:xfrm>
                <a:off x="517" y="3590"/>
                <a:ext cx="1912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 dirty="0"/>
                  <a:t>Number gained in</a:t>
                </a:r>
                <a:r>
                  <a:rPr lang="en-US" sz="1600" dirty="0"/>
                  <a:t>                          </a:t>
                </a:r>
              </a:p>
              <a:p>
                <a:r>
                  <a:rPr lang="en-US" sz="2000" dirty="0"/>
                  <a:t>                during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2293" name="Object 41"/>
              <p:cNvGraphicFramePr>
                <a:graphicFrameLocks noChangeAspect="1"/>
              </p:cNvGraphicFramePr>
              <p:nvPr/>
            </p:nvGraphicFramePr>
            <p:xfrm>
              <a:off x="593" y="3895"/>
              <a:ext cx="662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79" name="Equation" r:id="rId13" imgW="685800" imgH="203040" progId="Equation.DSMT4">
                      <p:embed/>
                    </p:oleObj>
                  </mc:Choice>
                  <mc:Fallback>
                    <p:oleObj name="Equation" r:id="rId13" imgW="685800" imgH="203040" progId="Equation.DSMT4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3" y="3895"/>
                            <a:ext cx="662" cy="24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94" name="Object 42"/>
              <p:cNvGraphicFramePr>
                <a:graphicFrameLocks noChangeAspect="1"/>
              </p:cNvGraphicFramePr>
              <p:nvPr/>
            </p:nvGraphicFramePr>
            <p:xfrm>
              <a:off x="1782" y="3893"/>
              <a:ext cx="281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80" name="Equation" r:id="rId14" imgW="228600" imgH="203040" progId="Equation.DSMT4">
                      <p:embed/>
                    </p:oleObj>
                  </mc:Choice>
                  <mc:Fallback>
                    <p:oleObj name="Equation" r:id="rId14" imgW="228600" imgH="203040" progId="Equation.DSMT4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2" y="3893"/>
                            <a:ext cx="281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21" name="Group 43"/>
            <p:cNvGrpSpPr>
              <a:grpSpLocks/>
            </p:cNvGrpSpPr>
            <p:nvPr/>
          </p:nvGrpSpPr>
          <p:grpSpPr bwMode="auto">
            <a:xfrm>
              <a:off x="3544" y="3488"/>
              <a:ext cx="1912" cy="595"/>
              <a:chOff x="517" y="3590"/>
              <a:chExt cx="1912" cy="595"/>
            </a:xfrm>
          </p:grpSpPr>
          <p:sp>
            <p:nvSpPr>
              <p:cNvPr id="12326" name="Text Box 44"/>
              <p:cNvSpPr txBox="1">
                <a:spLocks noChangeArrowheads="1"/>
              </p:cNvSpPr>
              <p:nvPr/>
            </p:nvSpPr>
            <p:spPr bwMode="auto">
              <a:xfrm>
                <a:off x="517" y="3590"/>
                <a:ext cx="1912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 dirty="0"/>
                  <a:t>Number lost in</a:t>
                </a:r>
                <a:r>
                  <a:rPr lang="en-US" sz="1600" dirty="0"/>
                  <a:t>                          </a:t>
                </a:r>
              </a:p>
              <a:p>
                <a:r>
                  <a:rPr lang="en-US" sz="2000" dirty="0"/>
                  <a:t>                during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2291" name="Object 45"/>
              <p:cNvGraphicFramePr>
                <a:graphicFrameLocks noChangeAspect="1"/>
              </p:cNvGraphicFramePr>
              <p:nvPr/>
            </p:nvGraphicFramePr>
            <p:xfrm>
              <a:off x="545" y="3913"/>
              <a:ext cx="682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81" name="Equation" r:id="rId16" imgW="685800" imgH="203040" progId="Equation.DSMT4">
                      <p:embed/>
                    </p:oleObj>
                  </mc:Choice>
                  <mc:Fallback>
                    <p:oleObj name="Equation" r:id="rId16" imgW="685800" imgH="203040" progId="Equation.DSMT4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" y="3913"/>
                            <a:ext cx="682" cy="24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292" name="Object 46"/>
              <p:cNvGraphicFramePr>
                <a:graphicFrameLocks noChangeAspect="1"/>
              </p:cNvGraphicFramePr>
              <p:nvPr/>
            </p:nvGraphicFramePr>
            <p:xfrm>
              <a:off x="1768" y="3920"/>
              <a:ext cx="281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282" name="Equation" r:id="rId17" imgW="228600" imgH="203040" progId="Equation.DSMT4">
                      <p:embed/>
                    </p:oleObj>
                  </mc:Choice>
                  <mc:Fallback>
                    <p:oleObj name="Equation" r:id="rId17" imgW="228600" imgH="203040" progId="Equation.DSMT4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8" y="3920"/>
                            <a:ext cx="281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322" name="Text Box 47"/>
            <p:cNvSpPr txBox="1">
              <a:spLocks noChangeArrowheads="1"/>
            </p:cNvSpPr>
            <p:nvPr/>
          </p:nvSpPr>
          <p:spPr bwMode="auto">
            <a:xfrm>
              <a:off x="2039" y="2919"/>
              <a:ext cx="21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=</a:t>
              </a:r>
            </a:p>
          </p:txBody>
        </p:sp>
        <p:sp>
          <p:nvSpPr>
            <p:cNvPr id="12323" name="Text Box 48"/>
            <p:cNvSpPr txBox="1">
              <a:spLocks noChangeArrowheads="1"/>
            </p:cNvSpPr>
            <p:nvPr/>
          </p:nvSpPr>
          <p:spPr bwMode="auto">
            <a:xfrm>
              <a:off x="4001" y="2807"/>
              <a:ext cx="21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+</a:t>
              </a:r>
            </a:p>
          </p:txBody>
        </p:sp>
        <p:sp>
          <p:nvSpPr>
            <p:cNvPr id="12324" name="Text Box 49"/>
            <p:cNvSpPr txBox="1">
              <a:spLocks noChangeArrowheads="1"/>
            </p:cNvSpPr>
            <p:nvPr/>
          </p:nvSpPr>
          <p:spPr bwMode="auto">
            <a:xfrm>
              <a:off x="3039" y="3536"/>
              <a:ext cx="241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Symbol" pitchFamily="18" charset="2"/>
                </a:rPr>
                <a:t>-</a:t>
              </a:r>
            </a:p>
          </p:txBody>
        </p:sp>
        <p:sp>
          <p:nvSpPr>
            <p:cNvPr id="12325" name="Text Box 50"/>
            <p:cNvSpPr txBox="1">
              <a:spLocks noChangeArrowheads="1"/>
            </p:cNvSpPr>
            <p:nvPr/>
          </p:nvSpPr>
          <p:spPr bwMode="auto">
            <a:xfrm>
              <a:off x="1109" y="3636"/>
              <a:ext cx="21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+</a:t>
              </a:r>
            </a:p>
          </p:txBody>
        </p:sp>
      </p:grpSp>
      <p:sp>
        <p:nvSpPr>
          <p:cNvPr id="55" name="Footer Placeholder 5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52" name="Slide Number Placeholder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B63261-37EB-4012-9033-D735D293E835}" type="slidenum">
              <a:rPr lang="en-US" sz="1100"/>
              <a:pPr>
                <a:defRPr/>
              </a:pPr>
              <a:t>19</a:t>
            </a:fld>
            <a:endParaRPr lang="en-US" sz="1100" dirty="0"/>
          </a:p>
        </p:txBody>
      </p:sp>
      <p:grpSp>
        <p:nvGrpSpPr>
          <p:cNvPr id="4" name="Group 3"/>
          <p:cNvGrpSpPr/>
          <p:nvPr/>
        </p:nvGrpSpPr>
        <p:grpSpPr>
          <a:xfrm>
            <a:off x="410139" y="2678846"/>
            <a:ext cx="2805576" cy="400110"/>
            <a:chOff x="428534" y="2569934"/>
            <a:chExt cx="2805576" cy="400110"/>
          </a:xfrm>
        </p:grpSpPr>
        <p:sp>
          <p:nvSpPr>
            <p:cNvPr id="2" name="TextBox 1"/>
            <p:cNvSpPr txBox="1"/>
            <p:nvPr/>
          </p:nvSpPr>
          <p:spPr>
            <a:xfrm>
              <a:off x="428534" y="2569934"/>
              <a:ext cx="28055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For a fixed                 :  </a:t>
              </a:r>
            </a:p>
          </p:txBody>
        </p:sp>
        <p:graphicFrame>
          <p:nvGraphicFramePr>
            <p:cNvPr id="43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3116948"/>
                </p:ext>
              </p:extLst>
            </p:nvPr>
          </p:nvGraphicFramePr>
          <p:xfrm>
            <a:off x="1832939" y="2625925"/>
            <a:ext cx="1069975" cy="294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283" name="Equation" r:id="rId18" imgW="685800" imgH="203040" progId="Equation.DSMT4">
                    <p:embed/>
                  </p:oleObj>
                </mc:Choice>
                <mc:Fallback>
                  <p:oleObj name="Equation" r:id="rId18" imgW="685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939" y="2625925"/>
                          <a:ext cx="1069975" cy="2940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20" name="Group 21"/>
          <p:cNvGrpSpPr>
            <a:grpSpLocks/>
          </p:cNvGrpSpPr>
          <p:nvPr/>
        </p:nvGrpSpPr>
        <p:grpSpPr bwMode="auto">
          <a:xfrm>
            <a:off x="1278165" y="1533355"/>
            <a:ext cx="6362700" cy="1978819"/>
            <a:chOff x="659" y="1356"/>
            <a:chExt cx="4008" cy="1662"/>
          </a:xfrm>
        </p:grpSpPr>
        <p:grpSp>
          <p:nvGrpSpPr>
            <p:cNvPr id="13323" name="Group 4"/>
            <p:cNvGrpSpPr>
              <a:grpSpLocks/>
            </p:cNvGrpSpPr>
            <p:nvPr/>
          </p:nvGrpSpPr>
          <p:grpSpPr bwMode="auto">
            <a:xfrm>
              <a:off x="659" y="1477"/>
              <a:ext cx="1807" cy="595"/>
              <a:chOff x="670" y="3236"/>
              <a:chExt cx="1807" cy="595"/>
            </a:xfrm>
          </p:grpSpPr>
          <p:sp>
            <p:nvSpPr>
              <p:cNvPr id="13328" name="Text Box 5"/>
              <p:cNvSpPr txBox="1">
                <a:spLocks noChangeArrowheads="1"/>
              </p:cNvSpPr>
              <p:nvPr/>
            </p:nvSpPr>
            <p:spPr bwMode="auto">
              <a:xfrm>
                <a:off x="670" y="3236"/>
                <a:ext cx="1807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Number in</a:t>
                </a:r>
                <a:r>
                  <a:rPr lang="en-US" sz="1600" dirty="0"/>
                  <a:t>                          </a:t>
                </a:r>
              </a:p>
              <a:p>
                <a:r>
                  <a:rPr lang="en-US" sz="2000" dirty="0"/>
                  <a:t>at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3318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1679056"/>
                  </p:ext>
                </p:extLst>
              </p:nvPr>
            </p:nvGraphicFramePr>
            <p:xfrm>
              <a:off x="1467" y="3289"/>
              <a:ext cx="669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6286" name="Equation" r:id="rId3" imgW="685800" imgH="203040" progId="Equation.DSMT4">
                      <p:embed/>
                    </p:oleObj>
                  </mc:Choice>
                  <mc:Fallback>
                    <p:oleObj name="Equation" r:id="rId3" imgW="685800" imgH="20304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7" y="3289"/>
                            <a:ext cx="669" cy="28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19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5715477"/>
                  </p:ext>
                </p:extLst>
              </p:nvPr>
            </p:nvGraphicFramePr>
            <p:xfrm>
              <a:off x="921" y="3502"/>
              <a:ext cx="605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6287" name="Equation" r:id="rId5" imgW="457002" imgH="203112" progId="Equation.DSMT4">
                      <p:embed/>
                    </p:oleObj>
                  </mc:Choice>
                  <mc:Fallback>
                    <p:oleObj name="Equation" r:id="rId5" imgW="457002" imgH="203112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1" y="3502"/>
                            <a:ext cx="605" cy="292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31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0182413"/>
                </p:ext>
              </p:extLst>
            </p:nvPr>
          </p:nvGraphicFramePr>
          <p:xfrm>
            <a:off x="2668" y="2191"/>
            <a:ext cx="1903" cy="8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288" name="Equation" r:id="rId7" imgW="1765080" imgH="571320" progId="Equation.DSMT4">
                    <p:embed/>
                  </p:oleObj>
                </mc:Choice>
                <mc:Fallback>
                  <p:oleObj name="Equation" r:id="rId7" imgW="1765080" imgH="57132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8" y="2191"/>
                          <a:ext cx="1903" cy="8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2641670"/>
                </p:ext>
              </p:extLst>
            </p:nvPr>
          </p:nvGraphicFramePr>
          <p:xfrm>
            <a:off x="2676" y="1356"/>
            <a:ext cx="1991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289" name="Equation" r:id="rId9" imgW="2120760" imgH="571320" progId="Equation.DSMT4">
                    <p:embed/>
                  </p:oleObj>
                </mc:Choice>
                <mc:Fallback>
                  <p:oleObj name="Equation" r:id="rId9" imgW="2120760" imgH="57132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" y="1356"/>
                          <a:ext cx="1991" cy="7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24" name="Group 10"/>
            <p:cNvGrpSpPr>
              <a:grpSpLocks/>
            </p:cNvGrpSpPr>
            <p:nvPr/>
          </p:nvGrpSpPr>
          <p:grpSpPr bwMode="auto">
            <a:xfrm>
              <a:off x="670" y="2399"/>
              <a:ext cx="1807" cy="595"/>
              <a:chOff x="2711" y="3014"/>
              <a:chExt cx="1807" cy="595"/>
            </a:xfrm>
          </p:grpSpPr>
          <p:sp>
            <p:nvSpPr>
              <p:cNvPr id="13327" name="Text Box 11"/>
              <p:cNvSpPr txBox="1">
                <a:spLocks noChangeArrowheads="1"/>
              </p:cNvSpPr>
              <p:nvPr/>
            </p:nvSpPr>
            <p:spPr bwMode="auto">
              <a:xfrm>
                <a:off x="2711" y="3014"/>
                <a:ext cx="1807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Number in</a:t>
                </a:r>
                <a:r>
                  <a:rPr lang="en-US" sz="1600" dirty="0"/>
                  <a:t>                          </a:t>
                </a:r>
              </a:p>
              <a:p>
                <a:r>
                  <a:rPr lang="en-US" sz="2000" dirty="0"/>
                  <a:t>at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3316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8216105"/>
                  </p:ext>
                </p:extLst>
              </p:nvPr>
            </p:nvGraphicFramePr>
            <p:xfrm>
              <a:off x="3556" y="3057"/>
              <a:ext cx="696" cy="2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6290" name="Equation" r:id="rId11" imgW="685800" imgH="203040" progId="Equation.DSMT4">
                      <p:embed/>
                    </p:oleObj>
                  </mc:Choice>
                  <mc:Fallback>
                    <p:oleObj name="Equation" r:id="rId11" imgW="685800" imgH="203040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6" y="3057"/>
                            <a:ext cx="696" cy="283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17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19931558"/>
                  </p:ext>
                </p:extLst>
              </p:nvPr>
            </p:nvGraphicFramePr>
            <p:xfrm>
              <a:off x="2951" y="3312"/>
              <a:ext cx="161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6291" name="Equation" r:id="rId12" imgW="101520" imgH="177480" progId="Equation.DSMT4">
                      <p:embed/>
                    </p:oleObj>
                  </mc:Choice>
                  <mc:Fallback>
                    <p:oleObj name="Equation" r:id="rId12" imgW="101520" imgH="17748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51" y="3312"/>
                            <a:ext cx="161" cy="26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25" name="Text Box 19"/>
            <p:cNvSpPr txBox="1">
              <a:spLocks noChangeArrowheads="1"/>
            </p:cNvSpPr>
            <p:nvPr/>
          </p:nvSpPr>
          <p:spPr bwMode="auto">
            <a:xfrm>
              <a:off x="2243" y="1530"/>
              <a:ext cx="21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=</a:t>
              </a:r>
            </a:p>
          </p:txBody>
        </p:sp>
        <p:sp>
          <p:nvSpPr>
            <p:cNvPr id="13326" name="Text Box 20"/>
            <p:cNvSpPr txBox="1">
              <a:spLocks noChangeArrowheads="1"/>
            </p:cNvSpPr>
            <p:nvPr/>
          </p:nvSpPr>
          <p:spPr bwMode="auto">
            <a:xfrm>
              <a:off x="2246" y="2433"/>
              <a:ext cx="201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</a:p>
          </p:txBody>
        </p:sp>
      </p:grp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18AB52-50A1-4A81-BFC8-735E0FBE2294}" type="slidenum">
              <a:rPr lang="en-US" sz="1100"/>
              <a:pPr>
                <a:defRPr/>
              </a:pPr>
              <a:t>20</a:t>
            </a:fld>
            <a:endParaRPr lang="en-US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2543403" y="3774893"/>
            <a:ext cx="3494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(volume)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561680"/>
              </p:ext>
            </p:extLst>
          </p:nvPr>
        </p:nvGraphicFramePr>
        <p:xfrm>
          <a:off x="3043238" y="747713"/>
          <a:ext cx="530066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89" name="Equation" r:id="rId3" imgW="3124080" imgH="520560" progId="Equation.DSMT4">
                  <p:embed/>
                </p:oleObj>
              </mc:Choice>
              <mc:Fallback>
                <p:oleObj name="Equation" r:id="rId3" imgW="3124080" imgH="520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8" y="747713"/>
                        <a:ext cx="5300662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Text Box 3"/>
          <p:cNvSpPr txBox="1">
            <a:spLocks noChangeArrowheads="1"/>
          </p:cNvSpPr>
          <p:nvPr/>
        </p:nvSpPr>
        <p:spPr bwMode="auto">
          <a:xfrm>
            <a:off x="638176" y="504825"/>
            <a:ext cx="34724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Number scattering from any</a:t>
            </a:r>
            <a:r>
              <a:rPr lang="en-US" sz="1600" dirty="0"/>
              <a:t>  </a:t>
            </a: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59901"/>
              </p:ext>
            </p:extLst>
          </p:nvPr>
        </p:nvGraphicFramePr>
        <p:xfrm>
          <a:off x="3949473" y="540203"/>
          <a:ext cx="1420812" cy="344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90" name="Equation" r:id="rId5" imgW="761760" imgH="203040" progId="Equation.DSMT4">
                  <p:embed/>
                </p:oleObj>
              </mc:Choice>
              <mc:Fallback>
                <p:oleObj name="Equation" r:id="rId5" imgW="76176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473" y="540203"/>
                        <a:ext cx="1420812" cy="344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6" name="Group 5"/>
          <p:cNvGrpSpPr>
            <a:grpSpLocks/>
          </p:cNvGrpSpPr>
          <p:nvPr/>
        </p:nvGrpSpPr>
        <p:grpSpPr bwMode="auto">
          <a:xfrm>
            <a:off x="618331" y="1801924"/>
            <a:ext cx="6208714" cy="906065"/>
            <a:chOff x="501" y="1198"/>
            <a:chExt cx="3911" cy="761"/>
          </a:xfrm>
        </p:grpSpPr>
        <p:graphicFrame>
          <p:nvGraphicFramePr>
            <p:cNvPr id="1434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7929972"/>
                </p:ext>
              </p:extLst>
            </p:nvPr>
          </p:nvGraphicFramePr>
          <p:xfrm>
            <a:off x="2021" y="1547"/>
            <a:ext cx="2391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91" name="Equation" r:id="rId7" imgW="2260440" imgH="291960" progId="Equation.DSMT4">
                    <p:embed/>
                  </p:oleObj>
                </mc:Choice>
                <mc:Fallback>
                  <p:oleObj name="Equation" r:id="rId7" imgW="2260440" imgH="29196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1" y="1547"/>
                          <a:ext cx="2391" cy="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Text Box 7"/>
            <p:cNvSpPr txBox="1">
              <a:spLocks noChangeArrowheads="1"/>
            </p:cNvSpPr>
            <p:nvPr/>
          </p:nvSpPr>
          <p:spPr bwMode="auto">
            <a:xfrm>
              <a:off x="501" y="1198"/>
              <a:ext cx="219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Probability of these reaching</a:t>
              </a:r>
              <a:r>
                <a:rPr lang="en-US" sz="1600" dirty="0"/>
                <a:t> </a:t>
              </a:r>
            </a:p>
          </p:txBody>
        </p:sp>
        <p:graphicFrame>
          <p:nvGraphicFramePr>
            <p:cNvPr id="1434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215733"/>
                </p:ext>
              </p:extLst>
            </p:nvPr>
          </p:nvGraphicFramePr>
          <p:xfrm>
            <a:off x="2689" y="1230"/>
            <a:ext cx="84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92" name="Equation" r:id="rId9" imgW="711000" imgH="190440" progId="Equation.DSMT4">
                    <p:embed/>
                  </p:oleObj>
                </mc:Choice>
                <mc:Fallback>
                  <p:oleObj name="Equation" r:id="rId9" imgW="711000" imgH="1904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9" y="1230"/>
                          <a:ext cx="847" cy="2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753781"/>
              </p:ext>
            </p:extLst>
          </p:nvPr>
        </p:nvGraphicFramePr>
        <p:xfrm>
          <a:off x="666750" y="3567113"/>
          <a:ext cx="82788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93" name="Equation" r:id="rId11" imgW="5359320" imgH="520560" progId="Equation.DSMT4">
                  <p:embed/>
                </p:oleObj>
              </mc:Choice>
              <mc:Fallback>
                <p:oleObj name="Equation" r:id="rId11" imgW="5359320" imgH="5205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3567113"/>
                        <a:ext cx="8278813" cy="858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660401" y="2991797"/>
            <a:ext cx="6653213" cy="762673"/>
            <a:chOff x="787400" y="2729644"/>
            <a:chExt cx="6653213" cy="762673"/>
          </a:xfrm>
        </p:grpSpPr>
        <p:sp>
          <p:nvSpPr>
            <p:cNvPr id="14352" name="Text Box 11"/>
            <p:cNvSpPr txBox="1">
              <a:spLocks noChangeArrowheads="1"/>
            </p:cNvSpPr>
            <p:nvPr/>
          </p:nvSpPr>
          <p:spPr bwMode="auto">
            <a:xfrm>
              <a:off x="787400" y="2784872"/>
              <a:ext cx="6376988" cy="7074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/>
                <a:t>Number gained in                   from scattering during</a:t>
              </a:r>
              <a:r>
                <a:rPr lang="en-US" sz="1600" dirty="0"/>
                <a:t>                         </a:t>
              </a:r>
            </a:p>
            <a:p>
              <a:r>
                <a:rPr lang="en-US" sz="2000" dirty="0"/>
                <a:t>                  </a:t>
              </a:r>
              <a:endParaRPr lang="en-US" sz="1800" dirty="0"/>
            </a:p>
          </p:txBody>
        </p:sp>
        <p:graphicFrame>
          <p:nvGraphicFramePr>
            <p:cNvPr id="1434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8696725"/>
                </p:ext>
              </p:extLst>
            </p:nvPr>
          </p:nvGraphicFramePr>
          <p:xfrm>
            <a:off x="3012440" y="2825995"/>
            <a:ext cx="1138238" cy="324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94" name="Equation" r:id="rId13" imgW="685800" imgH="203040" progId="Equation.DSMT4">
                    <p:embed/>
                  </p:oleObj>
                </mc:Choice>
                <mc:Fallback>
                  <p:oleObj name="Equation" r:id="rId13" imgW="685800" imgH="20304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2440" y="2825995"/>
                          <a:ext cx="1138238" cy="3247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2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1017112"/>
                </p:ext>
              </p:extLst>
            </p:nvPr>
          </p:nvGraphicFramePr>
          <p:xfrm>
            <a:off x="6718300" y="2836155"/>
            <a:ext cx="446088" cy="311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295" name="Equation" r:id="rId15" imgW="228600" imgH="203040" progId="Equation.DSMT4">
                    <p:embed/>
                  </p:oleObj>
                </mc:Choice>
                <mc:Fallback>
                  <p:oleObj name="Equation" r:id="rId15" imgW="228600" imgH="20304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8300" y="2836155"/>
                          <a:ext cx="446088" cy="3116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Text Box 14"/>
            <p:cNvSpPr txBox="1">
              <a:spLocks noChangeArrowheads="1"/>
            </p:cNvSpPr>
            <p:nvPr/>
          </p:nvSpPr>
          <p:spPr bwMode="auto">
            <a:xfrm>
              <a:off x="7089775" y="2729644"/>
              <a:ext cx="350838" cy="523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800" b="1" dirty="0">
                  <a:latin typeface="Symbol" pitchFamily="18" charset="2"/>
                </a:rPr>
                <a:t>=</a:t>
              </a:r>
            </a:p>
          </p:txBody>
        </p:sp>
      </p:grp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6D828F-8461-4B5B-A8A4-1C4225B5614A}" type="slidenum">
              <a:rPr lang="en-US" sz="1100"/>
              <a:pPr>
                <a:defRPr/>
              </a:pPr>
              <a:t>21</a:t>
            </a:fld>
            <a:endParaRPr lang="en-US" sz="11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71464" y="1759744"/>
            <a:ext cx="7804197" cy="892969"/>
            <a:chOff x="481014" y="1684568"/>
            <a:chExt cx="7804197" cy="892969"/>
          </a:xfrm>
        </p:grpSpPr>
        <p:sp>
          <p:nvSpPr>
            <p:cNvPr id="15369" name="Text Box 7"/>
            <p:cNvSpPr txBox="1">
              <a:spLocks noChangeArrowheads="1"/>
            </p:cNvSpPr>
            <p:nvPr/>
          </p:nvSpPr>
          <p:spPr bwMode="auto">
            <a:xfrm>
              <a:off x="481014" y="1947863"/>
              <a:ext cx="391164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Probability of these appearing in</a:t>
              </a:r>
              <a:r>
                <a:rPr lang="en-US" sz="1600" dirty="0"/>
                <a:t> </a:t>
              </a:r>
            </a:p>
          </p:txBody>
        </p:sp>
        <p:grpSp>
          <p:nvGrpSpPr>
            <p:cNvPr id="15370" name="Group 20"/>
            <p:cNvGrpSpPr>
              <a:grpSpLocks/>
            </p:cNvGrpSpPr>
            <p:nvPr/>
          </p:nvGrpSpPr>
          <p:grpSpPr bwMode="auto">
            <a:xfrm>
              <a:off x="4343083" y="1684568"/>
              <a:ext cx="3942128" cy="892969"/>
              <a:chOff x="4800283" y="2206624"/>
              <a:chExt cx="3942128" cy="1190625"/>
            </a:xfrm>
          </p:grpSpPr>
          <p:graphicFrame>
            <p:nvGraphicFramePr>
              <p:cNvPr id="15367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0407627"/>
                  </p:ext>
                </p:extLst>
              </p:nvPr>
            </p:nvGraphicFramePr>
            <p:xfrm>
              <a:off x="6246861" y="2206624"/>
              <a:ext cx="2495550" cy="1190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313" name="Equation" r:id="rId3" imgW="1409400" imgH="533160" progId="Equation.DSMT4">
                      <p:embed/>
                    </p:oleObj>
                  </mc:Choice>
                  <mc:Fallback>
                    <p:oleObj name="Equation" r:id="rId3" imgW="1409400" imgH="533160" progId="Equation.DSMT4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46861" y="2206624"/>
                            <a:ext cx="2495550" cy="11906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68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1010261"/>
                  </p:ext>
                </p:extLst>
              </p:nvPr>
            </p:nvGraphicFramePr>
            <p:xfrm>
              <a:off x="4800283" y="2570349"/>
              <a:ext cx="1320800" cy="4635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314" name="Equation" r:id="rId5" imgW="698400" imgH="190440" progId="Equation.DSMT4">
                      <p:embed/>
                    </p:oleObj>
                  </mc:Choice>
                  <mc:Fallback>
                    <p:oleObj name="Equation" r:id="rId5" imgW="698400" imgH="190440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283" y="2570349"/>
                            <a:ext cx="1320800" cy="4635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536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690768"/>
              </p:ext>
            </p:extLst>
          </p:nvPr>
        </p:nvGraphicFramePr>
        <p:xfrm>
          <a:off x="1166813" y="3505200"/>
          <a:ext cx="71596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15" name="Equation" r:id="rId7" imgW="4825800" imgH="545760" progId="Equation.DSMT4">
                  <p:embed/>
                </p:oleObj>
              </mc:Choice>
              <mc:Fallback>
                <p:oleObj name="Equation" r:id="rId7" imgW="4825800" imgH="5457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3505200"/>
                        <a:ext cx="7159625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92036" y="2963406"/>
            <a:ext cx="6350001" cy="752476"/>
            <a:chOff x="652236" y="2495384"/>
            <a:chExt cx="6350001" cy="752476"/>
          </a:xfrm>
        </p:grpSpPr>
        <p:sp>
          <p:nvSpPr>
            <p:cNvPr id="15380" name="Text Box 9"/>
            <p:cNvSpPr txBox="1">
              <a:spLocks noChangeArrowheads="1"/>
            </p:cNvSpPr>
            <p:nvPr/>
          </p:nvSpPr>
          <p:spPr bwMode="auto">
            <a:xfrm>
              <a:off x="652236" y="2539437"/>
              <a:ext cx="6078538" cy="708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/>
                <a:t>Number gained in                   from fission during</a:t>
              </a:r>
              <a:r>
                <a:rPr lang="en-US" sz="1600" dirty="0"/>
                <a:t>                          </a:t>
              </a:r>
            </a:p>
            <a:p>
              <a:r>
                <a:rPr lang="en-US" sz="2000" dirty="0"/>
                <a:t>                 </a:t>
              </a:r>
              <a:endParaRPr lang="en-US" sz="1800" dirty="0"/>
            </a:p>
          </p:txBody>
        </p:sp>
        <p:graphicFrame>
          <p:nvGraphicFramePr>
            <p:cNvPr id="1536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7038650"/>
                </p:ext>
              </p:extLst>
            </p:nvPr>
          </p:nvGraphicFramePr>
          <p:xfrm>
            <a:off x="2823936" y="2612065"/>
            <a:ext cx="1139825" cy="2940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316" name="Equation" r:id="rId9" imgW="685800" imgH="203040" progId="Equation.DSMT4">
                    <p:embed/>
                  </p:oleObj>
                </mc:Choice>
                <mc:Fallback>
                  <p:oleObj name="Equation" r:id="rId9" imgW="685800" imgH="2030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3936" y="2612065"/>
                          <a:ext cx="1139825" cy="2940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0329766"/>
                </p:ext>
              </p:extLst>
            </p:nvPr>
          </p:nvGraphicFramePr>
          <p:xfrm>
            <a:off x="6206899" y="2589341"/>
            <a:ext cx="395044" cy="308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317" name="Equation" r:id="rId11" imgW="228600" imgH="203040" progId="Equation.DSMT4">
                    <p:embed/>
                  </p:oleObj>
                </mc:Choice>
                <mc:Fallback>
                  <p:oleObj name="Equation" r:id="rId11" imgW="228600" imgH="2030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6899" y="2589341"/>
                          <a:ext cx="395044" cy="30847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1" name="Text Box 13"/>
            <p:cNvSpPr txBox="1">
              <a:spLocks noChangeArrowheads="1"/>
            </p:cNvSpPr>
            <p:nvPr/>
          </p:nvSpPr>
          <p:spPr bwMode="auto">
            <a:xfrm>
              <a:off x="6651399" y="2495384"/>
              <a:ext cx="350838" cy="522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800" dirty="0">
                  <a:latin typeface="Symbol" pitchFamily="18" charset="2"/>
                </a:rPr>
                <a:t>=</a:t>
              </a:r>
            </a:p>
          </p:txBody>
        </p:sp>
      </p:grpSp>
      <p:sp>
        <p:nvSpPr>
          <p:cNvPr id="15372" name="Text Box 14"/>
          <p:cNvSpPr txBox="1">
            <a:spLocks noChangeArrowheads="1"/>
          </p:cNvSpPr>
          <p:nvPr/>
        </p:nvSpPr>
        <p:spPr bwMode="auto">
          <a:xfrm>
            <a:off x="511175" y="4493303"/>
            <a:ext cx="48780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Assume no delayed neutrons at this point</a:t>
            </a:r>
          </a:p>
        </p:txBody>
      </p:sp>
      <p:grpSp>
        <p:nvGrpSpPr>
          <p:cNvPr id="15373" name="Group 19"/>
          <p:cNvGrpSpPr>
            <a:grpSpLocks/>
          </p:cNvGrpSpPr>
          <p:nvPr/>
        </p:nvGrpSpPr>
        <p:grpSpPr bwMode="auto">
          <a:xfrm>
            <a:off x="511175" y="347663"/>
            <a:ext cx="7759701" cy="1438275"/>
            <a:chOff x="265" y="260"/>
            <a:chExt cx="4888" cy="1208"/>
          </a:xfrm>
        </p:grpSpPr>
        <p:graphicFrame>
          <p:nvGraphicFramePr>
            <p:cNvPr id="1536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5662432"/>
                </p:ext>
              </p:extLst>
            </p:nvPr>
          </p:nvGraphicFramePr>
          <p:xfrm>
            <a:off x="1371" y="473"/>
            <a:ext cx="3782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318" name="Equation" r:id="rId13" imgW="3504960" imgH="520560" progId="Equation.DSMT4">
                    <p:embed/>
                  </p:oleObj>
                </mc:Choice>
                <mc:Fallback>
                  <p:oleObj name="Equation" r:id="rId13" imgW="3504960" imgH="52056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1" y="473"/>
                          <a:ext cx="3782" cy="7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77" name="Group 3"/>
            <p:cNvGrpSpPr>
              <a:grpSpLocks/>
            </p:cNvGrpSpPr>
            <p:nvPr/>
          </p:nvGrpSpPr>
          <p:grpSpPr bwMode="auto">
            <a:xfrm>
              <a:off x="265" y="260"/>
              <a:ext cx="3287" cy="336"/>
              <a:chOff x="565" y="269"/>
              <a:chExt cx="3287" cy="336"/>
            </a:xfrm>
          </p:grpSpPr>
          <p:sp>
            <p:nvSpPr>
              <p:cNvPr id="15379" name="Text Box 4"/>
              <p:cNvSpPr txBox="1">
                <a:spLocks noChangeArrowheads="1"/>
              </p:cNvSpPr>
              <p:nvPr/>
            </p:nvSpPr>
            <p:spPr bwMode="auto">
              <a:xfrm>
                <a:off x="565" y="269"/>
                <a:ext cx="2690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Number of fission neutrons  at any</a:t>
                </a:r>
                <a:r>
                  <a:rPr lang="en-US" sz="1600" dirty="0"/>
                  <a:t>  </a:t>
                </a:r>
              </a:p>
            </p:txBody>
          </p:sp>
          <p:graphicFrame>
            <p:nvGraphicFramePr>
              <p:cNvPr id="15364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9419782"/>
                  </p:ext>
                </p:extLst>
              </p:nvPr>
            </p:nvGraphicFramePr>
            <p:xfrm>
              <a:off x="3077" y="281"/>
              <a:ext cx="775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319" name="Equation" r:id="rId15" imgW="761760" imgH="203040" progId="Equation.DSMT4">
                      <p:embed/>
                    </p:oleObj>
                  </mc:Choice>
                  <mc:Fallback>
                    <p:oleObj name="Equation" r:id="rId15" imgW="761760" imgH="203040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7" y="281"/>
                            <a:ext cx="775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378" name="Text Box 15"/>
            <p:cNvSpPr txBox="1">
              <a:spLocks noChangeArrowheads="1"/>
            </p:cNvSpPr>
            <p:nvPr/>
          </p:nvSpPr>
          <p:spPr bwMode="auto">
            <a:xfrm>
              <a:off x="1432" y="1132"/>
              <a:ext cx="2923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dirty="0">
                  <a:solidFill>
                    <a:srgbClr val="FF3300"/>
                  </a:solidFill>
                </a:rPr>
                <a:t>average number of neutrons per fission</a:t>
              </a:r>
            </a:p>
          </p:txBody>
        </p: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2FB270-E1F3-48BF-A298-257838A5DF6C}" type="slidenum">
              <a:rPr lang="en-US" sz="1100"/>
              <a:pPr>
                <a:defRPr/>
              </a:pPr>
              <a:t>22</a:t>
            </a:fld>
            <a:endParaRPr lang="en-US" sz="1100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3749675" y="1200151"/>
            <a:ext cx="623888" cy="25122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522550"/>
              </p:ext>
            </p:extLst>
          </p:nvPr>
        </p:nvGraphicFramePr>
        <p:xfrm>
          <a:off x="447675" y="3116263"/>
          <a:ext cx="85867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37" name="Equation" r:id="rId3" imgW="5448240" imgH="545760" progId="Equation.DSMT4">
                  <p:embed/>
                </p:oleObj>
              </mc:Choice>
              <mc:Fallback>
                <p:oleObj name="Equation" r:id="rId3" imgW="5448240" imgH="5457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3116263"/>
                        <a:ext cx="8586788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454151" y="3070623"/>
            <a:ext cx="4359276" cy="1173956"/>
            <a:chOff x="1063" y="2479"/>
            <a:chExt cx="2746" cy="986"/>
          </a:xfrm>
        </p:grpSpPr>
        <p:sp>
          <p:nvSpPr>
            <p:cNvPr id="3" name="Line 16"/>
            <p:cNvSpPr>
              <a:spLocks noChangeShapeType="1"/>
            </p:cNvSpPr>
            <p:nvPr/>
          </p:nvSpPr>
          <p:spPr bwMode="auto">
            <a:xfrm>
              <a:off x="1063" y="2479"/>
              <a:ext cx="2480" cy="765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 sz="2000" dirty="0"/>
            </a:p>
          </p:txBody>
        </p:sp>
        <p:sp>
          <p:nvSpPr>
            <p:cNvPr id="16403" name="Text Box 17"/>
            <p:cNvSpPr txBox="1">
              <a:spLocks noChangeArrowheads="1"/>
            </p:cNvSpPr>
            <p:nvPr/>
          </p:nvSpPr>
          <p:spPr bwMode="auto">
            <a:xfrm>
              <a:off x="3603" y="3129"/>
              <a:ext cx="20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3300"/>
                  </a:solidFill>
                </a:rPr>
                <a:t>1</a:t>
              </a:r>
            </a:p>
          </p:txBody>
        </p:sp>
      </p:grpSp>
      <p:graphicFrame>
        <p:nvGraphicFramePr>
          <p:cNvPr id="1638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394785"/>
              </p:ext>
            </p:extLst>
          </p:nvPr>
        </p:nvGraphicFramePr>
        <p:xfrm>
          <a:off x="571500" y="3922713"/>
          <a:ext cx="479107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38" name="Equation" r:id="rId5" imgW="2844720" imgH="520560" progId="Equation.DSMT4">
                  <p:embed/>
                </p:oleObj>
              </mc:Choice>
              <mc:Fallback>
                <p:oleObj name="Equation" r:id="rId5" imgW="2844720" imgH="520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922713"/>
                        <a:ext cx="4791075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4" name="Group 5"/>
          <p:cNvGrpSpPr>
            <a:grpSpLocks/>
          </p:cNvGrpSpPr>
          <p:nvPr/>
        </p:nvGrpSpPr>
        <p:grpSpPr bwMode="auto">
          <a:xfrm>
            <a:off x="688976" y="2627709"/>
            <a:ext cx="4408489" cy="400050"/>
            <a:chOff x="244" y="974"/>
            <a:chExt cx="2777" cy="336"/>
          </a:xfrm>
        </p:grpSpPr>
        <p:sp>
          <p:nvSpPr>
            <p:cNvPr id="16401" name="Text Box 6"/>
            <p:cNvSpPr txBox="1">
              <a:spLocks noChangeArrowheads="1"/>
            </p:cNvSpPr>
            <p:nvPr/>
          </p:nvSpPr>
          <p:spPr bwMode="auto">
            <a:xfrm>
              <a:off x="244" y="974"/>
              <a:ext cx="1923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Number scattering out of</a:t>
              </a:r>
              <a:r>
                <a:rPr lang="en-US" sz="1600" dirty="0"/>
                <a:t> </a:t>
              </a:r>
            </a:p>
          </p:txBody>
        </p:sp>
        <p:graphicFrame>
          <p:nvGraphicFramePr>
            <p:cNvPr id="1639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7394907"/>
                </p:ext>
              </p:extLst>
            </p:nvPr>
          </p:nvGraphicFramePr>
          <p:xfrm>
            <a:off x="2073" y="976"/>
            <a:ext cx="94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339" name="Equation" r:id="rId7" imgW="723600" imgH="190440" progId="Equation.DSMT4">
                    <p:embed/>
                  </p:oleObj>
                </mc:Choice>
                <mc:Fallback>
                  <p:oleObj name="Equation" r:id="rId7" imgW="723600" imgH="19044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3" y="976"/>
                          <a:ext cx="94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5" name="Text Box 12"/>
          <p:cNvSpPr txBox="1">
            <a:spLocks noChangeArrowheads="1"/>
          </p:cNvSpPr>
          <p:nvPr/>
        </p:nvSpPr>
        <p:spPr bwMode="auto">
          <a:xfrm>
            <a:off x="685800" y="2268141"/>
            <a:ext cx="19046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Can show that:</a:t>
            </a:r>
          </a:p>
        </p:txBody>
      </p:sp>
      <p:graphicFrame>
        <p:nvGraphicFramePr>
          <p:cNvPr id="163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260797"/>
              </p:ext>
            </p:extLst>
          </p:nvPr>
        </p:nvGraphicFramePr>
        <p:xfrm>
          <a:off x="3065463" y="1258888"/>
          <a:ext cx="48275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40" name="Equation" r:id="rId9" imgW="2869920" imgH="520560" progId="Equation.DSMT4">
                  <p:embed/>
                </p:oleObj>
              </mc:Choice>
              <mc:Fallback>
                <p:oleObj name="Equation" r:id="rId9" imgW="2869920" imgH="5205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1258888"/>
                        <a:ext cx="4827587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6" name="Group 14"/>
          <p:cNvGrpSpPr>
            <a:grpSpLocks/>
          </p:cNvGrpSpPr>
          <p:nvPr/>
        </p:nvGrpSpPr>
        <p:grpSpPr bwMode="auto">
          <a:xfrm>
            <a:off x="584201" y="590550"/>
            <a:ext cx="4208464" cy="708422"/>
            <a:chOff x="368" y="359"/>
            <a:chExt cx="2651" cy="595"/>
          </a:xfrm>
        </p:grpSpPr>
        <p:grpSp>
          <p:nvGrpSpPr>
            <p:cNvPr id="16399" name="Group 8"/>
            <p:cNvGrpSpPr>
              <a:grpSpLocks/>
            </p:cNvGrpSpPr>
            <p:nvPr/>
          </p:nvGrpSpPr>
          <p:grpSpPr bwMode="auto">
            <a:xfrm>
              <a:off x="368" y="359"/>
              <a:ext cx="2640" cy="595"/>
              <a:chOff x="188" y="275"/>
              <a:chExt cx="2640" cy="595"/>
            </a:xfrm>
          </p:grpSpPr>
          <p:sp>
            <p:nvSpPr>
              <p:cNvPr id="16400" name="Text Box 9"/>
              <p:cNvSpPr txBox="1">
                <a:spLocks noChangeArrowheads="1"/>
              </p:cNvSpPr>
              <p:nvPr/>
            </p:nvSpPr>
            <p:spPr bwMode="auto">
              <a:xfrm>
                <a:off x="188" y="275"/>
                <a:ext cx="2640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 dirty="0"/>
                  <a:t>Number lost through absorption</a:t>
                </a:r>
                <a:r>
                  <a:rPr lang="en-US" sz="1600" dirty="0"/>
                  <a:t>                         </a:t>
                </a:r>
              </a:p>
              <a:p>
                <a:r>
                  <a:rPr lang="en-US" sz="2000" dirty="0"/>
                  <a:t>in                  during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6390" name="Object 10"/>
              <p:cNvGraphicFramePr>
                <a:graphicFrameLocks noChangeAspect="1"/>
              </p:cNvGraphicFramePr>
              <p:nvPr/>
            </p:nvGraphicFramePr>
            <p:xfrm>
              <a:off x="410" y="580"/>
              <a:ext cx="702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341" name="Equation" r:id="rId11" imgW="685800" imgH="203040" progId="Equation.DSMT4">
                      <p:embed/>
                    </p:oleObj>
                  </mc:Choice>
                  <mc:Fallback>
                    <p:oleObj name="Equation" r:id="rId11" imgW="685800" imgH="20304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" y="580"/>
                            <a:ext cx="702" cy="24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91" name="Object 11"/>
              <p:cNvGraphicFramePr>
                <a:graphicFrameLocks noChangeAspect="1"/>
              </p:cNvGraphicFramePr>
              <p:nvPr/>
            </p:nvGraphicFramePr>
            <p:xfrm>
              <a:off x="1667" y="586"/>
              <a:ext cx="281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9342" name="Equation" r:id="rId13" imgW="228600" imgH="203040" progId="Equation.DSMT4">
                      <p:embed/>
                    </p:oleObj>
                  </mc:Choice>
                  <mc:Fallback>
                    <p:oleObj name="Equation" r:id="rId13" imgW="228600" imgH="20304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67" y="586"/>
                            <a:ext cx="281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38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1505452"/>
                </p:ext>
              </p:extLst>
            </p:nvPr>
          </p:nvGraphicFramePr>
          <p:xfrm>
            <a:off x="2760" y="604"/>
            <a:ext cx="25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343" name="Equation" r:id="rId15" imgW="152280" imgH="101520" progId="Equation.3">
                    <p:embed/>
                  </p:oleObj>
                </mc:Choice>
                <mc:Fallback>
                  <p:oleObj name="Equation" r:id="rId15" imgW="152280" imgH="10152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0" y="604"/>
                          <a:ext cx="259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2E272F-8CE9-4080-95EE-A4C074736C44}" type="slidenum">
              <a:rPr lang="en-US" sz="1100"/>
              <a:pPr>
                <a:defRPr/>
              </a:pPr>
              <a:t>23</a:t>
            </a:fld>
            <a:endParaRPr lang="en-US" sz="11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9" name="Group 2"/>
          <p:cNvGrpSpPr>
            <a:grpSpLocks/>
          </p:cNvGrpSpPr>
          <p:nvPr/>
        </p:nvGrpSpPr>
        <p:grpSpPr bwMode="auto">
          <a:xfrm>
            <a:off x="2733676" y="677466"/>
            <a:ext cx="3783013" cy="1721644"/>
            <a:chOff x="1705" y="1042"/>
            <a:chExt cx="2383" cy="1446"/>
          </a:xfrm>
        </p:grpSpPr>
        <p:sp>
          <p:nvSpPr>
            <p:cNvPr id="17446" name="Freeform 3"/>
            <p:cNvSpPr>
              <a:spLocks/>
            </p:cNvSpPr>
            <p:nvPr/>
          </p:nvSpPr>
          <p:spPr bwMode="auto">
            <a:xfrm>
              <a:off x="1705" y="1042"/>
              <a:ext cx="2383" cy="1446"/>
            </a:xfrm>
            <a:custGeom>
              <a:avLst/>
              <a:gdLst>
                <a:gd name="T0" fmla="*/ 0 w 19860"/>
                <a:gd name="T1" fmla="*/ 0 h 12050"/>
                <a:gd name="T2" fmla="*/ 0 w 19860"/>
                <a:gd name="T3" fmla="*/ 0 h 12050"/>
                <a:gd name="T4" fmla="*/ 0 w 19860"/>
                <a:gd name="T5" fmla="*/ 0 h 12050"/>
                <a:gd name="T6" fmla="*/ 0 w 19860"/>
                <a:gd name="T7" fmla="*/ 0 h 12050"/>
                <a:gd name="T8" fmla="*/ 0 w 19860"/>
                <a:gd name="T9" fmla="*/ 0 h 12050"/>
                <a:gd name="T10" fmla="*/ 0 w 19860"/>
                <a:gd name="T11" fmla="*/ 0 h 12050"/>
                <a:gd name="T12" fmla="*/ 0 w 19860"/>
                <a:gd name="T13" fmla="*/ 0 h 12050"/>
                <a:gd name="T14" fmla="*/ 0 w 19860"/>
                <a:gd name="T15" fmla="*/ 0 h 12050"/>
                <a:gd name="T16" fmla="*/ 0 w 19860"/>
                <a:gd name="T17" fmla="*/ 0 h 12050"/>
                <a:gd name="T18" fmla="*/ 0 w 19860"/>
                <a:gd name="T19" fmla="*/ 0 h 12050"/>
                <a:gd name="T20" fmla="*/ 0 w 19860"/>
                <a:gd name="T21" fmla="*/ 0 h 12050"/>
                <a:gd name="T22" fmla="*/ 0 w 19860"/>
                <a:gd name="T23" fmla="*/ 0 h 12050"/>
                <a:gd name="T24" fmla="*/ 0 w 19860"/>
                <a:gd name="T25" fmla="*/ 0 h 12050"/>
                <a:gd name="T26" fmla="*/ 0 w 19860"/>
                <a:gd name="T27" fmla="*/ 0 h 12050"/>
                <a:gd name="T28" fmla="*/ 0 w 19860"/>
                <a:gd name="T29" fmla="*/ 0 h 12050"/>
                <a:gd name="T30" fmla="*/ 0 w 19860"/>
                <a:gd name="T31" fmla="*/ 0 h 12050"/>
                <a:gd name="T32" fmla="*/ 0 w 19860"/>
                <a:gd name="T33" fmla="*/ 0 h 12050"/>
                <a:gd name="T34" fmla="*/ 0 w 19860"/>
                <a:gd name="T35" fmla="*/ 0 h 12050"/>
                <a:gd name="T36" fmla="*/ 0 w 19860"/>
                <a:gd name="T37" fmla="*/ 0 h 12050"/>
                <a:gd name="T38" fmla="*/ 0 w 19860"/>
                <a:gd name="T39" fmla="*/ 0 h 12050"/>
                <a:gd name="T40" fmla="*/ 0 w 19860"/>
                <a:gd name="T41" fmla="*/ 0 h 12050"/>
                <a:gd name="T42" fmla="*/ 0 w 19860"/>
                <a:gd name="T43" fmla="*/ 0 h 12050"/>
                <a:gd name="T44" fmla="*/ 0 w 19860"/>
                <a:gd name="T45" fmla="*/ 0 h 12050"/>
                <a:gd name="T46" fmla="*/ 0 w 19860"/>
                <a:gd name="T47" fmla="*/ 0 h 12050"/>
                <a:gd name="T48" fmla="*/ 0 w 19860"/>
                <a:gd name="T49" fmla="*/ 0 h 12050"/>
                <a:gd name="T50" fmla="*/ 0 w 19860"/>
                <a:gd name="T51" fmla="*/ 0 h 12050"/>
                <a:gd name="T52" fmla="*/ 0 w 19860"/>
                <a:gd name="T53" fmla="*/ 0 h 12050"/>
                <a:gd name="T54" fmla="*/ 0 w 19860"/>
                <a:gd name="T55" fmla="*/ 0 h 12050"/>
                <a:gd name="T56" fmla="*/ 0 w 19860"/>
                <a:gd name="T57" fmla="*/ 0 h 12050"/>
                <a:gd name="T58" fmla="*/ 0 w 19860"/>
                <a:gd name="T59" fmla="*/ 0 h 12050"/>
                <a:gd name="T60" fmla="*/ 0 w 19860"/>
                <a:gd name="T61" fmla="*/ 0 h 12050"/>
                <a:gd name="T62" fmla="*/ 0 w 19860"/>
                <a:gd name="T63" fmla="*/ 0 h 12050"/>
                <a:gd name="T64" fmla="*/ 0 w 19860"/>
                <a:gd name="T65" fmla="*/ 0 h 1205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9860"/>
                <a:gd name="T100" fmla="*/ 0 h 12050"/>
                <a:gd name="T101" fmla="*/ 19860 w 19860"/>
                <a:gd name="T102" fmla="*/ 12050 h 1205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9860" h="12050">
                  <a:moveTo>
                    <a:pt x="5910" y="250"/>
                  </a:moveTo>
                  <a:cubicBezTo>
                    <a:pt x="5843" y="263"/>
                    <a:pt x="5540" y="320"/>
                    <a:pt x="5460" y="350"/>
                  </a:cubicBezTo>
                  <a:cubicBezTo>
                    <a:pt x="5390" y="377"/>
                    <a:pt x="5330" y="427"/>
                    <a:pt x="5260" y="450"/>
                  </a:cubicBezTo>
                  <a:cubicBezTo>
                    <a:pt x="5006" y="533"/>
                    <a:pt x="4723" y="583"/>
                    <a:pt x="4460" y="650"/>
                  </a:cubicBezTo>
                  <a:cubicBezTo>
                    <a:pt x="4386" y="667"/>
                    <a:pt x="4330" y="723"/>
                    <a:pt x="4260" y="750"/>
                  </a:cubicBezTo>
                  <a:cubicBezTo>
                    <a:pt x="4056" y="830"/>
                    <a:pt x="3956" y="850"/>
                    <a:pt x="3760" y="900"/>
                  </a:cubicBezTo>
                  <a:cubicBezTo>
                    <a:pt x="3693" y="950"/>
                    <a:pt x="3633" y="1013"/>
                    <a:pt x="3560" y="1050"/>
                  </a:cubicBezTo>
                  <a:cubicBezTo>
                    <a:pt x="3500" y="1080"/>
                    <a:pt x="3426" y="1080"/>
                    <a:pt x="3360" y="1100"/>
                  </a:cubicBezTo>
                  <a:cubicBezTo>
                    <a:pt x="3066" y="1183"/>
                    <a:pt x="3353" y="1103"/>
                    <a:pt x="3060" y="1250"/>
                  </a:cubicBezTo>
                  <a:cubicBezTo>
                    <a:pt x="3013" y="1273"/>
                    <a:pt x="2956" y="1273"/>
                    <a:pt x="2910" y="1300"/>
                  </a:cubicBezTo>
                  <a:cubicBezTo>
                    <a:pt x="2753" y="1387"/>
                    <a:pt x="2610" y="1500"/>
                    <a:pt x="2460" y="1600"/>
                  </a:cubicBezTo>
                  <a:cubicBezTo>
                    <a:pt x="2410" y="1633"/>
                    <a:pt x="2310" y="1700"/>
                    <a:pt x="2310" y="1700"/>
                  </a:cubicBezTo>
                  <a:cubicBezTo>
                    <a:pt x="2166" y="1917"/>
                    <a:pt x="2043" y="1897"/>
                    <a:pt x="1860" y="2050"/>
                  </a:cubicBezTo>
                  <a:cubicBezTo>
                    <a:pt x="1713" y="2173"/>
                    <a:pt x="1533" y="2303"/>
                    <a:pt x="1410" y="2450"/>
                  </a:cubicBezTo>
                  <a:cubicBezTo>
                    <a:pt x="1356" y="2513"/>
                    <a:pt x="1320" y="2590"/>
                    <a:pt x="1260" y="2650"/>
                  </a:cubicBezTo>
                  <a:cubicBezTo>
                    <a:pt x="863" y="3047"/>
                    <a:pt x="1236" y="2570"/>
                    <a:pt x="910" y="2950"/>
                  </a:cubicBezTo>
                  <a:cubicBezTo>
                    <a:pt x="516" y="3410"/>
                    <a:pt x="416" y="3787"/>
                    <a:pt x="160" y="4300"/>
                  </a:cubicBezTo>
                  <a:cubicBezTo>
                    <a:pt x="10" y="5043"/>
                    <a:pt x="0" y="4887"/>
                    <a:pt x="110" y="5900"/>
                  </a:cubicBezTo>
                  <a:cubicBezTo>
                    <a:pt x="143" y="6197"/>
                    <a:pt x="383" y="6497"/>
                    <a:pt x="510" y="6750"/>
                  </a:cubicBezTo>
                  <a:cubicBezTo>
                    <a:pt x="610" y="6950"/>
                    <a:pt x="613" y="7067"/>
                    <a:pt x="810" y="7200"/>
                  </a:cubicBezTo>
                  <a:cubicBezTo>
                    <a:pt x="996" y="7577"/>
                    <a:pt x="1256" y="7917"/>
                    <a:pt x="1610" y="8150"/>
                  </a:cubicBezTo>
                  <a:cubicBezTo>
                    <a:pt x="1750" y="8430"/>
                    <a:pt x="1936" y="8500"/>
                    <a:pt x="2160" y="8700"/>
                  </a:cubicBezTo>
                  <a:cubicBezTo>
                    <a:pt x="2413" y="8927"/>
                    <a:pt x="2563" y="9087"/>
                    <a:pt x="2860" y="9250"/>
                  </a:cubicBezTo>
                  <a:cubicBezTo>
                    <a:pt x="3076" y="9370"/>
                    <a:pt x="3343" y="9430"/>
                    <a:pt x="3560" y="9550"/>
                  </a:cubicBezTo>
                  <a:cubicBezTo>
                    <a:pt x="3633" y="9590"/>
                    <a:pt x="3686" y="9660"/>
                    <a:pt x="3760" y="9700"/>
                  </a:cubicBezTo>
                  <a:cubicBezTo>
                    <a:pt x="4030" y="9850"/>
                    <a:pt x="4360" y="9973"/>
                    <a:pt x="4660" y="10050"/>
                  </a:cubicBezTo>
                  <a:cubicBezTo>
                    <a:pt x="4850" y="10177"/>
                    <a:pt x="4980" y="10203"/>
                    <a:pt x="5210" y="10250"/>
                  </a:cubicBezTo>
                  <a:cubicBezTo>
                    <a:pt x="6020" y="10653"/>
                    <a:pt x="7020" y="10877"/>
                    <a:pt x="7910" y="10950"/>
                  </a:cubicBezTo>
                  <a:cubicBezTo>
                    <a:pt x="8566" y="11113"/>
                    <a:pt x="9090" y="11120"/>
                    <a:pt x="9810" y="11150"/>
                  </a:cubicBezTo>
                  <a:cubicBezTo>
                    <a:pt x="10253" y="11190"/>
                    <a:pt x="10666" y="11260"/>
                    <a:pt x="11110" y="11300"/>
                  </a:cubicBezTo>
                  <a:cubicBezTo>
                    <a:pt x="11606" y="11423"/>
                    <a:pt x="11996" y="11507"/>
                    <a:pt x="12510" y="11550"/>
                  </a:cubicBezTo>
                  <a:cubicBezTo>
                    <a:pt x="12983" y="11707"/>
                    <a:pt x="13463" y="11800"/>
                    <a:pt x="13960" y="11850"/>
                  </a:cubicBezTo>
                  <a:cubicBezTo>
                    <a:pt x="14320" y="11970"/>
                    <a:pt x="13893" y="11840"/>
                    <a:pt x="14610" y="11950"/>
                  </a:cubicBezTo>
                  <a:cubicBezTo>
                    <a:pt x="14663" y="11957"/>
                    <a:pt x="14706" y="11990"/>
                    <a:pt x="14760" y="12000"/>
                  </a:cubicBezTo>
                  <a:cubicBezTo>
                    <a:pt x="14910" y="12023"/>
                    <a:pt x="15060" y="12033"/>
                    <a:pt x="15210" y="12050"/>
                  </a:cubicBezTo>
                  <a:cubicBezTo>
                    <a:pt x="15760" y="12033"/>
                    <a:pt x="16310" y="12030"/>
                    <a:pt x="16860" y="12000"/>
                  </a:cubicBezTo>
                  <a:cubicBezTo>
                    <a:pt x="17050" y="11990"/>
                    <a:pt x="17393" y="11867"/>
                    <a:pt x="17510" y="11750"/>
                  </a:cubicBezTo>
                  <a:cubicBezTo>
                    <a:pt x="17560" y="11700"/>
                    <a:pt x="17600" y="11637"/>
                    <a:pt x="17660" y="11600"/>
                  </a:cubicBezTo>
                  <a:cubicBezTo>
                    <a:pt x="17796" y="11520"/>
                    <a:pt x="17973" y="11527"/>
                    <a:pt x="18110" y="11450"/>
                  </a:cubicBezTo>
                  <a:cubicBezTo>
                    <a:pt x="18303" y="11343"/>
                    <a:pt x="18460" y="11200"/>
                    <a:pt x="18660" y="11100"/>
                  </a:cubicBezTo>
                  <a:cubicBezTo>
                    <a:pt x="18786" y="10913"/>
                    <a:pt x="18943" y="10840"/>
                    <a:pt x="19110" y="10700"/>
                  </a:cubicBezTo>
                  <a:cubicBezTo>
                    <a:pt x="19493" y="10380"/>
                    <a:pt x="19036" y="10697"/>
                    <a:pt x="19410" y="10450"/>
                  </a:cubicBezTo>
                  <a:cubicBezTo>
                    <a:pt x="19470" y="10267"/>
                    <a:pt x="19586" y="10130"/>
                    <a:pt x="19660" y="9950"/>
                  </a:cubicBezTo>
                  <a:cubicBezTo>
                    <a:pt x="19840" y="9503"/>
                    <a:pt x="19666" y="9790"/>
                    <a:pt x="19860" y="9500"/>
                  </a:cubicBezTo>
                  <a:cubicBezTo>
                    <a:pt x="19843" y="9133"/>
                    <a:pt x="19840" y="8767"/>
                    <a:pt x="19810" y="8400"/>
                  </a:cubicBezTo>
                  <a:cubicBezTo>
                    <a:pt x="19793" y="8173"/>
                    <a:pt x="19670" y="7913"/>
                    <a:pt x="19610" y="7700"/>
                  </a:cubicBezTo>
                  <a:cubicBezTo>
                    <a:pt x="19516" y="7373"/>
                    <a:pt x="19463" y="7057"/>
                    <a:pt x="19310" y="6750"/>
                  </a:cubicBezTo>
                  <a:cubicBezTo>
                    <a:pt x="19230" y="6357"/>
                    <a:pt x="19163" y="6060"/>
                    <a:pt x="19010" y="5700"/>
                  </a:cubicBezTo>
                  <a:cubicBezTo>
                    <a:pt x="18870" y="5373"/>
                    <a:pt x="18820" y="5060"/>
                    <a:pt x="18560" y="4800"/>
                  </a:cubicBezTo>
                  <a:cubicBezTo>
                    <a:pt x="18473" y="4370"/>
                    <a:pt x="18336" y="4390"/>
                    <a:pt x="18110" y="4050"/>
                  </a:cubicBezTo>
                  <a:cubicBezTo>
                    <a:pt x="18023" y="3920"/>
                    <a:pt x="17943" y="3783"/>
                    <a:pt x="17860" y="3650"/>
                  </a:cubicBezTo>
                  <a:cubicBezTo>
                    <a:pt x="17820" y="3587"/>
                    <a:pt x="17720" y="3593"/>
                    <a:pt x="17660" y="3550"/>
                  </a:cubicBezTo>
                  <a:cubicBezTo>
                    <a:pt x="17193" y="3200"/>
                    <a:pt x="17716" y="3487"/>
                    <a:pt x="17260" y="3200"/>
                  </a:cubicBezTo>
                  <a:cubicBezTo>
                    <a:pt x="16936" y="2997"/>
                    <a:pt x="17183" y="3203"/>
                    <a:pt x="16810" y="3000"/>
                  </a:cubicBezTo>
                  <a:cubicBezTo>
                    <a:pt x="16306" y="2727"/>
                    <a:pt x="16710" y="2850"/>
                    <a:pt x="16310" y="2750"/>
                  </a:cubicBezTo>
                  <a:cubicBezTo>
                    <a:pt x="16120" y="2623"/>
                    <a:pt x="15990" y="2597"/>
                    <a:pt x="15760" y="2550"/>
                  </a:cubicBezTo>
                  <a:cubicBezTo>
                    <a:pt x="15320" y="2257"/>
                    <a:pt x="16023" y="2707"/>
                    <a:pt x="15310" y="2350"/>
                  </a:cubicBezTo>
                  <a:cubicBezTo>
                    <a:pt x="14993" y="2193"/>
                    <a:pt x="14650" y="1987"/>
                    <a:pt x="14310" y="1900"/>
                  </a:cubicBezTo>
                  <a:cubicBezTo>
                    <a:pt x="13903" y="1593"/>
                    <a:pt x="14250" y="1800"/>
                    <a:pt x="13410" y="1700"/>
                  </a:cubicBezTo>
                  <a:cubicBezTo>
                    <a:pt x="13113" y="1663"/>
                    <a:pt x="12836" y="1503"/>
                    <a:pt x="12560" y="1400"/>
                  </a:cubicBezTo>
                  <a:cubicBezTo>
                    <a:pt x="12320" y="1310"/>
                    <a:pt x="12083" y="1223"/>
                    <a:pt x="11860" y="1100"/>
                  </a:cubicBezTo>
                  <a:cubicBezTo>
                    <a:pt x="11343" y="813"/>
                    <a:pt x="11750" y="963"/>
                    <a:pt x="11410" y="850"/>
                  </a:cubicBezTo>
                  <a:cubicBezTo>
                    <a:pt x="10526" y="187"/>
                    <a:pt x="9370" y="150"/>
                    <a:pt x="8310" y="0"/>
                  </a:cubicBezTo>
                  <a:cubicBezTo>
                    <a:pt x="7726" y="17"/>
                    <a:pt x="7143" y="20"/>
                    <a:pt x="6560" y="50"/>
                  </a:cubicBezTo>
                  <a:cubicBezTo>
                    <a:pt x="6400" y="57"/>
                    <a:pt x="6000" y="130"/>
                    <a:pt x="5860" y="200"/>
                  </a:cubicBezTo>
                  <a:cubicBezTo>
                    <a:pt x="5840" y="210"/>
                    <a:pt x="5893" y="233"/>
                    <a:pt x="5910" y="250"/>
                  </a:cubicBezTo>
                </a:path>
              </a:pathLst>
            </a:custGeom>
            <a:solidFill>
              <a:srgbClr val="FFFF99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7447" name="Freeform 4"/>
            <p:cNvSpPr>
              <a:spLocks/>
            </p:cNvSpPr>
            <p:nvPr/>
          </p:nvSpPr>
          <p:spPr bwMode="auto">
            <a:xfrm>
              <a:off x="1705" y="1042"/>
              <a:ext cx="2383" cy="1446"/>
            </a:xfrm>
            <a:custGeom>
              <a:avLst/>
              <a:gdLst>
                <a:gd name="T0" fmla="*/ 655 w 2383"/>
                <a:gd name="T1" fmla="*/ 42 h 1446"/>
                <a:gd name="T2" fmla="*/ 535 w 2383"/>
                <a:gd name="T3" fmla="*/ 78 h 1446"/>
                <a:gd name="T4" fmla="*/ 451 w 2383"/>
                <a:gd name="T5" fmla="*/ 108 h 1446"/>
                <a:gd name="T6" fmla="*/ 403 w 2383"/>
                <a:gd name="T7" fmla="*/ 132 h 1446"/>
                <a:gd name="T8" fmla="*/ 349 w 2383"/>
                <a:gd name="T9" fmla="*/ 156 h 1446"/>
                <a:gd name="T10" fmla="*/ 277 w 2383"/>
                <a:gd name="T11" fmla="*/ 204 h 1446"/>
                <a:gd name="T12" fmla="*/ 169 w 2383"/>
                <a:gd name="T13" fmla="*/ 294 h 1446"/>
                <a:gd name="T14" fmla="*/ 109 w 2383"/>
                <a:gd name="T15" fmla="*/ 354 h 1446"/>
                <a:gd name="T16" fmla="*/ 13 w 2383"/>
                <a:gd name="T17" fmla="*/ 708 h 1446"/>
                <a:gd name="T18" fmla="*/ 97 w 2383"/>
                <a:gd name="T19" fmla="*/ 864 h 1446"/>
                <a:gd name="T20" fmla="*/ 259 w 2383"/>
                <a:gd name="T21" fmla="*/ 1044 h 1446"/>
                <a:gd name="T22" fmla="*/ 427 w 2383"/>
                <a:gd name="T23" fmla="*/ 1146 h 1446"/>
                <a:gd name="T24" fmla="*/ 559 w 2383"/>
                <a:gd name="T25" fmla="*/ 1206 h 1446"/>
                <a:gd name="T26" fmla="*/ 949 w 2383"/>
                <a:gd name="T27" fmla="*/ 1314 h 1446"/>
                <a:gd name="T28" fmla="*/ 1333 w 2383"/>
                <a:gd name="T29" fmla="*/ 1356 h 1446"/>
                <a:gd name="T30" fmla="*/ 1675 w 2383"/>
                <a:gd name="T31" fmla="*/ 1422 h 1446"/>
                <a:gd name="T32" fmla="*/ 1771 w 2383"/>
                <a:gd name="T33" fmla="*/ 1440 h 1446"/>
                <a:gd name="T34" fmla="*/ 2023 w 2383"/>
                <a:gd name="T35" fmla="*/ 1440 h 1446"/>
                <a:gd name="T36" fmla="*/ 2119 w 2383"/>
                <a:gd name="T37" fmla="*/ 1392 h 1446"/>
                <a:gd name="T38" fmla="*/ 2239 w 2383"/>
                <a:gd name="T39" fmla="*/ 1332 h 1446"/>
                <a:gd name="T40" fmla="*/ 2329 w 2383"/>
                <a:gd name="T41" fmla="*/ 1254 h 1446"/>
                <a:gd name="T42" fmla="*/ 2383 w 2383"/>
                <a:gd name="T43" fmla="*/ 1140 h 1446"/>
                <a:gd name="T44" fmla="*/ 2353 w 2383"/>
                <a:gd name="T45" fmla="*/ 924 h 1446"/>
                <a:gd name="T46" fmla="*/ 2281 w 2383"/>
                <a:gd name="T47" fmla="*/ 684 h 1446"/>
                <a:gd name="T48" fmla="*/ 2173 w 2383"/>
                <a:gd name="T49" fmla="*/ 486 h 1446"/>
                <a:gd name="T50" fmla="*/ 2119 w 2383"/>
                <a:gd name="T51" fmla="*/ 426 h 1446"/>
                <a:gd name="T52" fmla="*/ 2017 w 2383"/>
                <a:gd name="T53" fmla="*/ 360 h 1446"/>
                <a:gd name="T54" fmla="*/ 1891 w 2383"/>
                <a:gd name="T55" fmla="*/ 306 h 1446"/>
                <a:gd name="T56" fmla="*/ 1717 w 2383"/>
                <a:gd name="T57" fmla="*/ 228 h 1446"/>
                <a:gd name="T58" fmla="*/ 1507 w 2383"/>
                <a:gd name="T59" fmla="*/ 168 h 1446"/>
                <a:gd name="T60" fmla="*/ 1369 w 2383"/>
                <a:gd name="T61" fmla="*/ 102 h 1446"/>
                <a:gd name="T62" fmla="*/ 787 w 2383"/>
                <a:gd name="T63" fmla="*/ 6 h 1446"/>
                <a:gd name="T64" fmla="*/ 709 w 2383"/>
                <a:gd name="T65" fmla="*/ 30 h 14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83"/>
                <a:gd name="T100" fmla="*/ 0 h 1446"/>
                <a:gd name="T101" fmla="*/ 2383 w 2383"/>
                <a:gd name="T102" fmla="*/ 1446 h 144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83" h="1446">
                  <a:moveTo>
                    <a:pt x="709" y="30"/>
                  </a:moveTo>
                  <a:cubicBezTo>
                    <a:pt x="701" y="32"/>
                    <a:pt x="665" y="39"/>
                    <a:pt x="655" y="42"/>
                  </a:cubicBezTo>
                  <a:cubicBezTo>
                    <a:pt x="647" y="45"/>
                    <a:pt x="640" y="51"/>
                    <a:pt x="631" y="54"/>
                  </a:cubicBezTo>
                  <a:cubicBezTo>
                    <a:pt x="601" y="64"/>
                    <a:pt x="567" y="70"/>
                    <a:pt x="535" y="78"/>
                  </a:cubicBezTo>
                  <a:cubicBezTo>
                    <a:pt x="526" y="80"/>
                    <a:pt x="520" y="87"/>
                    <a:pt x="511" y="90"/>
                  </a:cubicBezTo>
                  <a:cubicBezTo>
                    <a:pt x="487" y="100"/>
                    <a:pt x="475" y="102"/>
                    <a:pt x="451" y="108"/>
                  </a:cubicBezTo>
                  <a:cubicBezTo>
                    <a:pt x="443" y="114"/>
                    <a:pt x="436" y="122"/>
                    <a:pt x="427" y="126"/>
                  </a:cubicBezTo>
                  <a:cubicBezTo>
                    <a:pt x="420" y="130"/>
                    <a:pt x="411" y="130"/>
                    <a:pt x="403" y="132"/>
                  </a:cubicBezTo>
                  <a:cubicBezTo>
                    <a:pt x="368" y="142"/>
                    <a:pt x="403" y="133"/>
                    <a:pt x="367" y="150"/>
                  </a:cubicBezTo>
                  <a:cubicBezTo>
                    <a:pt x="362" y="153"/>
                    <a:pt x="355" y="153"/>
                    <a:pt x="349" y="156"/>
                  </a:cubicBezTo>
                  <a:cubicBezTo>
                    <a:pt x="331" y="167"/>
                    <a:pt x="313" y="180"/>
                    <a:pt x="295" y="192"/>
                  </a:cubicBezTo>
                  <a:cubicBezTo>
                    <a:pt x="289" y="196"/>
                    <a:pt x="277" y="204"/>
                    <a:pt x="277" y="204"/>
                  </a:cubicBezTo>
                  <a:cubicBezTo>
                    <a:pt x="260" y="230"/>
                    <a:pt x="245" y="228"/>
                    <a:pt x="223" y="246"/>
                  </a:cubicBezTo>
                  <a:cubicBezTo>
                    <a:pt x="206" y="261"/>
                    <a:pt x="184" y="276"/>
                    <a:pt x="169" y="294"/>
                  </a:cubicBezTo>
                  <a:cubicBezTo>
                    <a:pt x="163" y="302"/>
                    <a:pt x="159" y="311"/>
                    <a:pt x="151" y="318"/>
                  </a:cubicBezTo>
                  <a:cubicBezTo>
                    <a:pt x="104" y="366"/>
                    <a:pt x="148" y="309"/>
                    <a:pt x="109" y="354"/>
                  </a:cubicBezTo>
                  <a:cubicBezTo>
                    <a:pt x="62" y="409"/>
                    <a:pt x="50" y="455"/>
                    <a:pt x="19" y="516"/>
                  </a:cubicBezTo>
                  <a:cubicBezTo>
                    <a:pt x="1" y="605"/>
                    <a:pt x="0" y="587"/>
                    <a:pt x="13" y="708"/>
                  </a:cubicBezTo>
                  <a:cubicBezTo>
                    <a:pt x="17" y="744"/>
                    <a:pt x="46" y="780"/>
                    <a:pt x="61" y="810"/>
                  </a:cubicBezTo>
                  <a:cubicBezTo>
                    <a:pt x="73" y="834"/>
                    <a:pt x="74" y="848"/>
                    <a:pt x="97" y="864"/>
                  </a:cubicBezTo>
                  <a:cubicBezTo>
                    <a:pt x="120" y="909"/>
                    <a:pt x="151" y="950"/>
                    <a:pt x="193" y="978"/>
                  </a:cubicBezTo>
                  <a:cubicBezTo>
                    <a:pt x="210" y="1012"/>
                    <a:pt x="232" y="1020"/>
                    <a:pt x="259" y="1044"/>
                  </a:cubicBezTo>
                  <a:cubicBezTo>
                    <a:pt x="290" y="1071"/>
                    <a:pt x="308" y="1090"/>
                    <a:pt x="343" y="1110"/>
                  </a:cubicBezTo>
                  <a:cubicBezTo>
                    <a:pt x="369" y="1124"/>
                    <a:pt x="401" y="1132"/>
                    <a:pt x="427" y="1146"/>
                  </a:cubicBezTo>
                  <a:cubicBezTo>
                    <a:pt x="436" y="1151"/>
                    <a:pt x="442" y="1159"/>
                    <a:pt x="451" y="1164"/>
                  </a:cubicBezTo>
                  <a:cubicBezTo>
                    <a:pt x="484" y="1182"/>
                    <a:pt x="523" y="1197"/>
                    <a:pt x="559" y="1206"/>
                  </a:cubicBezTo>
                  <a:cubicBezTo>
                    <a:pt x="582" y="1221"/>
                    <a:pt x="598" y="1224"/>
                    <a:pt x="625" y="1230"/>
                  </a:cubicBezTo>
                  <a:cubicBezTo>
                    <a:pt x="723" y="1278"/>
                    <a:pt x="843" y="1305"/>
                    <a:pt x="949" y="1314"/>
                  </a:cubicBezTo>
                  <a:cubicBezTo>
                    <a:pt x="1028" y="1334"/>
                    <a:pt x="1091" y="1334"/>
                    <a:pt x="1177" y="1338"/>
                  </a:cubicBezTo>
                  <a:cubicBezTo>
                    <a:pt x="1231" y="1343"/>
                    <a:pt x="1280" y="1351"/>
                    <a:pt x="1333" y="1356"/>
                  </a:cubicBezTo>
                  <a:cubicBezTo>
                    <a:pt x="1393" y="1371"/>
                    <a:pt x="1440" y="1381"/>
                    <a:pt x="1501" y="1386"/>
                  </a:cubicBezTo>
                  <a:cubicBezTo>
                    <a:pt x="1558" y="1405"/>
                    <a:pt x="1616" y="1416"/>
                    <a:pt x="1675" y="1422"/>
                  </a:cubicBezTo>
                  <a:cubicBezTo>
                    <a:pt x="1719" y="1436"/>
                    <a:pt x="1667" y="1421"/>
                    <a:pt x="1753" y="1434"/>
                  </a:cubicBezTo>
                  <a:cubicBezTo>
                    <a:pt x="1760" y="1435"/>
                    <a:pt x="1765" y="1439"/>
                    <a:pt x="1771" y="1440"/>
                  </a:cubicBezTo>
                  <a:cubicBezTo>
                    <a:pt x="1789" y="1443"/>
                    <a:pt x="1807" y="1444"/>
                    <a:pt x="1825" y="1446"/>
                  </a:cubicBezTo>
                  <a:cubicBezTo>
                    <a:pt x="1891" y="1444"/>
                    <a:pt x="1957" y="1444"/>
                    <a:pt x="2023" y="1440"/>
                  </a:cubicBezTo>
                  <a:cubicBezTo>
                    <a:pt x="2046" y="1439"/>
                    <a:pt x="2087" y="1424"/>
                    <a:pt x="2101" y="1410"/>
                  </a:cubicBezTo>
                  <a:cubicBezTo>
                    <a:pt x="2107" y="1404"/>
                    <a:pt x="2112" y="1396"/>
                    <a:pt x="2119" y="1392"/>
                  </a:cubicBezTo>
                  <a:cubicBezTo>
                    <a:pt x="2136" y="1382"/>
                    <a:pt x="2157" y="1383"/>
                    <a:pt x="2173" y="1374"/>
                  </a:cubicBezTo>
                  <a:cubicBezTo>
                    <a:pt x="2197" y="1361"/>
                    <a:pt x="2215" y="1344"/>
                    <a:pt x="2239" y="1332"/>
                  </a:cubicBezTo>
                  <a:cubicBezTo>
                    <a:pt x="2255" y="1310"/>
                    <a:pt x="2273" y="1301"/>
                    <a:pt x="2293" y="1284"/>
                  </a:cubicBezTo>
                  <a:cubicBezTo>
                    <a:pt x="2339" y="1246"/>
                    <a:pt x="2285" y="1284"/>
                    <a:pt x="2329" y="1254"/>
                  </a:cubicBezTo>
                  <a:cubicBezTo>
                    <a:pt x="2337" y="1232"/>
                    <a:pt x="2351" y="1216"/>
                    <a:pt x="2359" y="1194"/>
                  </a:cubicBezTo>
                  <a:cubicBezTo>
                    <a:pt x="2381" y="1140"/>
                    <a:pt x="2360" y="1175"/>
                    <a:pt x="2383" y="1140"/>
                  </a:cubicBezTo>
                  <a:cubicBezTo>
                    <a:pt x="2381" y="1096"/>
                    <a:pt x="2381" y="1052"/>
                    <a:pt x="2377" y="1008"/>
                  </a:cubicBezTo>
                  <a:cubicBezTo>
                    <a:pt x="2375" y="981"/>
                    <a:pt x="2361" y="950"/>
                    <a:pt x="2353" y="924"/>
                  </a:cubicBezTo>
                  <a:cubicBezTo>
                    <a:pt x="2342" y="885"/>
                    <a:pt x="2336" y="847"/>
                    <a:pt x="2317" y="810"/>
                  </a:cubicBezTo>
                  <a:cubicBezTo>
                    <a:pt x="2308" y="763"/>
                    <a:pt x="2300" y="727"/>
                    <a:pt x="2281" y="684"/>
                  </a:cubicBezTo>
                  <a:cubicBezTo>
                    <a:pt x="2265" y="645"/>
                    <a:pt x="2259" y="607"/>
                    <a:pt x="2227" y="576"/>
                  </a:cubicBezTo>
                  <a:cubicBezTo>
                    <a:pt x="2217" y="524"/>
                    <a:pt x="2201" y="527"/>
                    <a:pt x="2173" y="486"/>
                  </a:cubicBezTo>
                  <a:cubicBezTo>
                    <a:pt x="2163" y="471"/>
                    <a:pt x="2153" y="454"/>
                    <a:pt x="2143" y="438"/>
                  </a:cubicBezTo>
                  <a:cubicBezTo>
                    <a:pt x="2139" y="431"/>
                    <a:pt x="2127" y="431"/>
                    <a:pt x="2119" y="426"/>
                  </a:cubicBezTo>
                  <a:cubicBezTo>
                    <a:pt x="2063" y="384"/>
                    <a:pt x="2126" y="419"/>
                    <a:pt x="2071" y="384"/>
                  </a:cubicBezTo>
                  <a:cubicBezTo>
                    <a:pt x="2033" y="360"/>
                    <a:pt x="2062" y="384"/>
                    <a:pt x="2017" y="360"/>
                  </a:cubicBezTo>
                  <a:cubicBezTo>
                    <a:pt x="1957" y="327"/>
                    <a:pt x="2005" y="342"/>
                    <a:pt x="1957" y="330"/>
                  </a:cubicBezTo>
                  <a:cubicBezTo>
                    <a:pt x="1935" y="315"/>
                    <a:pt x="1919" y="312"/>
                    <a:pt x="1891" y="306"/>
                  </a:cubicBezTo>
                  <a:cubicBezTo>
                    <a:pt x="1839" y="271"/>
                    <a:pt x="1923" y="325"/>
                    <a:pt x="1837" y="282"/>
                  </a:cubicBezTo>
                  <a:cubicBezTo>
                    <a:pt x="1799" y="263"/>
                    <a:pt x="1758" y="239"/>
                    <a:pt x="1717" y="228"/>
                  </a:cubicBezTo>
                  <a:cubicBezTo>
                    <a:pt x="1669" y="191"/>
                    <a:pt x="1710" y="216"/>
                    <a:pt x="1609" y="204"/>
                  </a:cubicBezTo>
                  <a:cubicBezTo>
                    <a:pt x="1574" y="200"/>
                    <a:pt x="1541" y="181"/>
                    <a:pt x="1507" y="168"/>
                  </a:cubicBezTo>
                  <a:cubicBezTo>
                    <a:pt x="1479" y="157"/>
                    <a:pt x="1450" y="147"/>
                    <a:pt x="1423" y="132"/>
                  </a:cubicBezTo>
                  <a:cubicBezTo>
                    <a:pt x="1361" y="98"/>
                    <a:pt x="1410" y="116"/>
                    <a:pt x="1369" y="102"/>
                  </a:cubicBezTo>
                  <a:cubicBezTo>
                    <a:pt x="1263" y="23"/>
                    <a:pt x="1125" y="18"/>
                    <a:pt x="997" y="0"/>
                  </a:cubicBezTo>
                  <a:cubicBezTo>
                    <a:pt x="927" y="2"/>
                    <a:pt x="857" y="3"/>
                    <a:pt x="787" y="6"/>
                  </a:cubicBezTo>
                  <a:cubicBezTo>
                    <a:pt x="768" y="7"/>
                    <a:pt x="720" y="16"/>
                    <a:pt x="703" y="24"/>
                  </a:cubicBezTo>
                  <a:cubicBezTo>
                    <a:pt x="701" y="25"/>
                    <a:pt x="707" y="28"/>
                    <a:pt x="709" y="3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grpSp>
        <p:nvGrpSpPr>
          <p:cNvPr id="17420" name="Group 5"/>
          <p:cNvGrpSpPr>
            <a:grpSpLocks/>
          </p:cNvGrpSpPr>
          <p:nvPr/>
        </p:nvGrpSpPr>
        <p:grpSpPr bwMode="auto">
          <a:xfrm>
            <a:off x="2724150" y="1238250"/>
            <a:ext cx="3727450" cy="570310"/>
            <a:chOff x="1708" y="1513"/>
            <a:chExt cx="2348" cy="479"/>
          </a:xfrm>
        </p:grpSpPr>
        <p:sp>
          <p:nvSpPr>
            <p:cNvPr id="17444" name="Freeform 6"/>
            <p:cNvSpPr>
              <a:spLocks/>
            </p:cNvSpPr>
            <p:nvPr/>
          </p:nvSpPr>
          <p:spPr bwMode="auto">
            <a:xfrm>
              <a:off x="1708" y="1513"/>
              <a:ext cx="2348" cy="479"/>
            </a:xfrm>
            <a:custGeom>
              <a:avLst/>
              <a:gdLst>
                <a:gd name="T0" fmla="*/ 0 w 19570"/>
                <a:gd name="T1" fmla="*/ 0 h 3997"/>
                <a:gd name="T2" fmla="*/ 0 w 19570"/>
                <a:gd name="T3" fmla="*/ 0 h 3997"/>
                <a:gd name="T4" fmla="*/ 0 w 19570"/>
                <a:gd name="T5" fmla="*/ 0 h 3997"/>
                <a:gd name="T6" fmla="*/ 0 w 19570"/>
                <a:gd name="T7" fmla="*/ 0 h 3997"/>
                <a:gd name="T8" fmla="*/ 0 w 19570"/>
                <a:gd name="T9" fmla="*/ 0 h 39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570"/>
                <a:gd name="T16" fmla="*/ 0 h 3997"/>
                <a:gd name="T17" fmla="*/ 19570 w 19570"/>
                <a:gd name="T18" fmla="*/ 3997 h 39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570" h="3997">
                  <a:moveTo>
                    <a:pt x="9940" y="935"/>
                  </a:moveTo>
                  <a:cubicBezTo>
                    <a:pt x="4582" y="155"/>
                    <a:pt x="171" y="0"/>
                    <a:pt x="85" y="587"/>
                  </a:cubicBezTo>
                  <a:cubicBezTo>
                    <a:pt x="0" y="1175"/>
                    <a:pt x="4273" y="2283"/>
                    <a:pt x="9630" y="3062"/>
                  </a:cubicBezTo>
                  <a:cubicBezTo>
                    <a:pt x="14987" y="3842"/>
                    <a:pt x="19399" y="3997"/>
                    <a:pt x="19484" y="3409"/>
                  </a:cubicBezTo>
                  <a:cubicBezTo>
                    <a:pt x="19570" y="2822"/>
                    <a:pt x="15297" y="1714"/>
                    <a:pt x="9940" y="935"/>
                  </a:cubicBezTo>
                </a:path>
              </a:pathLst>
            </a:custGeom>
            <a:solidFill>
              <a:srgbClr val="FFFF99"/>
            </a:solidFill>
            <a:ln w="0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7445" name="Freeform 7"/>
            <p:cNvSpPr>
              <a:spLocks/>
            </p:cNvSpPr>
            <p:nvPr/>
          </p:nvSpPr>
          <p:spPr bwMode="auto">
            <a:xfrm>
              <a:off x="1708" y="1513"/>
              <a:ext cx="2348" cy="479"/>
            </a:xfrm>
            <a:custGeom>
              <a:avLst/>
              <a:gdLst>
                <a:gd name="T0" fmla="*/ 1192 w 2348"/>
                <a:gd name="T1" fmla="*/ 112 h 479"/>
                <a:gd name="T2" fmla="*/ 10 w 2348"/>
                <a:gd name="T3" fmla="*/ 70 h 479"/>
                <a:gd name="T4" fmla="*/ 1155 w 2348"/>
                <a:gd name="T5" fmla="*/ 367 h 479"/>
                <a:gd name="T6" fmla="*/ 2338 w 2348"/>
                <a:gd name="T7" fmla="*/ 409 h 479"/>
                <a:gd name="T8" fmla="*/ 1192 w 2348"/>
                <a:gd name="T9" fmla="*/ 112 h 4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8"/>
                <a:gd name="T16" fmla="*/ 0 h 479"/>
                <a:gd name="T17" fmla="*/ 2348 w 2348"/>
                <a:gd name="T18" fmla="*/ 479 h 4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8" h="479">
                  <a:moveTo>
                    <a:pt x="1192" y="112"/>
                  </a:moveTo>
                  <a:cubicBezTo>
                    <a:pt x="549" y="18"/>
                    <a:pt x="20" y="0"/>
                    <a:pt x="10" y="70"/>
                  </a:cubicBezTo>
                  <a:cubicBezTo>
                    <a:pt x="0" y="140"/>
                    <a:pt x="512" y="273"/>
                    <a:pt x="1155" y="367"/>
                  </a:cubicBezTo>
                  <a:cubicBezTo>
                    <a:pt x="1798" y="460"/>
                    <a:pt x="2328" y="479"/>
                    <a:pt x="2338" y="409"/>
                  </a:cubicBezTo>
                  <a:cubicBezTo>
                    <a:pt x="2348" y="338"/>
                    <a:pt x="1835" y="205"/>
                    <a:pt x="1192" y="112"/>
                  </a:cubicBez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17421" name="Oval 8"/>
          <p:cNvSpPr>
            <a:spLocks noChangeArrowheads="1"/>
          </p:cNvSpPr>
          <p:nvPr/>
        </p:nvSpPr>
        <p:spPr bwMode="auto">
          <a:xfrm>
            <a:off x="4146550" y="694135"/>
            <a:ext cx="711200" cy="1557338"/>
          </a:xfrm>
          <a:prstGeom prst="ellips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7422" name="Freeform 9"/>
          <p:cNvSpPr>
            <a:spLocks noEditPoints="1"/>
          </p:cNvSpPr>
          <p:nvPr/>
        </p:nvSpPr>
        <p:spPr bwMode="auto">
          <a:xfrm>
            <a:off x="3916363" y="1544241"/>
            <a:ext cx="685800" cy="381000"/>
          </a:xfrm>
          <a:custGeom>
            <a:avLst/>
            <a:gdLst>
              <a:gd name="T0" fmla="*/ 2147483647 w 288"/>
              <a:gd name="T1" fmla="*/ 2147483647 h 224"/>
              <a:gd name="T2" fmla="*/ 2147483647 w 288"/>
              <a:gd name="T3" fmla="*/ 2147483647 h 224"/>
              <a:gd name="T4" fmla="*/ 2147483647 w 288"/>
              <a:gd name="T5" fmla="*/ 2147483647 h 224"/>
              <a:gd name="T6" fmla="*/ 2147483647 w 288"/>
              <a:gd name="T7" fmla="*/ 0 h 224"/>
              <a:gd name="T8" fmla="*/ 2147483647 w 288"/>
              <a:gd name="T9" fmla="*/ 2147483647 h 224"/>
              <a:gd name="T10" fmla="*/ 2147483647 w 288"/>
              <a:gd name="T11" fmla="*/ 2147483647 h 224"/>
              <a:gd name="T12" fmla="*/ 2147483647 w 288"/>
              <a:gd name="T13" fmla="*/ 2147483647 h 224"/>
              <a:gd name="T14" fmla="*/ 2147483647 w 288"/>
              <a:gd name="T15" fmla="*/ 2147483647 h 224"/>
              <a:gd name="T16" fmla="*/ 2147483647 w 288"/>
              <a:gd name="T17" fmla="*/ 2147483647 h 224"/>
              <a:gd name="T18" fmla="*/ 2147483647 w 288"/>
              <a:gd name="T19" fmla="*/ 2147483647 h 224"/>
              <a:gd name="T20" fmla="*/ 2147483647 w 288"/>
              <a:gd name="T21" fmla="*/ 2147483647 h 224"/>
              <a:gd name="T22" fmla="*/ 2147483647 w 288"/>
              <a:gd name="T23" fmla="*/ 2147483647 h 224"/>
              <a:gd name="T24" fmla="*/ 2147483647 w 288"/>
              <a:gd name="T25" fmla="*/ 2147483647 h 224"/>
              <a:gd name="T26" fmla="*/ 2147483647 w 288"/>
              <a:gd name="T27" fmla="*/ 2147483647 h 224"/>
              <a:gd name="T28" fmla="*/ 2147483647 w 288"/>
              <a:gd name="T29" fmla="*/ 2147483647 h 224"/>
              <a:gd name="T30" fmla="*/ 2147483647 w 288"/>
              <a:gd name="T31" fmla="*/ 2147483647 h 224"/>
              <a:gd name="T32" fmla="*/ 2147483647 w 288"/>
              <a:gd name="T33" fmla="*/ 2147483647 h 224"/>
              <a:gd name="T34" fmla="*/ 2147483647 w 288"/>
              <a:gd name="T35" fmla="*/ 2147483647 h 224"/>
              <a:gd name="T36" fmla="*/ 2147483647 w 288"/>
              <a:gd name="T37" fmla="*/ 2147483647 h 224"/>
              <a:gd name="T38" fmla="*/ 2147483647 w 288"/>
              <a:gd name="T39" fmla="*/ 2147483647 h 224"/>
              <a:gd name="T40" fmla="*/ 2147483647 w 288"/>
              <a:gd name="T41" fmla="*/ 2147483647 h 224"/>
              <a:gd name="T42" fmla="*/ 2147483647 w 288"/>
              <a:gd name="T43" fmla="*/ 2147483647 h 224"/>
              <a:gd name="T44" fmla="*/ 2147483647 w 288"/>
              <a:gd name="T45" fmla="*/ 2147483647 h 224"/>
              <a:gd name="T46" fmla="*/ 2147483647 w 288"/>
              <a:gd name="T47" fmla="*/ 2147483647 h 224"/>
              <a:gd name="T48" fmla="*/ 2147483647 w 288"/>
              <a:gd name="T49" fmla="*/ 2147483647 h 224"/>
              <a:gd name="T50" fmla="*/ 2147483647 w 288"/>
              <a:gd name="T51" fmla="*/ 2147483647 h 224"/>
              <a:gd name="T52" fmla="*/ 2147483647 w 288"/>
              <a:gd name="T53" fmla="*/ 2147483647 h 224"/>
              <a:gd name="T54" fmla="*/ 0 w 288"/>
              <a:gd name="T55" fmla="*/ 2147483647 h 224"/>
              <a:gd name="T56" fmla="*/ 2147483647 w 288"/>
              <a:gd name="T57" fmla="*/ 2147483647 h 224"/>
              <a:gd name="T58" fmla="*/ 2147483647 w 288"/>
              <a:gd name="T59" fmla="*/ 2147483647 h 224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288"/>
              <a:gd name="T91" fmla="*/ 0 h 224"/>
              <a:gd name="T92" fmla="*/ 288 w 288"/>
              <a:gd name="T93" fmla="*/ 224 h 224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288" h="224">
                <a:moveTo>
                  <a:pt x="288" y="8"/>
                </a:moveTo>
                <a:lnTo>
                  <a:pt x="257" y="32"/>
                </a:lnTo>
                <a:lnTo>
                  <a:pt x="251" y="24"/>
                </a:lnTo>
                <a:lnTo>
                  <a:pt x="282" y="0"/>
                </a:lnTo>
                <a:lnTo>
                  <a:pt x="288" y="8"/>
                </a:lnTo>
                <a:close/>
                <a:moveTo>
                  <a:pt x="233" y="51"/>
                </a:moveTo>
                <a:lnTo>
                  <a:pt x="201" y="75"/>
                </a:lnTo>
                <a:lnTo>
                  <a:pt x="195" y="67"/>
                </a:lnTo>
                <a:lnTo>
                  <a:pt x="227" y="43"/>
                </a:lnTo>
                <a:lnTo>
                  <a:pt x="233" y="51"/>
                </a:lnTo>
                <a:close/>
                <a:moveTo>
                  <a:pt x="177" y="93"/>
                </a:moveTo>
                <a:lnTo>
                  <a:pt x="145" y="117"/>
                </a:lnTo>
                <a:lnTo>
                  <a:pt x="139" y="110"/>
                </a:lnTo>
                <a:lnTo>
                  <a:pt x="171" y="85"/>
                </a:lnTo>
                <a:lnTo>
                  <a:pt x="177" y="93"/>
                </a:lnTo>
                <a:close/>
                <a:moveTo>
                  <a:pt x="122" y="136"/>
                </a:moveTo>
                <a:lnTo>
                  <a:pt x="90" y="160"/>
                </a:lnTo>
                <a:lnTo>
                  <a:pt x="84" y="152"/>
                </a:lnTo>
                <a:lnTo>
                  <a:pt x="116" y="128"/>
                </a:lnTo>
                <a:lnTo>
                  <a:pt x="122" y="136"/>
                </a:lnTo>
                <a:close/>
                <a:moveTo>
                  <a:pt x="66" y="178"/>
                </a:moveTo>
                <a:lnTo>
                  <a:pt x="34" y="203"/>
                </a:lnTo>
                <a:lnTo>
                  <a:pt x="28" y="195"/>
                </a:lnTo>
                <a:lnTo>
                  <a:pt x="60" y="170"/>
                </a:lnTo>
                <a:lnTo>
                  <a:pt x="66" y="178"/>
                </a:lnTo>
                <a:close/>
                <a:moveTo>
                  <a:pt x="11" y="221"/>
                </a:moveTo>
                <a:lnTo>
                  <a:pt x="6" y="224"/>
                </a:lnTo>
                <a:lnTo>
                  <a:pt x="0" y="216"/>
                </a:lnTo>
                <a:lnTo>
                  <a:pt x="4" y="213"/>
                </a:lnTo>
                <a:lnTo>
                  <a:pt x="11" y="221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7423" name="Freeform 10"/>
          <p:cNvSpPr>
            <a:spLocks noEditPoints="1"/>
          </p:cNvSpPr>
          <p:nvPr/>
        </p:nvSpPr>
        <p:spPr bwMode="auto">
          <a:xfrm>
            <a:off x="4598989" y="270273"/>
            <a:ext cx="15875" cy="1278731"/>
          </a:xfrm>
          <a:custGeom>
            <a:avLst/>
            <a:gdLst>
              <a:gd name="T0" fmla="*/ 2147483647 w 10"/>
              <a:gd name="T1" fmla="*/ 2147483647 h 1074"/>
              <a:gd name="T2" fmla="*/ 0 w 10"/>
              <a:gd name="T3" fmla="*/ 0 h 1074"/>
              <a:gd name="T4" fmla="*/ 2147483647 w 10"/>
              <a:gd name="T5" fmla="*/ 2147483647 h 1074"/>
              <a:gd name="T6" fmla="*/ 0 w 10"/>
              <a:gd name="T7" fmla="*/ 2147483647 h 1074"/>
              <a:gd name="T8" fmla="*/ 2147483647 w 10"/>
              <a:gd name="T9" fmla="*/ 2147483647 h 1074"/>
              <a:gd name="T10" fmla="*/ 2147483647 w 10"/>
              <a:gd name="T11" fmla="*/ 2147483647 h 1074"/>
              <a:gd name="T12" fmla="*/ 0 w 10"/>
              <a:gd name="T13" fmla="*/ 2147483647 h 1074"/>
              <a:gd name="T14" fmla="*/ 2147483647 w 10"/>
              <a:gd name="T15" fmla="*/ 2147483647 h 1074"/>
              <a:gd name="T16" fmla="*/ 0 w 10"/>
              <a:gd name="T17" fmla="*/ 2147483647 h 1074"/>
              <a:gd name="T18" fmla="*/ 2147483647 w 10"/>
              <a:gd name="T19" fmla="*/ 2147483647 h 1074"/>
              <a:gd name="T20" fmla="*/ 2147483647 w 10"/>
              <a:gd name="T21" fmla="*/ 2147483647 h 1074"/>
              <a:gd name="T22" fmla="*/ 0 w 10"/>
              <a:gd name="T23" fmla="*/ 2147483647 h 1074"/>
              <a:gd name="T24" fmla="*/ 2147483647 w 10"/>
              <a:gd name="T25" fmla="*/ 2147483647 h 1074"/>
              <a:gd name="T26" fmla="*/ 0 w 10"/>
              <a:gd name="T27" fmla="*/ 2147483647 h 1074"/>
              <a:gd name="T28" fmla="*/ 2147483647 w 10"/>
              <a:gd name="T29" fmla="*/ 2147483647 h 1074"/>
              <a:gd name="T30" fmla="*/ 2147483647 w 10"/>
              <a:gd name="T31" fmla="*/ 2147483647 h 1074"/>
              <a:gd name="T32" fmla="*/ 0 w 10"/>
              <a:gd name="T33" fmla="*/ 2147483647 h 1074"/>
              <a:gd name="T34" fmla="*/ 2147483647 w 10"/>
              <a:gd name="T35" fmla="*/ 2147483647 h 1074"/>
              <a:gd name="T36" fmla="*/ 0 w 10"/>
              <a:gd name="T37" fmla="*/ 2147483647 h 1074"/>
              <a:gd name="T38" fmla="*/ 2147483647 w 10"/>
              <a:gd name="T39" fmla="*/ 2147483647 h 1074"/>
              <a:gd name="T40" fmla="*/ 2147483647 w 10"/>
              <a:gd name="T41" fmla="*/ 2147483647 h 1074"/>
              <a:gd name="T42" fmla="*/ 0 w 10"/>
              <a:gd name="T43" fmla="*/ 2147483647 h 1074"/>
              <a:gd name="T44" fmla="*/ 2147483647 w 10"/>
              <a:gd name="T45" fmla="*/ 2147483647 h 1074"/>
              <a:gd name="T46" fmla="*/ 0 w 10"/>
              <a:gd name="T47" fmla="*/ 2147483647 h 1074"/>
              <a:gd name="T48" fmla="*/ 2147483647 w 10"/>
              <a:gd name="T49" fmla="*/ 2147483647 h 1074"/>
              <a:gd name="T50" fmla="*/ 2147483647 w 10"/>
              <a:gd name="T51" fmla="*/ 2147483647 h 1074"/>
              <a:gd name="T52" fmla="*/ 0 w 10"/>
              <a:gd name="T53" fmla="*/ 2147483647 h 1074"/>
              <a:gd name="T54" fmla="*/ 2147483647 w 10"/>
              <a:gd name="T55" fmla="*/ 2147483647 h 1074"/>
              <a:gd name="T56" fmla="*/ 0 w 10"/>
              <a:gd name="T57" fmla="*/ 2147483647 h 1074"/>
              <a:gd name="T58" fmla="*/ 2147483647 w 10"/>
              <a:gd name="T59" fmla="*/ 2147483647 h 1074"/>
              <a:gd name="T60" fmla="*/ 2147483647 w 10"/>
              <a:gd name="T61" fmla="*/ 2147483647 h 1074"/>
              <a:gd name="T62" fmla="*/ 0 w 10"/>
              <a:gd name="T63" fmla="*/ 2147483647 h 1074"/>
              <a:gd name="T64" fmla="*/ 2147483647 w 10"/>
              <a:gd name="T65" fmla="*/ 2147483647 h 1074"/>
              <a:gd name="T66" fmla="*/ 0 w 10"/>
              <a:gd name="T67" fmla="*/ 2147483647 h 1074"/>
              <a:gd name="T68" fmla="*/ 2147483647 w 10"/>
              <a:gd name="T69" fmla="*/ 2147483647 h 1074"/>
              <a:gd name="T70" fmla="*/ 2147483647 w 10"/>
              <a:gd name="T71" fmla="*/ 2147483647 h 1074"/>
              <a:gd name="T72" fmla="*/ 0 w 10"/>
              <a:gd name="T73" fmla="*/ 2147483647 h 1074"/>
              <a:gd name="T74" fmla="*/ 2147483647 w 10"/>
              <a:gd name="T75" fmla="*/ 2147483647 h 1074"/>
              <a:gd name="T76" fmla="*/ 0 w 10"/>
              <a:gd name="T77" fmla="*/ 2147483647 h 1074"/>
              <a:gd name="T78" fmla="*/ 2147483647 w 10"/>
              <a:gd name="T79" fmla="*/ 2147483647 h 107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0"/>
              <a:gd name="T121" fmla="*/ 0 h 1074"/>
              <a:gd name="T122" fmla="*/ 10 w 10"/>
              <a:gd name="T123" fmla="*/ 1074 h 107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0" h="1074">
                <a:moveTo>
                  <a:pt x="10" y="0"/>
                </a:moveTo>
                <a:lnTo>
                  <a:pt x="10" y="40"/>
                </a:lnTo>
                <a:lnTo>
                  <a:pt x="0" y="40"/>
                </a:lnTo>
                <a:lnTo>
                  <a:pt x="0" y="0"/>
                </a:lnTo>
                <a:lnTo>
                  <a:pt x="10" y="0"/>
                </a:lnTo>
                <a:close/>
                <a:moveTo>
                  <a:pt x="10" y="70"/>
                </a:moveTo>
                <a:lnTo>
                  <a:pt x="10" y="110"/>
                </a:lnTo>
                <a:lnTo>
                  <a:pt x="0" y="110"/>
                </a:lnTo>
                <a:lnTo>
                  <a:pt x="0" y="70"/>
                </a:lnTo>
                <a:lnTo>
                  <a:pt x="10" y="70"/>
                </a:lnTo>
                <a:close/>
                <a:moveTo>
                  <a:pt x="10" y="140"/>
                </a:moveTo>
                <a:lnTo>
                  <a:pt x="10" y="180"/>
                </a:lnTo>
                <a:lnTo>
                  <a:pt x="0" y="180"/>
                </a:lnTo>
                <a:lnTo>
                  <a:pt x="0" y="140"/>
                </a:lnTo>
                <a:lnTo>
                  <a:pt x="10" y="140"/>
                </a:lnTo>
                <a:close/>
                <a:moveTo>
                  <a:pt x="10" y="210"/>
                </a:moveTo>
                <a:lnTo>
                  <a:pt x="10" y="250"/>
                </a:lnTo>
                <a:lnTo>
                  <a:pt x="0" y="250"/>
                </a:lnTo>
                <a:lnTo>
                  <a:pt x="0" y="210"/>
                </a:lnTo>
                <a:lnTo>
                  <a:pt x="10" y="210"/>
                </a:lnTo>
                <a:close/>
                <a:moveTo>
                  <a:pt x="10" y="280"/>
                </a:moveTo>
                <a:lnTo>
                  <a:pt x="10" y="320"/>
                </a:lnTo>
                <a:lnTo>
                  <a:pt x="0" y="320"/>
                </a:lnTo>
                <a:lnTo>
                  <a:pt x="0" y="280"/>
                </a:lnTo>
                <a:lnTo>
                  <a:pt x="10" y="280"/>
                </a:lnTo>
                <a:close/>
                <a:moveTo>
                  <a:pt x="10" y="350"/>
                </a:moveTo>
                <a:lnTo>
                  <a:pt x="10" y="390"/>
                </a:lnTo>
                <a:lnTo>
                  <a:pt x="0" y="390"/>
                </a:lnTo>
                <a:lnTo>
                  <a:pt x="0" y="350"/>
                </a:lnTo>
                <a:lnTo>
                  <a:pt x="10" y="350"/>
                </a:lnTo>
                <a:close/>
                <a:moveTo>
                  <a:pt x="10" y="420"/>
                </a:moveTo>
                <a:lnTo>
                  <a:pt x="10" y="460"/>
                </a:lnTo>
                <a:lnTo>
                  <a:pt x="0" y="460"/>
                </a:lnTo>
                <a:lnTo>
                  <a:pt x="0" y="420"/>
                </a:lnTo>
                <a:lnTo>
                  <a:pt x="10" y="420"/>
                </a:lnTo>
                <a:close/>
                <a:moveTo>
                  <a:pt x="10" y="490"/>
                </a:moveTo>
                <a:lnTo>
                  <a:pt x="10" y="530"/>
                </a:lnTo>
                <a:lnTo>
                  <a:pt x="0" y="530"/>
                </a:lnTo>
                <a:lnTo>
                  <a:pt x="0" y="490"/>
                </a:lnTo>
                <a:lnTo>
                  <a:pt x="10" y="490"/>
                </a:lnTo>
                <a:close/>
                <a:moveTo>
                  <a:pt x="10" y="560"/>
                </a:moveTo>
                <a:lnTo>
                  <a:pt x="10" y="600"/>
                </a:lnTo>
                <a:lnTo>
                  <a:pt x="0" y="600"/>
                </a:lnTo>
                <a:lnTo>
                  <a:pt x="0" y="560"/>
                </a:lnTo>
                <a:lnTo>
                  <a:pt x="10" y="560"/>
                </a:lnTo>
                <a:close/>
                <a:moveTo>
                  <a:pt x="10" y="630"/>
                </a:moveTo>
                <a:lnTo>
                  <a:pt x="10" y="670"/>
                </a:lnTo>
                <a:lnTo>
                  <a:pt x="0" y="670"/>
                </a:lnTo>
                <a:lnTo>
                  <a:pt x="0" y="630"/>
                </a:lnTo>
                <a:lnTo>
                  <a:pt x="10" y="630"/>
                </a:lnTo>
                <a:close/>
                <a:moveTo>
                  <a:pt x="10" y="700"/>
                </a:moveTo>
                <a:lnTo>
                  <a:pt x="10" y="740"/>
                </a:lnTo>
                <a:lnTo>
                  <a:pt x="0" y="740"/>
                </a:lnTo>
                <a:lnTo>
                  <a:pt x="0" y="700"/>
                </a:lnTo>
                <a:lnTo>
                  <a:pt x="10" y="700"/>
                </a:lnTo>
                <a:close/>
                <a:moveTo>
                  <a:pt x="10" y="770"/>
                </a:moveTo>
                <a:lnTo>
                  <a:pt x="10" y="810"/>
                </a:lnTo>
                <a:lnTo>
                  <a:pt x="0" y="810"/>
                </a:lnTo>
                <a:lnTo>
                  <a:pt x="0" y="770"/>
                </a:lnTo>
                <a:lnTo>
                  <a:pt x="10" y="770"/>
                </a:lnTo>
                <a:close/>
                <a:moveTo>
                  <a:pt x="10" y="840"/>
                </a:moveTo>
                <a:lnTo>
                  <a:pt x="10" y="880"/>
                </a:lnTo>
                <a:lnTo>
                  <a:pt x="0" y="880"/>
                </a:lnTo>
                <a:lnTo>
                  <a:pt x="0" y="840"/>
                </a:lnTo>
                <a:lnTo>
                  <a:pt x="10" y="840"/>
                </a:lnTo>
                <a:close/>
                <a:moveTo>
                  <a:pt x="10" y="910"/>
                </a:moveTo>
                <a:lnTo>
                  <a:pt x="10" y="950"/>
                </a:lnTo>
                <a:lnTo>
                  <a:pt x="0" y="950"/>
                </a:lnTo>
                <a:lnTo>
                  <a:pt x="0" y="910"/>
                </a:lnTo>
                <a:lnTo>
                  <a:pt x="10" y="910"/>
                </a:lnTo>
                <a:close/>
                <a:moveTo>
                  <a:pt x="10" y="980"/>
                </a:moveTo>
                <a:lnTo>
                  <a:pt x="10" y="1020"/>
                </a:lnTo>
                <a:lnTo>
                  <a:pt x="0" y="1020"/>
                </a:lnTo>
                <a:lnTo>
                  <a:pt x="0" y="980"/>
                </a:lnTo>
                <a:lnTo>
                  <a:pt x="10" y="980"/>
                </a:lnTo>
                <a:close/>
                <a:moveTo>
                  <a:pt x="10" y="1050"/>
                </a:moveTo>
                <a:lnTo>
                  <a:pt x="10" y="1074"/>
                </a:lnTo>
                <a:lnTo>
                  <a:pt x="0" y="1074"/>
                </a:lnTo>
                <a:lnTo>
                  <a:pt x="0" y="1050"/>
                </a:lnTo>
                <a:lnTo>
                  <a:pt x="10" y="1050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7424" name="Freeform 11"/>
          <p:cNvSpPr>
            <a:spLocks noEditPoints="1"/>
          </p:cNvSpPr>
          <p:nvPr/>
        </p:nvSpPr>
        <p:spPr bwMode="auto">
          <a:xfrm>
            <a:off x="4605339" y="1535907"/>
            <a:ext cx="2490787" cy="265510"/>
          </a:xfrm>
          <a:custGeom>
            <a:avLst/>
            <a:gdLst>
              <a:gd name="T0" fmla="*/ 2147483647 w 1532"/>
              <a:gd name="T1" fmla="*/ 2147483647 h 304"/>
              <a:gd name="T2" fmla="*/ 0 w 1532"/>
              <a:gd name="T3" fmla="*/ 2147483647 h 304"/>
              <a:gd name="T4" fmla="*/ 2147483647 w 1532"/>
              <a:gd name="T5" fmla="*/ 2147483647 h 304"/>
              <a:gd name="T6" fmla="*/ 2147483647 w 1532"/>
              <a:gd name="T7" fmla="*/ 2147483647 h 304"/>
              <a:gd name="T8" fmla="*/ 2147483647 w 1532"/>
              <a:gd name="T9" fmla="*/ 2147483647 h 304"/>
              <a:gd name="T10" fmla="*/ 2147483647 w 1532"/>
              <a:gd name="T11" fmla="*/ 2147483647 h 304"/>
              <a:gd name="T12" fmla="*/ 2147483647 w 1532"/>
              <a:gd name="T13" fmla="*/ 2147483647 h 304"/>
              <a:gd name="T14" fmla="*/ 2147483647 w 1532"/>
              <a:gd name="T15" fmla="*/ 2147483647 h 304"/>
              <a:gd name="T16" fmla="*/ 2147483647 w 1532"/>
              <a:gd name="T17" fmla="*/ 2147483647 h 304"/>
              <a:gd name="T18" fmla="*/ 2147483647 w 1532"/>
              <a:gd name="T19" fmla="*/ 2147483647 h 304"/>
              <a:gd name="T20" fmla="*/ 2147483647 w 1532"/>
              <a:gd name="T21" fmla="*/ 2147483647 h 304"/>
              <a:gd name="T22" fmla="*/ 2147483647 w 1532"/>
              <a:gd name="T23" fmla="*/ 2147483647 h 304"/>
              <a:gd name="T24" fmla="*/ 2147483647 w 1532"/>
              <a:gd name="T25" fmla="*/ 2147483647 h 304"/>
              <a:gd name="T26" fmla="*/ 2147483647 w 1532"/>
              <a:gd name="T27" fmla="*/ 2147483647 h 304"/>
              <a:gd name="T28" fmla="*/ 2147483647 w 1532"/>
              <a:gd name="T29" fmla="*/ 2147483647 h 304"/>
              <a:gd name="T30" fmla="*/ 2147483647 w 1532"/>
              <a:gd name="T31" fmla="*/ 2147483647 h 304"/>
              <a:gd name="T32" fmla="*/ 2147483647 w 1532"/>
              <a:gd name="T33" fmla="*/ 2147483647 h 304"/>
              <a:gd name="T34" fmla="*/ 2147483647 w 1532"/>
              <a:gd name="T35" fmla="*/ 2147483647 h 304"/>
              <a:gd name="T36" fmla="*/ 2147483647 w 1532"/>
              <a:gd name="T37" fmla="*/ 2147483647 h 304"/>
              <a:gd name="T38" fmla="*/ 2147483647 w 1532"/>
              <a:gd name="T39" fmla="*/ 2147483647 h 304"/>
              <a:gd name="T40" fmla="*/ 2147483647 w 1532"/>
              <a:gd name="T41" fmla="*/ 2147483647 h 304"/>
              <a:gd name="T42" fmla="*/ 2147483647 w 1532"/>
              <a:gd name="T43" fmla="*/ 2147483647 h 304"/>
              <a:gd name="T44" fmla="*/ 2147483647 w 1532"/>
              <a:gd name="T45" fmla="*/ 2147483647 h 304"/>
              <a:gd name="T46" fmla="*/ 2147483647 w 1532"/>
              <a:gd name="T47" fmla="*/ 2147483647 h 304"/>
              <a:gd name="T48" fmla="*/ 2147483647 w 1532"/>
              <a:gd name="T49" fmla="*/ 2147483647 h 304"/>
              <a:gd name="T50" fmla="*/ 2147483647 w 1532"/>
              <a:gd name="T51" fmla="*/ 2147483647 h 304"/>
              <a:gd name="T52" fmla="*/ 2147483647 w 1532"/>
              <a:gd name="T53" fmla="*/ 2147483647 h 304"/>
              <a:gd name="T54" fmla="*/ 2147483647 w 1532"/>
              <a:gd name="T55" fmla="*/ 2147483647 h 304"/>
              <a:gd name="T56" fmla="*/ 2147483647 w 1532"/>
              <a:gd name="T57" fmla="*/ 2147483647 h 304"/>
              <a:gd name="T58" fmla="*/ 2147483647 w 1532"/>
              <a:gd name="T59" fmla="*/ 2147483647 h 304"/>
              <a:gd name="T60" fmla="*/ 2147483647 w 1532"/>
              <a:gd name="T61" fmla="*/ 2147483647 h 304"/>
              <a:gd name="T62" fmla="*/ 2147483647 w 1532"/>
              <a:gd name="T63" fmla="*/ 2147483647 h 304"/>
              <a:gd name="T64" fmla="*/ 2147483647 w 1532"/>
              <a:gd name="T65" fmla="*/ 2147483647 h 304"/>
              <a:gd name="T66" fmla="*/ 2147483647 w 1532"/>
              <a:gd name="T67" fmla="*/ 2147483647 h 304"/>
              <a:gd name="T68" fmla="*/ 2147483647 w 1532"/>
              <a:gd name="T69" fmla="*/ 2147483647 h 304"/>
              <a:gd name="T70" fmla="*/ 2147483647 w 1532"/>
              <a:gd name="T71" fmla="*/ 2147483647 h 304"/>
              <a:gd name="T72" fmla="*/ 2147483647 w 1532"/>
              <a:gd name="T73" fmla="*/ 2147483647 h 304"/>
              <a:gd name="T74" fmla="*/ 2147483647 w 1532"/>
              <a:gd name="T75" fmla="*/ 2147483647 h 304"/>
              <a:gd name="T76" fmla="*/ 2147483647 w 1532"/>
              <a:gd name="T77" fmla="*/ 2147483647 h 304"/>
              <a:gd name="T78" fmla="*/ 2147483647 w 1532"/>
              <a:gd name="T79" fmla="*/ 2147483647 h 304"/>
              <a:gd name="T80" fmla="*/ 2147483647 w 1532"/>
              <a:gd name="T81" fmla="*/ 2147483647 h 304"/>
              <a:gd name="T82" fmla="*/ 2147483647 w 1532"/>
              <a:gd name="T83" fmla="*/ 2147483647 h 304"/>
              <a:gd name="T84" fmla="*/ 2147483647 w 1532"/>
              <a:gd name="T85" fmla="*/ 2147483647 h 304"/>
              <a:gd name="T86" fmla="*/ 2147483647 w 1532"/>
              <a:gd name="T87" fmla="*/ 2147483647 h 304"/>
              <a:gd name="T88" fmla="*/ 2147483647 w 1532"/>
              <a:gd name="T89" fmla="*/ 2147483647 h 304"/>
              <a:gd name="T90" fmla="*/ 2147483647 w 1532"/>
              <a:gd name="T91" fmla="*/ 2147483647 h 304"/>
              <a:gd name="T92" fmla="*/ 2147483647 w 1532"/>
              <a:gd name="T93" fmla="*/ 2147483647 h 304"/>
              <a:gd name="T94" fmla="*/ 2147483647 w 1532"/>
              <a:gd name="T95" fmla="*/ 2147483647 h 304"/>
              <a:gd name="T96" fmla="*/ 2147483647 w 1532"/>
              <a:gd name="T97" fmla="*/ 2147483647 h 304"/>
              <a:gd name="T98" fmla="*/ 2147483647 w 1532"/>
              <a:gd name="T99" fmla="*/ 2147483647 h 304"/>
              <a:gd name="T100" fmla="*/ 2147483647 w 1532"/>
              <a:gd name="T101" fmla="*/ 2147483647 h 304"/>
              <a:gd name="T102" fmla="*/ 2147483647 w 1532"/>
              <a:gd name="T103" fmla="*/ 2147483647 h 304"/>
              <a:gd name="T104" fmla="*/ 2147483647 w 1532"/>
              <a:gd name="T105" fmla="*/ 2147483647 h 304"/>
              <a:gd name="T106" fmla="*/ 2147483647 w 1532"/>
              <a:gd name="T107" fmla="*/ 2147483647 h 304"/>
              <a:gd name="T108" fmla="*/ 2147483647 w 1532"/>
              <a:gd name="T109" fmla="*/ 2147483647 h 304"/>
              <a:gd name="T110" fmla="*/ 2147483647 w 1532"/>
              <a:gd name="T111" fmla="*/ 2147483647 h 304"/>
              <a:gd name="T112" fmla="*/ 2147483647 w 1532"/>
              <a:gd name="T113" fmla="*/ 2147483647 h 30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1532"/>
              <a:gd name="T172" fmla="*/ 0 h 304"/>
              <a:gd name="T173" fmla="*/ 1532 w 1532"/>
              <a:gd name="T174" fmla="*/ 304 h 304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1532" h="304">
                <a:moveTo>
                  <a:pt x="2" y="0"/>
                </a:moveTo>
                <a:lnTo>
                  <a:pt x="42" y="8"/>
                </a:lnTo>
                <a:lnTo>
                  <a:pt x="40" y="18"/>
                </a:lnTo>
                <a:lnTo>
                  <a:pt x="0" y="10"/>
                </a:lnTo>
                <a:lnTo>
                  <a:pt x="2" y="0"/>
                </a:lnTo>
                <a:close/>
                <a:moveTo>
                  <a:pt x="71" y="13"/>
                </a:moveTo>
                <a:lnTo>
                  <a:pt x="110" y="21"/>
                </a:lnTo>
                <a:lnTo>
                  <a:pt x="108" y="31"/>
                </a:lnTo>
                <a:lnTo>
                  <a:pt x="69" y="23"/>
                </a:lnTo>
                <a:lnTo>
                  <a:pt x="71" y="13"/>
                </a:lnTo>
                <a:close/>
                <a:moveTo>
                  <a:pt x="140" y="27"/>
                </a:moveTo>
                <a:lnTo>
                  <a:pt x="179" y="34"/>
                </a:lnTo>
                <a:lnTo>
                  <a:pt x="177" y="44"/>
                </a:lnTo>
                <a:lnTo>
                  <a:pt x="138" y="36"/>
                </a:lnTo>
                <a:lnTo>
                  <a:pt x="140" y="27"/>
                </a:lnTo>
                <a:close/>
                <a:moveTo>
                  <a:pt x="209" y="40"/>
                </a:moveTo>
                <a:lnTo>
                  <a:pt x="248" y="47"/>
                </a:lnTo>
                <a:lnTo>
                  <a:pt x="246" y="57"/>
                </a:lnTo>
                <a:lnTo>
                  <a:pt x="207" y="50"/>
                </a:lnTo>
                <a:lnTo>
                  <a:pt x="209" y="40"/>
                </a:lnTo>
                <a:close/>
                <a:moveTo>
                  <a:pt x="277" y="53"/>
                </a:moveTo>
                <a:lnTo>
                  <a:pt x="317" y="60"/>
                </a:lnTo>
                <a:lnTo>
                  <a:pt x="315" y="70"/>
                </a:lnTo>
                <a:lnTo>
                  <a:pt x="275" y="63"/>
                </a:lnTo>
                <a:lnTo>
                  <a:pt x="277" y="53"/>
                </a:lnTo>
                <a:close/>
                <a:moveTo>
                  <a:pt x="346" y="66"/>
                </a:moveTo>
                <a:lnTo>
                  <a:pt x="385" y="74"/>
                </a:lnTo>
                <a:lnTo>
                  <a:pt x="383" y="84"/>
                </a:lnTo>
                <a:lnTo>
                  <a:pt x="344" y="76"/>
                </a:lnTo>
                <a:lnTo>
                  <a:pt x="346" y="66"/>
                </a:lnTo>
                <a:close/>
                <a:moveTo>
                  <a:pt x="415" y="79"/>
                </a:moveTo>
                <a:lnTo>
                  <a:pt x="454" y="87"/>
                </a:lnTo>
                <a:lnTo>
                  <a:pt x="452" y="97"/>
                </a:lnTo>
                <a:lnTo>
                  <a:pt x="413" y="89"/>
                </a:lnTo>
                <a:lnTo>
                  <a:pt x="415" y="79"/>
                </a:lnTo>
                <a:close/>
                <a:moveTo>
                  <a:pt x="484" y="93"/>
                </a:moveTo>
                <a:lnTo>
                  <a:pt x="523" y="100"/>
                </a:lnTo>
                <a:lnTo>
                  <a:pt x="521" y="110"/>
                </a:lnTo>
                <a:lnTo>
                  <a:pt x="482" y="102"/>
                </a:lnTo>
                <a:lnTo>
                  <a:pt x="484" y="93"/>
                </a:lnTo>
                <a:close/>
                <a:moveTo>
                  <a:pt x="552" y="106"/>
                </a:moveTo>
                <a:lnTo>
                  <a:pt x="592" y="113"/>
                </a:lnTo>
                <a:lnTo>
                  <a:pt x="590" y="123"/>
                </a:lnTo>
                <a:lnTo>
                  <a:pt x="550" y="116"/>
                </a:lnTo>
                <a:lnTo>
                  <a:pt x="552" y="106"/>
                </a:lnTo>
                <a:close/>
                <a:moveTo>
                  <a:pt x="621" y="119"/>
                </a:moveTo>
                <a:lnTo>
                  <a:pt x="660" y="127"/>
                </a:lnTo>
                <a:lnTo>
                  <a:pt x="658" y="136"/>
                </a:lnTo>
                <a:lnTo>
                  <a:pt x="619" y="129"/>
                </a:lnTo>
                <a:lnTo>
                  <a:pt x="621" y="119"/>
                </a:lnTo>
                <a:close/>
                <a:moveTo>
                  <a:pt x="690" y="132"/>
                </a:moveTo>
                <a:lnTo>
                  <a:pt x="729" y="140"/>
                </a:lnTo>
                <a:lnTo>
                  <a:pt x="727" y="150"/>
                </a:lnTo>
                <a:lnTo>
                  <a:pt x="688" y="142"/>
                </a:lnTo>
                <a:lnTo>
                  <a:pt x="690" y="132"/>
                </a:lnTo>
                <a:close/>
                <a:moveTo>
                  <a:pt x="759" y="145"/>
                </a:moveTo>
                <a:lnTo>
                  <a:pt x="798" y="153"/>
                </a:lnTo>
                <a:lnTo>
                  <a:pt x="796" y="163"/>
                </a:lnTo>
                <a:lnTo>
                  <a:pt x="757" y="155"/>
                </a:lnTo>
                <a:lnTo>
                  <a:pt x="759" y="145"/>
                </a:lnTo>
                <a:close/>
                <a:moveTo>
                  <a:pt x="827" y="159"/>
                </a:moveTo>
                <a:lnTo>
                  <a:pt x="867" y="166"/>
                </a:lnTo>
                <a:lnTo>
                  <a:pt x="865" y="176"/>
                </a:lnTo>
                <a:lnTo>
                  <a:pt x="825" y="168"/>
                </a:lnTo>
                <a:lnTo>
                  <a:pt x="827" y="159"/>
                </a:lnTo>
                <a:close/>
                <a:moveTo>
                  <a:pt x="896" y="172"/>
                </a:moveTo>
                <a:lnTo>
                  <a:pt x="935" y="179"/>
                </a:lnTo>
                <a:lnTo>
                  <a:pt x="933" y="189"/>
                </a:lnTo>
                <a:lnTo>
                  <a:pt x="894" y="182"/>
                </a:lnTo>
                <a:lnTo>
                  <a:pt x="896" y="172"/>
                </a:lnTo>
                <a:close/>
                <a:moveTo>
                  <a:pt x="965" y="185"/>
                </a:moveTo>
                <a:lnTo>
                  <a:pt x="1004" y="193"/>
                </a:lnTo>
                <a:lnTo>
                  <a:pt x="1002" y="202"/>
                </a:lnTo>
                <a:lnTo>
                  <a:pt x="963" y="195"/>
                </a:lnTo>
                <a:lnTo>
                  <a:pt x="965" y="185"/>
                </a:lnTo>
                <a:close/>
                <a:moveTo>
                  <a:pt x="1033" y="198"/>
                </a:moveTo>
                <a:lnTo>
                  <a:pt x="1073" y="206"/>
                </a:lnTo>
                <a:lnTo>
                  <a:pt x="1071" y="216"/>
                </a:lnTo>
                <a:lnTo>
                  <a:pt x="1032" y="208"/>
                </a:lnTo>
                <a:lnTo>
                  <a:pt x="1033" y="198"/>
                </a:lnTo>
                <a:close/>
                <a:moveTo>
                  <a:pt x="1102" y="211"/>
                </a:moveTo>
                <a:lnTo>
                  <a:pt x="1142" y="219"/>
                </a:lnTo>
                <a:lnTo>
                  <a:pt x="1140" y="229"/>
                </a:lnTo>
                <a:lnTo>
                  <a:pt x="1100" y="221"/>
                </a:lnTo>
                <a:lnTo>
                  <a:pt x="1102" y="211"/>
                </a:lnTo>
                <a:close/>
                <a:moveTo>
                  <a:pt x="1171" y="225"/>
                </a:moveTo>
                <a:lnTo>
                  <a:pt x="1210" y="232"/>
                </a:lnTo>
                <a:lnTo>
                  <a:pt x="1208" y="242"/>
                </a:lnTo>
                <a:lnTo>
                  <a:pt x="1169" y="234"/>
                </a:lnTo>
                <a:lnTo>
                  <a:pt x="1171" y="225"/>
                </a:lnTo>
                <a:close/>
                <a:moveTo>
                  <a:pt x="1240" y="238"/>
                </a:moveTo>
                <a:lnTo>
                  <a:pt x="1279" y="245"/>
                </a:lnTo>
                <a:lnTo>
                  <a:pt x="1277" y="255"/>
                </a:lnTo>
                <a:lnTo>
                  <a:pt x="1238" y="248"/>
                </a:lnTo>
                <a:lnTo>
                  <a:pt x="1240" y="238"/>
                </a:lnTo>
                <a:close/>
                <a:moveTo>
                  <a:pt x="1308" y="251"/>
                </a:moveTo>
                <a:lnTo>
                  <a:pt x="1348" y="259"/>
                </a:lnTo>
                <a:lnTo>
                  <a:pt x="1346" y="268"/>
                </a:lnTo>
                <a:lnTo>
                  <a:pt x="1307" y="261"/>
                </a:lnTo>
                <a:lnTo>
                  <a:pt x="1308" y="251"/>
                </a:lnTo>
                <a:close/>
                <a:moveTo>
                  <a:pt x="1377" y="264"/>
                </a:moveTo>
                <a:lnTo>
                  <a:pt x="1416" y="272"/>
                </a:lnTo>
                <a:lnTo>
                  <a:pt x="1415" y="282"/>
                </a:lnTo>
                <a:lnTo>
                  <a:pt x="1375" y="274"/>
                </a:lnTo>
                <a:lnTo>
                  <a:pt x="1377" y="264"/>
                </a:lnTo>
                <a:close/>
                <a:moveTo>
                  <a:pt x="1446" y="278"/>
                </a:moveTo>
                <a:lnTo>
                  <a:pt x="1485" y="285"/>
                </a:lnTo>
                <a:lnTo>
                  <a:pt x="1483" y="295"/>
                </a:lnTo>
                <a:lnTo>
                  <a:pt x="1444" y="287"/>
                </a:lnTo>
                <a:lnTo>
                  <a:pt x="1446" y="278"/>
                </a:lnTo>
                <a:close/>
                <a:moveTo>
                  <a:pt x="1515" y="291"/>
                </a:moveTo>
                <a:lnTo>
                  <a:pt x="1532" y="294"/>
                </a:lnTo>
                <a:lnTo>
                  <a:pt x="1530" y="304"/>
                </a:lnTo>
                <a:lnTo>
                  <a:pt x="1513" y="301"/>
                </a:lnTo>
                <a:lnTo>
                  <a:pt x="1515" y="291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grpSp>
        <p:nvGrpSpPr>
          <p:cNvPr id="17425" name="Group 12"/>
          <p:cNvGrpSpPr>
            <a:grpSpLocks/>
          </p:cNvGrpSpPr>
          <p:nvPr/>
        </p:nvGrpSpPr>
        <p:grpSpPr bwMode="auto">
          <a:xfrm rot="2028444">
            <a:off x="3319463" y="770335"/>
            <a:ext cx="406400" cy="603647"/>
            <a:chOff x="2108" y="1283"/>
            <a:chExt cx="192" cy="208"/>
          </a:xfrm>
        </p:grpSpPr>
        <p:sp>
          <p:nvSpPr>
            <p:cNvPr id="17442" name="Freeform 13"/>
            <p:cNvSpPr>
              <a:spLocks/>
            </p:cNvSpPr>
            <p:nvPr/>
          </p:nvSpPr>
          <p:spPr bwMode="auto">
            <a:xfrm>
              <a:off x="2108" y="1283"/>
              <a:ext cx="192" cy="208"/>
            </a:xfrm>
            <a:custGeom>
              <a:avLst/>
              <a:gdLst>
                <a:gd name="T0" fmla="*/ 0 w 1601"/>
                <a:gd name="T1" fmla="*/ 0 h 1731"/>
                <a:gd name="T2" fmla="*/ 0 w 1601"/>
                <a:gd name="T3" fmla="*/ 0 h 1731"/>
                <a:gd name="T4" fmla="*/ 0 w 1601"/>
                <a:gd name="T5" fmla="*/ 0 h 1731"/>
                <a:gd name="T6" fmla="*/ 0 w 1601"/>
                <a:gd name="T7" fmla="*/ 0 h 1731"/>
                <a:gd name="T8" fmla="*/ 0 w 1601"/>
                <a:gd name="T9" fmla="*/ 0 h 17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1"/>
                <a:gd name="T16" fmla="*/ 0 h 1731"/>
                <a:gd name="T17" fmla="*/ 1601 w 1601"/>
                <a:gd name="T18" fmla="*/ 1731 h 17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1" h="1731">
                  <a:moveTo>
                    <a:pt x="1324" y="227"/>
                  </a:moveTo>
                  <a:cubicBezTo>
                    <a:pt x="1046" y="0"/>
                    <a:pt x="587" y="101"/>
                    <a:pt x="298" y="453"/>
                  </a:cubicBezTo>
                  <a:cubicBezTo>
                    <a:pt x="9" y="805"/>
                    <a:pt x="0" y="1276"/>
                    <a:pt x="278" y="1503"/>
                  </a:cubicBezTo>
                  <a:cubicBezTo>
                    <a:pt x="555" y="1731"/>
                    <a:pt x="1015" y="1630"/>
                    <a:pt x="1303" y="1277"/>
                  </a:cubicBezTo>
                  <a:cubicBezTo>
                    <a:pt x="1592" y="925"/>
                    <a:pt x="1601" y="455"/>
                    <a:pt x="1324" y="227"/>
                  </a:cubicBezTo>
                </a:path>
              </a:pathLst>
            </a:custGeom>
            <a:solidFill>
              <a:srgbClr val="DDDDDD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7443" name="Freeform 14"/>
            <p:cNvSpPr>
              <a:spLocks/>
            </p:cNvSpPr>
            <p:nvPr/>
          </p:nvSpPr>
          <p:spPr bwMode="auto">
            <a:xfrm>
              <a:off x="2108" y="1283"/>
              <a:ext cx="192" cy="208"/>
            </a:xfrm>
            <a:custGeom>
              <a:avLst/>
              <a:gdLst>
                <a:gd name="T0" fmla="*/ 159 w 192"/>
                <a:gd name="T1" fmla="*/ 28 h 208"/>
                <a:gd name="T2" fmla="*/ 36 w 192"/>
                <a:gd name="T3" fmla="*/ 55 h 208"/>
                <a:gd name="T4" fmla="*/ 34 w 192"/>
                <a:gd name="T5" fmla="*/ 181 h 208"/>
                <a:gd name="T6" fmla="*/ 157 w 192"/>
                <a:gd name="T7" fmla="*/ 154 h 208"/>
                <a:gd name="T8" fmla="*/ 159 w 192"/>
                <a:gd name="T9" fmla="*/ 28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08"/>
                <a:gd name="T17" fmla="*/ 192 w 192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08">
                  <a:moveTo>
                    <a:pt x="159" y="28"/>
                  </a:moveTo>
                  <a:cubicBezTo>
                    <a:pt x="126" y="0"/>
                    <a:pt x="71" y="12"/>
                    <a:pt x="36" y="55"/>
                  </a:cubicBezTo>
                  <a:cubicBezTo>
                    <a:pt x="1" y="97"/>
                    <a:pt x="0" y="153"/>
                    <a:pt x="34" y="181"/>
                  </a:cubicBezTo>
                  <a:cubicBezTo>
                    <a:pt x="67" y="208"/>
                    <a:pt x="122" y="196"/>
                    <a:pt x="157" y="154"/>
                  </a:cubicBezTo>
                  <a:cubicBezTo>
                    <a:pt x="191" y="111"/>
                    <a:pt x="192" y="55"/>
                    <a:pt x="159" y="28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17426" name="Freeform 15"/>
          <p:cNvSpPr>
            <a:spLocks noEditPoints="1"/>
          </p:cNvSpPr>
          <p:nvPr/>
        </p:nvSpPr>
        <p:spPr bwMode="auto">
          <a:xfrm rot="-750214">
            <a:off x="3082926" y="926307"/>
            <a:ext cx="417513" cy="184547"/>
          </a:xfrm>
          <a:custGeom>
            <a:avLst/>
            <a:gdLst>
              <a:gd name="T0" fmla="*/ 2147483647 w 2188"/>
              <a:gd name="T1" fmla="*/ 2147483647 h 1288"/>
              <a:gd name="T2" fmla="*/ 2147483647 w 2188"/>
              <a:gd name="T3" fmla="*/ 2147483647 h 1288"/>
              <a:gd name="T4" fmla="*/ 2147483647 w 2188"/>
              <a:gd name="T5" fmla="*/ 2147483647 h 1288"/>
              <a:gd name="T6" fmla="*/ 2147483647 w 2188"/>
              <a:gd name="T7" fmla="*/ 2147483647 h 1288"/>
              <a:gd name="T8" fmla="*/ 2147483647 w 2188"/>
              <a:gd name="T9" fmla="*/ 2147483647 h 1288"/>
              <a:gd name="T10" fmla="*/ 2147483647 w 2188"/>
              <a:gd name="T11" fmla="*/ 2147483647 h 1288"/>
              <a:gd name="T12" fmla="*/ 2147483647 w 2188"/>
              <a:gd name="T13" fmla="*/ 2147483647 h 1288"/>
              <a:gd name="T14" fmla="*/ 2147483647 w 2188"/>
              <a:gd name="T15" fmla="*/ 2147483647 h 1288"/>
              <a:gd name="T16" fmla="*/ 0 w 2188"/>
              <a:gd name="T17" fmla="*/ 0 h 1288"/>
              <a:gd name="T18" fmla="*/ 2147483647 w 2188"/>
              <a:gd name="T19" fmla="*/ 2147483647 h 1288"/>
              <a:gd name="T20" fmla="*/ 2147483647 w 2188"/>
              <a:gd name="T21" fmla="*/ 2147483647 h 128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88"/>
              <a:gd name="T34" fmla="*/ 0 h 1288"/>
              <a:gd name="T35" fmla="*/ 2188 w 2188"/>
              <a:gd name="T36" fmla="*/ 1288 h 128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88" h="1288">
                <a:moveTo>
                  <a:pt x="2133" y="1279"/>
                </a:moveTo>
                <a:lnTo>
                  <a:pt x="271" y="196"/>
                </a:lnTo>
                <a:cubicBezTo>
                  <a:pt x="255" y="187"/>
                  <a:pt x="250" y="167"/>
                  <a:pt x="259" y="151"/>
                </a:cubicBezTo>
                <a:cubicBezTo>
                  <a:pt x="268" y="135"/>
                  <a:pt x="289" y="130"/>
                  <a:pt x="305" y="139"/>
                </a:cubicBezTo>
                <a:lnTo>
                  <a:pt x="2167" y="1221"/>
                </a:lnTo>
                <a:cubicBezTo>
                  <a:pt x="2182" y="1231"/>
                  <a:pt x="2188" y="1251"/>
                  <a:pt x="2179" y="1267"/>
                </a:cubicBezTo>
                <a:cubicBezTo>
                  <a:pt x="2169" y="1283"/>
                  <a:pt x="2149" y="1288"/>
                  <a:pt x="2133" y="1279"/>
                </a:cubicBezTo>
                <a:close/>
                <a:moveTo>
                  <a:pt x="245" y="374"/>
                </a:moveTo>
                <a:lnTo>
                  <a:pt x="0" y="0"/>
                </a:lnTo>
                <a:lnTo>
                  <a:pt x="446" y="28"/>
                </a:lnTo>
                <a:lnTo>
                  <a:pt x="245" y="374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graphicFrame>
        <p:nvGraphicFramePr>
          <p:cNvPr id="17410" name="Object 16"/>
          <p:cNvGraphicFramePr>
            <a:graphicFrameLocks noChangeAspect="1"/>
          </p:cNvGraphicFramePr>
          <p:nvPr/>
        </p:nvGraphicFramePr>
        <p:xfrm>
          <a:off x="3973514" y="927498"/>
          <a:ext cx="363537" cy="367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55" name="Equation" r:id="rId3" imgW="152268" imgH="253780" progId="Equation.DSMT4">
                  <p:embed/>
                </p:oleObj>
              </mc:Choice>
              <mc:Fallback>
                <p:oleObj name="Equation" r:id="rId3" imgW="152268" imgH="2537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4" y="927498"/>
                        <a:ext cx="363537" cy="367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7" name="Group 39"/>
          <p:cNvGrpSpPr>
            <a:grpSpLocks/>
          </p:cNvGrpSpPr>
          <p:nvPr/>
        </p:nvGrpSpPr>
        <p:grpSpPr bwMode="auto">
          <a:xfrm>
            <a:off x="2279650" y="261938"/>
            <a:ext cx="2312988" cy="1278731"/>
            <a:chOff x="1436" y="220"/>
            <a:chExt cx="1457" cy="1074"/>
          </a:xfrm>
        </p:grpSpPr>
        <p:graphicFrame>
          <p:nvGraphicFramePr>
            <p:cNvPr id="17416" name="Object 18"/>
            <p:cNvGraphicFramePr>
              <a:graphicFrameLocks noChangeAspect="1"/>
            </p:cNvGraphicFramePr>
            <p:nvPr/>
          </p:nvGraphicFramePr>
          <p:xfrm>
            <a:off x="1664" y="537"/>
            <a:ext cx="297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56" name="Equation" r:id="rId5" imgW="190417" imgH="253890" progId="Equation.DSMT4">
                    <p:embed/>
                  </p:oleObj>
                </mc:Choice>
                <mc:Fallback>
                  <p:oleObj name="Equation" r:id="rId5" imgW="190417" imgH="25389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4" y="537"/>
                          <a:ext cx="297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19"/>
            <p:cNvGraphicFramePr>
              <a:graphicFrameLocks noChangeAspect="1"/>
            </p:cNvGraphicFramePr>
            <p:nvPr/>
          </p:nvGraphicFramePr>
          <p:xfrm>
            <a:off x="1436" y="813"/>
            <a:ext cx="231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57" name="Equation" r:id="rId7" imgW="190417" imgH="190417" progId="Equation.DSMT4">
                    <p:embed/>
                  </p:oleObj>
                </mc:Choice>
                <mc:Fallback>
                  <p:oleObj name="Equation" r:id="rId7" imgW="190417" imgH="190417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6" y="813"/>
                          <a:ext cx="231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8" name="Object 20"/>
            <p:cNvGraphicFramePr>
              <a:graphicFrameLocks noChangeAspect="1"/>
            </p:cNvGraphicFramePr>
            <p:nvPr/>
          </p:nvGraphicFramePr>
          <p:xfrm>
            <a:off x="1803" y="220"/>
            <a:ext cx="32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58" name="Equation" r:id="rId9" imgW="253780" imgH="203024" progId="Equation.DSMT4">
                    <p:embed/>
                  </p:oleObj>
                </mc:Choice>
                <mc:Fallback>
                  <p:oleObj name="Equation" r:id="rId9" imgW="253780" imgH="203024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3" y="220"/>
                          <a:ext cx="324" cy="2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9" name="Freeform 21"/>
            <p:cNvSpPr>
              <a:spLocks noEditPoints="1"/>
            </p:cNvSpPr>
            <p:nvPr/>
          </p:nvSpPr>
          <p:spPr bwMode="auto">
            <a:xfrm>
              <a:off x="1981" y="463"/>
              <a:ext cx="247" cy="402"/>
            </a:xfrm>
            <a:custGeom>
              <a:avLst/>
              <a:gdLst>
                <a:gd name="T0" fmla="*/ 0 w 2057"/>
                <a:gd name="T1" fmla="*/ 0 h 3357"/>
                <a:gd name="T2" fmla="*/ 0 w 2057"/>
                <a:gd name="T3" fmla="*/ 0 h 3357"/>
                <a:gd name="T4" fmla="*/ 0 w 2057"/>
                <a:gd name="T5" fmla="*/ 0 h 3357"/>
                <a:gd name="T6" fmla="*/ 0 w 2057"/>
                <a:gd name="T7" fmla="*/ 0 h 3357"/>
                <a:gd name="T8" fmla="*/ 0 w 2057"/>
                <a:gd name="T9" fmla="*/ 0 h 3357"/>
                <a:gd name="T10" fmla="*/ 0 w 2057"/>
                <a:gd name="T11" fmla="*/ 0 h 3357"/>
                <a:gd name="T12" fmla="*/ 0 w 2057"/>
                <a:gd name="T13" fmla="*/ 0 h 3357"/>
                <a:gd name="T14" fmla="*/ 0 w 2057"/>
                <a:gd name="T15" fmla="*/ 0 h 3357"/>
                <a:gd name="T16" fmla="*/ 0 w 2057"/>
                <a:gd name="T17" fmla="*/ 0 h 3357"/>
                <a:gd name="T18" fmla="*/ 0 w 2057"/>
                <a:gd name="T19" fmla="*/ 0 h 3357"/>
                <a:gd name="T20" fmla="*/ 0 w 2057"/>
                <a:gd name="T21" fmla="*/ 0 h 3357"/>
                <a:gd name="T22" fmla="*/ 0 w 2057"/>
                <a:gd name="T23" fmla="*/ 0 h 3357"/>
                <a:gd name="T24" fmla="*/ 0 w 2057"/>
                <a:gd name="T25" fmla="*/ 0 h 3357"/>
                <a:gd name="T26" fmla="*/ 0 w 2057"/>
                <a:gd name="T27" fmla="*/ 0 h 3357"/>
                <a:gd name="T28" fmla="*/ 0 w 2057"/>
                <a:gd name="T29" fmla="*/ 0 h 3357"/>
                <a:gd name="T30" fmla="*/ 0 w 2057"/>
                <a:gd name="T31" fmla="*/ 0 h 3357"/>
                <a:gd name="T32" fmla="*/ 0 w 2057"/>
                <a:gd name="T33" fmla="*/ 0 h 3357"/>
                <a:gd name="T34" fmla="*/ 0 w 2057"/>
                <a:gd name="T35" fmla="*/ 0 h 3357"/>
                <a:gd name="T36" fmla="*/ 0 w 2057"/>
                <a:gd name="T37" fmla="*/ 0 h 3357"/>
                <a:gd name="T38" fmla="*/ 0 w 2057"/>
                <a:gd name="T39" fmla="*/ 0 h 3357"/>
                <a:gd name="T40" fmla="*/ 0 w 2057"/>
                <a:gd name="T41" fmla="*/ 0 h 3357"/>
                <a:gd name="T42" fmla="*/ 0 w 2057"/>
                <a:gd name="T43" fmla="*/ 0 h 3357"/>
                <a:gd name="T44" fmla="*/ 0 w 2057"/>
                <a:gd name="T45" fmla="*/ 0 h 3357"/>
                <a:gd name="T46" fmla="*/ 0 w 2057"/>
                <a:gd name="T47" fmla="*/ 0 h 3357"/>
                <a:gd name="T48" fmla="*/ 0 w 2057"/>
                <a:gd name="T49" fmla="*/ 0 h 3357"/>
                <a:gd name="T50" fmla="*/ 0 w 2057"/>
                <a:gd name="T51" fmla="*/ 0 h 3357"/>
                <a:gd name="T52" fmla="*/ 0 w 2057"/>
                <a:gd name="T53" fmla="*/ 0 h 3357"/>
                <a:gd name="T54" fmla="*/ 0 w 2057"/>
                <a:gd name="T55" fmla="*/ 0 h 3357"/>
                <a:gd name="T56" fmla="*/ 0 w 2057"/>
                <a:gd name="T57" fmla="*/ 0 h 3357"/>
                <a:gd name="T58" fmla="*/ 0 w 2057"/>
                <a:gd name="T59" fmla="*/ 0 h 3357"/>
                <a:gd name="T60" fmla="*/ 0 w 2057"/>
                <a:gd name="T61" fmla="*/ 0 h 3357"/>
                <a:gd name="T62" fmla="*/ 0 w 2057"/>
                <a:gd name="T63" fmla="*/ 0 h 3357"/>
                <a:gd name="T64" fmla="*/ 0 w 2057"/>
                <a:gd name="T65" fmla="*/ 0 h 3357"/>
                <a:gd name="T66" fmla="*/ 0 w 2057"/>
                <a:gd name="T67" fmla="*/ 0 h 3357"/>
                <a:gd name="T68" fmla="*/ 0 w 2057"/>
                <a:gd name="T69" fmla="*/ 0 h 3357"/>
                <a:gd name="T70" fmla="*/ 0 w 2057"/>
                <a:gd name="T71" fmla="*/ 0 h 3357"/>
                <a:gd name="T72" fmla="*/ 0 w 2057"/>
                <a:gd name="T73" fmla="*/ 0 h 3357"/>
                <a:gd name="T74" fmla="*/ 0 w 2057"/>
                <a:gd name="T75" fmla="*/ 0 h 3357"/>
                <a:gd name="T76" fmla="*/ 0 w 2057"/>
                <a:gd name="T77" fmla="*/ 0 h 3357"/>
                <a:gd name="T78" fmla="*/ 0 w 2057"/>
                <a:gd name="T79" fmla="*/ 0 h 3357"/>
                <a:gd name="T80" fmla="*/ 0 w 2057"/>
                <a:gd name="T81" fmla="*/ 0 h 3357"/>
                <a:gd name="T82" fmla="*/ 0 w 2057"/>
                <a:gd name="T83" fmla="*/ 0 h 335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057"/>
                <a:gd name="T127" fmla="*/ 0 h 3357"/>
                <a:gd name="T128" fmla="*/ 2057 w 2057"/>
                <a:gd name="T129" fmla="*/ 3357 h 335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057" h="3357">
                  <a:moveTo>
                    <a:pt x="2007" y="3341"/>
                  </a:moveTo>
                  <a:lnTo>
                    <a:pt x="1930" y="3213"/>
                  </a:lnTo>
                  <a:cubicBezTo>
                    <a:pt x="1923" y="3201"/>
                    <a:pt x="1926" y="3186"/>
                    <a:pt x="1938" y="3178"/>
                  </a:cubicBezTo>
                  <a:cubicBezTo>
                    <a:pt x="1950" y="3171"/>
                    <a:pt x="1965" y="3175"/>
                    <a:pt x="1972" y="3187"/>
                  </a:cubicBezTo>
                  <a:lnTo>
                    <a:pt x="2050" y="3315"/>
                  </a:lnTo>
                  <a:cubicBezTo>
                    <a:pt x="2057" y="3327"/>
                    <a:pt x="2054" y="3342"/>
                    <a:pt x="2042" y="3350"/>
                  </a:cubicBezTo>
                  <a:cubicBezTo>
                    <a:pt x="2030" y="3357"/>
                    <a:pt x="2015" y="3353"/>
                    <a:pt x="2007" y="3341"/>
                  </a:cubicBezTo>
                  <a:close/>
                  <a:moveTo>
                    <a:pt x="1826" y="3042"/>
                  </a:moveTo>
                  <a:lnTo>
                    <a:pt x="1748" y="2913"/>
                  </a:lnTo>
                  <a:cubicBezTo>
                    <a:pt x="1741" y="2902"/>
                    <a:pt x="1745" y="2886"/>
                    <a:pt x="1757" y="2879"/>
                  </a:cubicBezTo>
                  <a:cubicBezTo>
                    <a:pt x="1768" y="2872"/>
                    <a:pt x="1784" y="2876"/>
                    <a:pt x="1791" y="2888"/>
                  </a:cubicBezTo>
                  <a:lnTo>
                    <a:pt x="1869" y="3016"/>
                  </a:lnTo>
                  <a:cubicBezTo>
                    <a:pt x="1876" y="3028"/>
                    <a:pt x="1872" y="3043"/>
                    <a:pt x="1860" y="3050"/>
                  </a:cubicBezTo>
                  <a:cubicBezTo>
                    <a:pt x="1849" y="3057"/>
                    <a:pt x="1833" y="3054"/>
                    <a:pt x="1826" y="3042"/>
                  </a:cubicBezTo>
                  <a:close/>
                  <a:moveTo>
                    <a:pt x="1645" y="2742"/>
                  </a:moveTo>
                  <a:lnTo>
                    <a:pt x="1567" y="2614"/>
                  </a:lnTo>
                  <a:cubicBezTo>
                    <a:pt x="1560" y="2602"/>
                    <a:pt x="1563" y="2587"/>
                    <a:pt x="1575" y="2580"/>
                  </a:cubicBezTo>
                  <a:cubicBezTo>
                    <a:pt x="1587" y="2573"/>
                    <a:pt x="1602" y="2576"/>
                    <a:pt x="1610" y="2588"/>
                  </a:cubicBezTo>
                  <a:lnTo>
                    <a:pt x="1687" y="2717"/>
                  </a:lnTo>
                  <a:cubicBezTo>
                    <a:pt x="1695" y="2728"/>
                    <a:pt x="1691" y="2744"/>
                    <a:pt x="1679" y="2751"/>
                  </a:cubicBezTo>
                  <a:cubicBezTo>
                    <a:pt x="1667" y="2758"/>
                    <a:pt x="1652" y="2754"/>
                    <a:pt x="1645" y="2742"/>
                  </a:cubicBezTo>
                  <a:close/>
                  <a:moveTo>
                    <a:pt x="1463" y="2443"/>
                  </a:moveTo>
                  <a:lnTo>
                    <a:pt x="1385" y="2315"/>
                  </a:lnTo>
                  <a:cubicBezTo>
                    <a:pt x="1378" y="2303"/>
                    <a:pt x="1382" y="2288"/>
                    <a:pt x="1394" y="2281"/>
                  </a:cubicBezTo>
                  <a:cubicBezTo>
                    <a:pt x="1406" y="2273"/>
                    <a:pt x="1421" y="2277"/>
                    <a:pt x="1428" y="2289"/>
                  </a:cubicBezTo>
                  <a:lnTo>
                    <a:pt x="1506" y="2417"/>
                  </a:lnTo>
                  <a:cubicBezTo>
                    <a:pt x="1513" y="2429"/>
                    <a:pt x="1509" y="2444"/>
                    <a:pt x="1498" y="2452"/>
                  </a:cubicBezTo>
                  <a:cubicBezTo>
                    <a:pt x="1486" y="2459"/>
                    <a:pt x="1470" y="2455"/>
                    <a:pt x="1463" y="2443"/>
                  </a:cubicBezTo>
                  <a:close/>
                  <a:moveTo>
                    <a:pt x="1282" y="2144"/>
                  </a:moveTo>
                  <a:lnTo>
                    <a:pt x="1204" y="2016"/>
                  </a:lnTo>
                  <a:cubicBezTo>
                    <a:pt x="1197" y="2004"/>
                    <a:pt x="1201" y="1988"/>
                    <a:pt x="1212" y="1981"/>
                  </a:cubicBezTo>
                  <a:cubicBezTo>
                    <a:pt x="1224" y="1974"/>
                    <a:pt x="1240" y="1978"/>
                    <a:pt x="1247" y="1990"/>
                  </a:cubicBezTo>
                  <a:lnTo>
                    <a:pt x="1325" y="2118"/>
                  </a:lnTo>
                  <a:cubicBezTo>
                    <a:pt x="1332" y="2130"/>
                    <a:pt x="1328" y="2145"/>
                    <a:pt x="1316" y="2152"/>
                  </a:cubicBezTo>
                  <a:cubicBezTo>
                    <a:pt x="1304" y="2159"/>
                    <a:pt x="1289" y="2156"/>
                    <a:pt x="1282" y="2144"/>
                  </a:cubicBezTo>
                  <a:close/>
                  <a:moveTo>
                    <a:pt x="1100" y="1844"/>
                  </a:moveTo>
                  <a:lnTo>
                    <a:pt x="1023" y="1716"/>
                  </a:lnTo>
                  <a:cubicBezTo>
                    <a:pt x="1015" y="1704"/>
                    <a:pt x="1019" y="1689"/>
                    <a:pt x="1031" y="1682"/>
                  </a:cubicBezTo>
                  <a:cubicBezTo>
                    <a:pt x="1043" y="1675"/>
                    <a:pt x="1058" y="1678"/>
                    <a:pt x="1065" y="1690"/>
                  </a:cubicBezTo>
                  <a:lnTo>
                    <a:pt x="1143" y="1819"/>
                  </a:lnTo>
                  <a:cubicBezTo>
                    <a:pt x="1150" y="1830"/>
                    <a:pt x="1147" y="1846"/>
                    <a:pt x="1135" y="1853"/>
                  </a:cubicBezTo>
                  <a:cubicBezTo>
                    <a:pt x="1123" y="1860"/>
                    <a:pt x="1108" y="1856"/>
                    <a:pt x="1100" y="1844"/>
                  </a:cubicBezTo>
                  <a:close/>
                  <a:moveTo>
                    <a:pt x="919" y="1545"/>
                  </a:moveTo>
                  <a:lnTo>
                    <a:pt x="841" y="1417"/>
                  </a:lnTo>
                  <a:cubicBezTo>
                    <a:pt x="834" y="1405"/>
                    <a:pt x="838" y="1390"/>
                    <a:pt x="850" y="1383"/>
                  </a:cubicBezTo>
                  <a:cubicBezTo>
                    <a:pt x="861" y="1375"/>
                    <a:pt x="877" y="1379"/>
                    <a:pt x="884" y="1391"/>
                  </a:cubicBezTo>
                  <a:lnTo>
                    <a:pt x="962" y="1519"/>
                  </a:lnTo>
                  <a:cubicBezTo>
                    <a:pt x="969" y="1531"/>
                    <a:pt x="965" y="1546"/>
                    <a:pt x="953" y="1554"/>
                  </a:cubicBezTo>
                  <a:cubicBezTo>
                    <a:pt x="942" y="1561"/>
                    <a:pt x="926" y="1557"/>
                    <a:pt x="919" y="1545"/>
                  </a:cubicBezTo>
                  <a:close/>
                  <a:moveTo>
                    <a:pt x="738" y="1246"/>
                  </a:moveTo>
                  <a:lnTo>
                    <a:pt x="660" y="1118"/>
                  </a:lnTo>
                  <a:cubicBezTo>
                    <a:pt x="653" y="1106"/>
                    <a:pt x="656" y="1090"/>
                    <a:pt x="668" y="1083"/>
                  </a:cubicBezTo>
                  <a:cubicBezTo>
                    <a:pt x="680" y="1076"/>
                    <a:pt x="695" y="1080"/>
                    <a:pt x="703" y="1092"/>
                  </a:cubicBezTo>
                  <a:lnTo>
                    <a:pt x="780" y="1220"/>
                  </a:lnTo>
                  <a:cubicBezTo>
                    <a:pt x="787" y="1232"/>
                    <a:pt x="784" y="1247"/>
                    <a:pt x="772" y="1254"/>
                  </a:cubicBezTo>
                  <a:cubicBezTo>
                    <a:pt x="760" y="1261"/>
                    <a:pt x="745" y="1258"/>
                    <a:pt x="738" y="1246"/>
                  </a:cubicBezTo>
                  <a:close/>
                  <a:moveTo>
                    <a:pt x="556" y="947"/>
                  </a:moveTo>
                  <a:lnTo>
                    <a:pt x="478" y="818"/>
                  </a:lnTo>
                  <a:cubicBezTo>
                    <a:pt x="471" y="806"/>
                    <a:pt x="475" y="791"/>
                    <a:pt x="487" y="784"/>
                  </a:cubicBezTo>
                  <a:cubicBezTo>
                    <a:pt x="499" y="777"/>
                    <a:pt x="514" y="781"/>
                    <a:pt x="521" y="792"/>
                  </a:cubicBezTo>
                  <a:lnTo>
                    <a:pt x="599" y="921"/>
                  </a:lnTo>
                  <a:cubicBezTo>
                    <a:pt x="606" y="932"/>
                    <a:pt x="602" y="948"/>
                    <a:pt x="591" y="955"/>
                  </a:cubicBezTo>
                  <a:cubicBezTo>
                    <a:pt x="579" y="962"/>
                    <a:pt x="563" y="958"/>
                    <a:pt x="556" y="947"/>
                  </a:cubicBezTo>
                  <a:close/>
                  <a:moveTo>
                    <a:pt x="375" y="647"/>
                  </a:moveTo>
                  <a:lnTo>
                    <a:pt x="297" y="519"/>
                  </a:lnTo>
                  <a:cubicBezTo>
                    <a:pt x="290" y="507"/>
                    <a:pt x="294" y="492"/>
                    <a:pt x="305" y="485"/>
                  </a:cubicBezTo>
                  <a:cubicBezTo>
                    <a:pt x="317" y="477"/>
                    <a:pt x="333" y="481"/>
                    <a:pt x="340" y="493"/>
                  </a:cubicBezTo>
                  <a:lnTo>
                    <a:pt x="418" y="621"/>
                  </a:lnTo>
                  <a:cubicBezTo>
                    <a:pt x="425" y="633"/>
                    <a:pt x="421" y="648"/>
                    <a:pt x="409" y="656"/>
                  </a:cubicBezTo>
                  <a:cubicBezTo>
                    <a:pt x="397" y="663"/>
                    <a:pt x="382" y="659"/>
                    <a:pt x="375" y="647"/>
                  </a:cubicBezTo>
                  <a:close/>
                  <a:moveTo>
                    <a:pt x="193" y="348"/>
                  </a:moveTo>
                  <a:lnTo>
                    <a:pt x="116" y="220"/>
                  </a:lnTo>
                  <a:cubicBezTo>
                    <a:pt x="108" y="208"/>
                    <a:pt x="112" y="192"/>
                    <a:pt x="124" y="185"/>
                  </a:cubicBezTo>
                  <a:cubicBezTo>
                    <a:pt x="136" y="178"/>
                    <a:pt x="151" y="182"/>
                    <a:pt x="158" y="194"/>
                  </a:cubicBezTo>
                  <a:lnTo>
                    <a:pt x="236" y="322"/>
                  </a:lnTo>
                  <a:cubicBezTo>
                    <a:pt x="243" y="334"/>
                    <a:pt x="240" y="349"/>
                    <a:pt x="228" y="356"/>
                  </a:cubicBezTo>
                  <a:cubicBezTo>
                    <a:pt x="216" y="363"/>
                    <a:pt x="201" y="360"/>
                    <a:pt x="193" y="348"/>
                  </a:cubicBezTo>
                  <a:close/>
                  <a:moveTo>
                    <a:pt x="12" y="49"/>
                  </a:moveTo>
                  <a:lnTo>
                    <a:pt x="7" y="41"/>
                  </a:lnTo>
                  <a:cubicBezTo>
                    <a:pt x="0" y="29"/>
                    <a:pt x="4" y="14"/>
                    <a:pt x="16" y="7"/>
                  </a:cubicBezTo>
                  <a:cubicBezTo>
                    <a:pt x="28" y="0"/>
                    <a:pt x="43" y="3"/>
                    <a:pt x="50" y="15"/>
                  </a:cubicBezTo>
                  <a:lnTo>
                    <a:pt x="55" y="23"/>
                  </a:lnTo>
                  <a:cubicBezTo>
                    <a:pt x="62" y="34"/>
                    <a:pt x="58" y="50"/>
                    <a:pt x="46" y="57"/>
                  </a:cubicBezTo>
                  <a:cubicBezTo>
                    <a:pt x="34" y="64"/>
                    <a:pt x="19" y="60"/>
                    <a:pt x="12" y="49"/>
                  </a:cubicBez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7440" name="Freeform 22"/>
            <p:cNvSpPr>
              <a:spLocks noEditPoints="1"/>
            </p:cNvSpPr>
            <p:nvPr/>
          </p:nvSpPr>
          <p:spPr bwMode="auto">
            <a:xfrm>
              <a:off x="1635" y="905"/>
              <a:ext cx="564" cy="158"/>
            </a:xfrm>
            <a:custGeom>
              <a:avLst/>
              <a:gdLst>
                <a:gd name="T0" fmla="*/ 0 w 2337"/>
                <a:gd name="T1" fmla="*/ 0 h 812"/>
                <a:gd name="T2" fmla="*/ 0 w 2337"/>
                <a:gd name="T3" fmla="*/ 0 h 812"/>
                <a:gd name="T4" fmla="*/ 0 w 2337"/>
                <a:gd name="T5" fmla="*/ 0 h 812"/>
                <a:gd name="T6" fmla="*/ 0 w 2337"/>
                <a:gd name="T7" fmla="*/ 0 h 812"/>
                <a:gd name="T8" fmla="*/ 0 w 2337"/>
                <a:gd name="T9" fmla="*/ 0 h 812"/>
                <a:gd name="T10" fmla="*/ 0 w 2337"/>
                <a:gd name="T11" fmla="*/ 0 h 812"/>
                <a:gd name="T12" fmla="*/ 0 w 2337"/>
                <a:gd name="T13" fmla="*/ 0 h 812"/>
                <a:gd name="T14" fmla="*/ 0 w 2337"/>
                <a:gd name="T15" fmla="*/ 0 h 812"/>
                <a:gd name="T16" fmla="*/ 0 w 2337"/>
                <a:gd name="T17" fmla="*/ 0 h 812"/>
                <a:gd name="T18" fmla="*/ 0 w 2337"/>
                <a:gd name="T19" fmla="*/ 0 h 812"/>
                <a:gd name="T20" fmla="*/ 0 w 2337"/>
                <a:gd name="T21" fmla="*/ 0 h 8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37"/>
                <a:gd name="T34" fmla="*/ 0 h 812"/>
                <a:gd name="T35" fmla="*/ 2337 w 2337"/>
                <a:gd name="T36" fmla="*/ 812 h 81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37" h="812">
                  <a:moveTo>
                    <a:pt x="2310" y="69"/>
                  </a:moveTo>
                  <a:lnTo>
                    <a:pt x="328" y="672"/>
                  </a:lnTo>
                  <a:cubicBezTo>
                    <a:pt x="311" y="677"/>
                    <a:pt x="292" y="667"/>
                    <a:pt x="287" y="650"/>
                  </a:cubicBezTo>
                  <a:cubicBezTo>
                    <a:pt x="281" y="632"/>
                    <a:pt x="291" y="614"/>
                    <a:pt x="309" y="608"/>
                  </a:cubicBezTo>
                  <a:lnTo>
                    <a:pt x="2290" y="5"/>
                  </a:lnTo>
                  <a:cubicBezTo>
                    <a:pt x="2308" y="0"/>
                    <a:pt x="2326" y="10"/>
                    <a:pt x="2332" y="27"/>
                  </a:cubicBezTo>
                  <a:cubicBezTo>
                    <a:pt x="2337" y="45"/>
                    <a:pt x="2327" y="64"/>
                    <a:pt x="2310" y="69"/>
                  </a:cubicBezTo>
                  <a:close/>
                  <a:moveTo>
                    <a:pt x="441" y="812"/>
                  </a:moveTo>
                  <a:lnTo>
                    <a:pt x="0" y="737"/>
                  </a:lnTo>
                  <a:lnTo>
                    <a:pt x="324" y="429"/>
                  </a:lnTo>
                  <a:lnTo>
                    <a:pt x="441" y="812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  <p:sp>
          <p:nvSpPr>
            <p:cNvPr id="17441" name="Freeform 23"/>
            <p:cNvSpPr>
              <a:spLocks noEditPoints="1"/>
            </p:cNvSpPr>
            <p:nvPr/>
          </p:nvSpPr>
          <p:spPr bwMode="auto">
            <a:xfrm>
              <a:off x="2206" y="893"/>
              <a:ext cx="687" cy="401"/>
            </a:xfrm>
            <a:custGeom>
              <a:avLst/>
              <a:gdLst>
                <a:gd name="T0" fmla="*/ 681 w 687"/>
                <a:gd name="T1" fmla="*/ 401 h 401"/>
                <a:gd name="T2" fmla="*/ 32 w 687"/>
                <a:gd name="T3" fmla="*/ 25 h 401"/>
                <a:gd name="T4" fmla="*/ 38 w 687"/>
                <a:gd name="T5" fmla="*/ 15 h 401"/>
                <a:gd name="T6" fmla="*/ 687 w 687"/>
                <a:gd name="T7" fmla="*/ 391 h 401"/>
                <a:gd name="T8" fmla="*/ 681 w 687"/>
                <a:gd name="T9" fmla="*/ 401 h 401"/>
                <a:gd name="T10" fmla="*/ 30 w 687"/>
                <a:gd name="T11" fmla="*/ 45 h 401"/>
                <a:gd name="T12" fmla="*/ 0 w 687"/>
                <a:gd name="T13" fmla="*/ 0 h 401"/>
                <a:gd name="T14" fmla="*/ 54 w 687"/>
                <a:gd name="T15" fmla="*/ 3 h 401"/>
                <a:gd name="T16" fmla="*/ 30 w 687"/>
                <a:gd name="T17" fmla="*/ 45 h 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87"/>
                <a:gd name="T28" fmla="*/ 0 h 401"/>
                <a:gd name="T29" fmla="*/ 687 w 687"/>
                <a:gd name="T30" fmla="*/ 401 h 40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87" h="401">
                  <a:moveTo>
                    <a:pt x="681" y="401"/>
                  </a:moveTo>
                  <a:lnTo>
                    <a:pt x="32" y="25"/>
                  </a:lnTo>
                  <a:lnTo>
                    <a:pt x="38" y="15"/>
                  </a:lnTo>
                  <a:lnTo>
                    <a:pt x="687" y="391"/>
                  </a:lnTo>
                  <a:lnTo>
                    <a:pt x="681" y="401"/>
                  </a:lnTo>
                  <a:close/>
                  <a:moveTo>
                    <a:pt x="30" y="45"/>
                  </a:moveTo>
                  <a:lnTo>
                    <a:pt x="0" y="0"/>
                  </a:lnTo>
                  <a:lnTo>
                    <a:pt x="54" y="3"/>
                  </a:lnTo>
                  <a:lnTo>
                    <a:pt x="30" y="45"/>
                  </a:lnTo>
                  <a:close/>
                </a:path>
              </a:pathLst>
            </a:custGeom>
            <a:solidFill>
              <a:srgbClr val="000000"/>
            </a:solidFill>
            <a:ln w="3175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/>
            <a:p>
              <a:endParaRPr lang="en-US" sz="2000" dirty="0"/>
            </a:p>
          </p:txBody>
        </p:sp>
      </p:grpSp>
      <p:sp>
        <p:nvSpPr>
          <p:cNvPr id="17428" name="Freeform 24"/>
          <p:cNvSpPr>
            <a:spLocks noEditPoints="1"/>
          </p:cNvSpPr>
          <p:nvPr/>
        </p:nvSpPr>
        <p:spPr bwMode="auto">
          <a:xfrm>
            <a:off x="5221288" y="829867"/>
            <a:ext cx="1611312" cy="401240"/>
          </a:xfrm>
          <a:custGeom>
            <a:avLst/>
            <a:gdLst>
              <a:gd name="T0" fmla="*/ 2147483647 w 8456"/>
              <a:gd name="T1" fmla="*/ 2147483647 h 2806"/>
              <a:gd name="T2" fmla="*/ 2147483647 w 8456"/>
              <a:gd name="T3" fmla="*/ 2147483647 h 2806"/>
              <a:gd name="T4" fmla="*/ 2147483647 w 8456"/>
              <a:gd name="T5" fmla="*/ 2147483647 h 2806"/>
              <a:gd name="T6" fmla="*/ 2147483647 w 8456"/>
              <a:gd name="T7" fmla="*/ 2147483647 h 2806"/>
              <a:gd name="T8" fmla="*/ 2147483647 w 8456"/>
              <a:gd name="T9" fmla="*/ 2147483647 h 2806"/>
              <a:gd name="T10" fmla="*/ 2147483647 w 8456"/>
              <a:gd name="T11" fmla="*/ 2147483647 h 2806"/>
              <a:gd name="T12" fmla="*/ 2147483647 w 8456"/>
              <a:gd name="T13" fmla="*/ 2147483647 h 2806"/>
              <a:gd name="T14" fmla="*/ 2147483647 w 8456"/>
              <a:gd name="T15" fmla="*/ 2147483647 h 2806"/>
              <a:gd name="T16" fmla="*/ 2147483647 w 8456"/>
              <a:gd name="T17" fmla="*/ 2147483647 h 2806"/>
              <a:gd name="T18" fmla="*/ 2147483647 w 8456"/>
              <a:gd name="T19" fmla="*/ 2147483647 h 2806"/>
              <a:gd name="T20" fmla="*/ 2147483647 w 8456"/>
              <a:gd name="T21" fmla="*/ 2147483647 h 2806"/>
              <a:gd name="T22" fmla="*/ 2147483647 w 8456"/>
              <a:gd name="T23" fmla="*/ 2147483647 h 2806"/>
              <a:gd name="T24" fmla="*/ 2147483647 w 8456"/>
              <a:gd name="T25" fmla="*/ 2147483647 h 2806"/>
              <a:gd name="T26" fmla="*/ 2147483647 w 8456"/>
              <a:gd name="T27" fmla="*/ 2147483647 h 2806"/>
              <a:gd name="T28" fmla="*/ 2147483647 w 8456"/>
              <a:gd name="T29" fmla="*/ 2147483647 h 2806"/>
              <a:gd name="T30" fmla="*/ 2147483647 w 8456"/>
              <a:gd name="T31" fmla="*/ 2147483647 h 2806"/>
              <a:gd name="T32" fmla="*/ 2147483647 w 8456"/>
              <a:gd name="T33" fmla="*/ 2147483647 h 2806"/>
              <a:gd name="T34" fmla="*/ 2147483647 w 8456"/>
              <a:gd name="T35" fmla="*/ 2147483647 h 2806"/>
              <a:gd name="T36" fmla="*/ 2147483647 w 8456"/>
              <a:gd name="T37" fmla="*/ 2147483647 h 2806"/>
              <a:gd name="T38" fmla="*/ 2147483647 w 8456"/>
              <a:gd name="T39" fmla="*/ 2147483647 h 2806"/>
              <a:gd name="T40" fmla="*/ 2147483647 w 8456"/>
              <a:gd name="T41" fmla="*/ 2147483647 h 2806"/>
              <a:gd name="T42" fmla="*/ 2147483647 w 8456"/>
              <a:gd name="T43" fmla="*/ 2147483647 h 2806"/>
              <a:gd name="T44" fmla="*/ 2147483647 w 8456"/>
              <a:gd name="T45" fmla="*/ 2147483647 h 2806"/>
              <a:gd name="T46" fmla="*/ 2147483647 w 8456"/>
              <a:gd name="T47" fmla="*/ 2147483647 h 2806"/>
              <a:gd name="T48" fmla="*/ 2147483647 w 8456"/>
              <a:gd name="T49" fmla="*/ 2147483647 h 2806"/>
              <a:gd name="T50" fmla="*/ 2147483647 w 8456"/>
              <a:gd name="T51" fmla="*/ 2147483647 h 2806"/>
              <a:gd name="T52" fmla="*/ 2147483647 w 8456"/>
              <a:gd name="T53" fmla="*/ 2147483647 h 2806"/>
              <a:gd name="T54" fmla="*/ 2147483647 w 8456"/>
              <a:gd name="T55" fmla="*/ 2147483647 h 2806"/>
              <a:gd name="T56" fmla="*/ 2147483647 w 8456"/>
              <a:gd name="T57" fmla="*/ 2147483647 h 2806"/>
              <a:gd name="T58" fmla="*/ 2147483647 w 8456"/>
              <a:gd name="T59" fmla="*/ 2147483647 h 2806"/>
              <a:gd name="T60" fmla="*/ 2147483647 w 8456"/>
              <a:gd name="T61" fmla="*/ 2147483647 h 2806"/>
              <a:gd name="T62" fmla="*/ 2147483647 w 8456"/>
              <a:gd name="T63" fmla="*/ 2147483647 h 2806"/>
              <a:gd name="T64" fmla="*/ 2147483647 w 8456"/>
              <a:gd name="T65" fmla="*/ 2147483647 h 2806"/>
              <a:gd name="T66" fmla="*/ 2147483647 w 8456"/>
              <a:gd name="T67" fmla="*/ 2147483647 h 2806"/>
              <a:gd name="T68" fmla="*/ 2147483647 w 8456"/>
              <a:gd name="T69" fmla="*/ 2147483647 h 2806"/>
              <a:gd name="T70" fmla="*/ 2147483647 w 8456"/>
              <a:gd name="T71" fmla="*/ 2147483647 h 2806"/>
              <a:gd name="T72" fmla="*/ 2147483647 w 8456"/>
              <a:gd name="T73" fmla="*/ 2147483647 h 2806"/>
              <a:gd name="T74" fmla="*/ 2147483647 w 8456"/>
              <a:gd name="T75" fmla="*/ 2147483647 h 2806"/>
              <a:gd name="T76" fmla="*/ 2147483647 w 8456"/>
              <a:gd name="T77" fmla="*/ 2147483647 h 2806"/>
              <a:gd name="T78" fmla="*/ 2147483647 w 8456"/>
              <a:gd name="T79" fmla="*/ 2147483647 h 2806"/>
              <a:gd name="T80" fmla="*/ 2147483647 w 8456"/>
              <a:gd name="T81" fmla="*/ 2147483647 h 2806"/>
              <a:gd name="T82" fmla="*/ 2147483647 w 8456"/>
              <a:gd name="T83" fmla="*/ 2147483647 h 2806"/>
              <a:gd name="T84" fmla="*/ 2147483647 w 8456"/>
              <a:gd name="T85" fmla="*/ 2147483647 h 2806"/>
              <a:gd name="T86" fmla="*/ 2147483647 w 8456"/>
              <a:gd name="T87" fmla="*/ 2147483647 h 2806"/>
              <a:gd name="T88" fmla="*/ 2147483647 w 8456"/>
              <a:gd name="T89" fmla="*/ 2147483647 h 2806"/>
              <a:gd name="T90" fmla="*/ 2147483647 w 8456"/>
              <a:gd name="T91" fmla="*/ 2147483647 h 2806"/>
              <a:gd name="T92" fmla="*/ 2147483647 w 8456"/>
              <a:gd name="T93" fmla="*/ 2147483647 h 2806"/>
              <a:gd name="T94" fmla="*/ 2147483647 w 8456"/>
              <a:gd name="T95" fmla="*/ 2147483647 h 2806"/>
              <a:gd name="T96" fmla="*/ 2147483647 w 8456"/>
              <a:gd name="T97" fmla="*/ 2147483647 h 2806"/>
              <a:gd name="T98" fmla="*/ 2147483647 w 8456"/>
              <a:gd name="T99" fmla="*/ 2147483647 h 2806"/>
              <a:gd name="T100" fmla="*/ 2147483647 w 8456"/>
              <a:gd name="T101" fmla="*/ 2147483647 h 2806"/>
              <a:gd name="T102" fmla="*/ 2147483647 w 8456"/>
              <a:gd name="T103" fmla="*/ 2147483647 h 2806"/>
              <a:gd name="T104" fmla="*/ 2147483647 w 8456"/>
              <a:gd name="T105" fmla="*/ 2147483647 h 2806"/>
              <a:gd name="T106" fmla="*/ 2147483647 w 8456"/>
              <a:gd name="T107" fmla="*/ 2147483647 h 2806"/>
              <a:gd name="T108" fmla="*/ 2147483647 w 8456"/>
              <a:gd name="T109" fmla="*/ 2147483647 h 2806"/>
              <a:gd name="T110" fmla="*/ 2147483647 w 8456"/>
              <a:gd name="T111" fmla="*/ 2147483647 h 2806"/>
              <a:gd name="T112" fmla="*/ 2147483647 w 8456"/>
              <a:gd name="T113" fmla="*/ 2147483647 h 2806"/>
              <a:gd name="T114" fmla="*/ 2147483647 w 8456"/>
              <a:gd name="T115" fmla="*/ 2147483647 h 2806"/>
              <a:gd name="T116" fmla="*/ 2147483647 w 8456"/>
              <a:gd name="T117" fmla="*/ 2147483647 h 2806"/>
              <a:gd name="T118" fmla="*/ 2147483647 w 8456"/>
              <a:gd name="T119" fmla="*/ 2147483647 h 280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8456"/>
              <a:gd name="T181" fmla="*/ 0 h 2806"/>
              <a:gd name="T182" fmla="*/ 8456 w 8456"/>
              <a:gd name="T183" fmla="*/ 2806 h 280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8456" h="2806">
                <a:moveTo>
                  <a:pt x="20" y="2754"/>
                </a:moveTo>
                <a:lnTo>
                  <a:pt x="163" y="2707"/>
                </a:lnTo>
                <a:cubicBezTo>
                  <a:pt x="176" y="2703"/>
                  <a:pt x="190" y="2710"/>
                  <a:pt x="194" y="2723"/>
                </a:cubicBezTo>
                <a:cubicBezTo>
                  <a:pt x="198" y="2736"/>
                  <a:pt x="191" y="2751"/>
                  <a:pt x="178" y="2755"/>
                </a:cubicBezTo>
                <a:lnTo>
                  <a:pt x="36" y="2802"/>
                </a:lnTo>
                <a:cubicBezTo>
                  <a:pt x="22" y="2806"/>
                  <a:pt x="8" y="2799"/>
                  <a:pt x="4" y="2786"/>
                </a:cubicBezTo>
                <a:cubicBezTo>
                  <a:pt x="0" y="2772"/>
                  <a:pt x="7" y="2758"/>
                  <a:pt x="20" y="2754"/>
                </a:cubicBezTo>
                <a:close/>
                <a:moveTo>
                  <a:pt x="353" y="2645"/>
                </a:moveTo>
                <a:lnTo>
                  <a:pt x="495" y="2598"/>
                </a:lnTo>
                <a:cubicBezTo>
                  <a:pt x="508" y="2594"/>
                  <a:pt x="522" y="2601"/>
                  <a:pt x="527" y="2614"/>
                </a:cubicBezTo>
                <a:cubicBezTo>
                  <a:pt x="531" y="2628"/>
                  <a:pt x="524" y="2642"/>
                  <a:pt x="511" y="2646"/>
                </a:cubicBezTo>
                <a:lnTo>
                  <a:pt x="368" y="2693"/>
                </a:lnTo>
                <a:cubicBezTo>
                  <a:pt x="355" y="2697"/>
                  <a:pt x="341" y="2690"/>
                  <a:pt x="337" y="2677"/>
                </a:cubicBezTo>
                <a:cubicBezTo>
                  <a:pt x="332" y="2664"/>
                  <a:pt x="340" y="2649"/>
                  <a:pt x="353" y="2645"/>
                </a:cubicBezTo>
                <a:close/>
                <a:moveTo>
                  <a:pt x="685" y="2536"/>
                </a:moveTo>
                <a:lnTo>
                  <a:pt x="828" y="2490"/>
                </a:lnTo>
                <a:cubicBezTo>
                  <a:pt x="841" y="2485"/>
                  <a:pt x="855" y="2492"/>
                  <a:pt x="859" y="2506"/>
                </a:cubicBezTo>
                <a:cubicBezTo>
                  <a:pt x="864" y="2519"/>
                  <a:pt x="857" y="2533"/>
                  <a:pt x="843" y="2537"/>
                </a:cubicBezTo>
                <a:lnTo>
                  <a:pt x="701" y="2584"/>
                </a:lnTo>
                <a:cubicBezTo>
                  <a:pt x="688" y="2588"/>
                  <a:pt x="674" y="2581"/>
                  <a:pt x="669" y="2568"/>
                </a:cubicBezTo>
                <a:cubicBezTo>
                  <a:pt x="665" y="2555"/>
                  <a:pt x="672" y="2541"/>
                  <a:pt x="685" y="2536"/>
                </a:cubicBezTo>
                <a:close/>
                <a:moveTo>
                  <a:pt x="1018" y="2427"/>
                </a:moveTo>
                <a:lnTo>
                  <a:pt x="1160" y="2381"/>
                </a:lnTo>
                <a:cubicBezTo>
                  <a:pt x="1174" y="2376"/>
                  <a:pt x="1188" y="2384"/>
                  <a:pt x="1192" y="2397"/>
                </a:cubicBezTo>
                <a:cubicBezTo>
                  <a:pt x="1196" y="2410"/>
                  <a:pt x="1189" y="2424"/>
                  <a:pt x="1176" y="2428"/>
                </a:cubicBezTo>
                <a:lnTo>
                  <a:pt x="1033" y="2475"/>
                </a:lnTo>
                <a:cubicBezTo>
                  <a:pt x="1020" y="2479"/>
                  <a:pt x="1006" y="2472"/>
                  <a:pt x="1002" y="2459"/>
                </a:cubicBezTo>
                <a:cubicBezTo>
                  <a:pt x="998" y="2446"/>
                  <a:pt x="1005" y="2432"/>
                  <a:pt x="1018" y="2427"/>
                </a:cubicBezTo>
                <a:close/>
                <a:moveTo>
                  <a:pt x="1351" y="2318"/>
                </a:moveTo>
                <a:lnTo>
                  <a:pt x="1493" y="2272"/>
                </a:lnTo>
                <a:cubicBezTo>
                  <a:pt x="1506" y="2267"/>
                  <a:pt x="1520" y="2275"/>
                  <a:pt x="1525" y="2288"/>
                </a:cubicBezTo>
                <a:cubicBezTo>
                  <a:pt x="1529" y="2301"/>
                  <a:pt x="1522" y="2315"/>
                  <a:pt x="1509" y="2319"/>
                </a:cubicBezTo>
                <a:lnTo>
                  <a:pt x="1366" y="2366"/>
                </a:lnTo>
                <a:cubicBezTo>
                  <a:pt x="1353" y="2370"/>
                  <a:pt x="1339" y="2363"/>
                  <a:pt x="1335" y="2350"/>
                </a:cubicBezTo>
                <a:cubicBezTo>
                  <a:pt x="1330" y="2337"/>
                  <a:pt x="1337" y="2323"/>
                  <a:pt x="1351" y="2318"/>
                </a:cubicBezTo>
                <a:close/>
                <a:moveTo>
                  <a:pt x="1683" y="2210"/>
                </a:moveTo>
                <a:lnTo>
                  <a:pt x="1826" y="2163"/>
                </a:lnTo>
                <a:cubicBezTo>
                  <a:pt x="1839" y="2159"/>
                  <a:pt x="1853" y="2166"/>
                  <a:pt x="1857" y="2179"/>
                </a:cubicBezTo>
                <a:cubicBezTo>
                  <a:pt x="1862" y="2192"/>
                  <a:pt x="1854" y="2206"/>
                  <a:pt x="1841" y="2210"/>
                </a:cubicBezTo>
                <a:lnTo>
                  <a:pt x="1699" y="2257"/>
                </a:lnTo>
                <a:cubicBezTo>
                  <a:pt x="1686" y="2261"/>
                  <a:pt x="1671" y="2254"/>
                  <a:pt x="1667" y="2241"/>
                </a:cubicBezTo>
                <a:cubicBezTo>
                  <a:pt x="1663" y="2228"/>
                  <a:pt x="1670" y="2214"/>
                  <a:pt x="1683" y="2210"/>
                </a:cubicBezTo>
                <a:close/>
                <a:moveTo>
                  <a:pt x="2016" y="2101"/>
                </a:moveTo>
                <a:lnTo>
                  <a:pt x="2158" y="2054"/>
                </a:lnTo>
                <a:cubicBezTo>
                  <a:pt x="2171" y="2050"/>
                  <a:pt x="2186" y="2057"/>
                  <a:pt x="2190" y="2070"/>
                </a:cubicBezTo>
                <a:cubicBezTo>
                  <a:pt x="2194" y="2083"/>
                  <a:pt x="2187" y="2097"/>
                  <a:pt x="2174" y="2102"/>
                </a:cubicBezTo>
                <a:lnTo>
                  <a:pt x="2031" y="2148"/>
                </a:lnTo>
                <a:cubicBezTo>
                  <a:pt x="2018" y="2152"/>
                  <a:pt x="2004" y="2145"/>
                  <a:pt x="2000" y="2132"/>
                </a:cubicBezTo>
                <a:cubicBezTo>
                  <a:pt x="1996" y="2119"/>
                  <a:pt x="2003" y="2105"/>
                  <a:pt x="2016" y="2101"/>
                </a:cubicBezTo>
                <a:close/>
                <a:moveTo>
                  <a:pt x="2348" y="1992"/>
                </a:moveTo>
                <a:lnTo>
                  <a:pt x="2491" y="1945"/>
                </a:lnTo>
                <a:cubicBezTo>
                  <a:pt x="2504" y="1941"/>
                  <a:pt x="2518" y="1948"/>
                  <a:pt x="2523" y="1961"/>
                </a:cubicBezTo>
                <a:cubicBezTo>
                  <a:pt x="2527" y="1974"/>
                  <a:pt x="2520" y="1988"/>
                  <a:pt x="2507" y="1993"/>
                </a:cubicBezTo>
                <a:lnTo>
                  <a:pt x="2364" y="2039"/>
                </a:lnTo>
                <a:cubicBezTo>
                  <a:pt x="2351" y="2044"/>
                  <a:pt x="2337" y="2036"/>
                  <a:pt x="2332" y="2023"/>
                </a:cubicBezTo>
                <a:cubicBezTo>
                  <a:pt x="2328" y="2010"/>
                  <a:pt x="2335" y="1996"/>
                  <a:pt x="2348" y="1992"/>
                </a:cubicBezTo>
                <a:close/>
                <a:moveTo>
                  <a:pt x="2681" y="1883"/>
                </a:moveTo>
                <a:lnTo>
                  <a:pt x="2824" y="1836"/>
                </a:lnTo>
                <a:cubicBezTo>
                  <a:pt x="2837" y="1832"/>
                  <a:pt x="2851" y="1839"/>
                  <a:pt x="2855" y="1852"/>
                </a:cubicBezTo>
                <a:cubicBezTo>
                  <a:pt x="2859" y="1865"/>
                  <a:pt x="2852" y="1879"/>
                  <a:pt x="2839" y="1884"/>
                </a:cubicBezTo>
                <a:lnTo>
                  <a:pt x="2697" y="1930"/>
                </a:lnTo>
                <a:cubicBezTo>
                  <a:pt x="2683" y="1935"/>
                  <a:pt x="2669" y="1928"/>
                  <a:pt x="2665" y="1914"/>
                </a:cubicBezTo>
                <a:cubicBezTo>
                  <a:pt x="2661" y="1901"/>
                  <a:pt x="2668" y="1887"/>
                  <a:pt x="2681" y="1883"/>
                </a:cubicBezTo>
                <a:close/>
                <a:moveTo>
                  <a:pt x="3014" y="1774"/>
                </a:moveTo>
                <a:lnTo>
                  <a:pt x="3156" y="1727"/>
                </a:lnTo>
                <a:cubicBezTo>
                  <a:pt x="3169" y="1723"/>
                  <a:pt x="3183" y="1730"/>
                  <a:pt x="3188" y="1743"/>
                </a:cubicBezTo>
                <a:cubicBezTo>
                  <a:pt x="3192" y="1756"/>
                  <a:pt x="3185" y="1771"/>
                  <a:pt x="3172" y="1775"/>
                </a:cubicBezTo>
                <a:lnTo>
                  <a:pt x="3029" y="1821"/>
                </a:lnTo>
                <a:cubicBezTo>
                  <a:pt x="3016" y="1826"/>
                  <a:pt x="3002" y="1819"/>
                  <a:pt x="2998" y="1806"/>
                </a:cubicBezTo>
                <a:cubicBezTo>
                  <a:pt x="2993" y="1792"/>
                  <a:pt x="3001" y="1778"/>
                  <a:pt x="3014" y="1774"/>
                </a:cubicBezTo>
                <a:close/>
                <a:moveTo>
                  <a:pt x="3346" y="1665"/>
                </a:moveTo>
                <a:lnTo>
                  <a:pt x="3489" y="1618"/>
                </a:lnTo>
                <a:cubicBezTo>
                  <a:pt x="3502" y="1614"/>
                  <a:pt x="3516" y="1621"/>
                  <a:pt x="3520" y="1634"/>
                </a:cubicBezTo>
                <a:cubicBezTo>
                  <a:pt x="3525" y="1648"/>
                  <a:pt x="3518" y="1662"/>
                  <a:pt x="3504" y="1666"/>
                </a:cubicBezTo>
                <a:lnTo>
                  <a:pt x="3362" y="1713"/>
                </a:lnTo>
                <a:cubicBezTo>
                  <a:pt x="3349" y="1717"/>
                  <a:pt x="3335" y="1710"/>
                  <a:pt x="3330" y="1697"/>
                </a:cubicBezTo>
                <a:cubicBezTo>
                  <a:pt x="3326" y="1683"/>
                  <a:pt x="3333" y="1669"/>
                  <a:pt x="3346" y="1665"/>
                </a:cubicBezTo>
                <a:close/>
                <a:moveTo>
                  <a:pt x="3679" y="1556"/>
                </a:moveTo>
                <a:lnTo>
                  <a:pt x="3821" y="1510"/>
                </a:lnTo>
                <a:cubicBezTo>
                  <a:pt x="3835" y="1505"/>
                  <a:pt x="3849" y="1512"/>
                  <a:pt x="3853" y="1525"/>
                </a:cubicBezTo>
                <a:cubicBezTo>
                  <a:pt x="3857" y="1539"/>
                  <a:pt x="3850" y="1553"/>
                  <a:pt x="3837" y="1557"/>
                </a:cubicBezTo>
                <a:lnTo>
                  <a:pt x="3694" y="1604"/>
                </a:lnTo>
                <a:cubicBezTo>
                  <a:pt x="3681" y="1608"/>
                  <a:pt x="3667" y="1601"/>
                  <a:pt x="3663" y="1588"/>
                </a:cubicBezTo>
                <a:cubicBezTo>
                  <a:pt x="3659" y="1575"/>
                  <a:pt x="3666" y="1560"/>
                  <a:pt x="3679" y="1556"/>
                </a:cubicBezTo>
                <a:close/>
                <a:moveTo>
                  <a:pt x="4012" y="1447"/>
                </a:moveTo>
                <a:lnTo>
                  <a:pt x="4154" y="1401"/>
                </a:lnTo>
                <a:cubicBezTo>
                  <a:pt x="4167" y="1396"/>
                  <a:pt x="4181" y="1403"/>
                  <a:pt x="4186" y="1417"/>
                </a:cubicBezTo>
                <a:cubicBezTo>
                  <a:pt x="4190" y="1430"/>
                  <a:pt x="4183" y="1444"/>
                  <a:pt x="4170" y="1448"/>
                </a:cubicBezTo>
                <a:lnTo>
                  <a:pt x="4027" y="1495"/>
                </a:lnTo>
                <a:cubicBezTo>
                  <a:pt x="4014" y="1499"/>
                  <a:pt x="4000" y="1492"/>
                  <a:pt x="3996" y="1479"/>
                </a:cubicBezTo>
                <a:cubicBezTo>
                  <a:pt x="3991" y="1466"/>
                  <a:pt x="3998" y="1452"/>
                  <a:pt x="4012" y="1447"/>
                </a:cubicBezTo>
                <a:close/>
                <a:moveTo>
                  <a:pt x="4344" y="1338"/>
                </a:moveTo>
                <a:lnTo>
                  <a:pt x="4487" y="1292"/>
                </a:lnTo>
                <a:cubicBezTo>
                  <a:pt x="4500" y="1287"/>
                  <a:pt x="4514" y="1295"/>
                  <a:pt x="4518" y="1308"/>
                </a:cubicBezTo>
                <a:cubicBezTo>
                  <a:pt x="4523" y="1321"/>
                  <a:pt x="4515" y="1335"/>
                  <a:pt x="4502" y="1339"/>
                </a:cubicBezTo>
                <a:lnTo>
                  <a:pt x="4360" y="1386"/>
                </a:lnTo>
                <a:cubicBezTo>
                  <a:pt x="4347" y="1390"/>
                  <a:pt x="4332" y="1383"/>
                  <a:pt x="4328" y="1370"/>
                </a:cubicBezTo>
                <a:cubicBezTo>
                  <a:pt x="4324" y="1357"/>
                  <a:pt x="4331" y="1343"/>
                  <a:pt x="4344" y="1338"/>
                </a:cubicBezTo>
                <a:close/>
                <a:moveTo>
                  <a:pt x="4677" y="1229"/>
                </a:moveTo>
                <a:lnTo>
                  <a:pt x="4819" y="1183"/>
                </a:lnTo>
                <a:cubicBezTo>
                  <a:pt x="4832" y="1179"/>
                  <a:pt x="4847" y="1186"/>
                  <a:pt x="4851" y="1199"/>
                </a:cubicBezTo>
                <a:cubicBezTo>
                  <a:pt x="4855" y="1212"/>
                  <a:pt x="4848" y="1226"/>
                  <a:pt x="4835" y="1230"/>
                </a:cubicBezTo>
                <a:lnTo>
                  <a:pt x="4692" y="1277"/>
                </a:lnTo>
                <a:cubicBezTo>
                  <a:pt x="4679" y="1281"/>
                  <a:pt x="4665" y="1274"/>
                  <a:pt x="4661" y="1261"/>
                </a:cubicBezTo>
                <a:cubicBezTo>
                  <a:pt x="4657" y="1248"/>
                  <a:pt x="4664" y="1234"/>
                  <a:pt x="4677" y="1229"/>
                </a:cubicBezTo>
                <a:close/>
                <a:moveTo>
                  <a:pt x="5009" y="1121"/>
                </a:moveTo>
                <a:lnTo>
                  <a:pt x="5152" y="1074"/>
                </a:lnTo>
                <a:cubicBezTo>
                  <a:pt x="5165" y="1070"/>
                  <a:pt x="5179" y="1077"/>
                  <a:pt x="5184" y="1090"/>
                </a:cubicBezTo>
                <a:cubicBezTo>
                  <a:pt x="5188" y="1103"/>
                  <a:pt x="5181" y="1117"/>
                  <a:pt x="5168" y="1121"/>
                </a:cubicBezTo>
                <a:lnTo>
                  <a:pt x="5025" y="1168"/>
                </a:lnTo>
                <a:cubicBezTo>
                  <a:pt x="5012" y="1172"/>
                  <a:pt x="4998" y="1165"/>
                  <a:pt x="4993" y="1152"/>
                </a:cubicBezTo>
                <a:cubicBezTo>
                  <a:pt x="4989" y="1139"/>
                  <a:pt x="4996" y="1125"/>
                  <a:pt x="5009" y="1121"/>
                </a:cubicBezTo>
                <a:close/>
                <a:moveTo>
                  <a:pt x="5342" y="1012"/>
                </a:moveTo>
                <a:lnTo>
                  <a:pt x="5485" y="965"/>
                </a:lnTo>
                <a:cubicBezTo>
                  <a:pt x="5498" y="961"/>
                  <a:pt x="5512" y="968"/>
                  <a:pt x="5516" y="981"/>
                </a:cubicBezTo>
                <a:cubicBezTo>
                  <a:pt x="5520" y="994"/>
                  <a:pt x="5513" y="1008"/>
                  <a:pt x="5500" y="1013"/>
                </a:cubicBezTo>
                <a:lnTo>
                  <a:pt x="5358" y="1059"/>
                </a:lnTo>
                <a:cubicBezTo>
                  <a:pt x="5344" y="1064"/>
                  <a:pt x="5330" y="1056"/>
                  <a:pt x="5326" y="1043"/>
                </a:cubicBezTo>
                <a:cubicBezTo>
                  <a:pt x="5322" y="1030"/>
                  <a:pt x="5329" y="1016"/>
                  <a:pt x="5342" y="1012"/>
                </a:cubicBezTo>
                <a:close/>
                <a:moveTo>
                  <a:pt x="5675" y="903"/>
                </a:moveTo>
                <a:lnTo>
                  <a:pt x="5817" y="856"/>
                </a:lnTo>
                <a:cubicBezTo>
                  <a:pt x="5830" y="852"/>
                  <a:pt x="5844" y="859"/>
                  <a:pt x="5849" y="872"/>
                </a:cubicBezTo>
                <a:cubicBezTo>
                  <a:pt x="5853" y="885"/>
                  <a:pt x="5846" y="899"/>
                  <a:pt x="5833" y="904"/>
                </a:cubicBezTo>
                <a:lnTo>
                  <a:pt x="5690" y="950"/>
                </a:lnTo>
                <a:cubicBezTo>
                  <a:pt x="5677" y="955"/>
                  <a:pt x="5663" y="947"/>
                  <a:pt x="5659" y="934"/>
                </a:cubicBezTo>
                <a:cubicBezTo>
                  <a:pt x="5654" y="921"/>
                  <a:pt x="5662" y="907"/>
                  <a:pt x="5675" y="903"/>
                </a:cubicBezTo>
                <a:close/>
                <a:moveTo>
                  <a:pt x="6007" y="794"/>
                </a:moveTo>
                <a:lnTo>
                  <a:pt x="6150" y="747"/>
                </a:lnTo>
                <a:cubicBezTo>
                  <a:pt x="6163" y="743"/>
                  <a:pt x="6177" y="750"/>
                  <a:pt x="6181" y="763"/>
                </a:cubicBezTo>
                <a:cubicBezTo>
                  <a:pt x="6186" y="776"/>
                  <a:pt x="6179" y="790"/>
                  <a:pt x="6165" y="795"/>
                </a:cubicBezTo>
                <a:lnTo>
                  <a:pt x="6023" y="841"/>
                </a:lnTo>
                <a:cubicBezTo>
                  <a:pt x="6010" y="846"/>
                  <a:pt x="5996" y="839"/>
                  <a:pt x="5991" y="825"/>
                </a:cubicBezTo>
                <a:cubicBezTo>
                  <a:pt x="5987" y="812"/>
                  <a:pt x="5994" y="798"/>
                  <a:pt x="6007" y="794"/>
                </a:cubicBezTo>
                <a:close/>
                <a:moveTo>
                  <a:pt x="6340" y="685"/>
                </a:moveTo>
                <a:lnTo>
                  <a:pt x="6483" y="638"/>
                </a:lnTo>
                <a:cubicBezTo>
                  <a:pt x="6496" y="634"/>
                  <a:pt x="6510" y="641"/>
                  <a:pt x="6514" y="654"/>
                </a:cubicBezTo>
                <a:cubicBezTo>
                  <a:pt x="6518" y="667"/>
                  <a:pt x="6511" y="682"/>
                  <a:pt x="6498" y="686"/>
                </a:cubicBezTo>
                <a:lnTo>
                  <a:pt x="6356" y="733"/>
                </a:lnTo>
                <a:cubicBezTo>
                  <a:pt x="6342" y="737"/>
                  <a:pt x="6328" y="730"/>
                  <a:pt x="6324" y="717"/>
                </a:cubicBezTo>
                <a:cubicBezTo>
                  <a:pt x="6320" y="703"/>
                  <a:pt x="6327" y="689"/>
                  <a:pt x="6340" y="685"/>
                </a:cubicBezTo>
                <a:close/>
                <a:moveTo>
                  <a:pt x="6673" y="576"/>
                </a:moveTo>
                <a:lnTo>
                  <a:pt x="6815" y="529"/>
                </a:lnTo>
                <a:cubicBezTo>
                  <a:pt x="6828" y="525"/>
                  <a:pt x="6842" y="532"/>
                  <a:pt x="6847" y="545"/>
                </a:cubicBezTo>
                <a:cubicBezTo>
                  <a:pt x="6851" y="559"/>
                  <a:pt x="6844" y="573"/>
                  <a:pt x="6831" y="577"/>
                </a:cubicBezTo>
                <a:lnTo>
                  <a:pt x="6688" y="624"/>
                </a:lnTo>
                <a:cubicBezTo>
                  <a:pt x="6675" y="628"/>
                  <a:pt x="6661" y="621"/>
                  <a:pt x="6657" y="608"/>
                </a:cubicBezTo>
                <a:cubicBezTo>
                  <a:pt x="6652" y="595"/>
                  <a:pt x="6659" y="580"/>
                  <a:pt x="6673" y="576"/>
                </a:cubicBezTo>
                <a:close/>
                <a:moveTo>
                  <a:pt x="7005" y="467"/>
                </a:moveTo>
                <a:lnTo>
                  <a:pt x="7148" y="421"/>
                </a:lnTo>
                <a:cubicBezTo>
                  <a:pt x="7161" y="416"/>
                  <a:pt x="7175" y="423"/>
                  <a:pt x="7179" y="437"/>
                </a:cubicBezTo>
                <a:cubicBezTo>
                  <a:pt x="7184" y="450"/>
                  <a:pt x="7176" y="464"/>
                  <a:pt x="7163" y="468"/>
                </a:cubicBezTo>
                <a:lnTo>
                  <a:pt x="7021" y="515"/>
                </a:lnTo>
                <a:cubicBezTo>
                  <a:pt x="7008" y="519"/>
                  <a:pt x="6994" y="512"/>
                  <a:pt x="6989" y="499"/>
                </a:cubicBezTo>
                <a:cubicBezTo>
                  <a:pt x="6985" y="486"/>
                  <a:pt x="6992" y="472"/>
                  <a:pt x="7005" y="467"/>
                </a:cubicBezTo>
                <a:close/>
                <a:moveTo>
                  <a:pt x="7338" y="358"/>
                </a:moveTo>
                <a:lnTo>
                  <a:pt x="7480" y="312"/>
                </a:lnTo>
                <a:cubicBezTo>
                  <a:pt x="7494" y="307"/>
                  <a:pt x="7508" y="315"/>
                  <a:pt x="7512" y="328"/>
                </a:cubicBezTo>
                <a:cubicBezTo>
                  <a:pt x="7516" y="341"/>
                  <a:pt x="7509" y="355"/>
                  <a:pt x="7496" y="359"/>
                </a:cubicBezTo>
                <a:lnTo>
                  <a:pt x="7353" y="406"/>
                </a:lnTo>
                <a:cubicBezTo>
                  <a:pt x="7340" y="410"/>
                  <a:pt x="7326" y="403"/>
                  <a:pt x="7322" y="390"/>
                </a:cubicBezTo>
                <a:cubicBezTo>
                  <a:pt x="7318" y="377"/>
                  <a:pt x="7325" y="363"/>
                  <a:pt x="7338" y="358"/>
                </a:cubicBezTo>
                <a:close/>
                <a:moveTo>
                  <a:pt x="7670" y="249"/>
                </a:moveTo>
                <a:lnTo>
                  <a:pt x="7813" y="203"/>
                </a:lnTo>
                <a:cubicBezTo>
                  <a:pt x="7826" y="198"/>
                  <a:pt x="7840" y="206"/>
                  <a:pt x="7845" y="219"/>
                </a:cubicBezTo>
                <a:cubicBezTo>
                  <a:pt x="7849" y="232"/>
                  <a:pt x="7842" y="246"/>
                  <a:pt x="7829" y="250"/>
                </a:cubicBezTo>
                <a:lnTo>
                  <a:pt x="7686" y="297"/>
                </a:lnTo>
                <a:cubicBezTo>
                  <a:pt x="7673" y="301"/>
                  <a:pt x="7659" y="294"/>
                  <a:pt x="7654" y="281"/>
                </a:cubicBezTo>
                <a:cubicBezTo>
                  <a:pt x="7650" y="268"/>
                  <a:pt x="7657" y="254"/>
                  <a:pt x="7670" y="249"/>
                </a:cubicBezTo>
                <a:close/>
                <a:moveTo>
                  <a:pt x="8003" y="141"/>
                </a:moveTo>
                <a:lnTo>
                  <a:pt x="8146" y="94"/>
                </a:lnTo>
                <a:cubicBezTo>
                  <a:pt x="8159" y="90"/>
                  <a:pt x="8173" y="97"/>
                  <a:pt x="8177" y="110"/>
                </a:cubicBezTo>
                <a:cubicBezTo>
                  <a:pt x="8181" y="123"/>
                  <a:pt x="8174" y="137"/>
                  <a:pt x="8161" y="141"/>
                </a:cubicBezTo>
                <a:lnTo>
                  <a:pt x="8019" y="188"/>
                </a:lnTo>
                <a:cubicBezTo>
                  <a:pt x="8006" y="192"/>
                  <a:pt x="7991" y="185"/>
                  <a:pt x="7987" y="172"/>
                </a:cubicBezTo>
                <a:cubicBezTo>
                  <a:pt x="7983" y="159"/>
                  <a:pt x="7990" y="145"/>
                  <a:pt x="8003" y="141"/>
                </a:cubicBezTo>
                <a:close/>
                <a:moveTo>
                  <a:pt x="8336" y="32"/>
                </a:moveTo>
                <a:lnTo>
                  <a:pt x="8420" y="4"/>
                </a:lnTo>
                <a:cubicBezTo>
                  <a:pt x="8433" y="0"/>
                  <a:pt x="8447" y="7"/>
                  <a:pt x="8452" y="20"/>
                </a:cubicBezTo>
                <a:cubicBezTo>
                  <a:pt x="8456" y="33"/>
                  <a:pt x="8449" y="47"/>
                  <a:pt x="8436" y="52"/>
                </a:cubicBezTo>
                <a:lnTo>
                  <a:pt x="8351" y="79"/>
                </a:lnTo>
                <a:cubicBezTo>
                  <a:pt x="8338" y="83"/>
                  <a:pt x="8324" y="76"/>
                  <a:pt x="8320" y="63"/>
                </a:cubicBezTo>
                <a:cubicBezTo>
                  <a:pt x="8315" y="50"/>
                  <a:pt x="8323" y="36"/>
                  <a:pt x="8336" y="32"/>
                </a:cubicBez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  <a:bevel/>
            <a:headEnd/>
            <a:tailEnd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7429" name="Rectangle 25"/>
          <p:cNvSpPr>
            <a:spLocks noChangeArrowheads="1"/>
          </p:cNvSpPr>
          <p:nvPr/>
        </p:nvSpPr>
        <p:spPr bwMode="auto">
          <a:xfrm>
            <a:off x="6897689" y="685800"/>
            <a:ext cx="1570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endParaRPr lang="en-US" sz="2000" dirty="0"/>
          </a:p>
        </p:txBody>
      </p:sp>
      <p:graphicFrame>
        <p:nvGraphicFramePr>
          <p:cNvPr id="17411" name="Object 27"/>
          <p:cNvGraphicFramePr>
            <a:graphicFrameLocks noChangeAspect="1"/>
          </p:cNvGraphicFramePr>
          <p:nvPr/>
        </p:nvGraphicFramePr>
        <p:xfrm>
          <a:off x="4343400" y="2719388"/>
          <a:ext cx="44735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59" name="Equation" r:id="rId11" imgW="2768400" imgH="342720" progId="Equation.DSMT4">
                  <p:embed/>
                </p:oleObj>
              </mc:Choice>
              <mc:Fallback>
                <p:oleObj name="Equation" r:id="rId11" imgW="2768400" imgH="34272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719388"/>
                        <a:ext cx="44735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30" name="Group 40"/>
          <p:cNvGrpSpPr>
            <a:grpSpLocks/>
          </p:cNvGrpSpPr>
          <p:nvPr/>
        </p:nvGrpSpPr>
        <p:grpSpPr bwMode="auto">
          <a:xfrm>
            <a:off x="454025" y="3274218"/>
            <a:ext cx="8404226" cy="1438275"/>
            <a:chOff x="286" y="2750"/>
            <a:chExt cx="5294" cy="1208"/>
          </a:xfrm>
        </p:grpSpPr>
        <p:graphicFrame>
          <p:nvGraphicFramePr>
            <p:cNvPr id="17413" name="Object 26"/>
            <p:cNvGraphicFramePr>
              <a:graphicFrameLocks noChangeAspect="1"/>
            </p:cNvGraphicFramePr>
            <p:nvPr/>
          </p:nvGraphicFramePr>
          <p:xfrm>
            <a:off x="577" y="3277"/>
            <a:ext cx="5003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60" name="Equation" r:id="rId13" imgW="4838400" imgH="520560" progId="Equation.DSMT4">
                    <p:embed/>
                  </p:oleObj>
                </mc:Choice>
                <mc:Fallback>
                  <p:oleObj name="Equation" r:id="rId13" imgW="4838400" imgH="52056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" y="3277"/>
                          <a:ext cx="5003" cy="6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36" name="Group 35"/>
            <p:cNvGrpSpPr>
              <a:grpSpLocks/>
            </p:cNvGrpSpPr>
            <p:nvPr/>
          </p:nvGrpSpPr>
          <p:grpSpPr bwMode="auto">
            <a:xfrm>
              <a:off x="286" y="2750"/>
              <a:ext cx="2890" cy="636"/>
              <a:chOff x="208" y="2776"/>
              <a:chExt cx="2890" cy="636"/>
            </a:xfrm>
          </p:grpSpPr>
          <p:sp>
            <p:nvSpPr>
              <p:cNvPr id="17437" name="Text Box 29"/>
              <p:cNvSpPr txBox="1">
                <a:spLocks noChangeArrowheads="1"/>
              </p:cNvSpPr>
              <p:nvPr/>
            </p:nvSpPr>
            <p:spPr bwMode="auto">
              <a:xfrm>
                <a:off x="208" y="2776"/>
                <a:ext cx="2890" cy="5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 dirty="0"/>
                  <a:t>Number lost through entire surface</a:t>
                </a:r>
                <a:r>
                  <a:rPr lang="en-US" sz="1600" dirty="0"/>
                  <a:t>                        </a:t>
                </a:r>
              </a:p>
              <a:p>
                <a:r>
                  <a:rPr lang="en-US" sz="2000" dirty="0"/>
                  <a:t>of                 during</a:t>
                </a:r>
                <a:r>
                  <a:rPr lang="en-US" sz="1800" dirty="0"/>
                  <a:t>     </a:t>
                </a:r>
              </a:p>
            </p:txBody>
          </p:sp>
          <p:graphicFrame>
            <p:nvGraphicFramePr>
              <p:cNvPr id="17414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65917342"/>
                  </p:ext>
                </p:extLst>
              </p:nvPr>
            </p:nvGraphicFramePr>
            <p:xfrm>
              <a:off x="470" y="3079"/>
              <a:ext cx="605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61" name="Equation" r:id="rId15" imgW="685800" imgH="203040" progId="Equation.DSMT4">
                      <p:embed/>
                    </p:oleObj>
                  </mc:Choice>
                  <mc:Fallback>
                    <p:oleObj name="Equation" r:id="rId15" imgW="685800" imgH="20304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" y="3079"/>
                            <a:ext cx="605" cy="24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5" name="Object 31"/>
              <p:cNvGraphicFramePr>
                <a:graphicFrameLocks noChangeAspect="1"/>
              </p:cNvGraphicFramePr>
              <p:nvPr/>
            </p:nvGraphicFramePr>
            <p:xfrm>
              <a:off x="1651" y="3079"/>
              <a:ext cx="238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362" name="Equation" r:id="rId17" imgW="228600" imgH="203040" progId="Equation.DSMT4">
                      <p:embed/>
                    </p:oleObj>
                  </mc:Choice>
                  <mc:Fallback>
                    <p:oleObj name="Equation" r:id="rId17" imgW="228600" imgH="20304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1" y="3079"/>
                            <a:ext cx="238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38" name="Text Box 32"/>
              <p:cNvSpPr txBox="1">
                <a:spLocks noChangeArrowheads="1"/>
              </p:cNvSpPr>
              <p:nvPr/>
            </p:nvSpPr>
            <p:spPr bwMode="auto">
              <a:xfrm>
                <a:off x="1869" y="2973"/>
                <a:ext cx="241" cy="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latin typeface="Symbol" pitchFamily="18" charset="2"/>
                  </a:rPr>
                  <a:t>=</a:t>
                </a:r>
              </a:p>
            </p:txBody>
          </p:sp>
        </p:grpSp>
      </p:grpSp>
      <p:sp>
        <p:nvSpPr>
          <p:cNvPr id="17431" name="Text Box 33"/>
          <p:cNvSpPr txBox="1">
            <a:spLocks noChangeArrowheads="1"/>
          </p:cNvSpPr>
          <p:nvPr/>
        </p:nvSpPr>
        <p:spPr bwMode="auto">
          <a:xfrm>
            <a:off x="454025" y="4610099"/>
            <a:ext cx="50887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dirty="0">
                <a:latin typeface="Tahoma" pitchFamily="34" charset="0"/>
              </a:rPr>
              <a:t>Note application of the divergence theorem</a:t>
            </a:r>
          </a:p>
        </p:txBody>
      </p:sp>
      <p:grpSp>
        <p:nvGrpSpPr>
          <p:cNvPr id="17432" name="Group 36"/>
          <p:cNvGrpSpPr>
            <a:grpSpLocks/>
          </p:cNvGrpSpPr>
          <p:nvPr/>
        </p:nvGrpSpPr>
        <p:grpSpPr bwMode="auto">
          <a:xfrm>
            <a:off x="434975" y="2408633"/>
            <a:ext cx="5492750" cy="461962"/>
            <a:chOff x="171" y="2023"/>
            <a:chExt cx="2905" cy="388"/>
          </a:xfrm>
        </p:grpSpPr>
        <p:sp>
          <p:nvSpPr>
            <p:cNvPr id="17435" name="Text Box 28"/>
            <p:cNvSpPr txBox="1">
              <a:spLocks noChangeArrowheads="1"/>
            </p:cNvSpPr>
            <p:nvPr/>
          </p:nvSpPr>
          <p:spPr bwMode="auto">
            <a:xfrm>
              <a:off x="171" y="2023"/>
              <a:ext cx="290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 dirty="0"/>
                <a:t>Number lost through surface </a:t>
              </a:r>
              <a:r>
                <a:rPr lang="en-US" i="1" dirty="0">
                  <a:latin typeface="Times New Roman" pitchFamily="18" charset="0"/>
                </a:rPr>
                <a:t>dA</a:t>
              </a:r>
              <a:r>
                <a:rPr lang="en-US" sz="2000" dirty="0"/>
                <a:t> of </a:t>
              </a:r>
              <a:r>
                <a:rPr lang="en-US" sz="2000" i="1" dirty="0"/>
                <a:t>V</a:t>
              </a:r>
              <a:endParaRPr lang="en-US" sz="1800" dirty="0"/>
            </a:p>
          </p:txBody>
        </p:sp>
        <p:graphicFrame>
          <p:nvGraphicFramePr>
            <p:cNvPr id="17412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7391206"/>
                </p:ext>
              </p:extLst>
            </p:nvPr>
          </p:nvGraphicFramePr>
          <p:xfrm>
            <a:off x="2447" y="2156"/>
            <a:ext cx="252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363" name="Equation" r:id="rId19" imgW="152280" imgH="126720" progId="Equation.DSMT4">
                    <p:embed/>
                  </p:oleObj>
                </mc:Choice>
                <mc:Fallback>
                  <p:oleObj name="Equation" r:id="rId19" imgW="152280" imgH="12672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7" y="2156"/>
                          <a:ext cx="252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B58098-3EB1-4C07-AEF8-0258CC62EF3F}" type="slidenum">
              <a:rPr lang="en-US" sz="1100"/>
              <a:pPr>
                <a:defRPr/>
              </a:pPr>
              <a:t>24</a:t>
            </a:fld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05408"/>
              </p:ext>
            </p:extLst>
          </p:nvPr>
        </p:nvGraphicFramePr>
        <p:xfrm>
          <a:off x="749300" y="979488"/>
          <a:ext cx="6705600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99" name="Equation" r:id="rId3" imgW="4597200" imgH="1688760" progId="Equation.DSMT4">
                  <p:embed/>
                </p:oleObj>
              </mc:Choice>
              <mc:Fallback>
                <p:oleObj name="Equation" r:id="rId3" imgW="4597200" imgH="16887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979488"/>
                        <a:ext cx="6705600" cy="2455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3"/>
          <p:cNvSpPr txBox="1">
            <a:spLocks noChangeArrowheads="1"/>
          </p:cNvSpPr>
          <p:nvPr/>
        </p:nvSpPr>
        <p:spPr bwMode="auto">
          <a:xfrm>
            <a:off x="1039814" y="184547"/>
            <a:ext cx="39757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Neutron balance equation in </a:t>
            </a:r>
            <a:r>
              <a:rPr lang="en-US" sz="2000" i="1" dirty="0"/>
              <a:t>V as</a:t>
            </a:r>
            <a:endParaRPr lang="en-US" sz="2000" dirty="0"/>
          </a:p>
        </p:txBody>
      </p:sp>
      <p:graphicFrame>
        <p:nvGraphicFramePr>
          <p:cNvPr id="184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971506"/>
              </p:ext>
            </p:extLst>
          </p:nvPr>
        </p:nvGraphicFramePr>
        <p:xfrm>
          <a:off x="5678488" y="75035"/>
          <a:ext cx="1054100" cy="1056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0" name="Equation" r:id="rId5" imgW="647640" imgH="685800" progId="Equation.DSMT4">
                  <p:embed/>
                </p:oleObj>
              </mc:Choice>
              <mc:Fallback>
                <p:oleObj name="Equation" r:id="rId5" imgW="647640" imgH="685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488" y="75035"/>
                        <a:ext cx="1054100" cy="10568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A92667-92E9-46AB-BC2C-493F4699E832}" type="slidenum">
              <a:rPr lang="en-US" sz="1100"/>
              <a:pPr>
                <a:defRPr/>
              </a:pPr>
              <a:t>25</a:t>
            </a:fld>
            <a:endParaRPr lang="en-US" sz="11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171450" y="574675"/>
            <a:ext cx="3886200" cy="633639"/>
            <a:chOff x="400049" y="796714"/>
            <a:chExt cx="3886200" cy="844851"/>
          </a:xfrm>
        </p:grpSpPr>
        <p:graphicFrame>
          <p:nvGraphicFramePr>
            <p:cNvPr id="1843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0944809"/>
                </p:ext>
              </p:extLst>
            </p:nvPr>
          </p:nvGraphicFramePr>
          <p:xfrm>
            <a:off x="400049" y="796714"/>
            <a:ext cx="3886200" cy="556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01" name="Equation" r:id="rId7" imgW="2234880" imgH="291960" progId="Equation.DSMT4">
                    <p:embed/>
                  </p:oleObj>
                </mc:Choice>
                <mc:Fallback>
                  <p:oleObj name="Equation" r:id="rId7" imgW="2234880" imgH="29196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049" y="796714"/>
                          <a:ext cx="3886200" cy="556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" name="Straight Connector 17"/>
            <p:cNvCxnSpPr/>
            <p:nvPr/>
          </p:nvCxnSpPr>
          <p:spPr>
            <a:xfrm>
              <a:off x="2346960" y="1264920"/>
              <a:ext cx="352696" cy="37664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564131" y="1556657"/>
            <a:ext cx="3654425" cy="2920155"/>
            <a:chOff x="2564130" y="2075543"/>
            <a:chExt cx="3654425" cy="3893539"/>
          </a:xfrm>
        </p:grpSpPr>
        <p:graphicFrame>
          <p:nvGraphicFramePr>
            <p:cNvPr id="18437" name="Object 5"/>
            <p:cNvGraphicFramePr>
              <a:graphicFrameLocks noChangeAspect="1"/>
            </p:cNvGraphicFramePr>
            <p:nvPr/>
          </p:nvGraphicFramePr>
          <p:xfrm>
            <a:off x="2564130" y="5336885"/>
            <a:ext cx="3654425" cy="632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02" name="Equation" r:id="rId9" imgW="2654300" imgH="292100" progId="Equation.DSMT4">
                    <p:embed/>
                  </p:oleObj>
                </mc:Choice>
                <mc:Fallback>
                  <p:oleObj name="Equation" r:id="rId9" imgW="2654300" imgH="2921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4130" y="5336885"/>
                          <a:ext cx="3654425" cy="632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9" name="Straight Connector 18"/>
            <p:cNvCxnSpPr/>
            <p:nvPr/>
          </p:nvCxnSpPr>
          <p:spPr>
            <a:xfrm flipH="1">
              <a:off x="2743200" y="2075543"/>
              <a:ext cx="1077685" cy="330417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354456" y="2366010"/>
            <a:ext cx="6588125" cy="2514124"/>
            <a:chOff x="1354455" y="3154680"/>
            <a:chExt cx="6588125" cy="3352165"/>
          </a:xfrm>
        </p:grpSpPr>
        <p:graphicFrame>
          <p:nvGraphicFramePr>
            <p:cNvPr id="18438" name="Object 6"/>
            <p:cNvGraphicFramePr>
              <a:graphicFrameLocks noChangeAspect="1"/>
            </p:cNvGraphicFramePr>
            <p:nvPr/>
          </p:nvGraphicFramePr>
          <p:xfrm>
            <a:off x="1354455" y="5947408"/>
            <a:ext cx="6588125" cy="559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03" name="Equation" r:id="rId11" imgW="4279900" imgH="292100" progId="Equation.DSMT4">
                    <p:embed/>
                  </p:oleObj>
                </mc:Choice>
                <mc:Fallback>
                  <p:oleObj name="Equation" r:id="rId11" imgW="4279900" imgH="2921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4455" y="5947408"/>
                          <a:ext cx="6588125" cy="5594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Straight Connector 20"/>
            <p:cNvCxnSpPr/>
            <p:nvPr/>
          </p:nvCxnSpPr>
          <p:spPr>
            <a:xfrm rot="5400000">
              <a:off x="883920" y="3764280"/>
              <a:ext cx="2849880" cy="16306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4046856" y="3489009"/>
            <a:ext cx="2478564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Re-definition of data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9" name="Group 7"/>
          <p:cNvGrpSpPr>
            <a:grpSpLocks/>
          </p:cNvGrpSpPr>
          <p:nvPr/>
        </p:nvGrpSpPr>
        <p:grpSpPr bwMode="auto">
          <a:xfrm>
            <a:off x="930878" y="1447801"/>
            <a:ext cx="7395295" cy="2994422"/>
            <a:chOff x="354" y="1178"/>
            <a:chExt cx="4818" cy="2515"/>
          </a:xfrm>
        </p:grpSpPr>
        <p:graphicFrame>
          <p:nvGraphicFramePr>
            <p:cNvPr id="1945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3431911"/>
                </p:ext>
              </p:extLst>
            </p:nvPr>
          </p:nvGraphicFramePr>
          <p:xfrm>
            <a:off x="354" y="1178"/>
            <a:ext cx="4818" cy="19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3" name="Equation" r:id="rId3" imgW="4914720" imgH="1638000" progId="Equation.DSMT4">
                    <p:embed/>
                  </p:oleObj>
                </mc:Choice>
                <mc:Fallback>
                  <p:oleObj name="Equation" r:id="rId3" imgW="4914720" imgH="1638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" y="1178"/>
                          <a:ext cx="4818" cy="19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4" name="Text Box 5"/>
            <p:cNvSpPr txBox="1">
              <a:spLocks noChangeArrowheads="1"/>
            </p:cNvSpPr>
            <p:nvPr/>
          </p:nvSpPr>
          <p:spPr bwMode="auto">
            <a:xfrm>
              <a:off x="2508" y="3357"/>
              <a:ext cx="1893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/>
                <a:t>Include external source</a:t>
              </a:r>
            </a:p>
          </p:txBody>
        </p:sp>
      </p:grpSp>
      <p:sp>
        <p:nvSpPr>
          <p:cNvPr id="19460" name="Text Box 2"/>
          <p:cNvSpPr txBox="1">
            <a:spLocks noChangeArrowheads="1"/>
          </p:cNvSpPr>
          <p:nvPr/>
        </p:nvSpPr>
        <p:spPr bwMode="auto">
          <a:xfrm>
            <a:off x="465798" y="509366"/>
            <a:ext cx="693330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Gives the time dependent neutron transport equation (NTE)</a:t>
            </a:r>
          </a:p>
          <a:p>
            <a:r>
              <a:rPr lang="en-US" sz="2000" dirty="0"/>
              <a:t>without delayed neutrons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F4320-1241-44B2-9379-D9D5BC1AA396}" type="slidenum">
              <a:rPr lang="en-US" sz="1100"/>
              <a:pPr>
                <a:defRPr/>
              </a:pPr>
              <a:t>26</a:t>
            </a:fld>
            <a:endParaRPr lang="en-US" sz="1100" dirty="0"/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6669723" y="3532585"/>
            <a:ext cx="1109662" cy="54054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248616" y="266355"/>
            <a:ext cx="8542723" cy="486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Summary:</a:t>
            </a:r>
          </a:p>
          <a:p>
            <a:r>
              <a:rPr lang="en-US" sz="2200" dirty="0"/>
              <a:t>+ Neutron transport equation is a balance of number of </a:t>
            </a:r>
          </a:p>
          <a:p>
            <a:r>
              <a:rPr lang="en-US" sz="2200" dirty="0"/>
              <a:t>   neutrons in a phase element</a:t>
            </a:r>
          </a:p>
          <a:p>
            <a:r>
              <a:rPr lang="en-US" sz="2200" dirty="0"/>
              <a:t>+ Natural separation of straight-line neutron motion and </a:t>
            </a:r>
          </a:p>
          <a:p>
            <a:r>
              <a:rPr lang="en-US" sz="2200" dirty="0"/>
              <a:t>   interaction physics (Xsecs, </a:t>
            </a:r>
            <a:r>
              <a:rPr lang="en-US" sz="2200" dirty="0">
                <a:latin typeface="Symbol" pitchFamily="18" charset="2"/>
              </a:rPr>
              <a:t>S</a:t>
            </a:r>
            <a:r>
              <a:rPr lang="en-US" sz="2200" i="1" baseline="-25000" dirty="0">
                <a:latin typeface="Times New Roman" pitchFamily="18" charset="0"/>
                <a:cs typeface="Times New Roman" pitchFamily="18" charset="0"/>
              </a:rPr>
              <a:t>s,c,f</a:t>
            </a:r>
            <a:r>
              <a:rPr lang="en-US" sz="2200" baseline="-25000" dirty="0"/>
              <a:t>,</a:t>
            </a:r>
            <a:r>
              <a:rPr lang="en-US" sz="2200" i="1" baseline="-25000" dirty="0"/>
              <a:t>t</a:t>
            </a:r>
            <a:r>
              <a:rPr lang="en-US" sz="2200" dirty="0"/>
              <a:t>)</a:t>
            </a:r>
          </a:p>
          <a:p>
            <a:r>
              <a:rPr lang="en-US" sz="2200" dirty="0"/>
              <a:t>+ Neutron angular flux (volume dependent variable) gives neutron</a:t>
            </a:r>
          </a:p>
          <a:p>
            <a:r>
              <a:rPr lang="en-US" sz="2200" dirty="0"/>
              <a:t>   density                                           and                        is the </a:t>
            </a:r>
          </a:p>
          <a:p>
            <a:r>
              <a:rPr lang="en-US" sz="2200" dirty="0"/>
              <a:t>   neutron  tracklength/s in</a:t>
            </a:r>
          </a:p>
          <a:p>
            <a:r>
              <a:rPr lang="en-US" sz="2200" dirty="0"/>
              <a:t>+ Neutron angular current                                           (surface </a:t>
            </a:r>
          </a:p>
          <a:p>
            <a:r>
              <a:rPr lang="en-US" sz="2200" dirty="0"/>
              <a:t>   dependent variable) giving # neutrons/</a:t>
            </a:r>
            <a:r>
              <a:rPr lang="en-US" sz="2200" i="1" dirty="0"/>
              <a:t>s</a:t>
            </a:r>
            <a:r>
              <a:rPr lang="en-US" sz="2200" dirty="0"/>
              <a:t> passing through an </a:t>
            </a:r>
          </a:p>
          <a:p>
            <a:r>
              <a:rPr lang="en-US" sz="2200" dirty="0"/>
              <a:t>   area </a:t>
            </a:r>
            <a:r>
              <a:rPr lang="en-US" sz="2200" i="1" dirty="0" err="1"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en-US" sz="2200" dirty="0"/>
              <a:t> with unit normal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/>
              <a:t> as</a:t>
            </a:r>
          </a:p>
          <a:p>
            <a:r>
              <a:rPr lang="en-US" sz="2200" dirty="0"/>
              <a:t>+ </a:t>
            </a:r>
            <a:r>
              <a:rPr lang="en-US" dirty="0">
                <a:latin typeface="Symbol" pitchFamily="18" charset="2"/>
              </a:rPr>
              <a:t>S</a:t>
            </a:r>
            <a:r>
              <a:rPr lang="en-US" sz="2200" dirty="0"/>
              <a:t> represents the probability of interaction per neutron tracklength</a:t>
            </a:r>
          </a:p>
          <a:p>
            <a:r>
              <a:rPr lang="en-US" sz="2200" dirty="0"/>
              <a:t>   and                            </a:t>
            </a:r>
            <a:r>
              <a:rPr lang="en-US" sz="2200"/>
              <a:t>is rate of </a:t>
            </a:r>
            <a:r>
              <a:rPr lang="en-US" sz="2200" dirty="0"/>
              <a:t>interactions in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r>
              <a:rPr lang="en-US" sz="2200" b="1" i="1" dirty="0"/>
              <a:t>   </a:t>
            </a:r>
            <a:endParaRPr lang="en-US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graphicFrame>
        <p:nvGraphicFramePr>
          <p:cNvPr id="2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197968"/>
              </p:ext>
            </p:extLst>
          </p:nvPr>
        </p:nvGraphicFramePr>
        <p:xfrm>
          <a:off x="3604709" y="2653714"/>
          <a:ext cx="4095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95" name="Equation" r:id="rId3" imgW="266400" imgH="203040" progId="Equation.DSMT4">
                  <p:embed/>
                </p:oleObj>
              </mc:Choice>
              <mc:Fallback>
                <p:oleObj name="Equation" r:id="rId3" imgW="266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709" y="2653714"/>
                        <a:ext cx="4095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>
            <a:graphicFrameLocks noChangeAspect="1"/>
          </p:cNvGraphicFramePr>
          <p:nvPr/>
        </p:nvGraphicFramePr>
        <p:xfrm>
          <a:off x="4170827" y="1000209"/>
          <a:ext cx="171926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96" name="Equation" r:id="rId5" imgW="1117440" imgH="203040" progId="Equation.DSMT4">
                  <p:embed/>
                </p:oleObj>
              </mc:Choice>
              <mc:Fallback>
                <p:oleObj name="Equation" r:id="rId5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0827" y="1000209"/>
                        <a:ext cx="171926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879763"/>
              </p:ext>
            </p:extLst>
          </p:nvPr>
        </p:nvGraphicFramePr>
        <p:xfrm>
          <a:off x="1528763" y="2298700"/>
          <a:ext cx="31638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97" name="Equation" r:id="rId7" imgW="2057400" imgH="291960" progId="Equation.DSMT4">
                  <p:embed/>
                </p:oleObj>
              </mc:Choice>
              <mc:Fallback>
                <p:oleObj name="Equation" r:id="rId7" imgW="2057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2298700"/>
                        <a:ext cx="31638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418551"/>
              </p:ext>
            </p:extLst>
          </p:nvPr>
        </p:nvGraphicFramePr>
        <p:xfrm>
          <a:off x="5319713" y="2311400"/>
          <a:ext cx="17954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98" name="Equation" r:id="rId9" imgW="1168200" imgH="291960" progId="Equation.DSMT4">
                  <p:embed/>
                </p:oleObj>
              </mc:Choice>
              <mc:Fallback>
                <p:oleObj name="Equation" r:id="rId9" imgW="11682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2311400"/>
                        <a:ext cx="17954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421660"/>
              </p:ext>
            </p:extLst>
          </p:nvPr>
        </p:nvGraphicFramePr>
        <p:xfrm>
          <a:off x="3546475" y="2962275"/>
          <a:ext cx="3302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99" name="Equation" r:id="rId11" imgW="2145960" imgH="291960" progId="Equation.DSMT4">
                  <p:embed/>
                </p:oleObj>
              </mc:Choice>
              <mc:Fallback>
                <p:oleObj name="Equation" r:id="rId11" imgW="21459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2962275"/>
                        <a:ext cx="3302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741840"/>
              </p:ext>
            </p:extLst>
          </p:nvPr>
        </p:nvGraphicFramePr>
        <p:xfrm>
          <a:off x="4265441" y="3651278"/>
          <a:ext cx="31273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00" name="Equation" r:id="rId13" imgW="2031840" imgH="291960" progId="Equation.DSMT4">
                  <p:embed/>
                </p:oleObj>
              </mc:Choice>
              <mc:Fallback>
                <p:oleObj name="Equation" r:id="rId13" imgW="2031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441" y="3651278"/>
                        <a:ext cx="31273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562941"/>
              </p:ext>
            </p:extLst>
          </p:nvPr>
        </p:nvGraphicFramePr>
        <p:xfrm>
          <a:off x="1149350" y="4330700"/>
          <a:ext cx="19732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01" name="Equation" r:id="rId15" imgW="1282680" imgH="291960" progId="Equation.DSMT4">
                  <p:embed/>
                </p:oleObj>
              </mc:Choice>
              <mc:Fallback>
                <p:oleObj name="Equation" r:id="rId15" imgW="12826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4330700"/>
                        <a:ext cx="19732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</p:spTree>
    <p:extLst>
      <p:ext uri="{BB962C8B-B14F-4D97-AF65-F5344CB8AC3E}">
        <p14:creationId xmlns:p14="http://schemas.microsoft.com/office/powerpoint/2010/main" val="1794774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895857"/>
              </p:ext>
            </p:extLst>
          </p:nvPr>
        </p:nvGraphicFramePr>
        <p:xfrm>
          <a:off x="904875" y="1154113"/>
          <a:ext cx="7396163" cy="236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67" name="Equation" r:id="rId3" imgW="4914720" imgH="1638000" progId="Equation.DSMT4">
                  <p:embed/>
                </p:oleObj>
              </mc:Choice>
              <mc:Fallback>
                <p:oleObj name="Equation" r:id="rId3" imgW="4914720" imgH="163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154113"/>
                        <a:ext cx="7396163" cy="2363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2"/>
          <p:cNvSpPr txBox="1">
            <a:spLocks noChangeArrowheads="1"/>
          </p:cNvSpPr>
          <p:nvPr/>
        </p:nvSpPr>
        <p:spPr bwMode="auto">
          <a:xfrm>
            <a:off x="624412" y="440194"/>
            <a:ext cx="772070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Neutron balance gives time dependent neutron transport equation</a:t>
            </a:r>
          </a:p>
          <a:p>
            <a:r>
              <a:rPr lang="en-US" sz="2000" dirty="0"/>
              <a:t>(NTE) without delayed neutrons (only prompt neutrons)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1930400" cy="215719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F4320-1241-44B2-9379-D9D5BC1AA396}" type="slidenum">
              <a:rPr lang="en-US" sz="1100"/>
              <a:pPr>
                <a:defRPr/>
              </a:pPr>
              <a:t>28</a:t>
            </a:fld>
            <a:endParaRPr lang="en-US" sz="11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697590" y="1244694"/>
            <a:ext cx="4387740" cy="2876177"/>
            <a:chOff x="669074" y="1148080"/>
            <a:chExt cx="4387740" cy="2876177"/>
          </a:xfrm>
        </p:grpSpPr>
        <p:sp>
          <p:nvSpPr>
            <p:cNvPr id="9" name="Rectangle 8"/>
            <p:cNvSpPr/>
            <p:nvPr/>
          </p:nvSpPr>
          <p:spPr>
            <a:xfrm>
              <a:off x="992459" y="1148080"/>
              <a:ext cx="592501" cy="701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9074" y="3624147"/>
              <a:ext cx="43877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Change of neutron population in time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02399" y="1252124"/>
            <a:ext cx="4785284" cy="3220968"/>
            <a:chOff x="688751" y="1133708"/>
            <a:chExt cx="4785284" cy="3220968"/>
          </a:xfrm>
        </p:grpSpPr>
        <p:sp>
          <p:nvSpPr>
            <p:cNvPr id="12" name="Rectangle 11"/>
            <p:cNvSpPr/>
            <p:nvPr/>
          </p:nvSpPr>
          <p:spPr>
            <a:xfrm>
              <a:off x="1802780" y="1133708"/>
              <a:ext cx="706243" cy="6913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8751" y="3954566"/>
              <a:ext cx="47852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Streaming in space (</a:t>
              </a:r>
              <a:r>
                <a:rPr lang="en-US" sz="2000" i="1" dirty="0"/>
                <a:t>straight-line motion</a:t>
              </a:r>
              <a:r>
                <a:rPr lang="en-US" sz="2000" dirty="0"/>
                <a:t>)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29435" y="1256336"/>
            <a:ext cx="4256293" cy="3599731"/>
            <a:chOff x="715787" y="1158240"/>
            <a:chExt cx="4256293" cy="3599731"/>
          </a:xfrm>
        </p:grpSpPr>
        <p:sp>
          <p:nvSpPr>
            <p:cNvPr id="13" name="Rectangle 12"/>
            <p:cNvSpPr/>
            <p:nvPr/>
          </p:nvSpPr>
          <p:spPr>
            <a:xfrm>
              <a:off x="2713463" y="1158240"/>
              <a:ext cx="1100253" cy="701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5787" y="4357861"/>
              <a:ext cx="42562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Loss from </a:t>
              </a:r>
              <a:r>
                <a:rPr lang="en-US" sz="2000" i="1" dirty="0"/>
                <a:t>scattering and absorption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128632" y="2013181"/>
            <a:ext cx="7072937" cy="2117399"/>
            <a:chOff x="1081668" y="1951463"/>
            <a:chExt cx="7072937" cy="2117399"/>
          </a:xfrm>
        </p:grpSpPr>
        <p:sp>
          <p:nvSpPr>
            <p:cNvPr id="14" name="Rectangle 13"/>
            <p:cNvSpPr/>
            <p:nvPr/>
          </p:nvSpPr>
          <p:spPr>
            <a:xfrm>
              <a:off x="1081668" y="1951463"/>
              <a:ext cx="5522331" cy="6913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64821" y="3668752"/>
              <a:ext cx="24897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Gain from </a:t>
              </a:r>
              <a:r>
                <a:rPr lang="en-US" sz="2000" i="1" dirty="0"/>
                <a:t>scattering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128632" y="2754036"/>
            <a:ext cx="6689820" cy="1700237"/>
            <a:chOff x="1055650" y="2728331"/>
            <a:chExt cx="6689820" cy="1700237"/>
          </a:xfrm>
        </p:grpSpPr>
        <p:sp>
          <p:nvSpPr>
            <p:cNvPr id="15" name="Rectangle 14"/>
            <p:cNvSpPr/>
            <p:nvPr/>
          </p:nvSpPr>
          <p:spPr>
            <a:xfrm>
              <a:off x="1055650" y="2728331"/>
              <a:ext cx="5528030" cy="739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38803" y="4028458"/>
              <a:ext cx="21066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Gain from </a:t>
              </a:r>
              <a:r>
                <a:rPr lang="en-US" sz="2000" i="1" dirty="0"/>
                <a:t>fission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711785" y="2785157"/>
            <a:ext cx="3130985" cy="2070910"/>
            <a:chOff x="5698137" y="2687061"/>
            <a:chExt cx="3130985" cy="2070910"/>
          </a:xfrm>
        </p:grpSpPr>
        <p:sp>
          <p:nvSpPr>
            <p:cNvPr id="16" name="Rectangle 15"/>
            <p:cNvSpPr/>
            <p:nvPr/>
          </p:nvSpPr>
          <p:spPr>
            <a:xfrm>
              <a:off x="6763472" y="2687061"/>
              <a:ext cx="1513592" cy="6913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698137" y="4357861"/>
              <a:ext cx="31309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Gain from external source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189027" y="37999"/>
            <a:ext cx="1992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Summary(</a:t>
            </a:r>
            <a:r>
              <a:rPr lang="en-US" sz="2000" dirty="0" err="1"/>
              <a:t>con’t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37390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F3337-1B16-4D18-A918-44FBB8DE8C5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2098" y="133815"/>
            <a:ext cx="1577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 word on </a:t>
            </a:r>
            <a:r>
              <a:rPr lang="en-US" sz="2000" i="1" dirty="0">
                <a:latin typeface="Symbol" pitchFamily="18" charset="2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517" y="446047"/>
            <a:ext cx="773641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 </a:t>
            </a:r>
            <a:r>
              <a:rPr lang="en-US" sz="2000" i="1" dirty="0">
                <a:latin typeface="Symbol" pitchFamily="18" charset="2"/>
              </a:rPr>
              <a:t>n</a:t>
            </a:r>
            <a:r>
              <a:rPr lang="en-US" sz="2000" dirty="0"/>
              <a:t>  represents the average number of neutrons per fission</a:t>
            </a:r>
          </a:p>
          <a:p>
            <a:r>
              <a:rPr lang="en-US" sz="2000" dirty="0"/>
              <a:t>   - Prompt neutrons appear within 10</a:t>
            </a:r>
            <a:r>
              <a:rPr lang="en-US" sz="2000" baseline="30000" dirty="0"/>
              <a:t>-19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dirty="0"/>
              <a:t> of the fission</a:t>
            </a:r>
          </a:p>
          <a:p>
            <a:r>
              <a:rPr lang="en-US" sz="2000" dirty="0"/>
              <a:t>   - Delayed neutrons within seconds to minutes of fission</a:t>
            </a:r>
          </a:p>
          <a:p>
            <a:r>
              <a:rPr lang="en-US" sz="2000" dirty="0"/>
              <a:t>+ Not an integer since fission can produce any two or three from</a:t>
            </a:r>
          </a:p>
          <a:p>
            <a:r>
              <a:rPr lang="en-US" sz="2000" dirty="0"/>
              <a:t>   about 200 isotopes giving zero to 3 or more neutrons per fission</a:t>
            </a:r>
          </a:p>
          <a:p>
            <a:r>
              <a:rPr lang="en-US" sz="2000" dirty="0"/>
              <a:t>   - </a:t>
            </a:r>
            <a:r>
              <a:rPr lang="en-US" sz="2000" i="1" dirty="0">
                <a:latin typeface="Symbol" pitchFamily="18" charset="2"/>
              </a:rPr>
              <a:t>n</a:t>
            </a:r>
            <a:r>
              <a:rPr lang="en-US" sz="2000" dirty="0"/>
              <a:t>  is a weighted average over the possible fission fragment </a:t>
            </a:r>
          </a:p>
          <a:p>
            <a:r>
              <a:rPr lang="en-US" sz="2000" dirty="0"/>
              <a:t>     configurations</a:t>
            </a:r>
          </a:p>
        </p:txBody>
      </p:sp>
      <p:pic>
        <p:nvPicPr>
          <p:cNvPr id="16" name="Picture 6" descr="Nubar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6324" y="2331348"/>
            <a:ext cx="4035256" cy="2738492"/>
          </a:xfrm>
          <a:prstGeom prst="rect">
            <a:avLst/>
          </a:prstGeom>
          <a:noFill/>
        </p:spPr>
      </p:pic>
      <p:sp>
        <p:nvSpPr>
          <p:cNvPr id="17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</p:spTree>
    <p:extLst>
      <p:ext uri="{BB962C8B-B14F-4D97-AF65-F5344CB8AC3E}">
        <p14:creationId xmlns:p14="http://schemas.microsoft.com/office/powerpoint/2010/main" val="1883487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0947" y="401445"/>
            <a:ext cx="814838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discussion:</a:t>
            </a:r>
          </a:p>
          <a:p>
            <a:endParaRPr lang="en-US" sz="800" dirty="0"/>
          </a:p>
          <a:p>
            <a:r>
              <a:rPr lang="en-US" sz="2000" dirty="0"/>
              <a:t>+ When solved have the neutron angular density in the form of the flux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  and rates of reactions over all neutron directions</a:t>
            </a: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233287"/>
              </p:ext>
            </p:extLst>
          </p:nvPr>
        </p:nvGraphicFramePr>
        <p:xfrm>
          <a:off x="2397125" y="1279525"/>
          <a:ext cx="34004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8" name="Equation" r:id="rId3" imgW="2323800" imgH="291960" progId="Equation.DSMT4">
                  <p:embed/>
                </p:oleObj>
              </mc:Choice>
              <mc:Fallback>
                <p:oleObj name="Equation" r:id="rId3" imgW="2323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1279525"/>
                        <a:ext cx="34004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1773044" y="2109904"/>
            <a:ext cx="4875833" cy="1460500"/>
            <a:chOff x="914399" y="2154509"/>
            <a:chExt cx="4875833" cy="1460500"/>
          </a:xfrm>
        </p:grpSpPr>
        <p:graphicFrame>
          <p:nvGraphicFramePr>
            <p:cNvPr id="120835" name="Object 9"/>
            <p:cNvGraphicFramePr>
              <a:graphicFrameLocks noChangeAspect="1"/>
            </p:cNvGraphicFramePr>
            <p:nvPr/>
          </p:nvGraphicFramePr>
          <p:xfrm>
            <a:off x="3689969" y="2154509"/>
            <a:ext cx="2100263" cy="146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89" name="Equation" r:id="rId5" imgW="1434960" imgH="939600" progId="Equation.DSMT4">
                    <p:embed/>
                  </p:oleObj>
                </mc:Choice>
                <mc:Fallback>
                  <p:oleObj name="Equation" r:id="rId5" imgW="1434960" imgH="93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969" y="2154509"/>
                          <a:ext cx="2100263" cy="146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7"/>
            <p:cNvSpPr txBox="1"/>
            <p:nvPr/>
          </p:nvSpPr>
          <p:spPr>
            <a:xfrm>
              <a:off x="914399" y="2174488"/>
              <a:ext cx="2828018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fissions/</a:t>
              </a:r>
              <a:r>
                <a:rPr lang="en-US" sz="2000" i="1" dirty="0"/>
                <a:t>s-Mev-cm</a:t>
              </a:r>
              <a:r>
                <a:rPr lang="en-US" sz="2000" baseline="30000" dirty="0"/>
                <a:t>3</a:t>
              </a:r>
            </a:p>
            <a:p>
              <a:endParaRPr lang="en-US" sz="800" baseline="30000" dirty="0"/>
            </a:p>
            <a:p>
              <a:endParaRPr lang="en-US" sz="800" baseline="30000" dirty="0"/>
            </a:p>
            <a:p>
              <a:r>
                <a:rPr lang="en-US" sz="2000" dirty="0"/>
                <a:t>Scatterings/</a:t>
              </a:r>
              <a:r>
                <a:rPr lang="en-US" sz="2000" i="1" dirty="0"/>
                <a:t>s-Mev-cm</a:t>
              </a:r>
              <a:r>
                <a:rPr lang="en-US" sz="2000" baseline="30000" dirty="0"/>
                <a:t>3</a:t>
              </a:r>
            </a:p>
            <a:p>
              <a:endParaRPr lang="en-US" sz="2000" baseline="30000" dirty="0"/>
            </a:p>
            <a:p>
              <a:r>
                <a:rPr lang="en-US" sz="2000" dirty="0"/>
                <a:t>Absorptions/</a:t>
              </a:r>
              <a:r>
                <a:rPr lang="en-US" sz="2000" i="1" dirty="0"/>
                <a:t>s-Mev-cm</a:t>
              </a:r>
              <a:r>
                <a:rPr lang="en-US" sz="2000" baseline="30000" dirty="0"/>
                <a:t>3</a:t>
              </a:r>
              <a:endParaRPr lang="en-US" sz="20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47853" y="3624146"/>
            <a:ext cx="2970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 Regional heating rates</a:t>
            </a:r>
          </a:p>
        </p:txBody>
      </p:sp>
      <p:graphicFrame>
        <p:nvGraphicFramePr>
          <p:cNvPr id="120836" name="Object 9"/>
          <p:cNvGraphicFramePr>
            <a:graphicFrameLocks noChangeAspect="1"/>
          </p:cNvGraphicFramePr>
          <p:nvPr/>
        </p:nvGraphicFramePr>
        <p:xfrm>
          <a:off x="1695450" y="4044950"/>
          <a:ext cx="655796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0" name="Equation" r:id="rId7" imgW="4483080" imgH="558720" progId="Equation.DSMT4">
                  <p:embed/>
                </p:oleObj>
              </mc:Choice>
              <mc:Fallback>
                <p:oleObj name="Equation" r:id="rId7" imgW="44830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4044950"/>
                        <a:ext cx="6557963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</p:spTree>
    <p:extLst>
      <p:ext uri="{BB962C8B-B14F-4D97-AF65-F5344CB8AC3E}">
        <p14:creationId xmlns:p14="http://schemas.microsoft.com/office/powerpoint/2010/main" val="331019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454026" y="159544"/>
            <a:ext cx="617201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ahoma" pitchFamily="34" charset="0"/>
              </a:rPr>
              <a:t>Additional discussion:</a:t>
            </a:r>
            <a:endParaRPr lang="en-US" sz="1100" dirty="0">
              <a:latin typeface="Tahoma" pitchFamily="34" charset="0"/>
            </a:endParaRPr>
          </a:p>
          <a:p>
            <a:r>
              <a:rPr lang="en-US" sz="2000" dirty="0"/>
              <a:t>   </a:t>
            </a:r>
            <a:r>
              <a:rPr lang="en-US" sz="2000" dirty="0">
                <a:latin typeface="Tahoma" pitchFamily="34" charset="0"/>
              </a:rPr>
              <a:t>+ Stationary </a:t>
            </a:r>
            <a:r>
              <a:rPr lang="en-US" sz="2000" i="1" dirty="0">
                <a:latin typeface="Tahoma" pitchFamily="34" charset="0"/>
              </a:rPr>
              <a:t>NTE</a:t>
            </a:r>
            <a:r>
              <a:rPr lang="en-US" sz="2000" dirty="0">
                <a:latin typeface="Tahoma" pitchFamily="34" charset="0"/>
              </a:rPr>
              <a:t> is an integro-differential equation</a:t>
            </a:r>
          </a:p>
        </p:txBody>
      </p:sp>
      <p:graphicFrame>
        <p:nvGraphicFramePr>
          <p:cNvPr id="245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321568"/>
              </p:ext>
            </p:extLst>
          </p:nvPr>
        </p:nvGraphicFramePr>
        <p:xfrm>
          <a:off x="1635125" y="788988"/>
          <a:ext cx="6440488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8" name="Equation" r:id="rId3" imgW="4533840" imgH="1396800" progId="Equation.DSMT4">
                  <p:embed/>
                </p:oleObj>
              </mc:Choice>
              <mc:Fallback>
                <p:oleObj name="Equation" r:id="rId3" imgW="453384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788988"/>
                        <a:ext cx="6440488" cy="188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684214" y="2559844"/>
            <a:ext cx="8194675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Tahoma" pitchFamily="34" charset="0"/>
              </a:rPr>
              <a:t>+ Requires boundary conditions (and initial condition)</a:t>
            </a:r>
          </a:p>
          <a:p>
            <a:r>
              <a:rPr lang="en-US" sz="2000" dirty="0">
                <a:latin typeface="Tahoma" pitchFamily="34" charset="0"/>
              </a:rPr>
              <a:t>+ </a:t>
            </a:r>
            <a:r>
              <a:rPr lang="en-US" sz="2000" i="1" dirty="0">
                <a:latin typeface="Tahoma" pitchFamily="34" charset="0"/>
              </a:rPr>
              <a:t>NTE</a:t>
            </a:r>
            <a:r>
              <a:rPr lang="en-US" sz="2000" dirty="0">
                <a:latin typeface="Tahoma" pitchFamily="34" charset="0"/>
              </a:rPr>
              <a:t> -- 6-dimensions (plus time)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Full (general) 3D time dependent analytical/numerical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   solutions for reactor configurations do not currently exist</a:t>
            </a:r>
          </a:p>
          <a:p>
            <a:r>
              <a:rPr lang="en-US" sz="2000" dirty="0">
                <a:latin typeface="Tahoma" pitchFamily="34" charset="0"/>
              </a:rPr>
              <a:t>+ 1D analytical solutions do exist</a:t>
            </a:r>
          </a:p>
          <a:p>
            <a:r>
              <a:rPr lang="en-US" sz="2000" dirty="0">
                <a:latin typeface="Tahoma" pitchFamily="34" charset="0"/>
              </a:rPr>
              <a:t>+ 2/3D numerical solutions stretch today’s computational</a:t>
            </a:r>
          </a:p>
          <a:p>
            <a:r>
              <a:rPr lang="en-US" sz="2000" dirty="0">
                <a:latin typeface="Tahoma" pitchFamily="34" charset="0"/>
              </a:rPr>
              <a:t>   resources</a:t>
            </a:r>
          </a:p>
          <a:p>
            <a:pPr eaLnBrk="0" hangingPunct="0"/>
            <a:r>
              <a:rPr lang="en-US" sz="2000" dirty="0">
                <a:latin typeface="Tahoma" pitchFamily="34" charset="0"/>
              </a:rPr>
              <a:t>+ Infinite medium 3D analytical solutions </a:t>
            </a:r>
            <a:r>
              <a:rPr lang="en-US" sz="2000" i="1" dirty="0">
                <a:latin typeface="Tahoma" pitchFamily="34" charset="0"/>
              </a:rPr>
              <a:t>do</a:t>
            </a:r>
            <a:r>
              <a:rPr lang="en-US" sz="2000" dirty="0">
                <a:latin typeface="Tahoma" pitchFamily="34" charset="0"/>
              </a:rPr>
              <a:t> exist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4EFA32-4888-442C-A4D5-8C8EAE230C0E}" type="slidenum">
              <a:rPr lang="en-US" sz="1100"/>
              <a:pPr>
                <a:defRPr/>
              </a:pPr>
              <a:t>31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9116255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156752"/>
              </p:ext>
            </p:extLst>
          </p:nvPr>
        </p:nvGraphicFramePr>
        <p:xfrm>
          <a:off x="1152525" y="1039813"/>
          <a:ext cx="7643813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2" name="Equation" r:id="rId3" imgW="5016240" imgH="1422360" progId="Equation.DSMT4">
                  <p:embed/>
                </p:oleObj>
              </mc:Choice>
              <mc:Fallback>
                <p:oleObj name="Equation" r:id="rId3" imgW="5016240" imgH="1422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1039813"/>
                        <a:ext cx="7643813" cy="204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971040" y="3241040"/>
            <a:ext cx="412965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Called a fixed source transport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eqn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External source is present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System is subcritical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497840"/>
            <a:ext cx="2954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 Further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2568388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3352800" cy="216694"/>
          </a:xfrm>
        </p:spPr>
        <p:txBody>
          <a:bodyPr/>
          <a:lstStyle/>
          <a:p>
            <a:pPr algn="l">
              <a:defRPr/>
            </a:pPr>
            <a:r>
              <a:rPr lang="en-US" dirty="0"/>
              <a:t>NEUTRON BOLTZMANN EQUATION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68FAC-74BC-4B5A-985E-8DB84384AD8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229397"/>
              </p:ext>
            </p:extLst>
          </p:nvPr>
        </p:nvGraphicFramePr>
        <p:xfrm>
          <a:off x="982663" y="625475"/>
          <a:ext cx="6986587" cy="210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6" name="Equation" r:id="rId3" imgW="4584600" imgH="1460160" progId="Equation.DSMT4">
                  <p:embed/>
                </p:oleObj>
              </mc:Choice>
              <mc:Fallback>
                <p:oleObj name="Equation" r:id="rId3" imgW="4584600" imgH="1460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625475"/>
                        <a:ext cx="6986587" cy="210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798320" y="2875280"/>
            <a:ext cx="692912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Called a “critical” transport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eqn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No external source is present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System is homogeneous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i="1" baseline="-25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is the first eigenvalue (gives a positive flux)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If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i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= 1 then system is actually critical (self-sustaining)</a:t>
            </a:r>
          </a:p>
          <a:p>
            <a:pPr eaLnBrk="0" hangingPunct="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If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000" i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&gt; 1 the system made stationary by external means</a:t>
            </a:r>
          </a:p>
        </p:txBody>
      </p:sp>
    </p:spTree>
    <p:extLst>
      <p:ext uri="{BB962C8B-B14F-4D97-AF65-F5344CB8AC3E}">
        <p14:creationId xmlns:p14="http://schemas.microsoft.com/office/powerpoint/2010/main" val="1148293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0"/>
            <a:ext cx="3214573" cy="216694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accent1">
                    <a:shade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24085"/>
              </p:ext>
            </p:extLst>
          </p:nvPr>
        </p:nvGraphicFramePr>
        <p:xfrm>
          <a:off x="647700" y="1265238"/>
          <a:ext cx="8228013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91" name="Equation" r:id="rId3" imgW="4940280" imgH="1638000" progId="Equation.DSMT4">
                  <p:embed/>
                </p:oleObj>
              </mc:Choice>
              <mc:Fallback>
                <p:oleObj name="Equation" r:id="rId3" imgW="4940280" imgH="163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265238"/>
                        <a:ext cx="8228013" cy="2606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3641" y="602430"/>
            <a:ext cx="4980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 TE in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becomes for all prompt neutrons  </a:t>
            </a:r>
          </a:p>
        </p:txBody>
      </p:sp>
    </p:spTree>
    <p:extLst>
      <p:ext uri="{BB962C8B-B14F-4D97-AF65-F5344CB8AC3E}">
        <p14:creationId xmlns:p14="http://schemas.microsoft.com/office/powerpoint/2010/main" val="1316768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0"/>
            <a:ext cx="3214573" cy="216694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accent1">
                    <a:shade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987471"/>
              </p:ext>
            </p:extLst>
          </p:nvPr>
        </p:nvGraphicFramePr>
        <p:xfrm>
          <a:off x="515938" y="2751138"/>
          <a:ext cx="8074025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8" name="Equation" r:id="rId3" imgW="5346360" imgH="1079280" progId="Equation.DSMT4">
                  <p:embed/>
                </p:oleObj>
              </mc:Choice>
              <mc:Fallback>
                <p:oleObj name="Equation" r:id="rId3" imgW="5346360" imgH="1079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2751138"/>
                        <a:ext cx="8074025" cy="155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9096" y="279701"/>
            <a:ext cx="4726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 TE in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neutron density becomes</a:t>
            </a:r>
          </a:p>
        </p:txBody>
      </p:sp>
      <p:graphicFrame>
        <p:nvGraphicFramePr>
          <p:cNvPr id="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442219"/>
              </p:ext>
            </p:extLst>
          </p:nvPr>
        </p:nvGraphicFramePr>
        <p:xfrm>
          <a:off x="1692275" y="738188"/>
          <a:ext cx="3744913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9" name="Equation" r:id="rId5" imgW="2705040" imgH="1460160" progId="Equation.DSMT4">
                  <p:embed/>
                </p:oleObj>
              </mc:Choice>
              <mc:Fallback>
                <p:oleObj name="Equation" r:id="rId5" imgW="2705040" imgH="1460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738188"/>
                        <a:ext cx="3744913" cy="2065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357391"/>
              </p:ext>
            </p:extLst>
          </p:nvPr>
        </p:nvGraphicFramePr>
        <p:xfrm>
          <a:off x="372689" y="4315759"/>
          <a:ext cx="853598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0" name="Equation" r:id="rId7" imgW="5651280" imgH="507960" progId="Equation.DSMT4">
                  <p:embed/>
                </p:oleObj>
              </mc:Choice>
              <mc:Fallback>
                <p:oleObj name="Equation" r:id="rId7" imgW="56512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689" y="4315759"/>
                        <a:ext cx="8535987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H="1">
            <a:off x="4012602" y="1333948"/>
            <a:ext cx="731520" cy="688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462818" y="930972"/>
            <a:ext cx="726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89634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967685"/>
              </p:ext>
            </p:extLst>
          </p:nvPr>
        </p:nvGraphicFramePr>
        <p:xfrm>
          <a:off x="1990538" y="350931"/>
          <a:ext cx="58134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6" name="Equation" r:id="rId3" imgW="3848040" imgH="291960" progId="Equation.DSMT4">
                  <p:embed/>
                </p:oleObj>
              </mc:Choice>
              <mc:Fallback>
                <p:oleObj name="Equation" r:id="rId3" imgW="38480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538" y="350931"/>
                        <a:ext cx="5813425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1"/>
          <p:cNvSpPr txBox="1">
            <a:spLocks/>
          </p:cNvSpPr>
          <p:nvPr/>
        </p:nvSpPr>
        <p:spPr>
          <a:xfrm>
            <a:off x="0" y="0"/>
            <a:ext cx="3214573" cy="216694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accent1">
                    <a:shade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9703" y="32273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Note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220235"/>
              </p:ext>
            </p:extLst>
          </p:nvPr>
        </p:nvGraphicFramePr>
        <p:xfrm>
          <a:off x="373063" y="1530350"/>
          <a:ext cx="84582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7" name="Equation" r:id="rId5" imgW="6108480" imgH="876240" progId="Equation.DSMT4">
                  <p:embed/>
                </p:oleObj>
              </mc:Choice>
              <mc:Fallback>
                <p:oleObj name="Equation" r:id="rId5" imgW="610848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3" y="1530350"/>
                        <a:ext cx="8458200" cy="1266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991496" y="948465"/>
            <a:ext cx="2310560" cy="400110"/>
            <a:chOff x="1034527" y="1636955"/>
            <a:chExt cx="2310560" cy="400110"/>
          </a:xfrm>
        </p:grpSpPr>
        <p:sp>
          <p:nvSpPr>
            <p:cNvPr id="9" name="TextBox 8"/>
            <p:cNvSpPr txBox="1"/>
            <p:nvPr/>
          </p:nvSpPr>
          <p:spPr>
            <a:xfrm>
              <a:off x="1034527" y="1636955"/>
              <a:ext cx="15520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 Multiply by</a:t>
              </a:r>
            </a:p>
          </p:txBody>
        </p:sp>
        <p:graphicFrame>
          <p:nvGraphicFramePr>
            <p:cNvPr id="1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0115858"/>
                </p:ext>
              </p:extLst>
            </p:nvPr>
          </p:nvGraphicFramePr>
          <p:xfrm>
            <a:off x="2559274" y="1697130"/>
            <a:ext cx="785813" cy="293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68" name="Equation" r:id="rId7" imgW="520560" imgH="203040" progId="Equation.DSMT4">
                    <p:embed/>
                  </p:oleObj>
                </mc:Choice>
                <mc:Fallback>
                  <p:oleObj name="Equation" r:id="rId7" imgW="520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9274" y="1697130"/>
                          <a:ext cx="785813" cy="2936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5"/>
          <p:cNvGrpSpPr/>
          <p:nvPr/>
        </p:nvGrpSpPr>
        <p:grpSpPr>
          <a:xfrm>
            <a:off x="836613" y="2908150"/>
            <a:ext cx="6634162" cy="1776563"/>
            <a:chOff x="836613" y="2908150"/>
            <a:chExt cx="6634162" cy="1776563"/>
          </a:xfrm>
        </p:grpSpPr>
        <p:sp>
          <p:nvSpPr>
            <p:cNvPr id="11" name="TextBox 10"/>
            <p:cNvSpPr txBox="1"/>
            <p:nvPr/>
          </p:nvSpPr>
          <p:spPr>
            <a:xfrm>
              <a:off x="982531" y="2908150"/>
              <a:ext cx="20489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 On substitution</a:t>
              </a:r>
            </a:p>
          </p:txBody>
        </p:sp>
        <p:graphicFrame>
          <p:nvGraphicFramePr>
            <p:cNvPr id="1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6095524"/>
                </p:ext>
              </p:extLst>
            </p:nvPr>
          </p:nvGraphicFramePr>
          <p:xfrm>
            <a:off x="836613" y="3454400"/>
            <a:ext cx="6634162" cy="1230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69" name="Equation" r:id="rId9" imgW="4394160" imgH="850680" progId="Equation.DSMT4">
                    <p:embed/>
                  </p:oleObj>
                </mc:Choice>
                <mc:Fallback>
                  <p:oleObj name="Equation" r:id="rId9" imgW="4394160" imgH="850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613" y="3454400"/>
                          <a:ext cx="6634162" cy="1230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78954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7F3337-1B16-4D18-A918-44FBB8DE8C5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014804" y="659802"/>
            <a:ext cx="6957621" cy="1997673"/>
            <a:chOff x="864197" y="2692997"/>
            <a:chExt cx="6957621" cy="1997673"/>
          </a:xfrm>
        </p:grpSpPr>
        <p:sp>
          <p:nvSpPr>
            <p:cNvPr id="5" name="TextBox 4"/>
            <p:cNvSpPr txBox="1"/>
            <p:nvPr/>
          </p:nvSpPr>
          <p:spPr>
            <a:xfrm>
              <a:off x="864197" y="2692997"/>
              <a:ext cx="21082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 On cancellation</a:t>
              </a:r>
            </a:p>
          </p:txBody>
        </p:sp>
        <p:graphicFrame>
          <p:nvGraphicFramePr>
            <p:cNvPr id="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4273702"/>
                </p:ext>
              </p:extLst>
            </p:nvPr>
          </p:nvGraphicFramePr>
          <p:xfrm>
            <a:off x="1184481" y="3260333"/>
            <a:ext cx="6637337" cy="1430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58" name="Equation" r:id="rId3" imgW="3784320" imgH="850680" progId="Equation.DSMT4">
                    <p:embed/>
                  </p:oleObj>
                </mc:Choice>
                <mc:Fallback>
                  <p:oleObj name="Equation" r:id="rId3" imgW="3784320" imgH="850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4481" y="3260333"/>
                          <a:ext cx="6637337" cy="14303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Footer Placeholder 1"/>
          <p:cNvSpPr txBox="1">
            <a:spLocks/>
          </p:cNvSpPr>
          <p:nvPr/>
        </p:nvSpPr>
        <p:spPr>
          <a:xfrm>
            <a:off x="0" y="0"/>
            <a:ext cx="3214573" cy="216694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accent1">
                    <a:shade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100" dirty="0"/>
              <a:t>HEURISTIC DERIVATION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90918" y="2958353"/>
            <a:ext cx="4181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Now TE in terms </a:t>
            </a:r>
            <a:r>
              <a:rPr lang="en-US" sz="2000"/>
              <a:t>of neutron </a:t>
            </a:r>
            <a:r>
              <a:rPr lang="en-US" sz="2000" dirty="0"/>
              <a:t>density</a:t>
            </a:r>
          </a:p>
        </p:txBody>
      </p:sp>
    </p:spTree>
    <p:extLst>
      <p:ext uri="{BB962C8B-B14F-4D97-AF65-F5344CB8AC3E}">
        <p14:creationId xmlns:p14="http://schemas.microsoft.com/office/powerpoint/2010/main" val="2593652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Trek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8232</TotalTime>
  <Words>1358</Words>
  <Application>Microsoft Office PowerPoint</Application>
  <PresentationFormat>On-screen Show (16:9)</PresentationFormat>
  <Paragraphs>341</Paragraphs>
  <Slides>37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Franklin Gothic Book</vt:lpstr>
      <vt:lpstr>Franklin Gothic Medium</vt:lpstr>
      <vt:lpstr>Script MT Bold</vt:lpstr>
      <vt:lpstr>Symbol</vt:lpstr>
      <vt:lpstr>Tahoma</vt:lpstr>
      <vt:lpstr>Times New Roman</vt:lpstr>
      <vt:lpstr>Wingdings 2</vt:lpstr>
      <vt:lpstr>1_Trek</vt:lpstr>
      <vt:lpstr>Equation</vt:lpstr>
      <vt:lpstr>Document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 of 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bganapol</dc:creator>
  <cp:lastModifiedBy>shay</cp:lastModifiedBy>
  <cp:revision>609</cp:revision>
  <cp:lastPrinted>2026-04-13T05:39:35Z</cp:lastPrinted>
  <dcterms:created xsi:type="dcterms:W3CDTF">2007-12-24T15:53:50Z</dcterms:created>
  <dcterms:modified xsi:type="dcterms:W3CDTF">2026-04-16T09:08:29Z</dcterms:modified>
</cp:coreProperties>
</file>