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63"/>
  </p:notesMasterIdLst>
  <p:sldIdLst>
    <p:sldId id="377" r:id="rId2"/>
    <p:sldId id="419" r:id="rId3"/>
    <p:sldId id="381" r:id="rId4"/>
    <p:sldId id="379" r:id="rId5"/>
    <p:sldId id="444" r:id="rId6"/>
    <p:sldId id="445" r:id="rId7"/>
    <p:sldId id="447" r:id="rId8"/>
    <p:sldId id="446" r:id="rId9"/>
    <p:sldId id="448" r:id="rId10"/>
    <p:sldId id="449" r:id="rId11"/>
    <p:sldId id="454" r:id="rId12"/>
    <p:sldId id="455" r:id="rId13"/>
    <p:sldId id="456" r:id="rId14"/>
    <p:sldId id="262" r:id="rId15"/>
    <p:sldId id="450" r:id="rId16"/>
    <p:sldId id="457" r:id="rId17"/>
    <p:sldId id="451" r:id="rId18"/>
    <p:sldId id="466" r:id="rId19"/>
    <p:sldId id="266" r:id="rId20"/>
    <p:sldId id="267" r:id="rId21"/>
    <p:sldId id="268" r:id="rId22"/>
    <p:sldId id="467" r:id="rId23"/>
    <p:sldId id="468" r:id="rId24"/>
    <p:sldId id="269" r:id="rId25"/>
    <p:sldId id="270" r:id="rId26"/>
    <p:sldId id="271" r:id="rId27"/>
    <p:sldId id="272" r:id="rId28"/>
    <p:sldId id="287" r:id="rId29"/>
    <p:sldId id="288" r:id="rId30"/>
    <p:sldId id="290" r:id="rId31"/>
    <p:sldId id="386" r:id="rId32"/>
    <p:sldId id="399" r:id="rId33"/>
    <p:sldId id="403" r:id="rId34"/>
    <p:sldId id="404" r:id="rId35"/>
    <p:sldId id="400" r:id="rId36"/>
    <p:sldId id="458" r:id="rId37"/>
    <p:sldId id="408" r:id="rId38"/>
    <p:sldId id="459" r:id="rId39"/>
    <p:sldId id="410" r:id="rId40"/>
    <p:sldId id="409" r:id="rId41"/>
    <p:sldId id="460" r:id="rId42"/>
    <p:sldId id="424" r:id="rId43"/>
    <p:sldId id="461" r:id="rId44"/>
    <p:sldId id="426" r:id="rId45"/>
    <p:sldId id="427" r:id="rId46"/>
    <p:sldId id="428" r:id="rId47"/>
    <p:sldId id="434" r:id="rId48"/>
    <p:sldId id="435" r:id="rId49"/>
    <p:sldId id="430" r:id="rId50"/>
    <p:sldId id="436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3" r:id="rId60"/>
    <p:sldId id="354" r:id="rId61"/>
    <p:sldId id="355" r:id="rId62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0000FF"/>
    <a:srgbClr val="CC99FF"/>
    <a:srgbClr val="FF66FF"/>
    <a:srgbClr val="CC66FF"/>
    <a:srgbClr val="6600FF"/>
    <a:srgbClr val="C6184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307" y="7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4" Type="http://schemas.openxmlformats.org/officeDocument/2006/relationships/image" Target="../media/image118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4" Type="http://schemas.openxmlformats.org/officeDocument/2006/relationships/image" Target="../media/image122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wmf"/><Relationship Id="rId1" Type="http://schemas.openxmlformats.org/officeDocument/2006/relationships/image" Target="../media/image146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54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35F111-07D6-4269-82AA-2D89EFF2B4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481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D6AB83-779A-4B5E-96D6-FB7203C6F09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20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9D1DA8-E05E-4441-BF89-60C3427D1C8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60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84C0DB-4494-4A8F-AE84-11B4D14027C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79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26E48-A188-4BA2-9EA4-8C4C58CAE40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82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CCE0AF-ED7D-41E7-80D8-AB1DD54F9B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42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74F30-261C-4664-A2A7-B2E405AEB7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6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34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4A4A8E-C328-4A91-9E86-0CF9E895569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09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2ABA86-AAA6-4B2C-AC3E-17BDE93D68E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3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071A98-3E9E-4990-9538-D6295AFCD60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26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371C4B-5DA7-43D0-8E21-B44BC429FD1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20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rgbClr val="FF99FF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43FAF8-5779-4533-8320-00C2ECCD92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9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5" Type="http://schemas.openxmlformats.org/officeDocument/2006/relationships/hyperlink" Target="../Papers%20and%20books/z7.Mathematical%20Methods.pdf" TargetMode="External"/><Relationship Id="rId4" Type="http://schemas.openxmlformats.org/officeDocument/2006/relationships/image" Target="../media/image69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70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7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6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8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9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10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104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10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07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109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10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7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114.png"/><Relationship Id="rId4" Type="http://schemas.openxmlformats.org/officeDocument/2006/relationships/image" Target="../media/image112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11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15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123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24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27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29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32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135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6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8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45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46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727FD7-8EEE-4D6C-8C1B-26034B4C8344}" type="slidenum">
              <a:rPr lang="en-US" sz="1050"/>
              <a:pPr>
                <a:defRPr/>
              </a:pPr>
              <a:t>1</a:t>
            </a:fld>
            <a:endParaRPr lang="en-US" sz="1050" dirty="0"/>
          </a:p>
        </p:txBody>
      </p:sp>
      <p:sp>
        <p:nvSpPr>
          <p:cNvPr id="97283" name="Text Box 4"/>
          <p:cNvSpPr txBox="1">
            <a:spLocks noChangeArrowheads="1"/>
          </p:cNvSpPr>
          <p:nvPr/>
        </p:nvSpPr>
        <p:spPr bwMode="auto">
          <a:xfrm>
            <a:off x="2099154" y="774398"/>
            <a:ext cx="4941417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Tahoma" pitchFamily="34" charset="0"/>
              </a:rPr>
              <a:t>Review of assumptions for </a:t>
            </a:r>
            <a:r>
              <a:rPr lang="en-US" sz="1800" i="1" dirty="0">
                <a:latin typeface="Tahoma" pitchFamily="34" charset="0"/>
              </a:rPr>
              <a:t>NTE </a:t>
            </a:r>
            <a:r>
              <a:rPr lang="en-US" sz="1800" dirty="0">
                <a:latin typeface="Tahoma" pitchFamily="34" charset="0"/>
              </a:rPr>
              <a:t>(</a:t>
            </a:r>
            <a:r>
              <a:rPr lang="en-US" sz="1800" i="1" dirty="0">
                <a:latin typeface="Tahoma" pitchFamily="34" charset="0"/>
              </a:rPr>
              <a:t>or NBE</a:t>
            </a:r>
            <a:r>
              <a:rPr lang="en-US" sz="1800" dirty="0">
                <a:latin typeface="Tahoma" pitchFamily="34" charset="0"/>
              </a:rPr>
              <a:t>)</a:t>
            </a:r>
          </a:p>
          <a:p>
            <a:r>
              <a:rPr lang="en-US" sz="1800" dirty="0">
                <a:latin typeface="Tahoma" pitchFamily="34" charset="0"/>
              </a:rPr>
              <a:t> + Classical motion between collisions</a:t>
            </a:r>
          </a:p>
          <a:p>
            <a:r>
              <a:rPr lang="en-US" sz="1800" dirty="0">
                <a:latin typeface="Tahoma" pitchFamily="34" charset="0"/>
              </a:rPr>
              <a:t> + Quantum mechanics characterizes collisions</a:t>
            </a:r>
          </a:p>
          <a:p>
            <a:r>
              <a:rPr lang="en-US" sz="1800" dirty="0">
                <a:latin typeface="Tahoma" pitchFamily="34" charset="0"/>
              </a:rPr>
              <a:t> + Instantaneous collisions in time and space</a:t>
            </a:r>
          </a:p>
          <a:p>
            <a:r>
              <a:rPr lang="en-US" sz="1800" dirty="0">
                <a:latin typeface="Tahoma" pitchFamily="34" charset="0"/>
              </a:rPr>
              <a:t> + Ignore </a:t>
            </a:r>
            <a:r>
              <a:rPr lang="en-US" sz="1800" i="1" dirty="0">
                <a:latin typeface="Tahoma" pitchFamily="34" charset="0"/>
              </a:rPr>
              <a:t>n-n</a:t>
            </a:r>
            <a:r>
              <a:rPr lang="en-US" sz="1800" dirty="0">
                <a:latin typeface="Tahoma" pitchFamily="34" charset="0"/>
              </a:rPr>
              <a:t> collisions</a:t>
            </a:r>
          </a:p>
          <a:p>
            <a:r>
              <a:rPr lang="en-US" sz="1800" dirty="0">
                <a:latin typeface="Tahoma" pitchFamily="34" charset="0"/>
              </a:rPr>
              <a:t> + Rotationally invariant scattering</a:t>
            </a:r>
          </a:p>
          <a:p>
            <a:r>
              <a:rPr lang="en-US" sz="1800" dirty="0">
                <a:latin typeface="Tahoma" pitchFamily="34" charset="0"/>
              </a:rPr>
              <a:t> + Ignore particle correlations </a:t>
            </a:r>
            <a:endParaRPr lang="en-US" sz="1800" b="1" dirty="0"/>
          </a:p>
        </p:txBody>
      </p:sp>
      <p:sp>
        <p:nvSpPr>
          <p:cNvPr id="97284" name="Text Box 5"/>
          <p:cNvSpPr txBox="1">
            <a:spLocks noChangeArrowheads="1"/>
          </p:cNvSpPr>
          <p:nvPr/>
        </p:nvSpPr>
        <p:spPr bwMode="auto">
          <a:xfrm>
            <a:off x="1905507" y="267494"/>
            <a:ext cx="4786888" cy="369332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1800" b="1" dirty="0">
                <a:solidFill>
                  <a:srgbClr val="6600FF"/>
                </a:solidFill>
                <a:latin typeface="Tahoma" pitchFamily="34" charset="0"/>
              </a:rPr>
              <a:t>The Neutron Boltzmann Equation (</a:t>
            </a:r>
            <a:r>
              <a:rPr lang="en-US" sz="1800" b="1" i="1" dirty="0">
                <a:solidFill>
                  <a:srgbClr val="6600FF"/>
                </a:solidFill>
                <a:latin typeface="Tahoma" pitchFamily="34" charset="0"/>
              </a:rPr>
              <a:t>NBE</a:t>
            </a:r>
            <a:r>
              <a:rPr lang="en-US" sz="1800" b="1" dirty="0">
                <a:solidFill>
                  <a:srgbClr val="6600FF"/>
                </a:solidFill>
                <a:latin typeface="Tahoma" pitchFamily="34" charset="0"/>
              </a:rPr>
              <a:t>)</a:t>
            </a:r>
          </a:p>
        </p:txBody>
      </p:sp>
      <p:sp>
        <p:nvSpPr>
          <p:cNvPr id="97285" name="Text Box 6"/>
          <p:cNvSpPr txBox="1">
            <a:spLocks noChangeArrowheads="1"/>
          </p:cNvSpPr>
          <p:nvPr/>
        </p:nvSpPr>
        <p:spPr bwMode="auto">
          <a:xfrm>
            <a:off x="2090765" y="2814390"/>
            <a:ext cx="5339923" cy="646331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There is a more fundamental derivation of the </a:t>
            </a:r>
            <a:r>
              <a:rPr lang="en-US" sz="1800" i="1" dirty="0"/>
              <a:t>NTE</a:t>
            </a:r>
          </a:p>
          <a:p>
            <a:r>
              <a:rPr lang="en-US" sz="1800" dirty="0"/>
              <a:t>from kinetic theory and statistical mechanics</a:t>
            </a:r>
          </a:p>
        </p:txBody>
      </p:sp>
      <p:sp>
        <p:nvSpPr>
          <p:cNvPr id="97286" name="Text Box 8"/>
          <p:cNvSpPr txBox="1">
            <a:spLocks noChangeArrowheads="1"/>
          </p:cNvSpPr>
          <p:nvPr/>
        </p:nvSpPr>
        <p:spPr bwMode="auto">
          <a:xfrm>
            <a:off x="1003300" y="3475672"/>
            <a:ext cx="7670800" cy="1477328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b="1" i="1" dirty="0"/>
              <a:t>An Introduction to the Theory of the Boltzmann Equation</a:t>
            </a:r>
          </a:p>
          <a:p>
            <a:r>
              <a:rPr lang="en-US" sz="1800" dirty="0"/>
              <a:t>Stewart Harris, Dover (1971).</a:t>
            </a:r>
          </a:p>
          <a:p>
            <a:r>
              <a:rPr lang="en-US" sz="1800" b="1" i="1" dirty="0"/>
              <a:t>The Boltzmann Equation and its Applications </a:t>
            </a:r>
            <a:r>
              <a:rPr lang="en-US" sz="1800" dirty="0"/>
              <a:t>by C. Cercignani,</a:t>
            </a:r>
          </a:p>
          <a:p>
            <a:r>
              <a:rPr lang="en-US" sz="1800" dirty="0"/>
              <a:t>Springer-Verlag, (1988).</a:t>
            </a:r>
          </a:p>
          <a:p>
            <a:r>
              <a:rPr lang="en-US" sz="1800" b="1" i="1" dirty="0"/>
              <a:t>Statistical Mechanics</a:t>
            </a:r>
            <a:r>
              <a:rPr lang="en-US" sz="1800" dirty="0"/>
              <a:t>, A.I. Khinchin and G. Gamov, Dover, 1940.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04013" y="1055956"/>
            <a:ext cx="8419292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00" dirty="0">
              <a:sym typeface="Wingdings" pitchFamily="2" charset="2"/>
            </a:endParaRPr>
          </a:p>
          <a:p>
            <a:r>
              <a:rPr lang="en-US" sz="2000" dirty="0"/>
              <a:t>  Kinetic theory </a:t>
            </a:r>
            <a:r>
              <a:rPr lang="en-US" sz="2000" i="1" dirty="0"/>
              <a:t>vs </a:t>
            </a:r>
            <a:r>
              <a:rPr lang="en-US" sz="2000" dirty="0"/>
              <a:t>Statistical mechanics </a:t>
            </a:r>
          </a:p>
          <a:p>
            <a:endParaRPr lang="en-US" sz="1100" dirty="0"/>
          </a:p>
          <a:p>
            <a:r>
              <a:rPr lang="en-US" sz="2000" dirty="0">
                <a:latin typeface="Symbol" pitchFamily="18" charset="2"/>
              </a:rPr>
              <a:t>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/>
              <a:t> </a:t>
            </a:r>
            <a:r>
              <a:rPr lang="en-US" sz="2000" u="sng" dirty="0"/>
              <a:t>Kinetic theory</a:t>
            </a:r>
            <a:r>
              <a:rPr lang="en-US" sz="2000" dirty="0"/>
              <a:t> considers motion of separate particles</a:t>
            </a:r>
          </a:p>
          <a:p>
            <a:pPr marL="342900" indent="-342900">
              <a:buFont typeface="Symbol" panose="05050102010706020507" pitchFamily="18" charset="2"/>
              <a:buChar char=" "/>
            </a:pPr>
            <a:r>
              <a:rPr lang="en-US" sz="2000" dirty="0"/>
              <a:t> from a deterministic mathematical formulation based </a:t>
            </a:r>
          </a:p>
          <a:p>
            <a:pPr marL="342900" indent="-342900">
              <a:buFont typeface="Symbol" panose="05050102010706020507" pitchFamily="18" charset="2"/>
              <a:buChar char=" "/>
            </a:pPr>
            <a:r>
              <a:rPr lang="en-US" sz="2000" dirty="0"/>
              <a:t> on fundamental physical laws of particle interaction.</a:t>
            </a:r>
          </a:p>
          <a:p>
            <a:endParaRPr lang="en-US" sz="800" dirty="0"/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+</a:t>
            </a:r>
            <a:r>
              <a:rPr lang="en-US" sz="2000" dirty="0"/>
              <a:t> </a:t>
            </a:r>
            <a:r>
              <a:rPr lang="en-US" sz="2000" u="sng" dirty="0"/>
              <a:t>Statistical mechanics</a:t>
            </a:r>
            <a:r>
              <a:rPr lang="en-US" sz="2000" dirty="0"/>
              <a:t> enables the determination of </a:t>
            </a:r>
          </a:p>
          <a:p>
            <a:r>
              <a:rPr lang="en-US" sz="2000" dirty="0"/>
              <a:t>      macroscopically observed system properties from </a:t>
            </a:r>
          </a:p>
          <a:p>
            <a:r>
              <a:rPr lang="en-US" sz="2000" dirty="0"/>
              <a:t>      microscopic particle behavior with as few hypotheses</a:t>
            </a:r>
          </a:p>
          <a:p>
            <a:r>
              <a:rPr lang="en-US" sz="2000" dirty="0"/>
              <a:t>      regarding the particle nature or forces as possible.                             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2</a:t>
            </a:fld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DB3004-10F0-4E38-9057-936A1A63BA7E}" type="slidenum">
              <a:rPr lang="en-US" sz="1100"/>
              <a:pPr>
                <a:defRPr/>
              </a:pPr>
              <a:t>3</a:t>
            </a:fld>
            <a:endParaRPr lang="en-US" sz="1100" dirty="0"/>
          </a:p>
        </p:txBody>
      </p:sp>
      <p:sp>
        <p:nvSpPr>
          <p:cNvPr id="98307" name="Text Box 4"/>
          <p:cNvSpPr txBox="1">
            <a:spLocks noChangeArrowheads="1"/>
          </p:cNvSpPr>
          <p:nvPr/>
        </p:nvSpPr>
        <p:spPr bwMode="auto">
          <a:xfrm>
            <a:off x="3175024" y="162322"/>
            <a:ext cx="2993127" cy="400110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General Physical Setting</a:t>
            </a:r>
          </a:p>
        </p:txBody>
      </p:sp>
      <p:sp>
        <p:nvSpPr>
          <p:cNvPr id="98308" name="Text Box 5"/>
          <p:cNvSpPr txBox="1">
            <a:spLocks noChangeArrowheads="1"/>
          </p:cNvSpPr>
          <p:nvPr/>
        </p:nvSpPr>
        <p:spPr bwMode="auto">
          <a:xfrm>
            <a:off x="3133726" y="701279"/>
            <a:ext cx="3108325" cy="40011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Statistical Mechanics</a:t>
            </a:r>
          </a:p>
        </p:txBody>
      </p:sp>
      <p:sp>
        <p:nvSpPr>
          <p:cNvPr id="98309" name="Text Box 6"/>
          <p:cNvSpPr txBox="1">
            <a:spLocks noChangeArrowheads="1"/>
          </p:cNvSpPr>
          <p:nvPr/>
        </p:nvSpPr>
        <p:spPr bwMode="auto">
          <a:xfrm>
            <a:off x="211139" y="2099073"/>
            <a:ext cx="2480166" cy="40011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Boltzmann Equation</a:t>
            </a:r>
          </a:p>
        </p:txBody>
      </p:sp>
      <p:sp>
        <p:nvSpPr>
          <p:cNvPr id="98310" name="Text Box 7"/>
          <p:cNvSpPr txBox="1">
            <a:spLocks noChangeArrowheads="1"/>
          </p:cNvSpPr>
          <p:nvPr/>
        </p:nvSpPr>
        <p:spPr bwMode="auto">
          <a:xfrm>
            <a:off x="6491288" y="1590675"/>
            <a:ext cx="2398712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Vlasov Equation</a:t>
            </a:r>
          </a:p>
        </p:txBody>
      </p:sp>
      <p:sp>
        <p:nvSpPr>
          <p:cNvPr id="98311" name="Text Box 8"/>
          <p:cNvSpPr txBox="1">
            <a:spLocks noChangeArrowheads="1"/>
          </p:cNvSpPr>
          <p:nvPr/>
        </p:nvSpPr>
        <p:spPr bwMode="auto">
          <a:xfrm>
            <a:off x="215900" y="2680098"/>
            <a:ext cx="3333285" cy="40011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Neutron Transport Equation</a:t>
            </a:r>
          </a:p>
        </p:txBody>
      </p:sp>
      <p:sp>
        <p:nvSpPr>
          <p:cNvPr id="98312" name="Text Box 9"/>
          <p:cNvSpPr txBox="1">
            <a:spLocks noChangeArrowheads="1"/>
          </p:cNvSpPr>
          <p:nvPr/>
        </p:nvSpPr>
        <p:spPr bwMode="auto">
          <a:xfrm>
            <a:off x="3852863" y="2107407"/>
            <a:ext cx="32131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Continuum Mechanics</a:t>
            </a:r>
          </a:p>
        </p:txBody>
      </p:sp>
      <p:sp>
        <p:nvSpPr>
          <p:cNvPr id="98313" name="Text Box 10"/>
          <p:cNvSpPr txBox="1">
            <a:spLocks noChangeArrowheads="1"/>
          </p:cNvSpPr>
          <p:nvPr/>
        </p:nvSpPr>
        <p:spPr bwMode="auto">
          <a:xfrm>
            <a:off x="566739" y="3426619"/>
            <a:ext cx="2262351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Diffusion Equation</a:t>
            </a:r>
          </a:p>
        </p:txBody>
      </p:sp>
      <p:sp>
        <p:nvSpPr>
          <p:cNvPr id="98314" name="Text Box 11"/>
          <p:cNvSpPr txBox="1">
            <a:spLocks noChangeArrowheads="1"/>
          </p:cNvSpPr>
          <p:nvPr/>
        </p:nvSpPr>
        <p:spPr bwMode="auto">
          <a:xfrm>
            <a:off x="4451350" y="3445669"/>
            <a:ext cx="2896947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Slowing Down Equation</a:t>
            </a:r>
          </a:p>
        </p:txBody>
      </p:sp>
      <p:sp>
        <p:nvSpPr>
          <p:cNvPr id="98315" name="Line 12"/>
          <p:cNvSpPr>
            <a:spLocks noChangeShapeType="1"/>
          </p:cNvSpPr>
          <p:nvPr/>
        </p:nvSpPr>
        <p:spPr bwMode="auto">
          <a:xfrm flipH="1">
            <a:off x="1825625" y="2474119"/>
            <a:ext cx="1588" cy="2024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16" name="Line 13"/>
          <p:cNvSpPr>
            <a:spLocks noChangeShapeType="1"/>
          </p:cNvSpPr>
          <p:nvPr/>
        </p:nvSpPr>
        <p:spPr bwMode="auto">
          <a:xfrm flipH="1">
            <a:off x="1862138" y="3058717"/>
            <a:ext cx="0" cy="3643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17" name="Line 14"/>
          <p:cNvSpPr>
            <a:spLocks noChangeShapeType="1"/>
          </p:cNvSpPr>
          <p:nvPr/>
        </p:nvSpPr>
        <p:spPr bwMode="auto">
          <a:xfrm>
            <a:off x="1858780" y="3035508"/>
            <a:ext cx="4338821" cy="386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18" name="Line 15"/>
          <p:cNvSpPr>
            <a:spLocks noChangeShapeType="1"/>
          </p:cNvSpPr>
          <p:nvPr/>
        </p:nvSpPr>
        <p:spPr bwMode="auto">
          <a:xfrm>
            <a:off x="4596063" y="1046748"/>
            <a:ext cx="3130300" cy="5201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19" name="Line 16"/>
          <p:cNvSpPr>
            <a:spLocks noChangeShapeType="1"/>
          </p:cNvSpPr>
          <p:nvPr/>
        </p:nvSpPr>
        <p:spPr bwMode="auto">
          <a:xfrm>
            <a:off x="1843088" y="3781425"/>
            <a:ext cx="0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20" name="Text Box 17"/>
          <p:cNvSpPr txBox="1">
            <a:spLocks noChangeArrowheads="1"/>
          </p:cNvSpPr>
          <p:nvPr/>
        </p:nvSpPr>
        <p:spPr bwMode="auto">
          <a:xfrm>
            <a:off x="252413" y="4208860"/>
            <a:ext cx="2744854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MG Diffusion Equation</a:t>
            </a:r>
          </a:p>
        </p:txBody>
      </p:sp>
      <p:sp>
        <p:nvSpPr>
          <p:cNvPr id="98321" name="Line 18"/>
          <p:cNvSpPr>
            <a:spLocks noChangeShapeType="1"/>
          </p:cNvSpPr>
          <p:nvPr/>
        </p:nvSpPr>
        <p:spPr bwMode="auto">
          <a:xfrm>
            <a:off x="7810500" y="1957388"/>
            <a:ext cx="12700" cy="7346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22" name="Text Box 20"/>
          <p:cNvSpPr txBox="1">
            <a:spLocks noChangeArrowheads="1"/>
          </p:cNvSpPr>
          <p:nvPr/>
        </p:nvSpPr>
        <p:spPr bwMode="auto">
          <a:xfrm>
            <a:off x="7537451" y="2690813"/>
            <a:ext cx="860425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……</a:t>
            </a:r>
            <a:r>
              <a:rPr lang="en-US" sz="1600" dirty="0"/>
              <a:t> </a:t>
            </a:r>
          </a:p>
        </p:txBody>
      </p:sp>
      <p:sp>
        <p:nvSpPr>
          <p:cNvPr id="98323" name="Text Box 22"/>
          <p:cNvSpPr txBox="1">
            <a:spLocks noChangeArrowheads="1"/>
          </p:cNvSpPr>
          <p:nvPr/>
        </p:nvSpPr>
        <p:spPr bwMode="auto">
          <a:xfrm>
            <a:off x="4133851" y="4218385"/>
            <a:ext cx="3379451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MG Slowing Down Equation</a:t>
            </a:r>
          </a:p>
        </p:txBody>
      </p:sp>
      <p:sp>
        <p:nvSpPr>
          <p:cNvPr id="98324" name="Line 23"/>
          <p:cNvSpPr>
            <a:spLocks noChangeShapeType="1"/>
          </p:cNvSpPr>
          <p:nvPr/>
        </p:nvSpPr>
        <p:spPr bwMode="auto">
          <a:xfrm>
            <a:off x="6200775" y="3792141"/>
            <a:ext cx="0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25" name="Line 24"/>
          <p:cNvSpPr>
            <a:spLocks noChangeShapeType="1"/>
          </p:cNvSpPr>
          <p:nvPr/>
        </p:nvSpPr>
        <p:spPr bwMode="auto">
          <a:xfrm flipH="1">
            <a:off x="1714501" y="1055771"/>
            <a:ext cx="2893595" cy="525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26" name="Line 25"/>
          <p:cNvSpPr>
            <a:spLocks noChangeShapeType="1"/>
          </p:cNvSpPr>
          <p:nvPr/>
        </p:nvSpPr>
        <p:spPr bwMode="auto">
          <a:xfrm>
            <a:off x="3175000" y="2276475"/>
            <a:ext cx="67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8327" name="Text Box 26"/>
          <p:cNvSpPr txBox="1">
            <a:spLocks noChangeArrowheads="1"/>
          </p:cNvSpPr>
          <p:nvPr/>
        </p:nvSpPr>
        <p:spPr bwMode="auto">
          <a:xfrm>
            <a:off x="1165225" y="1596629"/>
            <a:ext cx="956993" cy="40011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BBGKY</a:t>
            </a:r>
          </a:p>
        </p:txBody>
      </p:sp>
      <p:sp>
        <p:nvSpPr>
          <p:cNvPr id="98328" name="Line 27"/>
          <p:cNvSpPr>
            <a:spLocks noChangeShapeType="1"/>
          </p:cNvSpPr>
          <p:nvPr/>
        </p:nvSpPr>
        <p:spPr bwMode="auto">
          <a:xfrm>
            <a:off x="1727200" y="1962150"/>
            <a:ext cx="0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oter Placeholder 4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14007D-11DF-4785-A6C2-AF920022367D}" type="slidenum">
              <a:rPr lang="en-US" sz="1100"/>
              <a:pPr>
                <a:defRPr/>
              </a:pPr>
              <a:t>4</a:t>
            </a:fld>
            <a:endParaRPr lang="en-US" sz="1100" dirty="0"/>
          </a:p>
        </p:txBody>
      </p:sp>
      <p:sp>
        <p:nvSpPr>
          <p:cNvPr id="5136" name="Text Box 3"/>
          <p:cNvSpPr txBox="1">
            <a:spLocks noChangeArrowheads="1"/>
          </p:cNvSpPr>
          <p:nvPr/>
        </p:nvSpPr>
        <p:spPr bwMode="auto">
          <a:xfrm>
            <a:off x="1054853" y="933769"/>
            <a:ext cx="80891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a system of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interacting structure-less particles</a:t>
            </a:r>
          </a:p>
        </p:txBody>
      </p:sp>
      <p:grpSp>
        <p:nvGrpSpPr>
          <p:cNvPr id="5137" name="Group 5"/>
          <p:cNvGrpSpPr>
            <a:grpSpLocks/>
          </p:cNvGrpSpPr>
          <p:nvPr/>
        </p:nvGrpSpPr>
        <p:grpSpPr bwMode="auto">
          <a:xfrm>
            <a:off x="1767958" y="1458681"/>
            <a:ext cx="5195888" cy="2232422"/>
            <a:chOff x="1034" y="1685"/>
            <a:chExt cx="3273" cy="1875"/>
          </a:xfrm>
        </p:grpSpPr>
        <p:grpSp>
          <p:nvGrpSpPr>
            <p:cNvPr id="5146" name="Group 6"/>
            <p:cNvGrpSpPr>
              <a:grpSpLocks/>
            </p:cNvGrpSpPr>
            <p:nvPr/>
          </p:nvGrpSpPr>
          <p:grpSpPr bwMode="auto">
            <a:xfrm>
              <a:off x="1034" y="1685"/>
              <a:ext cx="3273" cy="1875"/>
              <a:chOff x="1034" y="1685"/>
              <a:chExt cx="3273" cy="1875"/>
            </a:xfrm>
          </p:grpSpPr>
          <p:sp>
            <p:nvSpPr>
              <p:cNvPr id="5148" name="Oval 7"/>
              <p:cNvSpPr>
                <a:spLocks noChangeArrowheads="1"/>
              </p:cNvSpPr>
              <p:nvPr/>
            </p:nvSpPr>
            <p:spPr bwMode="auto">
              <a:xfrm>
                <a:off x="2517" y="2083"/>
                <a:ext cx="322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5149" name="Oval 8"/>
              <p:cNvSpPr>
                <a:spLocks noChangeArrowheads="1"/>
              </p:cNvSpPr>
              <p:nvPr/>
            </p:nvSpPr>
            <p:spPr bwMode="auto">
              <a:xfrm>
                <a:off x="3147" y="2543"/>
                <a:ext cx="322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5150" name="Oval 9"/>
              <p:cNvSpPr>
                <a:spLocks noChangeArrowheads="1"/>
              </p:cNvSpPr>
              <p:nvPr/>
            </p:nvSpPr>
            <p:spPr bwMode="auto">
              <a:xfrm>
                <a:off x="2128" y="2819"/>
                <a:ext cx="322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5151" name="Oval 10"/>
              <p:cNvSpPr>
                <a:spLocks noChangeArrowheads="1"/>
              </p:cNvSpPr>
              <p:nvPr/>
            </p:nvSpPr>
            <p:spPr bwMode="auto">
              <a:xfrm>
                <a:off x="3314" y="3193"/>
                <a:ext cx="322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5152" name="Oval 11"/>
              <p:cNvSpPr>
                <a:spLocks noChangeArrowheads="1"/>
              </p:cNvSpPr>
              <p:nvPr/>
            </p:nvSpPr>
            <p:spPr bwMode="auto">
              <a:xfrm>
                <a:off x="3889" y="1930"/>
                <a:ext cx="322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5153" name="Line 12"/>
              <p:cNvSpPr>
                <a:spLocks noChangeShapeType="1"/>
              </p:cNvSpPr>
              <p:nvPr/>
            </p:nvSpPr>
            <p:spPr bwMode="auto">
              <a:xfrm flipH="1" flipV="1">
                <a:off x="2178" y="1880"/>
                <a:ext cx="500" cy="3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54" name="Line 13"/>
              <p:cNvSpPr>
                <a:spLocks noChangeShapeType="1"/>
              </p:cNvSpPr>
              <p:nvPr/>
            </p:nvSpPr>
            <p:spPr bwMode="auto">
              <a:xfrm flipV="1">
                <a:off x="2322" y="2617"/>
                <a:ext cx="441" cy="3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55" name="Line 14"/>
              <p:cNvSpPr>
                <a:spLocks noChangeShapeType="1"/>
              </p:cNvSpPr>
              <p:nvPr/>
            </p:nvSpPr>
            <p:spPr bwMode="auto">
              <a:xfrm flipV="1">
                <a:off x="3338" y="2498"/>
                <a:ext cx="652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56" name="Line 15"/>
              <p:cNvSpPr>
                <a:spLocks noChangeShapeType="1"/>
              </p:cNvSpPr>
              <p:nvPr/>
            </p:nvSpPr>
            <p:spPr bwMode="auto">
              <a:xfrm flipH="1">
                <a:off x="3754" y="2057"/>
                <a:ext cx="313" cy="6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57" name="Line 16"/>
              <p:cNvSpPr>
                <a:spLocks noChangeShapeType="1"/>
              </p:cNvSpPr>
              <p:nvPr/>
            </p:nvSpPr>
            <p:spPr bwMode="auto">
              <a:xfrm flipV="1">
                <a:off x="3508" y="2753"/>
                <a:ext cx="110" cy="5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graphicFrame>
            <p:nvGraphicFramePr>
              <p:cNvPr id="5125" name="Object 17"/>
              <p:cNvGraphicFramePr>
                <a:graphicFrameLocks noChangeAspect="1"/>
              </p:cNvGraphicFramePr>
              <p:nvPr/>
            </p:nvGraphicFramePr>
            <p:xfrm>
              <a:off x="1906" y="1685"/>
              <a:ext cx="262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19" name="Equation" r:id="rId3" imgW="177480" imgH="228600" progId="Equation.DSMT4">
                      <p:embed/>
                    </p:oleObj>
                  </mc:Choice>
                  <mc:Fallback>
                    <p:oleObj name="Equation" r:id="rId3" imgW="177480" imgH="228600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6" y="1685"/>
                            <a:ext cx="262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58" name="Line 18"/>
              <p:cNvSpPr>
                <a:spLocks noChangeShapeType="1"/>
              </p:cNvSpPr>
              <p:nvPr/>
            </p:nvSpPr>
            <p:spPr bwMode="auto">
              <a:xfrm flipV="1">
                <a:off x="1034" y="2964"/>
                <a:ext cx="1245" cy="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59" name="Line 19"/>
              <p:cNvSpPr>
                <a:spLocks noChangeShapeType="1"/>
              </p:cNvSpPr>
              <p:nvPr/>
            </p:nvSpPr>
            <p:spPr bwMode="auto">
              <a:xfrm>
                <a:off x="1068" y="3151"/>
                <a:ext cx="2423" cy="1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60" name="Line 20"/>
              <p:cNvSpPr>
                <a:spLocks noChangeShapeType="1"/>
              </p:cNvSpPr>
              <p:nvPr/>
            </p:nvSpPr>
            <p:spPr bwMode="auto">
              <a:xfrm flipV="1">
                <a:off x="1060" y="2685"/>
                <a:ext cx="2227" cy="4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61" name="Line 21"/>
              <p:cNvSpPr>
                <a:spLocks noChangeShapeType="1"/>
              </p:cNvSpPr>
              <p:nvPr/>
            </p:nvSpPr>
            <p:spPr bwMode="auto">
              <a:xfrm flipV="1">
                <a:off x="1076" y="2084"/>
                <a:ext cx="2982" cy="10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graphicFrame>
            <p:nvGraphicFramePr>
              <p:cNvPr id="5126" name="Object 22"/>
              <p:cNvGraphicFramePr>
                <a:graphicFrameLocks noChangeAspect="1"/>
              </p:cNvGraphicFramePr>
              <p:nvPr/>
            </p:nvGraphicFramePr>
            <p:xfrm>
              <a:off x="2756" y="2374"/>
              <a:ext cx="280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0" name="Equation" r:id="rId5" imgW="190440" imgH="228600" progId="Equation.DSMT4">
                      <p:embed/>
                    </p:oleObj>
                  </mc:Choice>
                  <mc:Fallback>
                    <p:oleObj name="Equation" r:id="rId5" imgW="190440" imgH="22860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6" y="2374"/>
                            <a:ext cx="280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7" name="Object 23"/>
              <p:cNvGraphicFramePr>
                <a:graphicFrameLocks noChangeAspect="1"/>
              </p:cNvGraphicFramePr>
              <p:nvPr/>
            </p:nvGraphicFramePr>
            <p:xfrm>
              <a:off x="3755" y="2561"/>
              <a:ext cx="281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1" name="Equation" r:id="rId7" imgW="190440" imgH="228600" progId="Equation.DSMT4">
                      <p:embed/>
                    </p:oleObj>
                  </mc:Choice>
                  <mc:Fallback>
                    <p:oleObj name="Equation" r:id="rId7" imgW="190440" imgH="228600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5" y="2561"/>
                            <a:ext cx="281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8" name="Object 24"/>
              <p:cNvGraphicFramePr>
                <a:graphicFrameLocks noChangeAspect="1"/>
              </p:cNvGraphicFramePr>
              <p:nvPr/>
            </p:nvGraphicFramePr>
            <p:xfrm>
              <a:off x="3561" y="2645"/>
              <a:ext cx="281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2" name="Equation" r:id="rId9" imgW="190440" imgH="228600" progId="Equation.DSMT4">
                      <p:embed/>
                    </p:oleObj>
                  </mc:Choice>
                  <mc:Fallback>
                    <p:oleObj name="Equation" r:id="rId9" imgW="190440" imgH="2286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61" y="2645"/>
                            <a:ext cx="281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9" name="Object 25"/>
              <p:cNvGraphicFramePr>
                <a:graphicFrameLocks noChangeAspect="1"/>
              </p:cNvGraphicFramePr>
              <p:nvPr/>
            </p:nvGraphicFramePr>
            <p:xfrm>
              <a:off x="4026" y="2322"/>
              <a:ext cx="281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3" name="Equation" r:id="rId11" imgW="190440" imgH="228600" progId="Equation.DSMT4">
                      <p:embed/>
                    </p:oleObj>
                  </mc:Choice>
                  <mc:Fallback>
                    <p:oleObj name="Equation" r:id="rId11" imgW="190440" imgH="228600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6" y="2322"/>
                            <a:ext cx="281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0" name="Object 26"/>
              <p:cNvGraphicFramePr>
                <a:graphicFrameLocks noChangeAspect="1"/>
              </p:cNvGraphicFramePr>
              <p:nvPr/>
            </p:nvGraphicFramePr>
            <p:xfrm>
              <a:off x="1850" y="2272"/>
              <a:ext cx="225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4" name="Equation" r:id="rId13" imgW="152280" imgH="228600" progId="Equation.DSMT4">
                      <p:embed/>
                    </p:oleObj>
                  </mc:Choice>
                  <mc:Fallback>
                    <p:oleObj name="Equation" r:id="rId13" imgW="152280" imgH="228600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50" y="2272"/>
                            <a:ext cx="225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1" name="Object 27"/>
              <p:cNvGraphicFramePr>
                <a:graphicFrameLocks noChangeAspect="1"/>
              </p:cNvGraphicFramePr>
              <p:nvPr/>
            </p:nvGraphicFramePr>
            <p:xfrm>
              <a:off x="2141" y="2386"/>
              <a:ext cx="244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5" name="Equation" r:id="rId15" imgW="164880" imgH="228600" progId="Equation.DSMT4">
                      <p:embed/>
                    </p:oleObj>
                  </mc:Choice>
                  <mc:Fallback>
                    <p:oleObj name="Equation" r:id="rId15" imgW="164880" imgH="228600" progId="Equation.DSMT4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1" y="2386"/>
                            <a:ext cx="244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2" name="Object 28"/>
              <p:cNvGraphicFramePr>
                <a:graphicFrameLocks noChangeAspect="1"/>
              </p:cNvGraphicFramePr>
              <p:nvPr/>
            </p:nvGraphicFramePr>
            <p:xfrm>
              <a:off x="1821" y="2896"/>
              <a:ext cx="243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6" name="Equation" r:id="rId17" imgW="164880" imgH="228600" progId="Equation.DSMT4">
                      <p:embed/>
                    </p:oleObj>
                  </mc:Choice>
                  <mc:Fallback>
                    <p:oleObj name="Equation" r:id="rId17" imgW="164880" imgH="228600" progId="Equation.DSMT4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1" y="2896"/>
                            <a:ext cx="243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3" name="Object 29"/>
              <p:cNvGraphicFramePr>
                <a:graphicFrameLocks noChangeAspect="1"/>
              </p:cNvGraphicFramePr>
              <p:nvPr/>
            </p:nvGraphicFramePr>
            <p:xfrm>
              <a:off x="2807" y="2679"/>
              <a:ext cx="244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7" name="Equation" r:id="rId19" imgW="164880" imgH="228600" progId="Equation.DSMT4">
                      <p:embed/>
                    </p:oleObj>
                  </mc:Choice>
                  <mc:Fallback>
                    <p:oleObj name="Equation" r:id="rId19" imgW="164880" imgH="228600" progId="Equation.DSMT4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07" y="2679"/>
                            <a:ext cx="244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4" name="Object 30"/>
              <p:cNvGraphicFramePr>
                <a:graphicFrameLocks noChangeAspect="1"/>
              </p:cNvGraphicFramePr>
              <p:nvPr/>
            </p:nvGraphicFramePr>
            <p:xfrm>
              <a:off x="2521" y="3191"/>
              <a:ext cx="244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3028" name="Equation" r:id="rId21" imgW="164880" imgH="228600" progId="Equation.DSMT4">
                      <p:embed/>
                    </p:oleObj>
                  </mc:Choice>
                  <mc:Fallback>
                    <p:oleObj name="Equation" r:id="rId21" imgW="164880" imgH="22860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21" y="3191"/>
                            <a:ext cx="244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147" name="Line 33"/>
            <p:cNvSpPr>
              <a:spLocks noChangeShapeType="1"/>
            </p:cNvSpPr>
            <p:nvPr/>
          </p:nvSpPr>
          <p:spPr bwMode="auto">
            <a:xfrm flipV="1">
              <a:off x="1034" y="2236"/>
              <a:ext cx="1618" cy="9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5138" name="Group 44"/>
          <p:cNvGrpSpPr>
            <a:grpSpLocks/>
          </p:cNvGrpSpPr>
          <p:nvPr/>
        </p:nvGrpSpPr>
        <p:grpSpPr bwMode="auto">
          <a:xfrm>
            <a:off x="2555507" y="3852807"/>
            <a:ext cx="4700588" cy="878682"/>
            <a:chOff x="1464" y="2942"/>
            <a:chExt cx="2961" cy="738"/>
          </a:xfrm>
        </p:grpSpPr>
        <p:graphicFrame>
          <p:nvGraphicFramePr>
            <p:cNvPr id="5123" name="Object 36"/>
            <p:cNvGraphicFramePr>
              <a:graphicFrameLocks noChangeAspect="1"/>
            </p:cNvGraphicFramePr>
            <p:nvPr/>
          </p:nvGraphicFramePr>
          <p:xfrm>
            <a:off x="1949" y="2942"/>
            <a:ext cx="285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029" name="Equation" r:id="rId23" imgW="152280" imgH="228600" progId="Equation.DSMT4">
                    <p:embed/>
                  </p:oleObj>
                </mc:Choice>
                <mc:Fallback>
                  <p:oleObj name="Equation" r:id="rId23" imgW="152280" imgH="2286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9" y="2942"/>
                          <a:ext cx="285" cy="3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3341870"/>
                </p:ext>
              </p:extLst>
            </p:nvPr>
          </p:nvGraphicFramePr>
          <p:xfrm>
            <a:off x="1464" y="3283"/>
            <a:ext cx="752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030" name="Equation" r:id="rId25" imgW="596880" imgH="228600" progId="Equation.DSMT4">
                    <p:embed/>
                  </p:oleObj>
                </mc:Choice>
                <mc:Fallback>
                  <p:oleObj name="Equation" r:id="rId25" imgW="596880" imgH="2286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4" y="3283"/>
                          <a:ext cx="752" cy="39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4" name="Text Box 38"/>
            <p:cNvSpPr txBox="1">
              <a:spLocks noChangeArrowheads="1"/>
            </p:cNvSpPr>
            <p:nvPr/>
          </p:nvSpPr>
          <p:spPr bwMode="auto">
            <a:xfrm>
              <a:off x="2218" y="3002"/>
              <a:ext cx="1518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Position of particle </a:t>
              </a:r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5145" name="Text Box 39"/>
            <p:cNvSpPr txBox="1">
              <a:spLocks noChangeArrowheads="1"/>
            </p:cNvSpPr>
            <p:nvPr/>
          </p:nvSpPr>
          <p:spPr bwMode="auto">
            <a:xfrm>
              <a:off x="2231" y="3301"/>
              <a:ext cx="219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Momentum of particle </a:t>
              </a:r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</p:grpSp>
      <p:sp>
        <p:nvSpPr>
          <p:cNvPr id="44" name="Text Box 42"/>
          <p:cNvSpPr txBox="1">
            <a:spLocks noChangeArrowheads="1"/>
          </p:cNvSpPr>
          <p:nvPr/>
        </p:nvSpPr>
        <p:spPr bwMode="auto">
          <a:xfrm>
            <a:off x="2119891" y="406891"/>
            <a:ext cx="41906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Plausibility Arguments for B-Eqn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288313" y="452189"/>
            <a:ext cx="6837407" cy="3316142"/>
            <a:chOff x="1096926" y="3652589"/>
            <a:chExt cx="6837407" cy="3316142"/>
          </a:xfrm>
        </p:grpSpPr>
        <p:sp>
          <p:nvSpPr>
            <p:cNvPr id="5" name="Text Box 40"/>
            <p:cNvSpPr txBox="1">
              <a:spLocks noChangeArrowheads="1"/>
            </p:cNvSpPr>
            <p:nvPr/>
          </p:nvSpPr>
          <p:spPr bwMode="auto">
            <a:xfrm>
              <a:off x="1096926" y="3652589"/>
              <a:ext cx="542328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+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degrees of freedom</a:t>
              </a:r>
            </a:p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  - Particle described by its coordinate vectors</a:t>
              </a:r>
            </a:p>
            <a:p>
              <a:pPr eaLnBrk="0" hangingPunct="0"/>
              <a:endParaRPr lang="en-US" sz="2000" dirty="0">
                <a:latin typeface="Tahoma" pitchFamily="34" charset="0"/>
              </a:endParaRPr>
            </a:p>
          </p:txBody>
        </p:sp>
        <p:grpSp>
          <p:nvGrpSpPr>
            <p:cNvPr id="6" name="Group 48"/>
            <p:cNvGrpSpPr>
              <a:grpSpLocks/>
            </p:cNvGrpSpPr>
            <p:nvPr/>
          </p:nvGrpSpPr>
          <p:grpSpPr bwMode="auto">
            <a:xfrm>
              <a:off x="1298577" y="4398168"/>
              <a:ext cx="6635756" cy="2570563"/>
              <a:chOff x="233" y="3752"/>
              <a:chExt cx="4180" cy="2159"/>
            </a:xfrm>
          </p:grpSpPr>
          <p:graphicFrame>
            <p:nvGraphicFramePr>
              <p:cNvPr id="7" name="Object 4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13929013"/>
                  </p:ext>
                </p:extLst>
              </p:nvPr>
            </p:nvGraphicFramePr>
            <p:xfrm>
              <a:off x="534" y="3752"/>
              <a:ext cx="3135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641" name="Equation" r:id="rId3" imgW="1676160" imgH="253800" progId="Equation.DSMT4">
                      <p:embed/>
                    </p:oleObj>
                  </mc:Choice>
                  <mc:Fallback>
                    <p:oleObj name="Equation" r:id="rId3" imgW="167616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" y="3752"/>
                            <a:ext cx="3135" cy="44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Text Box 47"/>
              <p:cNvSpPr txBox="1">
                <a:spLocks noChangeArrowheads="1"/>
              </p:cNvSpPr>
              <p:nvPr/>
            </p:nvSpPr>
            <p:spPr bwMode="auto">
              <a:xfrm>
                <a:off x="233" y="4282"/>
                <a:ext cx="4180" cy="16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the order of 10</a:t>
                </a:r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23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molecules/cm</a:t>
                </a:r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2000" dirty="0">
                  <a:latin typeface="Wingdings" panose="05000000000000000000" pitchFamily="2" charset="2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 Defines the </a:t>
                </a:r>
                <a:r>
                  <a:rPr lang="en-US" sz="20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macroscopic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system of particle </a:t>
                </a:r>
                <a:r>
                  <a:rPr lang="en-US" sz="20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microscopic</a:t>
                </a: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states</a:t>
                </a: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 Desire </a:t>
                </a:r>
                <a:r>
                  <a:rPr lang="en-US" sz="20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macroscopic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system observable properties </a:t>
                </a: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US" sz="2000" dirty="0">
                    <a:latin typeface="Wingdings" panose="05000000000000000000" pitchFamily="2" charset="2"/>
                    <a:cs typeface="Arial" panose="020B0604020202020204" pitchFamily="34" charset="0"/>
                  </a:rPr>
                  <a:t>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Based on the </a:t>
                </a:r>
                <a:r>
                  <a:rPr lang="en-US" sz="20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microscopic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particle behavior</a:t>
                </a: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US" sz="2000" dirty="0">
                    <a:latin typeface="Wingdings" panose="05000000000000000000" pitchFamily="2" charset="2"/>
                    <a:cs typeface="Arial" panose="020B0604020202020204" pitchFamily="34" charset="0"/>
                  </a:rPr>
                  <a:t>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Particle interaction generally through unknown forces</a:t>
                </a:r>
              </a:p>
            </p:txBody>
          </p:sp>
        </p:grpSp>
      </p:grpSp>
      <p:sp>
        <p:nvSpPr>
          <p:cNvPr id="9" name="TextBox 8"/>
          <p:cNvSpPr txBox="1"/>
          <p:nvPr/>
        </p:nvSpPr>
        <p:spPr bwMode="auto">
          <a:xfrm>
            <a:off x="606056" y="3965944"/>
            <a:ext cx="83075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Question: Do we need to know the full microscopic nature of the system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               to determine the macroscopic observables? </a:t>
            </a:r>
          </a:p>
        </p:txBody>
      </p:sp>
      <p:sp>
        <p:nvSpPr>
          <p:cNvPr id="10" name="Footer Placeholder 42"/>
          <p:cNvSpPr txBox="1">
            <a:spLocks/>
          </p:cNvSpPr>
          <p:nvPr/>
        </p:nvSpPr>
        <p:spPr>
          <a:xfrm>
            <a:off x="0" y="0"/>
            <a:ext cx="3352800" cy="216694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accent1">
                    <a:shade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</p:spTree>
    <p:extLst>
      <p:ext uri="{BB962C8B-B14F-4D97-AF65-F5344CB8AC3E}">
        <p14:creationId xmlns:p14="http://schemas.microsoft.com/office/powerpoint/2010/main" val="281978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201478" y="393405"/>
            <a:ext cx="56813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Lagrangian description of microscopic physics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467293" y="946298"/>
            <a:ext cx="40722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Assume conservative forces only</a:t>
            </a:r>
          </a:p>
        </p:txBody>
      </p:sp>
      <p:graphicFrame>
        <p:nvGraphicFramePr>
          <p:cNvPr id="6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266745"/>
              </p:ext>
            </p:extLst>
          </p:nvPr>
        </p:nvGraphicFramePr>
        <p:xfrm>
          <a:off x="2455862" y="1261788"/>
          <a:ext cx="400208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24" name="Equation" r:id="rId3" imgW="2311200" imgH="558720" progId="Equation.DSMT4">
                  <p:embed/>
                </p:oleObj>
              </mc:Choice>
              <mc:Fallback>
                <p:oleObj name="Equation" r:id="rId3" imgW="23112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2" y="1261788"/>
                        <a:ext cx="4002088" cy="935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690577" y="2169042"/>
            <a:ext cx="603004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Potential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ahoma" pitchFamily="34" charset="0"/>
              </a:rPr>
              <a:t> depends only on spatial coordinates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Force does not explicitly depend on </a:t>
            </a:r>
            <a:r>
              <a:rPr lang="en-US" sz="2000" i="1" dirty="0">
                <a:latin typeface="Tahoma" pitchFamily="34" charset="0"/>
              </a:rPr>
              <a:t>t</a:t>
            </a:r>
          </a:p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Implies no energy dissipation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470837" y="3193312"/>
            <a:ext cx="4958217" cy="828674"/>
            <a:chOff x="1481469" y="3331536"/>
            <a:chExt cx="4958217" cy="828674"/>
          </a:xfrm>
        </p:grpSpPr>
        <p:sp>
          <p:nvSpPr>
            <p:cNvPr id="10" name="TextBox 9"/>
            <p:cNvSpPr txBox="1"/>
            <p:nvPr/>
          </p:nvSpPr>
          <p:spPr bwMode="auto">
            <a:xfrm>
              <a:off x="1481469" y="3331536"/>
              <a:ext cx="495821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- Newton’s second law of motion becomes</a:t>
              </a:r>
            </a:p>
          </p:txBody>
        </p:sp>
        <p:graphicFrame>
          <p:nvGraphicFramePr>
            <p:cNvPr id="1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155124"/>
                </p:ext>
              </p:extLst>
            </p:nvPr>
          </p:nvGraphicFramePr>
          <p:xfrm>
            <a:off x="3918432" y="3741110"/>
            <a:ext cx="144145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925" name="Equation" r:id="rId5" imgW="863280" imgH="291960" progId="Equation.DSMT4">
                    <p:embed/>
                  </p:oleObj>
                </mc:Choice>
                <mc:Fallback>
                  <p:oleObj name="Equation" r:id="rId5" imgW="86328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8432" y="3741110"/>
                          <a:ext cx="1441450" cy="4191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4"/>
          <p:cNvGrpSpPr/>
          <p:nvPr/>
        </p:nvGrpSpPr>
        <p:grpSpPr>
          <a:xfrm>
            <a:off x="1758844" y="3940827"/>
            <a:ext cx="7180812" cy="1085714"/>
            <a:chOff x="1684416" y="3550929"/>
            <a:chExt cx="7180812" cy="1085714"/>
          </a:xfrm>
        </p:grpSpPr>
        <p:graphicFrame>
          <p:nvGraphicFramePr>
            <p:cNvPr id="1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0045062"/>
                </p:ext>
              </p:extLst>
            </p:nvPr>
          </p:nvGraphicFramePr>
          <p:xfrm>
            <a:off x="3930797" y="3869880"/>
            <a:ext cx="996950" cy="766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926" name="Equation" r:id="rId7" imgW="596880" imgH="533160" progId="Equation.DSMT4">
                    <p:embed/>
                  </p:oleObj>
                </mc:Choice>
                <mc:Fallback>
                  <p:oleObj name="Equation" r:id="rId7" imgW="59688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0797" y="3869880"/>
                          <a:ext cx="996950" cy="7667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12"/>
            <p:cNvSpPr txBox="1"/>
            <p:nvPr/>
          </p:nvSpPr>
          <p:spPr bwMode="auto">
            <a:xfrm>
              <a:off x="1684416" y="3550929"/>
              <a:ext cx="718081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sz="2000" dirty="0">
                  <a:latin typeface="Wingdings" panose="05000000000000000000" pitchFamily="2" charset="2"/>
                </a:rPr>
                <a:t>s</a:t>
              </a:r>
              <a:r>
                <a:rPr lang="en-US" sz="2000" dirty="0">
                  <a:latin typeface="Tahoma" pitchFamily="34" charset="0"/>
                </a:rPr>
                <a:t> Also have the relation between and velocity and momentum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351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460205" y="492993"/>
            <a:ext cx="22599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Form Lagrangian</a:t>
            </a:r>
          </a:p>
        </p:txBody>
      </p:sp>
      <p:graphicFrame>
        <p:nvGraphicFramePr>
          <p:cNvPr id="5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073164"/>
              </p:ext>
            </p:extLst>
          </p:nvPr>
        </p:nvGraphicFramePr>
        <p:xfrm>
          <a:off x="2345114" y="964367"/>
          <a:ext cx="3657452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73" name="Equation" r:id="rId3" imgW="2108160" imgH="876240" progId="Equation.DSMT4">
                  <p:embed/>
                </p:oleObj>
              </mc:Choice>
              <mc:Fallback>
                <p:oleObj name="Equation" r:id="rId3" imgW="210816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114" y="964367"/>
                        <a:ext cx="3657452" cy="1468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460205" y="2504069"/>
            <a:ext cx="41654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Euler- Lagrangian (</a:t>
            </a:r>
            <a:r>
              <a:rPr lang="en-US" sz="2000" i="1" dirty="0">
                <a:latin typeface="Tahoma" pitchFamily="34" charset="0"/>
              </a:rPr>
              <a:t>E-L</a:t>
            </a:r>
            <a:r>
              <a:rPr lang="en-US" sz="2000" dirty="0">
                <a:latin typeface="Tahoma" pitchFamily="34" charset="0"/>
              </a:rPr>
              <a:t>) equations</a:t>
            </a:r>
          </a:p>
        </p:txBody>
      </p:sp>
      <p:graphicFrame>
        <p:nvGraphicFramePr>
          <p:cNvPr id="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177859"/>
              </p:ext>
            </p:extLst>
          </p:nvPr>
        </p:nvGraphicFramePr>
        <p:xfrm>
          <a:off x="2345114" y="2897147"/>
          <a:ext cx="396557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74" name="Equation" r:id="rId5" imgW="2641320" imgH="520560" progId="Equation.DSMT4">
                  <p:embed/>
                </p:oleObj>
              </mc:Choice>
              <mc:Fallback>
                <p:oleObj name="Equation" r:id="rId5" imgW="264132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114" y="2897147"/>
                        <a:ext cx="3965575" cy="874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924494" y="4062397"/>
            <a:ext cx="61668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E-L equation gives Newton’s second law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24494" y="4381372"/>
            <a:ext cx="56428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E-L </a:t>
            </a:r>
            <a:r>
              <a:rPr lang="en-US" sz="2000" dirty="0" err="1">
                <a:latin typeface="Tahoma" pitchFamily="34" charset="0"/>
              </a:rPr>
              <a:t>eqns</a:t>
            </a:r>
            <a:r>
              <a:rPr lang="en-US" sz="2000" dirty="0">
                <a:latin typeface="Tahoma" pitchFamily="34" charset="0"/>
              </a:rPr>
              <a:t> appropriate in any coordinate system</a:t>
            </a:r>
          </a:p>
        </p:txBody>
      </p:sp>
    </p:spTree>
    <p:extLst>
      <p:ext uri="{BB962C8B-B14F-4D97-AF65-F5344CB8AC3E}">
        <p14:creationId xmlns:p14="http://schemas.microsoft.com/office/powerpoint/2010/main" val="2720179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1378690" y="347331"/>
            <a:ext cx="56994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Hamiltonian description of microscopic physics</a:t>
            </a:r>
          </a:p>
        </p:txBody>
      </p:sp>
      <p:graphicFrame>
        <p:nvGraphicFramePr>
          <p:cNvPr id="12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468916"/>
              </p:ext>
            </p:extLst>
          </p:nvPr>
        </p:nvGraphicFramePr>
        <p:xfrm>
          <a:off x="2231548" y="1225772"/>
          <a:ext cx="3746500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82" name="Equation" r:id="rId3" imgW="2158920" imgH="876240" progId="Equation.DSMT4">
                  <p:embed/>
                </p:oleObj>
              </mc:Choice>
              <mc:Fallback>
                <p:oleObj name="Equation" r:id="rId3" imgW="215892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548" y="1225772"/>
                        <a:ext cx="3746500" cy="1468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679944" y="818709"/>
            <a:ext cx="61895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Form Hamiltonian as the total energy of the system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1736650" y="2640421"/>
            <a:ext cx="41751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Will also give equations of motion</a:t>
            </a:r>
          </a:p>
        </p:txBody>
      </p:sp>
      <p:graphicFrame>
        <p:nvGraphicFramePr>
          <p:cNvPr id="15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543530"/>
              </p:ext>
            </p:extLst>
          </p:nvPr>
        </p:nvGraphicFramePr>
        <p:xfrm>
          <a:off x="2280649" y="3040531"/>
          <a:ext cx="4738687" cy="191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83" name="Equation" r:id="rId5" imgW="2730240" imgH="1143000" progId="Equation.DSMT4">
                  <p:embed/>
                </p:oleObj>
              </mc:Choice>
              <mc:Fallback>
                <p:oleObj name="Equation" r:id="rId5" imgW="273024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649" y="3040531"/>
                        <a:ext cx="4738687" cy="1912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8320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172621"/>
              </p:ext>
            </p:extLst>
          </p:nvPr>
        </p:nvGraphicFramePr>
        <p:xfrm>
          <a:off x="2088225" y="1108782"/>
          <a:ext cx="6402388" cy="312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82" name="Equation" r:id="rId3" imgW="3924000" imgH="2222280" progId="Equation.DSMT4">
                  <p:embed/>
                </p:oleObj>
              </mc:Choice>
              <mc:Fallback>
                <p:oleObj name="Equation" r:id="rId3" imgW="3924000" imgH="222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8225" y="1108782"/>
                        <a:ext cx="6402388" cy="3122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574096" y="551567"/>
            <a:ext cx="68437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Hamiltonian (energy) conserved in a conservative system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835942" y="4271779"/>
            <a:ext cx="3102709" cy="455128"/>
            <a:chOff x="5190328" y="3233787"/>
            <a:chExt cx="3102709" cy="455128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5190328" y="3233787"/>
              <a:ext cx="310270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Implies         is constant </a:t>
              </a:r>
            </a:p>
          </p:txBody>
        </p:sp>
        <p:graphicFrame>
          <p:nvGraphicFramePr>
            <p:cNvPr id="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5029227"/>
                </p:ext>
              </p:extLst>
            </p:nvPr>
          </p:nvGraphicFramePr>
          <p:xfrm>
            <a:off x="6171721" y="3269665"/>
            <a:ext cx="609466" cy="41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083" name="Equation" r:id="rId5" imgW="406080" imgH="291960" progId="Equation.DSMT4">
                    <p:embed/>
                  </p:oleObj>
                </mc:Choice>
                <mc:Fallback>
                  <p:oleObj name="Equation" r:id="rId5" imgW="40608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1721" y="3269665"/>
                          <a:ext cx="609466" cy="419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34622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485007" y="1293338"/>
            <a:ext cx="55673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Relation between Lagrangian and Hamiltonian</a:t>
            </a:r>
          </a:p>
        </p:txBody>
      </p:sp>
      <p:graphicFrame>
        <p:nvGraphicFramePr>
          <p:cNvPr id="6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443173"/>
              </p:ext>
            </p:extLst>
          </p:nvPr>
        </p:nvGraphicFramePr>
        <p:xfrm>
          <a:off x="2629474" y="1820496"/>
          <a:ext cx="35036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63" name="Equation" r:id="rId3" imgW="2019240" imgH="545760" progId="Equation.DSMT4">
                  <p:embed/>
                </p:oleObj>
              </mc:Choice>
              <mc:Fallback>
                <p:oleObj name="Equation" r:id="rId3" imgW="20192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9474" y="1820496"/>
                        <a:ext cx="3503612" cy="915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676400" y="2863532"/>
            <a:ext cx="613725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Now have a way of describing the microstates of the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macroscopic system from the solution of Newton’s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second law </a:t>
            </a:r>
            <a:r>
              <a:rPr lang="en-US" sz="2000" dirty="0" err="1">
                <a:latin typeface="Tahoma" pitchFamily="34" charset="0"/>
              </a:rPr>
              <a:t>eqns</a:t>
            </a:r>
            <a:endParaRPr lang="en-US" sz="200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66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988828" y="457200"/>
            <a:ext cx="7018203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Determination of observables from particle microstates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 Solution to Newton’s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eqns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gives all particle trajectories for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an assumed potential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000" dirty="0">
                <a:latin typeface="Wingdings" panose="05000000000000000000" pitchFamily="2" charset="2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Require initial conditions (IC)</a:t>
            </a: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645146"/>
              </p:ext>
            </p:extLst>
          </p:nvPr>
        </p:nvGraphicFramePr>
        <p:xfrm>
          <a:off x="2875234" y="1690974"/>
          <a:ext cx="3043237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164" name="Equation" r:id="rId3" imgW="1955520" imgH="1079280" progId="Equation.DSMT4">
                  <p:embed/>
                </p:oleObj>
              </mc:Choice>
              <mc:Fallback>
                <p:oleObj name="Equation" r:id="rId3" imgW="1955520" imgH="1079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234" y="1690974"/>
                        <a:ext cx="3043237" cy="1476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920476"/>
              </p:ext>
            </p:extLst>
          </p:nvPr>
        </p:nvGraphicFramePr>
        <p:xfrm>
          <a:off x="4795859" y="1351041"/>
          <a:ext cx="936034" cy="391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165" name="Equation" r:id="rId5" imgW="533160" imgH="253800" progId="Equation.DSMT4">
                  <p:embed/>
                </p:oleObj>
              </mc:Choice>
              <mc:Fallback>
                <p:oleObj name="Equation" r:id="rId5" imgW="533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59" y="1351041"/>
                        <a:ext cx="936034" cy="3914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812277" y="2406971"/>
            <a:ext cx="7198043" cy="1903175"/>
            <a:chOff x="720837" y="2417131"/>
            <a:chExt cx="7198043" cy="1903175"/>
          </a:xfrm>
        </p:grpSpPr>
        <p:sp>
          <p:nvSpPr>
            <p:cNvPr id="8" name="Oval 3"/>
            <p:cNvSpPr>
              <a:spLocks noChangeArrowheads="1"/>
            </p:cNvSpPr>
            <p:nvPr/>
          </p:nvSpPr>
          <p:spPr bwMode="auto">
            <a:xfrm>
              <a:off x="3769155" y="3216041"/>
              <a:ext cx="147638" cy="90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4126025" y="3864297"/>
              <a:ext cx="180975" cy="1238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4748325" y="3653714"/>
              <a:ext cx="147638" cy="90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2054337" y="3457103"/>
              <a:ext cx="147638" cy="904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843450" y="2779637"/>
              <a:ext cx="3967163" cy="1145382"/>
            </a:xfrm>
            <a:custGeom>
              <a:avLst/>
              <a:gdLst>
                <a:gd name="T0" fmla="*/ 0 w 2499"/>
                <a:gd name="T1" fmla="*/ 399 h 962"/>
                <a:gd name="T2" fmla="*/ 1051 w 2499"/>
                <a:gd name="T3" fmla="*/ 552 h 962"/>
                <a:gd name="T4" fmla="*/ 1288 w 2499"/>
                <a:gd name="T5" fmla="*/ 890 h 962"/>
                <a:gd name="T6" fmla="*/ 1593 w 2499"/>
                <a:gd name="T7" fmla="*/ 120 h 962"/>
                <a:gd name="T8" fmla="*/ 1822 w 2499"/>
                <a:gd name="T9" fmla="*/ 170 h 962"/>
                <a:gd name="T10" fmla="*/ 2499 w 2499"/>
                <a:gd name="T11" fmla="*/ 484 h 9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99"/>
                <a:gd name="T19" fmla="*/ 0 h 962"/>
                <a:gd name="T20" fmla="*/ 2499 w 2499"/>
                <a:gd name="T21" fmla="*/ 962 h 9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99" h="962">
                  <a:moveTo>
                    <a:pt x="0" y="399"/>
                  </a:moveTo>
                  <a:cubicBezTo>
                    <a:pt x="418" y="434"/>
                    <a:pt x="836" y="470"/>
                    <a:pt x="1051" y="552"/>
                  </a:cubicBezTo>
                  <a:cubicBezTo>
                    <a:pt x="1266" y="634"/>
                    <a:pt x="1198" y="962"/>
                    <a:pt x="1288" y="890"/>
                  </a:cubicBezTo>
                  <a:cubicBezTo>
                    <a:pt x="1378" y="818"/>
                    <a:pt x="1504" y="240"/>
                    <a:pt x="1593" y="120"/>
                  </a:cubicBezTo>
                  <a:cubicBezTo>
                    <a:pt x="1682" y="0"/>
                    <a:pt x="1671" y="109"/>
                    <a:pt x="1822" y="170"/>
                  </a:cubicBezTo>
                  <a:cubicBezTo>
                    <a:pt x="1973" y="231"/>
                    <a:pt x="2236" y="357"/>
                    <a:pt x="2499" y="48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141650" y="3036812"/>
              <a:ext cx="3698875" cy="1283494"/>
            </a:xfrm>
            <a:custGeom>
              <a:avLst/>
              <a:gdLst>
                <a:gd name="T0" fmla="*/ 0 w 2330"/>
                <a:gd name="T1" fmla="*/ 404 h 1078"/>
                <a:gd name="T2" fmla="*/ 415 w 2330"/>
                <a:gd name="T3" fmla="*/ 1031 h 1078"/>
                <a:gd name="T4" fmla="*/ 1355 w 2330"/>
                <a:gd name="T5" fmla="*/ 124 h 1078"/>
                <a:gd name="T6" fmla="*/ 1838 w 2330"/>
                <a:gd name="T7" fmla="*/ 285 h 1078"/>
                <a:gd name="T8" fmla="*/ 2330 w 2330"/>
                <a:gd name="T9" fmla="*/ 260 h 10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30"/>
                <a:gd name="T16" fmla="*/ 0 h 1078"/>
                <a:gd name="T17" fmla="*/ 2330 w 2330"/>
                <a:gd name="T18" fmla="*/ 1078 h 10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30" h="1078">
                  <a:moveTo>
                    <a:pt x="0" y="404"/>
                  </a:moveTo>
                  <a:cubicBezTo>
                    <a:pt x="94" y="741"/>
                    <a:pt x="189" y="1078"/>
                    <a:pt x="415" y="1031"/>
                  </a:cubicBezTo>
                  <a:cubicBezTo>
                    <a:pt x="641" y="984"/>
                    <a:pt x="1118" y="248"/>
                    <a:pt x="1355" y="124"/>
                  </a:cubicBezTo>
                  <a:cubicBezTo>
                    <a:pt x="1592" y="0"/>
                    <a:pt x="1676" y="262"/>
                    <a:pt x="1838" y="285"/>
                  </a:cubicBezTo>
                  <a:cubicBezTo>
                    <a:pt x="2000" y="308"/>
                    <a:pt x="2165" y="284"/>
                    <a:pt x="2330" y="26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4" name="Freeform 9"/>
            <p:cNvSpPr>
              <a:spLocks/>
            </p:cNvSpPr>
            <p:nvPr/>
          </p:nvSpPr>
          <p:spPr bwMode="auto">
            <a:xfrm>
              <a:off x="720837" y="2477218"/>
              <a:ext cx="3430588" cy="1414463"/>
            </a:xfrm>
            <a:custGeom>
              <a:avLst/>
              <a:gdLst>
                <a:gd name="T0" fmla="*/ 1770 w 1770"/>
                <a:gd name="T1" fmla="*/ 872 h 872"/>
                <a:gd name="T2" fmla="*/ 949 w 1770"/>
                <a:gd name="T3" fmla="*/ 364 h 872"/>
                <a:gd name="T4" fmla="*/ 152 w 1770"/>
                <a:gd name="T5" fmla="*/ 499 h 872"/>
                <a:gd name="T6" fmla="*/ 34 w 1770"/>
                <a:gd name="T7" fmla="*/ 0 h 8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0"/>
                <a:gd name="T13" fmla="*/ 0 h 872"/>
                <a:gd name="T14" fmla="*/ 1770 w 1770"/>
                <a:gd name="T15" fmla="*/ 872 h 8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0" h="872">
                  <a:moveTo>
                    <a:pt x="1770" y="872"/>
                  </a:moveTo>
                  <a:cubicBezTo>
                    <a:pt x="1494" y="649"/>
                    <a:pt x="1219" y="426"/>
                    <a:pt x="949" y="364"/>
                  </a:cubicBezTo>
                  <a:cubicBezTo>
                    <a:pt x="679" y="302"/>
                    <a:pt x="304" y="560"/>
                    <a:pt x="152" y="499"/>
                  </a:cubicBezTo>
                  <a:cubicBezTo>
                    <a:pt x="0" y="438"/>
                    <a:pt x="17" y="219"/>
                    <a:pt x="3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4823255" y="2417131"/>
              <a:ext cx="3095625" cy="1198960"/>
            </a:xfrm>
            <a:custGeom>
              <a:avLst/>
              <a:gdLst>
                <a:gd name="T0" fmla="*/ 0 w 1950"/>
                <a:gd name="T1" fmla="*/ 1007 h 1007"/>
                <a:gd name="T2" fmla="*/ 339 w 1950"/>
                <a:gd name="T3" fmla="*/ 499 h 1007"/>
                <a:gd name="T4" fmla="*/ 1702 w 1950"/>
                <a:gd name="T5" fmla="*/ 76 h 1007"/>
                <a:gd name="T6" fmla="*/ 1830 w 1950"/>
                <a:gd name="T7" fmla="*/ 42 h 10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0"/>
                <a:gd name="T13" fmla="*/ 0 h 1007"/>
                <a:gd name="T14" fmla="*/ 1950 w 1950"/>
                <a:gd name="T15" fmla="*/ 1007 h 10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0" h="1007">
                  <a:moveTo>
                    <a:pt x="0" y="1007"/>
                  </a:moveTo>
                  <a:cubicBezTo>
                    <a:pt x="27" y="830"/>
                    <a:pt x="55" y="654"/>
                    <a:pt x="339" y="499"/>
                  </a:cubicBezTo>
                  <a:cubicBezTo>
                    <a:pt x="623" y="344"/>
                    <a:pt x="1454" y="152"/>
                    <a:pt x="1702" y="76"/>
                  </a:cubicBezTo>
                  <a:cubicBezTo>
                    <a:pt x="1950" y="0"/>
                    <a:pt x="1890" y="21"/>
                    <a:pt x="1830" y="4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211571" y="4255723"/>
            <a:ext cx="4844596" cy="913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~ 10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23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not numerically feasible</a:t>
            </a:r>
          </a:p>
          <a:p>
            <a:pPr eaLnBrk="0" hangingPunct="0"/>
            <a:r>
              <a:rPr lang="en-US" sz="2000" dirty="0">
                <a:latin typeface="Wingdings" panose="05000000000000000000" pitchFamily="2" charset="2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Need infinite precision for IC</a:t>
            </a:r>
          </a:p>
          <a:p>
            <a:pPr eaLnBrk="0" hangingPunct="0"/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1504415" y="1837759"/>
            <a:ext cx="128272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Can show</a:t>
            </a:r>
          </a:p>
        </p:txBody>
      </p:sp>
    </p:spTree>
    <p:extLst>
      <p:ext uri="{BB962C8B-B14F-4D97-AF65-F5344CB8AC3E}">
        <p14:creationId xmlns:p14="http://schemas.microsoft.com/office/powerpoint/2010/main" val="1540996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-31898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928750" y="877812"/>
            <a:ext cx="6438622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+ Observables </a:t>
            </a:r>
          </a:p>
          <a:p>
            <a:r>
              <a:rPr lang="en-US" sz="2000" dirty="0"/>
              <a:t>   - Macroscopic intensive properties</a:t>
            </a:r>
          </a:p>
          <a:p>
            <a:r>
              <a:rPr lang="en-US" sz="2000" dirty="0"/>
              <a:t>     </a:t>
            </a:r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/>
              <a:t> Viscosity</a:t>
            </a:r>
          </a:p>
          <a:p>
            <a:r>
              <a:rPr lang="en-US" sz="2000" dirty="0"/>
              <a:t>     </a:t>
            </a:r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/>
              <a:t> Thermal conductivity</a:t>
            </a:r>
          </a:p>
          <a:p>
            <a:r>
              <a:rPr lang="en-US" sz="2000" dirty="0"/>
              <a:t>     </a:t>
            </a:r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/>
              <a:t> Mass density (neutron flux)</a:t>
            </a:r>
          </a:p>
          <a:p>
            <a:r>
              <a:rPr lang="en-US" sz="2000" dirty="0"/>
              <a:t>     </a:t>
            </a:r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/>
              <a:t> Diffusion coefficient, etc….</a:t>
            </a:r>
          </a:p>
          <a:p>
            <a:endParaRPr lang="en-US" sz="700" dirty="0"/>
          </a:p>
          <a:p>
            <a:r>
              <a:rPr lang="en-US" sz="2000" dirty="0"/>
              <a:t>+ To be obtained by averaging over microscopic states </a:t>
            </a:r>
          </a:p>
          <a:p>
            <a:r>
              <a:rPr lang="en-US" sz="2000" dirty="0"/>
              <a:t>   in several equivalent ways </a:t>
            </a:r>
          </a:p>
          <a:p>
            <a:r>
              <a:rPr lang="en-US" sz="2000" dirty="0"/>
              <a:t>     </a:t>
            </a:r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/>
              <a:t> Time average for a single system</a:t>
            </a:r>
          </a:p>
          <a:p>
            <a:r>
              <a:rPr lang="en-US" sz="2000" dirty="0"/>
              <a:t>     </a:t>
            </a:r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/>
              <a:t> Microstate average over an ensemble</a:t>
            </a:r>
          </a:p>
        </p:txBody>
      </p:sp>
    </p:spTree>
    <p:extLst>
      <p:ext uri="{BB962C8B-B14F-4D97-AF65-F5344CB8AC3E}">
        <p14:creationId xmlns:p14="http://schemas.microsoft.com/office/powerpoint/2010/main" val="70005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968087" y="444428"/>
            <a:ext cx="7263527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 Concept of ensemble average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- Basis: Microscopic detail producing observed macroscopic 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properties is largely unimportant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- Consider a homogeneous system defined by the time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trajectories of all particle interactions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Same forces acting in each system, which may have 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different initial conditions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Each will evolve uniquely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- Now consider a large number of such systems, called an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ensemble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Nearly every possible microscopic state for all particles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will be represented in the ensemble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At any time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observables will then be the average over </a:t>
            </a:r>
          </a:p>
          <a:p>
            <a:pPr eaLnBrk="0" hangingPunct="0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all microscopic states</a:t>
            </a:r>
          </a:p>
        </p:txBody>
      </p:sp>
    </p:spTree>
    <p:extLst>
      <p:ext uri="{BB962C8B-B14F-4D97-AF65-F5344CB8AC3E}">
        <p14:creationId xmlns:p14="http://schemas.microsoft.com/office/powerpoint/2010/main" val="1718996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B1F461-59AC-4130-A9CA-202923054F7A}" type="slidenum">
              <a:rPr lang="en-US" sz="1100"/>
              <a:pPr>
                <a:defRPr/>
              </a:pPr>
              <a:t>14</a:t>
            </a:fld>
            <a:endParaRPr lang="en-US" sz="1100" dirty="0"/>
          </a:p>
        </p:txBody>
      </p:sp>
      <p:sp>
        <p:nvSpPr>
          <p:cNvPr id="8198" name="Text Box 2"/>
          <p:cNvSpPr txBox="1">
            <a:spLocks noChangeArrowheads="1"/>
          </p:cNvSpPr>
          <p:nvPr/>
        </p:nvSpPr>
        <p:spPr bwMode="auto">
          <a:xfrm>
            <a:off x="1083599" y="438153"/>
            <a:ext cx="718978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Postulate 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 Average over a single system 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Any intensive system property that can be observed depends 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upon the microscopic states of the macroscopic system</a:t>
            </a:r>
          </a:p>
        </p:txBody>
      </p:sp>
      <p:sp>
        <p:nvSpPr>
          <p:cNvPr id="8199" name="Text Box 3"/>
          <p:cNvSpPr txBox="1">
            <a:spLocks noChangeArrowheads="1"/>
          </p:cNvSpPr>
          <p:nvPr/>
        </p:nvSpPr>
        <p:spPr bwMode="auto">
          <a:xfrm>
            <a:off x="1946275" y="1957388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en-US" sz="1600" dirty="0">
              <a:latin typeface="Tahoma" pitchFamily="34" charset="0"/>
            </a:endParaRP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29176"/>
              </p:ext>
            </p:extLst>
          </p:nvPr>
        </p:nvGraphicFramePr>
        <p:xfrm>
          <a:off x="2615248" y="2281284"/>
          <a:ext cx="31321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96" name="Equation" r:id="rId3" imgW="1892160" imgH="469800" progId="Equation.DSMT4">
                  <p:embed/>
                </p:oleObj>
              </mc:Choice>
              <mc:Fallback>
                <p:oleObj name="Equation" r:id="rId3" imgW="1892160" imgH="46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5248" y="2281284"/>
                        <a:ext cx="3132137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1" name="Group 16"/>
          <p:cNvGrpSpPr>
            <a:grpSpLocks/>
          </p:cNvGrpSpPr>
          <p:nvPr/>
        </p:nvGrpSpPr>
        <p:grpSpPr bwMode="auto">
          <a:xfrm>
            <a:off x="1133159" y="1553858"/>
            <a:ext cx="7531944" cy="708422"/>
            <a:chOff x="687" y="1286"/>
            <a:chExt cx="4418" cy="595"/>
          </a:xfrm>
        </p:grpSpPr>
        <p:sp>
          <p:nvSpPr>
            <p:cNvPr id="8209" name="Text Box 6"/>
            <p:cNvSpPr txBox="1">
              <a:spLocks noChangeArrowheads="1"/>
            </p:cNvSpPr>
            <p:nvPr/>
          </p:nvSpPr>
          <p:spPr bwMode="auto">
            <a:xfrm>
              <a:off x="687" y="1286"/>
              <a:ext cx="4418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+ There exists a measurable function               , a function of</a:t>
              </a:r>
            </a:p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  the microscopic state trajectories, representing each property </a:t>
              </a:r>
            </a:p>
          </p:txBody>
        </p:sp>
        <p:graphicFrame>
          <p:nvGraphicFramePr>
            <p:cNvPr id="819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857276"/>
                </p:ext>
              </p:extLst>
            </p:nvPr>
          </p:nvGraphicFramePr>
          <p:xfrm>
            <a:off x="3202" y="1305"/>
            <a:ext cx="58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597" name="Equation" r:id="rId5" imgW="558720" imgH="253800" progId="Equation.DSMT4">
                    <p:embed/>
                  </p:oleObj>
                </mc:Choice>
                <mc:Fallback>
                  <p:oleObj name="Equation" r:id="rId5" imgW="558720" imgH="253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2" y="1305"/>
                          <a:ext cx="588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2" name="Text Box 8"/>
          <p:cNvSpPr txBox="1">
            <a:spLocks noChangeArrowheads="1"/>
          </p:cNvSpPr>
          <p:nvPr/>
        </p:nvSpPr>
        <p:spPr bwMode="auto">
          <a:xfrm>
            <a:off x="1133159" y="3183888"/>
            <a:ext cx="6840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 Note: physical measurement of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never instantaneous</a:t>
            </a:r>
          </a:p>
        </p:txBody>
      </p:sp>
      <p:grpSp>
        <p:nvGrpSpPr>
          <p:cNvPr id="8203" name="Group 15"/>
          <p:cNvGrpSpPr>
            <a:grpSpLocks/>
          </p:cNvGrpSpPr>
          <p:nvPr/>
        </p:nvGrpSpPr>
        <p:grpSpPr bwMode="auto">
          <a:xfrm>
            <a:off x="1133159" y="3520808"/>
            <a:ext cx="7296153" cy="711994"/>
            <a:chOff x="701" y="3612"/>
            <a:chExt cx="4596" cy="598"/>
          </a:xfrm>
        </p:grpSpPr>
        <p:grpSp>
          <p:nvGrpSpPr>
            <p:cNvPr id="8205" name="Group 12"/>
            <p:cNvGrpSpPr>
              <a:grpSpLocks/>
            </p:cNvGrpSpPr>
            <p:nvPr/>
          </p:nvGrpSpPr>
          <p:grpSpPr bwMode="auto">
            <a:xfrm>
              <a:off x="703" y="3612"/>
              <a:ext cx="3508" cy="341"/>
              <a:chOff x="720" y="3612"/>
              <a:chExt cx="3508" cy="341"/>
            </a:xfrm>
          </p:grpSpPr>
          <p:sp>
            <p:nvSpPr>
              <p:cNvPr id="8208" name="Text Box 10"/>
              <p:cNvSpPr txBox="1">
                <a:spLocks noChangeArrowheads="1"/>
              </p:cNvSpPr>
              <p:nvPr/>
            </p:nvSpPr>
            <p:spPr bwMode="auto">
              <a:xfrm>
                <a:off x="720" y="3612"/>
                <a:ext cx="3270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+ Requires all time trajectories to determine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  <p:graphicFrame>
            <p:nvGraphicFramePr>
              <p:cNvPr id="8195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1842070"/>
                  </p:ext>
                </p:extLst>
              </p:nvPr>
            </p:nvGraphicFramePr>
            <p:xfrm>
              <a:off x="3916" y="3612"/>
              <a:ext cx="312" cy="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598" name="Equation" r:id="rId7" imgW="279360" imgH="228600" progId="Equation.DSMT4">
                      <p:embed/>
                    </p:oleObj>
                  </mc:Choice>
                  <mc:Fallback>
                    <p:oleObj name="Equation" r:id="rId7" imgW="279360" imgH="22860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6" y="3612"/>
                            <a:ext cx="312" cy="3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07" name="Text Box 14"/>
            <p:cNvSpPr txBox="1">
              <a:spLocks noChangeArrowheads="1"/>
            </p:cNvSpPr>
            <p:nvPr/>
          </p:nvSpPr>
          <p:spPr bwMode="auto">
            <a:xfrm>
              <a:off x="701" y="3874"/>
              <a:ext cx="45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+ Indicates </a:t>
              </a:r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G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postulated to exist and how to get observables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424763" y="776176"/>
            <a:ext cx="18870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 Phase space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658679" y="1190846"/>
            <a:ext cx="517789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- Form the 6</a:t>
            </a:r>
            <a:r>
              <a:rPr lang="en-US" sz="2000" i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generalized coordinate vector</a:t>
            </a:r>
          </a:p>
        </p:txBody>
      </p:sp>
      <p:graphicFrame>
        <p:nvGraphicFramePr>
          <p:cNvPr id="6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639235"/>
              </p:ext>
            </p:extLst>
          </p:nvPr>
        </p:nvGraphicFramePr>
        <p:xfrm>
          <a:off x="2165350" y="1560291"/>
          <a:ext cx="57308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59" name="Equation" r:id="rId3" imgW="1930320" imgH="253800" progId="Equation.DSMT4">
                  <p:embed/>
                </p:oleObj>
              </mc:Choice>
              <mc:Fallback>
                <p:oleObj name="Equation" r:id="rId3" imgW="19303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1560291"/>
                        <a:ext cx="57308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1679944" y="2498652"/>
            <a:ext cx="738202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Total time evolution of the trajectories of a microscopic state 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given by</a:t>
            </a:r>
          </a:p>
        </p:txBody>
      </p:sp>
      <p:graphicFrame>
        <p:nvGraphicFramePr>
          <p:cNvPr id="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995307"/>
              </p:ext>
            </p:extLst>
          </p:nvPr>
        </p:nvGraphicFramePr>
        <p:xfrm>
          <a:off x="2771110" y="3211549"/>
          <a:ext cx="31686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60" name="Equation" r:id="rId5" imgW="1218960" imgH="253800" progId="Equation.DSMT4">
                  <p:embed/>
                </p:oleObj>
              </mc:Choice>
              <mc:Fallback>
                <p:oleObj name="Equation" r:id="rId5" imgW="1218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110" y="3211549"/>
                        <a:ext cx="3168650" cy="523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1871330" y="2115880"/>
            <a:ext cx="71881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Defines the phase space vector for all macroscopic systems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669311" y="3880883"/>
            <a:ext cx="9829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Since</a:t>
            </a:r>
          </a:p>
        </p:txBody>
      </p:sp>
      <p:graphicFrame>
        <p:nvGraphicFramePr>
          <p:cNvPr id="12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687702"/>
              </p:ext>
            </p:extLst>
          </p:nvPr>
        </p:nvGraphicFramePr>
        <p:xfrm>
          <a:off x="2669215" y="3841602"/>
          <a:ext cx="36782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461" name="Equation" r:id="rId7" imgW="2120760" imgH="317160" progId="Equation.DSMT4">
                  <p:embed/>
                </p:oleObj>
              </mc:Choice>
              <mc:Fallback>
                <p:oleObj name="Equation" r:id="rId7" imgW="21207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215" y="3841602"/>
                        <a:ext cx="3678238" cy="531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903228" y="4401878"/>
            <a:ext cx="68716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Wingdings" panose="05000000000000000000" pitchFamily="2" charset="2"/>
              </a:rPr>
              <a:t>s</a:t>
            </a:r>
            <a:r>
              <a:rPr lang="en-US" sz="2000" dirty="0">
                <a:latin typeface="Tahoma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trajectories lie on a 6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-1 hypersurface in phase space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1318438" y="372140"/>
            <a:ext cx="35942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Classical ensemble averaging</a:t>
            </a:r>
          </a:p>
        </p:txBody>
      </p:sp>
    </p:spTree>
    <p:extLst>
      <p:ext uri="{BB962C8B-B14F-4D97-AF65-F5344CB8AC3E}">
        <p14:creationId xmlns:p14="http://schemas.microsoft.com/office/powerpoint/2010/main" val="1758312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1519038" y="530638"/>
            <a:ext cx="41665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 Phase space distribution function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762760" y="963240"/>
            <a:ext cx="6969921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Tahoma" pitchFamily="34" charset="0"/>
              </a:rPr>
              <a:t>- Probability distribution function defined for all microstates </a:t>
            </a:r>
          </a:p>
          <a:p>
            <a:pPr eaLnBrk="0" hangingPunct="0">
              <a:spcBef>
                <a:spcPts val="600"/>
              </a:spcBef>
            </a:pPr>
            <a:r>
              <a:rPr lang="en-US" sz="2000" dirty="0">
                <a:latin typeface="Tahoma" pitchFamily="34" charset="0"/>
              </a:rPr>
              <a:t>  of a system in phase space element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376636"/>
              </p:ext>
            </p:extLst>
          </p:nvPr>
        </p:nvGraphicFramePr>
        <p:xfrm>
          <a:off x="2204170" y="1826222"/>
          <a:ext cx="2297260" cy="459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62"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4170" y="1826222"/>
                        <a:ext cx="2297260" cy="459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227027" y="4210849"/>
            <a:ext cx="56670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      -                   will shortly become our focus 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035315"/>
              </p:ext>
            </p:extLst>
          </p:nvPr>
        </p:nvGraphicFramePr>
        <p:xfrm>
          <a:off x="2828899" y="3564267"/>
          <a:ext cx="2463319" cy="656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63" name="Equation" r:id="rId5" imgW="1231560" imgH="380880" progId="Equation.DSMT4">
                  <p:embed/>
                </p:oleObj>
              </mc:Choice>
              <mc:Fallback>
                <p:oleObj name="Equation" r:id="rId5" imgW="1231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899" y="3564267"/>
                        <a:ext cx="2463319" cy="656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2485238" y="2280018"/>
            <a:ext cx="6030112" cy="846386"/>
            <a:chOff x="2442708" y="2301283"/>
            <a:chExt cx="6030112" cy="846386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2442708" y="2301283"/>
              <a:ext cx="6030112" cy="84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ts val="600"/>
                </a:spcBef>
              </a:pPr>
              <a:r>
                <a:rPr lang="en-US" sz="2000" dirty="0">
                  <a:latin typeface="Tahoma" pitchFamily="34" charset="0"/>
                </a:rPr>
                <a:t>= Probability of finding trajectories         at time 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sz="2000" dirty="0">
                  <a:latin typeface="Times New Roman" pitchFamily="18" charset="0"/>
                </a:rPr>
                <a:t> </a:t>
              </a:r>
            </a:p>
            <a:p>
              <a:pPr eaLnBrk="0" hangingPunct="0">
                <a:spcBef>
                  <a:spcPts val="600"/>
                </a:spcBef>
              </a:pPr>
              <a:r>
                <a:rPr lang="en-US" sz="2000" dirty="0">
                  <a:latin typeface="Tahoma" pitchFamily="34" charset="0"/>
                </a:rPr>
                <a:t>   in the phase element </a:t>
              </a:r>
              <a:r>
                <a:rPr lang="en-US" sz="2000" i="1" dirty="0">
                  <a:latin typeface="Tahoma" pitchFamily="34" charset="0"/>
                </a:rPr>
                <a:t>d</a:t>
              </a:r>
              <a:r>
                <a:rPr lang="en-US" sz="2000" b="1" i="1" dirty="0">
                  <a:latin typeface="Tahoma" pitchFamily="34" charset="0"/>
                </a:rPr>
                <a:t>P</a:t>
              </a:r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174552"/>
                </p:ext>
              </p:extLst>
            </p:nvPr>
          </p:nvGraphicFramePr>
          <p:xfrm>
            <a:off x="6433889" y="2301283"/>
            <a:ext cx="687402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064" name="Equation" r:id="rId7" imgW="330120" imgH="253800" progId="Equation.DSMT4">
                    <p:embed/>
                  </p:oleObj>
                </mc:Choice>
                <mc:Fallback>
                  <p:oleObj name="Equation" r:id="rId7" imgW="3301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3889" y="2301283"/>
                          <a:ext cx="687402" cy="5238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299049"/>
              </p:ext>
            </p:extLst>
          </p:nvPr>
        </p:nvGraphicFramePr>
        <p:xfrm>
          <a:off x="6080939" y="1223038"/>
          <a:ext cx="19891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65" name="Equation" r:id="rId9" imgW="965160" imgH="431640" progId="Equation.DSMT4">
                  <p:embed/>
                </p:oleObj>
              </mc:Choice>
              <mc:Fallback>
                <p:oleObj name="Equation" r:id="rId9" imgW="965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939" y="1223038"/>
                        <a:ext cx="1989138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1880242" y="3126404"/>
            <a:ext cx="8790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where</a:t>
            </a:r>
          </a:p>
        </p:txBody>
      </p:sp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995495"/>
              </p:ext>
            </p:extLst>
          </p:nvPr>
        </p:nvGraphicFramePr>
        <p:xfrm>
          <a:off x="2014855" y="4213487"/>
          <a:ext cx="1332865" cy="417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66" name="Equation" r:id="rId11" imgW="698400" imgH="253800" progId="Equation.DSMT4">
                  <p:embed/>
                </p:oleObj>
              </mc:Choice>
              <mc:Fallback>
                <p:oleObj name="Equation" r:id="rId11" imgW="698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855" y="4213487"/>
                        <a:ext cx="1332865" cy="417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2361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403026" y="575904"/>
            <a:ext cx="604043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+ Microscopic state vector of a macroscopic system</a:t>
            </a:r>
          </a:p>
          <a:p>
            <a:pPr eaLnBrk="0" hangingPunct="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- Specification of all particle trajectories  </a:t>
            </a:r>
          </a:p>
        </p:txBody>
      </p:sp>
      <p:graphicFrame>
        <p:nvGraphicFramePr>
          <p:cNvPr id="6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232584"/>
              </p:ext>
            </p:extLst>
          </p:nvPr>
        </p:nvGraphicFramePr>
        <p:xfrm>
          <a:off x="2552790" y="1385891"/>
          <a:ext cx="31686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144" name="Equation" r:id="rId3" imgW="1218960" imgH="253800" progId="Equation.DSMT4">
                  <p:embed/>
                </p:oleObj>
              </mc:Choice>
              <mc:Fallback>
                <p:oleObj name="Equation" r:id="rId3" imgW="1218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90" y="1385891"/>
                        <a:ext cx="3168650" cy="523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1741967" y="2093038"/>
            <a:ext cx="4582633" cy="507772"/>
            <a:chOff x="1716567" y="2151665"/>
            <a:chExt cx="4582633" cy="507772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1716567" y="2166079"/>
              <a:ext cx="244432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on the hypersurface</a:t>
              </a:r>
            </a:p>
          </p:txBody>
        </p:sp>
        <p:graphicFrame>
          <p:nvGraphicFramePr>
            <p:cNvPr id="8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149287"/>
                </p:ext>
              </p:extLst>
            </p:nvPr>
          </p:nvGraphicFramePr>
          <p:xfrm>
            <a:off x="4133215" y="2151665"/>
            <a:ext cx="2165985" cy="507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145" name="Equation" r:id="rId5" imgW="1307880" imgH="317160" progId="Equation.DSMT4">
                    <p:embed/>
                  </p:oleObj>
                </mc:Choice>
                <mc:Fallback>
                  <p:oleObj name="Equation" r:id="rId5" imgW="1307880" imgH="317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3215" y="2151665"/>
                          <a:ext cx="2165985" cy="50777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"/>
          <p:cNvGrpSpPr/>
          <p:nvPr/>
        </p:nvGrpSpPr>
        <p:grpSpPr>
          <a:xfrm>
            <a:off x="1403026" y="2682914"/>
            <a:ext cx="7347589" cy="1921664"/>
            <a:chOff x="1413658" y="2549296"/>
            <a:chExt cx="7347589" cy="1921664"/>
          </a:xfrm>
        </p:grpSpPr>
        <p:sp>
          <p:nvSpPr>
            <p:cNvPr id="9" name="TextBox 8"/>
            <p:cNvSpPr txBox="1"/>
            <p:nvPr/>
          </p:nvSpPr>
          <p:spPr bwMode="auto">
            <a:xfrm>
              <a:off x="1413658" y="2549296"/>
              <a:ext cx="7347589" cy="132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+ From definition of an ensemble </a:t>
              </a:r>
            </a:p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  - Collection of a large number </a:t>
              </a:r>
              <a:r>
                <a:rPr lang="en-US" sz="2000" i="1" dirty="0">
                  <a:latin typeface="Script MT Bold" panose="03040602040607080904" pitchFamily="66" charset="0"/>
                  <a:cs typeface="Arial" panose="020B0604020202020204" pitchFamily="34" charset="0"/>
                </a:rPr>
                <a:t>N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of microscopic systems </a:t>
              </a:r>
            </a:p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  - sharing the same macroscopic characteristics (observables)</a:t>
              </a:r>
            </a:p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  - each with a unique microstate </a:t>
              </a: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610833" y="3763074"/>
              <a:ext cx="6405921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en-US" sz="2000" dirty="0">
                  <a:latin typeface="Tahoma" pitchFamily="34" charset="0"/>
                </a:rPr>
                <a:t>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Over time a single system will traverse all trajectories</a:t>
              </a:r>
            </a:p>
            <a:p>
              <a:pPr eaLnBrk="0" hangingPunct="0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  (The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Ergotic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Statement)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337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086100" cy="273844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606800"/>
              </p:ext>
            </p:extLst>
          </p:nvPr>
        </p:nvGraphicFramePr>
        <p:xfrm>
          <a:off x="2326223" y="1498937"/>
          <a:ext cx="43735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38" name="Equation" r:id="rId3" imgW="2641320" imgH="431640" progId="Equation.DSMT4">
                  <p:embed/>
                </p:oleObj>
              </mc:Choice>
              <mc:Fallback>
                <p:oleObj name="Equation" r:id="rId3" imgW="2641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223" y="1498937"/>
                        <a:ext cx="4373563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488440" y="721360"/>
            <a:ext cx="625902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Alternative definition of observable as a summation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(integration) over all states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49409" y="2432577"/>
            <a:ext cx="599805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Now averaging over all possible trajectories in the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ensemble</a:t>
            </a:r>
          </a:p>
        </p:txBody>
      </p:sp>
    </p:spTree>
    <p:extLst>
      <p:ext uri="{BB962C8B-B14F-4D97-AF65-F5344CB8AC3E}">
        <p14:creationId xmlns:p14="http://schemas.microsoft.com/office/powerpoint/2010/main" val="2607246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ooter Placeholder 20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20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4603751"/>
            <a:ext cx="762000" cy="183356"/>
          </a:xfrm>
        </p:spPr>
        <p:txBody>
          <a:bodyPr/>
          <a:lstStyle/>
          <a:p>
            <a:pPr>
              <a:defRPr/>
            </a:pPr>
            <a:fld id="{9CFC1520-0A9B-49DF-989E-6568595BA370}" type="slidenum">
              <a:rPr lang="en-US" sz="1100"/>
              <a:pPr>
                <a:defRPr/>
              </a:pPr>
              <a:t>19</a:t>
            </a:fld>
            <a:endParaRPr lang="en-US" sz="1100" dirty="0"/>
          </a:p>
        </p:txBody>
      </p:sp>
      <p:graphicFrame>
        <p:nvGraphicFramePr>
          <p:cNvPr id="1229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838397"/>
              </p:ext>
            </p:extLst>
          </p:nvPr>
        </p:nvGraphicFramePr>
        <p:xfrm>
          <a:off x="498475" y="596900"/>
          <a:ext cx="83835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9" name="Equation" r:id="rId3" imgW="4330440" imgH="469800" progId="Equation.DSMT4">
                  <p:embed/>
                </p:oleObj>
              </mc:Choice>
              <mc:Fallback>
                <p:oleObj name="Equation" r:id="rId3" imgW="433044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596900"/>
                        <a:ext cx="8383588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634173" y="1351131"/>
            <a:ext cx="60166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Ensemble average over all time for single system 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  is equivalent to average over trajectories in phase</a:t>
            </a:r>
            <a:endParaRPr lang="en-US" sz="2000" i="1" dirty="0">
              <a:latin typeface="Tahoma" pitchFamily="34" charset="0"/>
            </a:endParaRPr>
          </a:p>
          <a:p>
            <a:pPr eaLnBrk="0" hangingPunct="0"/>
            <a:r>
              <a:rPr lang="en-US" sz="2000" dirty="0">
                <a:latin typeface="Tahoma" pitchFamily="34" charset="0"/>
              </a:rPr>
              <a:t>  space </a:t>
            </a:r>
          </a:p>
        </p:txBody>
      </p:sp>
      <p:grpSp>
        <p:nvGrpSpPr>
          <p:cNvPr id="12293" name="Group 5"/>
          <p:cNvGrpSpPr>
            <a:grpSpLocks/>
          </p:cNvGrpSpPr>
          <p:nvPr/>
        </p:nvGrpSpPr>
        <p:grpSpPr bwMode="auto">
          <a:xfrm>
            <a:off x="1641475" y="2493963"/>
            <a:ext cx="1277938" cy="807244"/>
            <a:chOff x="2152" y="2363"/>
            <a:chExt cx="805" cy="678"/>
          </a:xfrm>
        </p:grpSpPr>
        <p:grpSp>
          <p:nvGrpSpPr>
            <p:cNvPr id="12478" name="Group 6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480" name="Group 7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484" name="Rectangle 8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485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8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8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8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8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90" name="Line 14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91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481" name="Line 16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82" name="Line 17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83" name="Line 18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479" name="Line 19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294" name="Group 20"/>
          <p:cNvGrpSpPr>
            <a:grpSpLocks/>
          </p:cNvGrpSpPr>
          <p:nvPr/>
        </p:nvGrpSpPr>
        <p:grpSpPr bwMode="auto">
          <a:xfrm>
            <a:off x="1793875" y="2608263"/>
            <a:ext cx="1277938" cy="807244"/>
            <a:chOff x="2152" y="2363"/>
            <a:chExt cx="805" cy="678"/>
          </a:xfrm>
        </p:grpSpPr>
        <p:grpSp>
          <p:nvGrpSpPr>
            <p:cNvPr id="12464" name="Group 21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466" name="Group 22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470" name="Rectangle 23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471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72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73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74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75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76" name="Line 29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77" name="Line 30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467" name="Line 31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68" name="Line 32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69" name="Line 33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465" name="Line 34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295" name="Group 35"/>
          <p:cNvGrpSpPr>
            <a:grpSpLocks/>
          </p:cNvGrpSpPr>
          <p:nvPr/>
        </p:nvGrpSpPr>
        <p:grpSpPr bwMode="auto">
          <a:xfrm>
            <a:off x="1946275" y="2722563"/>
            <a:ext cx="1277938" cy="807244"/>
            <a:chOff x="2152" y="2363"/>
            <a:chExt cx="805" cy="678"/>
          </a:xfrm>
        </p:grpSpPr>
        <p:grpSp>
          <p:nvGrpSpPr>
            <p:cNvPr id="12450" name="Group 36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452" name="Group 37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456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457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58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59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60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61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62" name="Line 44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63" name="Line 45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453" name="Line 46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54" name="Line 47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55" name="Line 48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451" name="Line 49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296" name="Group 50"/>
          <p:cNvGrpSpPr>
            <a:grpSpLocks/>
          </p:cNvGrpSpPr>
          <p:nvPr/>
        </p:nvGrpSpPr>
        <p:grpSpPr bwMode="auto">
          <a:xfrm>
            <a:off x="2098675" y="2836863"/>
            <a:ext cx="1277938" cy="807244"/>
            <a:chOff x="2152" y="2363"/>
            <a:chExt cx="805" cy="678"/>
          </a:xfrm>
        </p:grpSpPr>
        <p:grpSp>
          <p:nvGrpSpPr>
            <p:cNvPr id="12436" name="Group 51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438" name="Group 52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442" name="Rectangle 53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443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44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45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46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47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48" name="Line 59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49" name="Line 60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439" name="Line 61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40" name="Line 62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41" name="Line 63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437" name="Line 64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297" name="Group 65"/>
          <p:cNvGrpSpPr>
            <a:grpSpLocks/>
          </p:cNvGrpSpPr>
          <p:nvPr/>
        </p:nvGrpSpPr>
        <p:grpSpPr bwMode="auto">
          <a:xfrm>
            <a:off x="2251075" y="2951163"/>
            <a:ext cx="1277938" cy="807244"/>
            <a:chOff x="2152" y="2363"/>
            <a:chExt cx="805" cy="678"/>
          </a:xfrm>
        </p:grpSpPr>
        <p:grpSp>
          <p:nvGrpSpPr>
            <p:cNvPr id="12422" name="Group 66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424" name="Group 67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428" name="Rectangle 68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429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30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31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32" name="Line 72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33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34" name="Line 74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35" name="Line 75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425" name="Line 76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26" name="Line 77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27" name="Line 78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423" name="Line 79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298" name="Group 80"/>
          <p:cNvGrpSpPr>
            <a:grpSpLocks/>
          </p:cNvGrpSpPr>
          <p:nvPr/>
        </p:nvGrpSpPr>
        <p:grpSpPr bwMode="auto">
          <a:xfrm>
            <a:off x="2403475" y="3065463"/>
            <a:ext cx="1277938" cy="807244"/>
            <a:chOff x="2152" y="2363"/>
            <a:chExt cx="805" cy="678"/>
          </a:xfrm>
        </p:grpSpPr>
        <p:grpSp>
          <p:nvGrpSpPr>
            <p:cNvPr id="12408" name="Group 81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410" name="Group 82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414" name="Rectangle 83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415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16" name="Line 85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17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18" name="Line 87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19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20" name="Line 89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21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411" name="Line 91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12" name="Line 92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413" name="Line 93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409" name="Line 94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299" name="Group 95"/>
          <p:cNvGrpSpPr>
            <a:grpSpLocks/>
          </p:cNvGrpSpPr>
          <p:nvPr/>
        </p:nvGrpSpPr>
        <p:grpSpPr bwMode="auto">
          <a:xfrm>
            <a:off x="2555875" y="3179763"/>
            <a:ext cx="1277938" cy="807244"/>
            <a:chOff x="2152" y="2363"/>
            <a:chExt cx="805" cy="678"/>
          </a:xfrm>
        </p:grpSpPr>
        <p:grpSp>
          <p:nvGrpSpPr>
            <p:cNvPr id="12394" name="Group 96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396" name="Group 97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400" name="Rectangle 98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401" name="Line 99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02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03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04" name="Line 102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05" name="Line 103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06" name="Line 104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407" name="Line 105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397" name="Line 106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98" name="Line 107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99" name="Line 108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395" name="Line 109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300" name="Group 110"/>
          <p:cNvGrpSpPr>
            <a:grpSpLocks/>
          </p:cNvGrpSpPr>
          <p:nvPr/>
        </p:nvGrpSpPr>
        <p:grpSpPr bwMode="auto">
          <a:xfrm>
            <a:off x="2708275" y="3294063"/>
            <a:ext cx="1277938" cy="807244"/>
            <a:chOff x="2152" y="2363"/>
            <a:chExt cx="805" cy="678"/>
          </a:xfrm>
        </p:grpSpPr>
        <p:grpSp>
          <p:nvGrpSpPr>
            <p:cNvPr id="12380" name="Group 111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382" name="Group 112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386" name="Rectangle 113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387" name="Line 114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88" name="Line 115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89" name="Line 116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90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91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92" name="Line 119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93" name="Line 120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383" name="Line 121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84" name="Line 122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85" name="Line 123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381" name="Line 124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301" name="Group 125"/>
          <p:cNvGrpSpPr>
            <a:grpSpLocks/>
          </p:cNvGrpSpPr>
          <p:nvPr/>
        </p:nvGrpSpPr>
        <p:grpSpPr bwMode="auto">
          <a:xfrm>
            <a:off x="2860675" y="3408363"/>
            <a:ext cx="1277938" cy="807244"/>
            <a:chOff x="2152" y="2363"/>
            <a:chExt cx="805" cy="678"/>
          </a:xfrm>
        </p:grpSpPr>
        <p:grpSp>
          <p:nvGrpSpPr>
            <p:cNvPr id="12366" name="Group 126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368" name="Group 127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372" name="Rectangle 128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373" name="Line 129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74" name="Line 130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75" name="Line 131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76" name="Line 132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77" name="Line 133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78" name="Line 134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79" name="Line 135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369" name="Line 136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70" name="Line 137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71" name="Line 138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367" name="Line 139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302" name="Group 140"/>
          <p:cNvGrpSpPr>
            <a:grpSpLocks/>
          </p:cNvGrpSpPr>
          <p:nvPr/>
        </p:nvGrpSpPr>
        <p:grpSpPr bwMode="auto">
          <a:xfrm>
            <a:off x="4833939" y="2791619"/>
            <a:ext cx="1317625" cy="858441"/>
            <a:chOff x="2973" y="2270"/>
            <a:chExt cx="830" cy="738"/>
          </a:xfrm>
        </p:grpSpPr>
        <p:grpSp>
          <p:nvGrpSpPr>
            <p:cNvPr id="12355" name="Group 141"/>
            <p:cNvGrpSpPr>
              <a:grpSpLocks/>
            </p:cNvGrpSpPr>
            <p:nvPr/>
          </p:nvGrpSpPr>
          <p:grpSpPr bwMode="auto">
            <a:xfrm>
              <a:off x="2973" y="2270"/>
              <a:ext cx="830" cy="738"/>
              <a:chOff x="2973" y="2270"/>
              <a:chExt cx="830" cy="738"/>
            </a:xfrm>
          </p:grpSpPr>
          <p:sp>
            <p:nvSpPr>
              <p:cNvPr id="12358" name="Rectangle 142"/>
              <p:cNvSpPr>
                <a:spLocks noChangeArrowheads="1"/>
              </p:cNvSpPr>
              <p:nvPr/>
            </p:nvSpPr>
            <p:spPr bwMode="auto">
              <a:xfrm>
                <a:off x="2973" y="2270"/>
                <a:ext cx="830" cy="7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2359" name="Line 143"/>
              <p:cNvSpPr>
                <a:spLocks noChangeShapeType="1"/>
              </p:cNvSpPr>
              <p:nvPr/>
            </p:nvSpPr>
            <p:spPr bwMode="auto">
              <a:xfrm>
                <a:off x="3396" y="2363"/>
                <a:ext cx="17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60" name="Line 144"/>
              <p:cNvSpPr>
                <a:spLocks noChangeShapeType="1"/>
              </p:cNvSpPr>
              <p:nvPr/>
            </p:nvSpPr>
            <p:spPr bwMode="auto">
              <a:xfrm flipV="1">
                <a:off x="3066" y="2693"/>
                <a:ext cx="186" cy="1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61" name="Line 145"/>
              <p:cNvSpPr>
                <a:spLocks noChangeShapeType="1"/>
              </p:cNvSpPr>
              <p:nvPr/>
            </p:nvSpPr>
            <p:spPr bwMode="auto">
              <a:xfrm>
                <a:off x="3244" y="2694"/>
                <a:ext cx="212" cy="1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62" name="Line 146"/>
              <p:cNvSpPr>
                <a:spLocks noChangeShapeType="1"/>
              </p:cNvSpPr>
              <p:nvPr/>
            </p:nvSpPr>
            <p:spPr bwMode="auto">
              <a:xfrm flipH="1" flipV="1">
                <a:off x="3337" y="2567"/>
                <a:ext cx="127" cy="2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63" name="Line 147"/>
              <p:cNvSpPr>
                <a:spLocks noChangeShapeType="1"/>
              </p:cNvSpPr>
              <p:nvPr/>
            </p:nvSpPr>
            <p:spPr bwMode="auto">
              <a:xfrm>
                <a:off x="3066" y="2355"/>
                <a:ext cx="187" cy="5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64" name="Line 148"/>
              <p:cNvSpPr>
                <a:spLocks noChangeShapeType="1"/>
              </p:cNvSpPr>
              <p:nvPr/>
            </p:nvSpPr>
            <p:spPr bwMode="auto">
              <a:xfrm flipH="1">
                <a:off x="3219" y="2372"/>
                <a:ext cx="415" cy="3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65" name="Line 149"/>
              <p:cNvSpPr>
                <a:spLocks noChangeShapeType="1"/>
              </p:cNvSpPr>
              <p:nvPr/>
            </p:nvSpPr>
            <p:spPr bwMode="auto">
              <a:xfrm>
                <a:off x="3117" y="2355"/>
                <a:ext cx="458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356" name="Line 150"/>
            <p:cNvSpPr>
              <a:spLocks noChangeShapeType="1"/>
            </p:cNvSpPr>
            <p:nvPr/>
          </p:nvSpPr>
          <p:spPr bwMode="auto">
            <a:xfrm flipV="1">
              <a:off x="3049" y="2338"/>
              <a:ext cx="356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2357" name="Line 151"/>
            <p:cNvSpPr>
              <a:spLocks noChangeShapeType="1"/>
            </p:cNvSpPr>
            <p:nvPr/>
          </p:nvSpPr>
          <p:spPr bwMode="auto">
            <a:xfrm flipH="1" flipV="1">
              <a:off x="3464" y="2389"/>
              <a:ext cx="119" cy="3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303" name="Group 152"/>
          <p:cNvGrpSpPr>
            <a:grpSpLocks/>
          </p:cNvGrpSpPr>
          <p:nvPr/>
        </p:nvGrpSpPr>
        <p:grpSpPr bwMode="auto">
          <a:xfrm>
            <a:off x="5521325" y="2682081"/>
            <a:ext cx="1277938" cy="858441"/>
            <a:chOff x="2152" y="2363"/>
            <a:chExt cx="805" cy="678"/>
          </a:xfrm>
        </p:grpSpPr>
        <p:grpSp>
          <p:nvGrpSpPr>
            <p:cNvPr id="12341" name="Group 153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343" name="Group 154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347" name="Rectangle 155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348" name="Line 156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49" name="Line 157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50" name="Line 158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51" name="Line 159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52" name="Line 160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53" name="Line 161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54" name="Line 162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344" name="Line 163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45" name="Line 164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46" name="Line 165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342" name="Line 166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304" name="Group 167"/>
          <p:cNvGrpSpPr>
            <a:grpSpLocks/>
          </p:cNvGrpSpPr>
          <p:nvPr/>
        </p:nvGrpSpPr>
        <p:grpSpPr bwMode="auto">
          <a:xfrm>
            <a:off x="6172200" y="2565400"/>
            <a:ext cx="1277938" cy="858441"/>
            <a:chOff x="2152" y="2363"/>
            <a:chExt cx="805" cy="678"/>
          </a:xfrm>
        </p:grpSpPr>
        <p:grpSp>
          <p:nvGrpSpPr>
            <p:cNvPr id="12327" name="Group 168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329" name="Group 169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333" name="Rectangle 170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334" name="Line 171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35" name="Line 172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36" name="Line 173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37" name="Line 174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38" name="Line 175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39" name="Line 176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40" name="Line 177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330" name="Line 178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31" name="Line 179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32" name="Line 180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328" name="Line 181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305" name="Group 182"/>
          <p:cNvGrpSpPr>
            <a:grpSpLocks/>
          </p:cNvGrpSpPr>
          <p:nvPr/>
        </p:nvGrpSpPr>
        <p:grpSpPr bwMode="auto">
          <a:xfrm>
            <a:off x="6946900" y="2459435"/>
            <a:ext cx="1277938" cy="858440"/>
            <a:chOff x="2152" y="2363"/>
            <a:chExt cx="805" cy="678"/>
          </a:xfrm>
        </p:grpSpPr>
        <p:grpSp>
          <p:nvGrpSpPr>
            <p:cNvPr id="12313" name="Group 183"/>
            <p:cNvGrpSpPr>
              <a:grpSpLocks/>
            </p:cNvGrpSpPr>
            <p:nvPr/>
          </p:nvGrpSpPr>
          <p:grpSpPr bwMode="auto">
            <a:xfrm>
              <a:off x="2152" y="2363"/>
              <a:ext cx="805" cy="678"/>
              <a:chOff x="2152" y="2363"/>
              <a:chExt cx="805" cy="678"/>
            </a:xfrm>
          </p:grpSpPr>
          <p:grpSp>
            <p:nvGrpSpPr>
              <p:cNvPr id="12315" name="Group 184"/>
              <p:cNvGrpSpPr>
                <a:grpSpLocks/>
              </p:cNvGrpSpPr>
              <p:nvPr/>
            </p:nvGrpSpPr>
            <p:grpSpPr bwMode="auto">
              <a:xfrm>
                <a:off x="2152" y="2363"/>
                <a:ext cx="805" cy="678"/>
                <a:chOff x="2152" y="2363"/>
                <a:chExt cx="805" cy="678"/>
              </a:xfrm>
            </p:grpSpPr>
            <p:sp>
              <p:nvSpPr>
                <p:cNvPr id="12319" name="Rectangle 185"/>
                <p:cNvSpPr>
                  <a:spLocks noChangeArrowheads="1"/>
                </p:cNvSpPr>
                <p:nvPr/>
              </p:nvSpPr>
              <p:spPr bwMode="auto">
                <a:xfrm>
                  <a:off x="2152" y="2363"/>
                  <a:ext cx="805" cy="67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000" dirty="0"/>
                </a:p>
              </p:txBody>
            </p:sp>
            <p:sp>
              <p:nvSpPr>
                <p:cNvPr id="12320" name="Line 186"/>
                <p:cNvSpPr>
                  <a:spLocks noChangeShapeType="1"/>
                </p:cNvSpPr>
                <p:nvPr/>
              </p:nvSpPr>
              <p:spPr bwMode="auto">
                <a:xfrm flipV="1">
                  <a:off x="2296" y="2490"/>
                  <a:ext cx="525" cy="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21" name="Line 187"/>
                <p:cNvSpPr>
                  <a:spLocks noChangeShapeType="1"/>
                </p:cNvSpPr>
                <p:nvPr/>
              </p:nvSpPr>
              <p:spPr bwMode="auto">
                <a:xfrm flipV="1">
                  <a:off x="2396" y="2837"/>
                  <a:ext cx="424" cy="1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22" name="Line 188"/>
                <p:cNvSpPr>
                  <a:spLocks noChangeShapeType="1"/>
                </p:cNvSpPr>
                <p:nvPr/>
              </p:nvSpPr>
              <p:spPr bwMode="auto">
                <a:xfrm flipV="1">
                  <a:off x="2829" y="2534"/>
                  <a:ext cx="50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23" name="Line 189"/>
                <p:cNvSpPr>
                  <a:spLocks noChangeShapeType="1"/>
                </p:cNvSpPr>
                <p:nvPr/>
              </p:nvSpPr>
              <p:spPr bwMode="auto">
                <a:xfrm flipV="1">
                  <a:off x="2228" y="2448"/>
                  <a:ext cx="110" cy="4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24" name="Line 190"/>
                <p:cNvSpPr>
                  <a:spLocks noChangeShapeType="1"/>
                </p:cNvSpPr>
                <p:nvPr/>
              </p:nvSpPr>
              <p:spPr bwMode="auto">
                <a:xfrm flipV="1">
                  <a:off x="2211" y="2634"/>
                  <a:ext cx="635" cy="2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25" name="Line 191"/>
                <p:cNvSpPr>
                  <a:spLocks noChangeShapeType="1"/>
                </p:cNvSpPr>
                <p:nvPr/>
              </p:nvSpPr>
              <p:spPr bwMode="auto">
                <a:xfrm flipH="1" flipV="1">
                  <a:off x="2245" y="2609"/>
                  <a:ext cx="610" cy="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12326" name="Line 192"/>
                <p:cNvSpPr>
                  <a:spLocks noChangeShapeType="1"/>
                </p:cNvSpPr>
                <p:nvPr/>
              </p:nvSpPr>
              <p:spPr bwMode="auto">
                <a:xfrm flipH="1" flipV="1">
                  <a:off x="2253" y="2685"/>
                  <a:ext cx="390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sp>
            <p:nvSpPr>
              <p:cNvPr id="12316" name="Line 193"/>
              <p:cNvSpPr>
                <a:spLocks noChangeShapeType="1"/>
              </p:cNvSpPr>
              <p:nvPr/>
            </p:nvSpPr>
            <p:spPr bwMode="auto">
              <a:xfrm flipH="1">
                <a:off x="2567" y="2507"/>
                <a:ext cx="262" cy="3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17" name="Line 194"/>
              <p:cNvSpPr>
                <a:spLocks noChangeShapeType="1"/>
              </p:cNvSpPr>
              <p:nvPr/>
            </p:nvSpPr>
            <p:spPr bwMode="auto">
              <a:xfrm flipH="1" flipV="1">
                <a:off x="2524" y="2423"/>
                <a:ext cx="51" cy="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2318" name="Line 195"/>
              <p:cNvSpPr>
                <a:spLocks noChangeShapeType="1"/>
              </p:cNvSpPr>
              <p:nvPr/>
            </p:nvSpPr>
            <p:spPr bwMode="auto">
              <a:xfrm>
                <a:off x="2262" y="2685"/>
                <a:ext cx="584" cy="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2314" name="Line 196"/>
            <p:cNvSpPr>
              <a:spLocks noChangeShapeType="1"/>
            </p:cNvSpPr>
            <p:nvPr/>
          </p:nvSpPr>
          <p:spPr bwMode="auto">
            <a:xfrm>
              <a:off x="2346" y="2465"/>
              <a:ext cx="102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12306" name="Line 197"/>
          <p:cNvSpPr>
            <a:spLocks noChangeShapeType="1"/>
          </p:cNvSpPr>
          <p:nvPr/>
        </p:nvSpPr>
        <p:spPr bwMode="auto">
          <a:xfrm>
            <a:off x="1466850" y="3382169"/>
            <a:ext cx="1030288" cy="804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2307" name="Text Box 198"/>
          <p:cNvSpPr txBox="1">
            <a:spLocks noChangeArrowheads="1"/>
          </p:cNvSpPr>
          <p:nvPr/>
        </p:nvSpPr>
        <p:spPr bwMode="auto">
          <a:xfrm>
            <a:off x="661988" y="3689350"/>
            <a:ext cx="130292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dirty="0">
                <a:latin typeface="Tahoma" pitchFamily="34" charset="0"/>
              </a:rPr>
              <a:t>Integrate </a:t>
            </a:r>
          </a:p>
          <a:p>
            <a:pPr eaLnBrk="0" hangingPunct="0"/>
            <a:r>
              <a:rPr lang="en-US" sz="1600" dirty="0">
                <a:latin typeface="Tahoma" pitchFamily="34" charset="0"/>
              </a:rPr>
              <a:t>over all time</a:t>
            </a:r>
          </a:p>
        </p:txBody>
      </p:sp>
      <p:sp>
        <p:nvSpPr>
          <p:cNvPr id="12308" name="Line 199"/>
          <p:cNvSpPr>
            <a:spLocks noChangeShapeType="1"/>
          </p:cNvSpPr>
          <p:nvPr/>
        </p:nvSpPr>
        <p:spPr bwMode="auto">
          <a:xfrm flipV="1">
            <a:off x="5160964" y="3432175"/>
            <a:ext cx="310673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2309" name="Text Box 200"/>
          <p:cNvSpPr txBox="1">
            <a:spLocks noChangeArrowheads="1"/>
          </p:cNvSpPr>
          <p:nvPr/>
        </p:nvSpPr>
        <p:spPr bwMode="auto">
          <a:xfrm>
            <a:off x="6759576" y="3788172"/>
            <a:ext cx="15065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dirty="0">
                <a:latin typeface="Tahoma" pitchFamily="34" charset="0"/>
              </a:rPr>
              <a:t>Integrate </a:t>
            </a:r>
          </a:p>
          <a:p>
            <a:pPr eaLnBrk="0" hangingPunct="0"/>
            <a:r>
              <a:rPr lang="en-US" sz="1600" dirty="0">
                <a:latin typeface="Tahoma" pitchFamily="34" charset="0"/>
              </a:rPr>
              <a:t>over all states </a:t>
            </a:r>
          </a:p>
        </p:txBody>
      </p:sp>
      <p:sp>
        <p:nvSpPr>
          <p:cNvPr id="12310" name="Text Box 201"/>
          <p:cNvSpPr txBox="1">
            <a:spLocks noChangeArrowheads="1"/>
          </p:cNvSpPr>
          <p:nvPr/>
        </p:nvSpPr>
        <p:spPr bwMode="auto">
          <a:xfrm>
            <a:off x="4246563" y="2848769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=</a:t>
            </a:r>
          </a:p>
        </p:txBody>
      </p:sp>
      <p:sp>
        <p:nvSpPr>
          <p:cNvPr id="12311" name="Text Box 202"/>
          <p:cNvSpPr txBox="1">
            <a:spLocks noChangeArrowheads="1"/>
          </p:cNvSpPr>
          <p:nvPr/>
        </p:nvSpPr>
        <p:spPr bwMode="auto">
          <a:xfrm>
            <a:off x="1246189" y="241301"/>
            <a:ext cx="43300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itchFamily="34" charset="0"/>
              </a:rPr>
              <a:t>Postulate 2</a:t>
            </a:r>
            <a:r>
              <a:rPr lang="en-US" sz="2000" b="1" dirty="0"/>
              <a:t>  </a:t>
            </a:r>
            <a:r>
              <a:rPr lang="en-US" sz="2000" dirty="0"/>
              <a:t>The Ergotic Statement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45920" y="4643120"/>
            <a:ext cx="2246054" cy="408203"/>
            <a:chOff x="1645920" y="4643120"/>
            <a:chExt cx="2246054" cy="408203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" name="TextBox 1"/>
            <p:cNvSpPr txBox="1"/>
            <p:nvPr/>
          </p:nvSpPr>
          <p:spPr bwMode="auto">
            <a:xfrm>
              <a:off x="1645920" y="4643120"/>
              <a:ext cx="1909497" cy="40011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Now must find </a:t>
              </a:r>
            </a:p>
          </p:txBody>
        </p:sp>
        <p:graphicFrame>
          <p:nvGraphicFramePr>
            <p:cNvPr id="20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7448516"/>
                </p:ext>
              </p:extLst>
            </p:nvPr>
          </p:nvGraphicFramePr>
          <p:xfrm>
            <a:off x="3437949" y="4653117"/>
            <a:ext cx="454025" cy="398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10" name="Equation" r:id="rId5" imgW="203040" imgH="228600" progId="Equation.DSMT4">
                    <p:embed/>
                  </p:oleObj>
                </mc:Choice>
                <mc:Fallback>
                  <p:oleObj name="Equation" r:id="rId5" imgW="203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7949" y="4653117"/>
                          <a:ext cx="454025" cy="398206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489794-44F2-4E14-A2FA-23D96F1ECF1D}" type="slidenum">
              <a:rPr lang="en-US" sz="1100"/>
              <a:pPr>
                <a:defRPr/>
              </a:pPr>
              <a:t>20</a:t>
            </a:fld>
            <a:endParaRPr lang="en-US" sz="1100" dirty="0"/>
          </a:p>
        </p:txBody>
      </p:sp>
      <p:sp>
        <p:nvSpPr>
          <p:cNvPr id="13320" name="Text Box 2"/>
          <p:cNvSpPr txBox="1">
            <a:spLocks noChangeArrowheads="1"/>
          </p:cNvSpPr>
          <p:nvPr/>
        </p:nvSpPr>
        <p:spPr bwMode="auto">
          <a:xfrm>
            <a:off x="1562100" y="642938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en-US" sz="1600" dirty="0">
              <a:latin typeface="Tahoma" pitchFamily="34" charset="0"/>
            </a:endParaRPr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684455"/>
              </p:ext>
            </p:extLst>
          </p:nvPr>
        </p:nvGraphicFramePr>
        <p:xfrm>
          <a:off x="2176462" y="2861052"/>
          <a:ext cx="53101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704" name="Equation" r:id="rId3" imgW="2336760" imgH="482400" progId="Equation.DSMT4">
                  <p:embed/>
                </p:oleObj>
              </mc:Choice>
              <mc:Fallback>
                <p:oleObj name="Equation" r:id="rId3" imgW="233676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2" y="2861052"/>
                        <a:ext cx="5310188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Text Box 5"/>
          <p:cNvSpPr txBox="1">
            <a:spLocks noChangeArrowheads="1"/>
          </p:cNvSpPr>
          <p:nvPr/>
        </p:nvSpPr>
        <p:spPr bwMode="auto">
          <a:xfrm>
            <a:off x="3418205" y="742236"/>
            <a:ext cx="1762085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B=Bogoliubov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B=Born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G=Green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K=Kirkwood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Y=Yvon</a:t>
            </a:r>
          </a:p>
        </p:txBody>
      </p:sp>
      <p:sp>
        <p:nvSpPr>
          <p:cNvPr id="13322" name="Text Box 6"/>
          <p:cNvSpPr txBox="1">
            <a:spLocks noChangeArrowheads="1"/>
          </p:cNvSpPr>
          <p:nvPr/>
        </p:nvSpPr>
        <p:spPr bwMode="auto">
          <a:xfrm>
            <a:off x="2026254" y="71120"/>
            <a:ext cx="45400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2000" b="1" dirty="0">
                <a:solidFill>
                  <a:srgbClr val="0000FF"/>
                </a:solidFill>
                <a:latin typeface="Tahoma" pitchFamily="34" charset="0"/>
              </a:rPr>
              <a:t>Sketch of</a:t>
            </a:r>
          </a:p>
          <a:p>
            <a:pPr eaLnBrk="0" hangingPunct="0"/>
            <a:r>
              <a:rPr lang="en-US" sz="2000" b="1" dirty="0">
                <a:solidFill>
                  <a:srgbClr val="0000FF"/>
                </a:solidFill>
                <a:latin typeface="Tahoma" pitchFamily="34" charset="0"/>
              </a:rPr>
              <a:t>Derivation of the BBGKY Equation</a:t>
            </a:r>
          </a:p>
        </p:txBody>
      </p:sp>
      <p:graphicFrame>
        <p:nvGraphicFramePr>
          <p:cNvPr id="133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565799"/>
              </p:ext>
            </p:extLst>
          </p:nvPr>
        </p:nvGraphicFramePr>
        <p:xfrm>
          <a:off x="3125665" y="3940395"/>
          <a:ext cx="25304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705" name="Equation" r:id="rId5" imgW="1206360" imgH="419040" progId="Equation.DSMT4">
                  <p:embed/>
                </p:oleObj>
              </mc:Choice>
              <mc:Fallback>
                <p:oleObj name="Equation" r:id="rId5" imgW="120636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665" y="3940395"/>
                        <a:ext cx="25304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Text Box 9"/>
          <p:cNvSpPr txBox="1">
            <a:spLocks noChangeArrowheads="1"/>
          </p:cNvSpPr>
          <p:nvPr/>
        </p:nvSpPr>
        <p:spPr bwMode="auto">
          <a:xfrm>
            <a:off x="1075790" y="2161997"/>
            <a:ext cx="68949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Form total derivative </a:t>
            </a:r>
            <a:r>
              <a:rPr lang="en-US" sz="2000" i="1" dirty="0">
                <a:latin typeface="Tahoma" pitchFamily="34" charset="0"/>
              </a:rPr>
              <a:t>wrt </a:t>
            </a:r>
            <a:r>
              <a:rPr lang="en-US" sz="2000" dirty="0">
                <a:latin typeface="Tahoma" pitchFamily="34" charset="0"/>
              </a:rPr>
              <a:t> </a:t>
            </a:r>
            <a:r>
              <a:rPr lang="en-US" sz="2800" i="1" dirty="0">
                <a:latin typeface="Times New Roman" pitchFamily="18" charset="0"/>
              </a:rPr>
              <a:t>t</a:t>
            </a:r>
            <a:r>
              <a:rPr lang="en-US" sz="2000" i="1" dirty="0">
                <a:latin typeface="Times New Roman" pitchFamily="18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and incorporate eqns of motion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D2CC42-ECC2-49A1-A3C8-FAEED9C9306E}" type="slidenum">
              <a:rPr lang="en-US" sz="1100"/>
              <a:pPr>
                <a:defRPr/>
              </a:pPr>
              <a:t>21</a:t>
            </a:fld>
            <a:endParaRPr lang="en-US" sz="1100" dirty="0"/>
          </a:p>
        </p:txBody>
      </p:sp>
      <p:grpSp>
        <p:nvGrpSpPr>
          <p:cNvPr id="14344" name="Group 17"/>
          <p:cNvGrpSpPr>
            <a:grpSpLocks/>
          </p:cNvGrpSpPr>
          <p:nvPr/>
        </p:nvGrpSpPr>
        <p:grpSpPr bwMode="auto">
          <a:xfrm>
            <a:off x="1009015" y="216145"/>
            <a:ext cx="3529014" cy="1147763"/>
            <a:chOff x="910" y="207"/>
            <a:chExt cx="2223" cy="964"/>
          </a:xfrm>
        </p:grpSpPr>
        <p:graphicFrame>
          <p:nvGraphicFramePr>
            <p:cNvPr id="1434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4744075"/>
                </p:ext>
              </p:extLst>
            </p:nvPr>
          </p:nvGraphicFramePr>
          <p:xfrm>
            <a:off x="2412" y="564"/>
            <a:ext cx="721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85" name="Equation" r:id="rId3" imgW="545760" imgH="393480" progId="Equation.DSMT4">
                    <p:embed/>
                  </p:oleObj>
                </mc:Choice>
                <mc:Fallback>
                  <p:oleObj name="Equation" r:id="rId3" imgW="545760" imgH="39348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2" y="564"/>
                          <a:ext cx="721" cy="6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Text Box 3"/>
            <p:cNvSpPr txBox="1">
              <a:spLocks noChangeArrowheads="1"/>
            </p:cNvSpPr>
            <p:nvPr/>
          </p:nvSpPr>
          <p:spPr bwMode="auto">
            <a:xfrm>
              <a:off x="910" y="207"/>
              <a:ext cx="153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Liouville’s Theorem:</a:t>
              </a:r>
              <a:endParaRPr lang="en-US" sz="2000" dirty="0">
                <a:solidFill>
                  <a:srgbClr val="FF0000"/>
                </a:solidFill>
                <a:latin typeface="Tahoma" pitchFamily="34" charset="0"/>
              </a:endParaRPr>
            </a:p>
          </p:txBody>
        </p:sp>
      </p:grpSp>
      <p:sp>
        <p:nvSpPr>
          <p:cNvPr id="14345" name="Text Box 4"/>
          <p:cNvSpPr txBox="1">
            <a:spLocks noChangeArrowheads="1"/>
          </p:cNvSpPr>
          <p:nvPr/>
        </p:nvSpPr>
        <p:spPr bwMode="auto">
          <a:xfrm>
            <a:off x="1454395" y="1332752"/>
            <a:ext cx="553036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Particle assumed to be identical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No sources of probability along particle path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Always can find particles on their trajectories</a:t>
            </a:r>
          </a:p>
        </p:txBody>
      </p:sp>
      <p:sp>
        <p:nvSpPr>
          <p:cNvPr id="14346" name="Line 6"/>
          <p:cNvSpPr>
            <a:spLocks noChangeShapeType="1"/>
          </p:cNvSpPr>
          <p:nvPr/>
        </p:nvSpPr>
        <p:spPr bwMode="auto">
          <a:xfrm>
            <a:off x="4887913" y="3309937"/>
            <a:ext cx="1568450" cy="577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4347" name="Line 9"/>
          <p:cNvSpPr>
            <a:spLocks noChangeShapeType="1"/>
          </p:cNvSpPr>
          <p:nvPr/>
        </p:nvSpPr>
        <p:spPr bwMode="auto">
          <a:xfrm>
            <a:off x="1971675" y="2918223"/>
            <a:ext cx="1422400" cy="5548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4348" name="Freeform 10"/>
          <p:cNvSpPr>
            <a:spLocks/>
          </p:cNvSpPr>
          <p:nvPr/>
        </p:nvSpPr>
        <p:spPr bwMode="auto">
          <a:xfrm>
            <a:off x="3276600" y="2711054"/>
            <a:ext cx="1885950" cy="1285875"/>
          </a:xfrm>
          <a:custGeom>
            <a:avLst/>
            <a:gdLst>
              <a:gd name="T0" fmla="*/ 0 w 3684"/>
              <a:gd name="T1" fmla="*/ 2147483647 h 686"/>
              <a:gd name="T2" fmla="*/ 2147483647 w 3684"/>
              <a:gd name="T3" fmla="*/ 2147483647 h 686"/>
              <a:gd name="T4" fmla="*/ 2147483647 w 3684"/>
              <a:gd name="T5" fmla="*/ 2147483647 h 686"/>
              <a:gd name="T6" fmla="*/ 2147483647 w 3684"/>
              <a:gd name="T7" fmla="*/ 2147483647 h 686"/>
              <a:gd name="T8" fmla="*/ 2147483647 w 3684"/>
              <a:gd name="T9" fmla="*/ 2147483647 h 686"/>
              <a:gd name="T10" fmla="*/ 2147483647 w 3684"/>
              <a:gd name="T11" fmla="*/ 2147483647 h 686"/>
              <a:gd name="T12" fmla="*/ 2147483647 w 3684"/>
              <a:gd name="T13" fmla="*/ 2147483647 h 686"/>
              <a:gd name="T14" fmla="*/ 2147483647 w 3684"/>
              <a:gd name="T15" fmla="*/ 2147483647 h 686"/>
              <a:gd name="T16" fmla="*/ 2147483647 w 3684"/>
              <a:gd name="T17" fmla="*/ 2147483647 h 686"/>
              <a:gd name="T18" fmla="*/ 2147483647 w 3684"/>
              <a:gd name="T19" fmla="*/ 2147483647 h 686"/>
              <a:gd name="T20" fmla="*/ 2147483647 w 3684"/>
              <a:gd name="T21" fmla="*/ 2147483647 h 686"/>
              <a:gd name="T22" fmla="*/ 2147483647 w 3684"/>
              <a:gd name="T23" fmla="*/ 2147483647 h 686"/>
              <a:gd name="T24" fmla="*/ 2147483647 w 3684"/>
              <a:gd name="T25" fmla="*/ 2147483647 h 686"/>
              <a:gd name="T26" fmla="*/ 2147483647 w 3684"/>
              <a:gd name="T27" fmla="*/ 2147483647 h 686"/>
              <a:gd name="T28" fmla="*/ 2147483647 w 3684"/>
              <a:gd name="T29" fmla="*/ 0 h 68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684"/>
              <a:gd name="T46" fmla="*/ 0 h 686"/>
              <a:gd name="T47" fmla="*/ 3684 w 3684"/>
              <a:gd name="T48" fmla="*/ 686 h 68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684" h="686">
                <a:moveTo>
                  <a:pt x="0" y="686"/>
                </a:moveTo>
                <a:cubicBezTo>
                  <a:pt x="42" y="658"/>
                  <a:pt x="25" y="612"/>
                  <a:pt x="64" y="585"/>
                </a:cubicBezTo>
                <a:cubicBezTo>
                  <a:pt x="102" y="559"/>
                  <a:pt x="146" y="539"/>
                  <a:pt x="183" y="512"/>
                </a:cubicBezTo>
                <a:cubicBezTo>
                  <a:pt x="193" y="505"/>
                  <a:pt x="198" y="490"/>
                  <a:pt x="210" y="485"/>
                </a:cubicBezTo>
                <a:cubicBezTo>
                  <a:pt x="460" y="372"/>
                  <a:pt x="1063" y="431"/>
                  <a:pt x="1143" y="430"/>
                </a:cubicBezTo>
                <a:cubicBezTo>
                  <a:pt x="1607" y="278"/>
                  <a:pt x="2279" y="315"/>
                  <a:pt x="2715" y="311"/>
                </a:cubicBezTo>
                <a:cubicBezTo>
                  <a:pt x="2927" y="285"/>
                  <a:pt x="3132" y="235"/>
                  <a:pt x="3346" y="220"/>
                </a:cubicBezTo>
                <a:cubicBezTo>
                  <a:pt x="3385" y="208"/>
                  <a:pt x="3407" y="178"/>
                  <a:pt x="3447" y="165"/>
                </a:cubicBezTo>
                <a:cubicBezTo>
                  <a:pt x="3463" y="154"/>
                  <a:pt x="3475" y="138"/>
                  <a:pt x="3492" y="128"/>
                </a:cubicBezTo>
                <a:cubicBezTo>
                  <a:pt x="3500" y="123"/>
                  <a:pt x="3551" y="111"/>
                  <a:pt x="3556" y="110"/>
                </a:cubicBezTo>
                <a:cubicBezTo>
                  <a:pt x="3603" y="66"/>
                  <a:pt x="3540" y="119"/>
                  <a:pt x="3611" y="83"/>
                </a:cubicBezTo>
                <a:cubicBezTo>
                  <a:pt x="3619" y="79"/>
                  <a:pt x="3622" y="69"/>
                  <a:pt x="3630" y="64"/>
                </a:cubicBezTo>
                <a:cubicBezTo>
                  <a:pt x="3638" y="59"/>
                  <a:pt x="3648" y="58"/>
                  <a:pt x="3657" y="55"/>
                </a:cubicBezTo>
                <a:cubicBezTo>
                  <a:pt x="3660" y="46"/>
                  <a:pt x="3662" y="37"/>
                  <a:pt x="3666" y="28"/>
                </a:cubicBezTo>
                <a:cubicBezTo>
                  <a:pt x="3671" y="18"/>
                  <a:pt x="3684" y="0"/>
                  <a:pt x="3684" y="0"/>
                </a:cubicBezTo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4349" name="Rectangle 11"/>
          <p:cNvSpPr>
            <a:spLocks noChangeArrowheads="1"/>
          </p:cNvSpPr>
          <p:nvPr/>
        </p:nvSpPr>
        <p:spPr bwMode="auto">
          <a:xfrm rot="20485552">
            <a:off x="2017873" y="2879527"/>
            <a:ext cx="3716338" cy="11870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4350" name="Line 12"/>
          <p:cNvSpPr>
            <a:spLocks noChangeShapeType="1"/>
          </p:cNvSpPr>
          <p:nvPr/>
        </p:nvSpPr>
        <p:spPr bwMode="auto">
          <a:xfrm>
            <a:off x="5672139" y="2907506"/>
            <a:ext cx="1233487" cy="535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graphicFrame>
        <p:nvGraphicFramePr>
          <p:cNvPr id="1433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753923"/>
              </p:ext>
            </p:extLst>
          </p:nvPr>
        </p:nvGraphicFramePr>
        <p:xfrm>
          <a:off x="6784482" y="2713037"/>
          <a:ext cx="18637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6" name="Equation" r:id="rId5" imgW="965160" imgH="431640" progId="Equation.DSMT4">
                  <p:embed/>
                </p:oleObj>
              </mc:Choice>
              <mc:Fallback>
                <p:oleObj name="Equation" r:id="rId5" imgW="96516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482" y="2713037"/>
                        <a:ext cx="18637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135023"/>
              </p:ext>
            </p:extLst>
          </p:nvPr>
        </p:nvGraphicFramePr>
        <p:xfrm>
          <a:off x="420688" y="2481263"/>
          <a:ext cx="23018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7" name="Equation" r:id="rId7" imgW="952200" imgH="253800" progId="Equation.DSMT4">
                  <p:embed/>
                </p:oleObj>
              </mc:Choice>
              <mc:Fallback>
                <p:oleObj name="Equation" r:id="rId7" imgW="952200" imgH="253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8" y="2481263"/>
                        <a:ext cx="23018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292100"/>
              </p:ext>
            </p:extLst>
          </p:nvPr>
        </p:nvGraphicFramePr>
        <p:xfrm>
          <a:off x="4713288" y="3879850"/>
          <a:ext cx="36544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8" name="Equation" r:id="rId9" imgW="1511280" imgH="253800" progId="Equation.DSMT4">
                  <p:embed/>
                </p:oleObj>
              </mc:Choice>
              <mc:Fallback>
                <p:oleObj name="Equation" r:id="rId9" imgW="1511280" imgH="253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3879850"/>
                        <a:ext cx="36544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2DDEEC-9AAC-4DE6-BADC-8E6CCB35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2B70C1-9190-4D24-9545-EB9815D8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9700E-BC17-4674-810D-109D6962E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305" y="801835"/>
            <a:ext cx="3520745" cy="655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9E2484-6103-499F-AF4B-F57DB30E5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479" y="1766345"/>
            <a:ext cx="5014395" cy="6477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25E25E-1080-40D1-AD58-E613F2BFB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543" y="2836574"/>
            <a:ext cx="4762913" cy="647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331B80-4450-4DD4-A3EF-C957043F2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504" y="3792766"/>
            <a:ext cx="2872989" cy="777307"/>
          </a:xfrm>
          <a:prstGeom prst="rect">
            <a:avLst/>
          </a:prstGeom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325901A3-4E82-44E9-8EDB-A38AAEF1E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015" y="216145"/>
            <a:ext cx="2435226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Liouville’s Theorem:</a:t>
            </a:r>
            <a:endParaRPr lang="en-US" sz="2000" dirty="0">
              <a:solidFill>
                <a:srgbClr val="FF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657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D0A668-013D-4814-9157-20732E4F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NEUTRON BOLTZMANN EQUATION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EC12E-E8D9-44E4-B7EC-DDEED4F6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F79F9-556B-4BD4-A5B2-FFB4E6EE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273" y="804332"/>
            <a:ext cx="3200677" cy="594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60D58A-A843-4E0E-BD6F-CDD80FD17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2" y="1763960"/>
            <a:ext cx="3505504" cy="807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B01973-1B9E-4BD2-9C45-6C1035438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036" y="1901132"/>
            <a:ext cx="1928027" cy="670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E14B7-82F5-4A0C-9F8C-4598341A4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16" y="3074138"/>
            <a:ext cx="4023709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64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57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0B961F-2EC0-4D43-9D4A-3ED892689899}" type="slidenum">
              <a:rPr lang="en-US" sz="1100"/>
              <a:pPr>
                <a:defRPr/>
              </a:pPr>
              <a:t>24</a:t>
            </a:fld>
            <a:endParaRPr lang="en-US" sz="1100" dirty="0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773813"/>
              </p:ext>
            </p:extLst>
          </p:nvPr>
        </p:nvGraphicFramePr>
        <p:xfrm>
          <a:off x="1635125" y="3316288"/>
          <a:ext cx="53355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40" name="Equation" r:id="rId3" imgW="2654280" imgH="279360" progId="Equation.DSMT4">
                  <p:embed/>
                </p:oleObj>
              </mc:Choice>
              <mc:Fallback>
                <p:oleObj name="Equation" r:id="rId3" imgW="2654280" imgH="2793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316288"/>
                        <a:ext cx="53355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623416"/>
              </p:ext>
            </p:extLst>
          </p:nvPr>
        </p:nvGraphicFramePr>
        <p:xfrm>
          <a:off x="1624609" y="4062969"/>
          <a:ext cx="578748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41" name="Equation" r:id="rId5" imgW="3238200" imgH="393480" progId="Equation.DSMT4">
                  <p:embed/>
                </p:oleObj>
              </mc:Choice>
              <mc:Fallback>
                <p:oleObj name="Equation" r:id="rId5" imgW="32382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609" y="4062969"/>
                        <a:ext cx="5787483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4"/>
          <p:cNvSpPr txBox="1">
            <a:spLocks noChangeArrowheads="1"/>
          </p:cNvSpPr>
          <p:nvPr/>
        </p:nvSpPr>
        <p:spPr bwMode="auto">
          <a:xfrm>
            <a:off x="3305175" y="172324"/>
            <a:ext cx="20696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Reduced Density</a:t>
            </a:r>
          </a:p>
        </p:txBody>
      </p:sp>
      <p:grpSp>
        <p:nvGrpSpPr>
          <p:cNvPr id="15367" name="Group 6"/>
          <p:cNvGrpSpPr>
            <a:grpSpLocks/>
          </p:cNvGrpSpPr>
          <p:nvPr/>
        </p:nvGrpSpPr>
        <p:grpSpPr bwMode="auto">
          <a:xfrm>
            <a:off x="3289301" y="870348"/>
            <a:ext cx="1997075" cy="1001315"/>
            <a:chOff x="1879" y="1137"/>
            <a:chExt cx="1258" cy="841"/>
          </a:xfrm>
        </p:grpSpPr>
        <p:grpSp>
          <p:nvGrpSpPr>
            <p:cNvPr id="15376" name="Group 7"/>
            <p:cNvGrpSpPr>
              <a:grpSpLocks/>
            </p:cNvGrpSpPr>
            <p:nvPr/>
          </p:nvGrpSpPr>
          <p:grpSpPr bwMode="auto">
            <a:xfrm>
              <a:off x="1879" y="1137"/>
              <a:ext cx="1258" cy="841"/>
              <a:chOff x="2029" y="1143"/>
              <a:chExt cx="1258" cy="841"/>
            </a:xfrm>
          </p:grpSpPr>
          <p:grpSp>
            <p:nvGrpSpPr>
              <p:cNvPr id="15378" name="Group 8"/>
              <p:cNvGrpSpPr>
                <a:grpSpLocks/>
              </p:cNvGrpSpPr>
              <p:nvPr/>
            </p:nvGrpSpPr>
            <p:grpSpPr bwMode="auto">
              <a:xfrm>
                <a:off x="2029" y="1143"/>
                <a:ext cx="1258" cy="841"/>
                <a:chOff x="2149" y="1149"/>
                <a:chExt cx="1258" cy="841"/>
              </a:xfrm>
            </p:grpSpPr>
            <p:grpSp>
              <p:nvGrpSpPr>
                <p:cNvPr id="15380" name="Group 9"/>
                <p:cNvGrpSpPr>
                  <a:grpSpLocks/>
                </p:cNvGrpSpPr>
                <p:nvPr/>
              </p:nvGrpSpPr>
              <p:grpSpPr bwMode="auto">
                <a:xfrm>
                  <a:off x="2149" y="1149"/>
                  <a:ext cx="1258" cy="841"/>
                  <a:chOff x="1491" y="1313"/>
                  <a:chExt cx="1258" cy="841"/>
                </a:xfrm>
              </p:grpSpPr>
              <p:sp>
                <p:nvSpPr>
                  <p:cNvPr id="15399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1906" y="1925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0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1344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1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1980" y="1659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2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2158" y="1838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3" name="Oval 14"/>
                  <p:cNvSpPr>
                    <a:spLocks noChangeArrowheads="1"/>
                  </p:cNvSpPr>
                  <p:nvPr/>
                </p:nvSpPr>
                <p:spPr bwMode="auto">
                  <a:xfrm>
                    <a:off x="2116" y="1532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4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2295" y="1729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5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1491" y="1646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6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2254" y="1934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7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1738" y="1554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8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2062" y="2034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09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1811" y="1810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0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666" y="1934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1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2359" y="1482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2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1787" y="2071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3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2469" y="1939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4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2474" y="1705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5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2633" y="1646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6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2592" y="1459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7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372" y="1313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8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2044" y="1322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419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599" y="1902"/>
                    <a:ext cx="83" cy="8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000" dirty="0"/>
                  </a:p>
                </p:txBody>
              </p:sp>
            </p:grpSp>
            <p:grpSp>
              <p:nvGrpSpPr>
                <p:cNvPr id="15381" name="Group 31"/>
                <p:cNvGrpSpPr>
                  <a:grpSpLocks/>
                </p:cNvGrpSpPr>
                <p:nvPr/>
              </p:nvGrpSpPr>
              <p:grpSpPr bwMode="auto">
                <a:xfrm>
                  <a:off x="2190" y="1188"/>
                  <a:ext cx="1176" cy="732"/>
                  <a:chOff x="2190" y="1188"/>
                  <a:chExt cx="1176" cy="732"/>
                </a:xfrm>
              </p:grpSpPr>
              <p:sp>
                <p:nvSpPr>
                  <p:cNvPr id="15382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42" y="1410"/>
                    <a:ext cx="378" cy="1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83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430" y="1230"/>
                    <a:ext cx="384" cy="16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84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90" y="1410"/>
                    <a:ext cx="624" cy="12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85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14" y="1392"/>
                    <a:ext cx="288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86" name="Line 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61" y="1371"/>
                    <a:ext cx="55" cy="54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87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16" y="1386"/>
                    <a:ext cx="198" cy="42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88" name="Lin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98" y="1416"/>
                    <a:ext cx="516" cy="37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89" name="Line 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20" y="1212"/>
                    <a:ext cx="252" cy="19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0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736" y="1188"/>
                    <a:ext cx="72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1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14" y="1362"/>
                    <a:ext cx="219" cy="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2" name="Lin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814" y="1398"/>
                    <a:ext cx="42" cy="33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3" name="Line 4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814" y="1410"/>
                    <a:ext cx="138" cy="41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4" name="Line 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20" y="1344"/>
                    <a:ext cx="480" cy="6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5" name="Line 4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808" y="1410"/>
                    <a:ext cx="372" cy="18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6" name="Line 4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814" y="1410"/>
                    <a:ext cx="516" cy="12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7" name="Line 4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808" y="1404"/>
                    <a:ext cx="354" cy="40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15398" name="Line 4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796" y="1398"/>
                    <a:ext cx="570" cy="41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</p:grpSp>
          </p:grpSp>
          <p:sp>
            <p:nvSpPr>
              <p:cNvPr id="15379" name="Line 49"/>
              <p:cNvSpPr>
                <a:spLocks noChangeShapeType="1"/>
              </p:cNvSpPr>
              <p:nvPr/>
            </p:nvSpPr>
            <p:spPr bwMode="auto">
              <a:xfrm flipV="1">
                <a:off x="2556" y="1392"/>
                <a:ext cx="132" cy="1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5377" name="Line 50"/>
            <p:cNvSpPr>
              <a:spLocks noChangeShapeType="1"/>
            </p:cNvSpPr>
            <p:nvPr/>
          </p:nvSpPr>
          <p:spPr bwMode="auto">
            <a:xfrm flipH="1" flipV="1">
              <a:off x="2520" y="1392"/>
              <a:ext cx="21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15368" name="Line 51"/>
          <p:cNvSpPr>
            <a:spLocks noChangeShapeType="1"/>
          </p:cNvSpPr>
          <p:nvPr/>
        </p:nvSpPr>
        <p:spPr bwMode="auto">
          <a:xfrm>
            <a:off x="2090738" y="969169"/>
            <a:ext cx="2119312" cy="1845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5369" name="Text Box 52"/>
          <p:cNvSpPr txBox="1">
            <a:spLocks noChangeArrowheads="1"/>
          </p:cNvSpPr>
          <p:nvPr/>
        </p:nvSpPr>
        <p:spPr bwMode="auto">
          <a:xfrm>
            <a:off x="1141413" y="567929"/>
            <a:ext cx="11565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Particle </a:t>
            </a:r>
            <a:r>
              <a:rPr lang="en-US" sz="2000" i="1" dirty="0">
                <a:latin typeface="Times New Roman" pitchFamily="18" charset="0"/>
              </a:rPr>
              <a:t>i</a:t>
            </a:r>
          </a:p>
        </p:txBody>
      </p:sp>
      <p:sp>
        <p:nvSpPr>
          <p:cNvPr id="15370" name="Line 53"/>
          <p:cNvSpPr>
            <a:spLocks noChangeShapeType="1"/>
          </p:cNvSpPr>
          <p:nvPr/>
        </p:nvSpPr>
        <p:spPr bwMode="auto">
          <a:xfrm flipH="1" flipV="1">
            <a:off x="5326064" y="1577578"/>
            <a:ext cx="930275" cy="10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5371" name="Text Box 54"/>
          <p:cNvSpPr txBox="1">
            <a:spLocks noChangeArrowheads="1"/>
          </p:cNvSpPr>
          <p:nvPr/>
        </p:nvSpPr>
        <p:spPr bwMode="auto">
          <a:xfrm>
            <a:off x="6317616" y="1497092"/>
            <a:ext cx="2112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all particles </a:t>
            </a:r>
            <a:r>
              <a:rPr lang="en-US" sz="2000" i="1" dirty="0">
                <a:latin typeface="Times New Roman" pitchFamily="18" charset="0"/>
              </a:rPr>
              <a:t>j</a:t>
            </a:r>
          </a:p>
        </p:txBody>
      </p:sp>
      <p:sp>
        <p:nvSpPr>
          <p:cNvPr id="15372" name="Text Box 55"/>
          <p:cNvSpPr txBox="1">
            <a:spLocks noChangeArrowheads="1"/>
          </p:cNvSpPr>
          <p:nvPr/>
        </p:nvSpPr>
        <p:spPr bwMode="auto">
          <a:xfrm>
            <a:off x="998538" y="2057400"/>
            <a:ext cx="630300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Need to reduce the number of degrees of freedom via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integration</a:t>
            </a:r>
          </a:p>
        </p:txBody>
      </p:sp>
      <p:sp>
        <p:nvSpPr>
          <p:cNvPr id="15373" name="Text Box 56"/>
          <p:cNvSpPr txBox="1">
            <a:spLocks noChangeArrowheads="1"/>
          </p:cNvSpPr>
          <p:nvPr/>
        </p:nvSpPr>
        <p:spPr bwMode="auto">
          <a:xfrm>
            <a:off x="1228725" y="2788444"/>
            <a:ext cx="64676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Integrate over coordinates of particles  </a:t>
            </a:r>
            <a:r>
              <a:rPr lang="en-US" i="1" dirty="0">
                <a:latin typeface="Times New Roman" pitchFamily="18" charset="0"/>
              </a:rPr>
              <a:t>j</a:t>
            </a:r>
            <a:r>
              <a:rPr lang="en-US" dirty="0">
                <a:latin typeface="Tahoma" pitchFamily="34" charset="0"/>
              </a:rPr>
              <a:t> = [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dirty="0">
                <a:latin typeface="Times New Roman" pitchFamily="18" charset="0"/>
              </a:rPr>
              <a:t>+1,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ahoma" pitchFamily="34" charset="0"/>
              </a:rPr>
              <a:t>]</a:t>
            </a:r>
          </a:p>
        </p:txBody>
      </p:sp>
      <p:sp>
        <p:nvSpPr>
          <p:cNvPr id="59" name="Freeform 58"/>
          <p:cNvSpPr/>
          <p:nvPr/>
        </p:nvSpPr>
        <p:spPr>
          <a:xfrm>
            <a:off x="3000375" y="696517"/>
            <a:ext cx="2559050" cy="1421606"/>
          </a:xfrm>
          <a:custGeom>
            <a:avLst/>
            <a:gdLst>
              <a:gd name="connsiteX0" fmla="*/ 1843088 w 2559046"/>
              <a:gd name="connsiteY0" fmla="*/ 85725 h 1895548"/>
              <a:gd name="connsiteX1" fmla="*/ 1657350 w 2559046"/>
              <a:gd name="connsiteY1" fmla="*/ 57150 h 1895548"/>
              <a:gd name="connsiteX2" fmla="*/ 1614488 w 2559046"/>
              <a:gd name="connsiteY2" fmla="*/ 42862 h 1895548"/>
              <a:gd name="connsiteX3" fmla="*/ 1557338 w 2559046"/>
              <a:gd name="connsiteY3" fmla="*/ 28575 h 1895548"/>
              <a:gd name="connsiteX4" fmla="*/ 1514475 w 2559046"/>
              <a:gd name="connsiteY4" fmla="*/ 14287 h 1895548"/>
              <a:gd name="connsiteX5" fmla="*/ 1443038 w 2559046"/>
              <a:gd name="connsiteY5" fmla="*/ 0 h 1895548"/>
              <a:gd name="connsiteX6" fmla="*/ 800100 w 2559046"/>
              <a:gd name="connsiteY6" fmla="*/ 14287 h 1895548"/>
              <a:gd name="connsiteX7" fmla="*/ 657225 w 2559046"/>
              <a:gd name="connsiteY7" fmla="*/ 42862 h 1895548"/>
              <a:gd name="connsiteX8" fmla="*/ 600075 w 2559046"/>
              <a:gd name="connsiteY8" fmla="*/ 57150 h 1895548"/>
              <a:gd name="connsiteX9" fmla="*/ 514350 w 2559046"/>
              <a:gd name="connsiteY9" fmla="*/ 85725 h 1895548"/>
              <a:gd name="connsiteX10" fmla="*/ 471488 w 2559046"/>
              <a:gd name="connsiteY10" fmla="*/ 128587 h 1895548"/>
              <a:gd name="connsiteX11" fmla="*/ 428625 w 2559046"/>
              <a:gd name="connsiteY11" fmla="*/ 157162 h 1895548"/>
              <a:gd name="connsiteX12" fmla="*/ 328613 w 2559046"/>
              <a:gd name="connsiteY12" fmla="*/ 271462 h 1895548"/>
              <a:gd name="connsiteX13" fmla="*/ 228600 w 2559046"/>
              <a:gd name="connsiteY13" fmla="*/ 400050 h 1895548"/>
              <a:gd name="connsiteX14" fmla="*/ 185738 w 2559046"/>
              <a:gd name="connsiteY14" fmla="*/ 428625 h 1895548"/>
              <a:gd name="connsiteX15" fmla="*/ 142875 w 2559046"/>
              <a:gd name="connsiteY15" fmla="*/ 485775 h 1895548"/>
              <a:gd name="connsiteX16" fmla="*/ 42863 w 2559046"/>
              <a:gd name="connsiteY16" fmla="*/ 628650 h 1895548"/>
              <a:gd name="connsiteX17" fmla="*/ 0 w 2559046"/>
              <a:gd name="connsiteY17" fmla="*/ 814387 h 1895548"/>
              <a:gd name="connsiteX18" fmla="*/ 14288 w 2559046"/>
              <a:gd name="connsiteY18" fmla="*/ 1057275 h 1895548"/>
              <a:gd name="connsiteX19" fmla="*/ 57150 w 2559046"/>
              <a:gd name="connsiteY19" fmla="*/ 1200150 h 1895548"/>
              <a:gd name="connsiteX20" fmla="*/ 71438 w 2559046"/>
              <a:gd name="connsiteY20" fmla="*/ 1243012 h 1895548"/>
              <a:gd name="connsiteX21" fmla="*/ 85725 w 2559046"/>
              <a:gd name="connsiteY21" fmla="*/ 1314450 h 1895548"/>
              <a:gd name="connsiteX22" fmla="*/ 142875 w 2559046"/>
              <a:gd name="connsiteY22" fmla="*/ 1400175 h 1895548"/>
              <a:gd name="connsiteX23" fmla="*/ 171450 w 2559046"/>
              <a:gd name="connsiteY23" fmla="*/ 1457325 h 1895548"/>
              <a:gd name="connsiteX24" fmla="*/ 300038 w 2559046"/>
              <a:gd name="connsiteY24" fmla="*/ 1557337 h 1895548"/>
              <a:gd name="connsiteX25" fmla="*/ 371475 w 2559046"/>
              <a:gd name="connsiteY25" fmla="*/ 1600200 h 1895548"/>
              <a:gd name="connsiteX26" fmla="*/ 485775 w 2559046"/>
              <a:gd name="connsiteY26" fmla="*/ 1628775 h 1895548"/>
              <a:gd name="connsiteX27" fmla="*/ 528638 w 2559046"/>
              <a:gd name="connsiteY27" fmla="*/ 1643062 h 1895548"/>
              <a:gd name="connsiteX28" fmla="*/ 628650 w 2559046"/>
              <a:gd name="connsiteY28" fmla="*/ 1657350 h 1895548"/>
              <a:gd name="connsiteX29" fmla="*/ 671513 w 2559046"/>
              <a:gd name="connsiteY29" fmla="*/ 1671637 h 1895548"/>
              <a:gd name="connsiteX30" fmla="*/ 742950 w 2559046"/>
              <a:gd name="connsiteY30" fmla="*/ 1700212 h 1895548"/>
              <a:gd name="connsiteX31" fmla="*/ 814388 w 2559046"/>
              <a:gd name="connsiteY31" fmla="*/ 1714500 h 1895548"/>
              <a:gd name="connsiteX32" fmla="*/ 2185988 w 2559046"/>
              <a:gd name="connsiteY32" fmla="*/ 1671637 h 1895548"/>
              <a:gd name="connsiteX33" fmla="*/ 2228850 w 2559046"/>
              <a:gd name="connsiteY33" fmla="*/ 1643062 h 1895548"/>
              <a:gd name="connsiteX34" fmla="*/ 2271713 w 2559046"/>
              <a:gd name="connsiteY34" fmla="*/ 1557337 h 1895548"/>
              <a:gd name="connsiteX35" fmla="*/ 2300288 w 2559046"/>
              <a:gd name="connsiteY35" fmla="*/ 1514475 h 1895548"/>
              <a:gd name="connsiteX36" fmla="*/ 2371725 w 2559046"/>
              <a:gd name="connsiteY36" fmla="*/ 1385887 h 1895548"/>
              <a:gd name="connsiteX37" fmla="*/ 2414588 w 2559046"/>
              <a:gd name="connsiteY37" fmla="*/ 1357312 h 1895548"/>
              <a:gd name="connsiteX38" fmla="*/ 2486025 w 2559046"/>
              <a:gd name="connsiteY38" fmla="*/ 1271587 h 1895548"/>
              <a:gd name="connsiteX39" fmla="*/ 2528888 w 2559046"/>
              <a:gd name="connsiteY39" fmla="*/ 1243012 h 1895548"/>
              <a:gd name="connsiteX40" fmla="*/ 2557463 w 2559046"/>
              <a:gd name="connsiteY40" fmla="*/ 1157287 h 1895548"/>
              <a:gd name="connsiteX41" fmla="*/ 2543175 w 2559046"/>
              <a:gd name="connsiteY41" fmla="*/ 885825 h 1895548"/>
              <a:gd name="connsiteX42" fmla="*/ 2528888 w 2559046"/>
              <a:gd name="connsiteY42" fmla="*/ 842962 h 1895548"/>
              <a:gd name="connsiteX43" fmla="*/ 2500313 w 2559046"/>
              <a:gd name="connsiteY43" fmla="*/ 700087 h 1895548"/>
              <a:gd name="connsiteX44" fmla="*/ 2471738 w 2559046"/>
              <a:gd name="connsiteY44" fmla="*/ 571500 h 1895548"/>
              <a:gd name="connsiteX45" fmla="*/ 2443163 w 2559046"/>
              <a:gd name="connsiteY45" fmla="*/ 528637 h 1895548"/>
              <a:gd name="connsiteX46" fmla="*/ 2428875 w 2559046"/>
              <a:gd name="connsiteY46" fmla="*/ 485775 h 1895548"/>
              <a:gd name="connsiteX47" fmla="*/ 2371725 w 2559046"/>
              <a:gd name="connsiteY47" fmla="*/ 400050 h 1895548"/>
              <a:gd name="connsiteX48" fmla="*/ 2343150 w 2559046"/>
              <a:gd name="connsiteY48" fmla="*/ 357187 h 1895548"/>
              <a:gd name="connsiteX49" fmla="*/ 2286000 w 2559046"/>
              <a:gd name="connsiteY49" fmla="*/ 314325 h 1895548"/>
              <a:gd name="connsiteX50" fmla="*/ 2257425 w 2559046"/>
              <a:gd name="connsiteY50" fmla="*/ 271462 h 1895548"/>
              <a:gd name="connsiteX51" fmla="*/ 2128838 w 2559046"/>
              <a:gd name="connsiteY51" fmla="*/ 157162 h 1895548"/>
              <a:gd name="connsiteX52" fmla="*/ 2100263 w 2559046"/>
              <a:gd name="connsiteY52" fmla="*/ 114300 h 1895548"/>
              <a:gd name="connsiteX53" fmla="*/ 2014538 w 2559046"/>
              <a:gd name="connsiteY53" fmla="*/ 100012 h 1895548"/>
              <a:gd name="connsiteX54" fmla="*/ 1771650 w 2559046"/>
              <a:gd name="connsiteY54" fmla="*/ 85725 h 1895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59046" h="1895548">
                <a:moveTo>
                  <a:pt x="1843088" y="85725"/>
                </a:moveTo>
                <a:cubicBezTo>
                  <a:pt x="1781175" y="76200"/>
                  <a:pt x="1718918" y="68694"/>
                  <a:pt x="1657350" y="57150"/>
                </a:cubicBezTo>
                <a:cubicBezTo>
                  <a:pt x="1642548" y="54375"/>
                  <a:pt x="1628969" y="46999"/>
                  <a:pt x="1614488" y="42862"/>
                </a:cubicBezTo>
                <a:cubicBezTo>
                  <a:pt x="1595607" y="37467"/>
                  <a:pt x="1576219" y="33969"/>
                  <a:pt x="1557338" y="28575"/>
                </a:cubicBezTo>
                <a:cubicBezTo>
                  <a:pt x="1542857" y="24438"/>
                  <a:pt x="1529086" y="17940"/>
                  <a:pt x="1514475" y="14287"/>
                </a:cubicBezTo>
                <a:cubicBezTo>
                  <a:pt x="1490916" y="8397"/>
                  <a:pt x="1466850" y="4762"/>
                  <a:pt x="1443038" y="0"/>
                </a:cubicBezTo>
                <a:lnTo>
                  <a:pt x="800100" y="14287"/>
                </a:lnTo>
                <a:cubicBezTo>
                  <a:pt x="701497" y="18079"/>
                  <a:pt x="724738" y="23573"/>
                  <a:pt x="657225" y="42862"/>
                </a:cubicBezTo>
                <a:cubicBezTo>
                  <a:pt x="638344" y="48256"/>
                  <a:pt x="618883" y="51507"/>
                  <a:pt x="600075" y="57150"/>
                </a:cubicBezTo>
                <a:cubicBezTo>
                  <a:pt x="571225" y="65805"/>
                  <a:pt x="514350" y="85725"/>
                  <a:pt x="514350" y="85725"/>
                </a:cubicBezTo>
                <a:cubicBezTo>
                  <a:pt x="500063" y="100012"/>
                  <a:pt x="487010" y="115652"/>
                  <a:pt x="471488" y="128587"/>
                </a:cubicBezTo>
                <a:cubicBezTo>
                  <a:pt x="458296" y="139580"/>
                  <a:pt x="439933" y="144239"/>
                  <a:pt x="428625" y="157162"/>
                </a:cubicBezTo>
                <a:cubicBezTo>
                  <a:pt x="311942" y="290514"/>
                  <a:pt x="425054" y="207167"/>
                  <a:pt x="328613" y="271462"/>
                </a:cubicBezTo>
                <a:cubicBezTo>
                  <a:pt x="288786" y="331203"/>
                  <a:pt x="278961" y="358082"/>
                  <a:pt x="228600" y="400050"/>
                </a:cubicBezTo>
                <a:cubicBezTo>
                  <a:pt x="215409" y="411043"/>
                  <a:pt x="197880" y="416483"/>
                  <a:pt x="185738" y="428625"/>
                </a:cubicBezTo>
                <a:cubicBezTo>
                  <a:pt x="168900" y="445463"/>
                  <a:pt x="156531" y="466267"/>
                  <a:pt x="142875" y="485775"/>
                </a:cubicBezTo>
                <a:cubicBezTo>
                  <a:pt x="19729" y="661696"/>
                  <a:pt x="142932" y="495224"/>
                  <a:pt x="42863" y="628650"/>
                </a:cubicBezTo>
                <a:cubicBezTo>
                  <a:pt x="3639" y="746323"/>
                  <a:pt x="18548" y="684557"/>
                  <a:pt x="0" y="814387"/>
                </a:cubicBezTo>
                <a:cubicBezTo>
                  <a:pt x="4763" y="895350"/>
                  <a:pt x="6599" y="976538"/>
                  <a:pt x="14288" y="1057275"/>
                </a:cubicBezTo>
                <a:cubicBezTo>
                  <a:pt x="17167" y="1087508"/>
                  <a:pt x="51070" y="1181909"/>
                  <a:pt x="57150" y="1200150"/>
                </a:cubicBezTo>
                <a:cubicBezTo>
                  <a:pt x="61913" y="1214437"/>
                  <a:pt x="68485" y="1228244"/>
                  <a:pt x="71438" y="1243012"/>
                </a:cubicBezTo>
                <a:cubicBezTo>
                  <a:pt x="76200" y="1266825"/>
                  <a:pt x="75676" y="1292342"/>
                  <a:pt x="85725" y="1314450"/>
                </a:cubicBezTo>
                <a:cubicBezTo>
                  <a:pt x="99936" y="1345715"/>
                  <a:pt x="127516" y="1369458"/>
                  <a:pt x="142875" y="1400175"/>
                </a:cubicBezTo>
                <a:cubicBezTo>
                  <a:pt x="152400" y="1419225"/>
                  <a:pt x="159070" y="1439994"/>
                  <a:pt x="171450" y="1457325"/>
                </a:cubicBezTo>
                <a:cubicBezTo>
                  <a:pt x="201030" y="1498736"/>
                  <a:pt x="261354" y="1532719"/>
                  <a:pt x="300038" y="1557337"/>
                </a:cubicBezTo>
                <a:cubicBezTo>
                  <a:pt x="323466" y="1572246"/>
                  <a:pt x="344534" y="1593465"/>
                  <a:pt x="371475" y="1600200"/>
                </a:cubicBezTo>
                <a:cubicBezTo>
                  <a:pt x="409575" y="1609725"/>
                  <a:pt x="448518" y="1616356"/>
                  <a:pt x="485775" y="1628775"/>
                </a:cubicBezTo>
                <a:cubicBezTo>
                  <a:pt x="500063" y="1633537"/>
                  <a:pt x="513870" y="1640108"/>
                  <a:pt x="528638" y="1643062"/>
                </a:cubicBezTo>
                <a:cubicBezTo>
                  <a:pt x="561660" y="1649666"/>
                  <a:pt x="595313" y="1652587"/>
                  <a:pt x="628650" y="1657350"/>
                </a:cubicBezTo>
                <a:cubicBezTo>
                  <a:pt x="642938" y="1662112"/>
                  <a:pt x="657411" y="1666349"/>
                  <a:pt x="671513" y="1671637"/>
                </a:cubicBezTo>
                <a:cubicBezTo>
                  <a:pt x="695527" y="1680642"/>
                  <a:pt x="718385" y="1692842"/>
                  <a:pt x="742950" y="1700212"/>
                </a:cubicBezTo>
                <a:cubicBezTo>
                  <a:pt x="766210" y="1707190"/>
                  <a:pt x="790575" y="1709737"/>
                  <a:pt x="814388" y="1714500"/>
                </a:cubicBezTo>
                <a:cubicBezTo>
                  <a:pt x="972868" y="1712777"/>
                  <a:pt x="1794145" y="1895548"/>
                  <a:pt x="2185988" y="1671637"/>
                </a:cubicBezTo>
                <a:cubicBezTo>
                  <a:pt x="2200897" y="1663118"/>
                  <a:pt x="2214563" y="1652587"/>
                  <a:pt x="2228850" y="1643062"/>
                </a:cubicBezTo>
                <a:cubicBezTo>
                  <a:pt x="2310741" y="1520227"/>
                  <a:pt x="2212560" y="1675642"/>
                  <a:pt x="2271713" y="1557337"/>
                </a:cubicBezTo>
                <a:cubicBezTo>
                  <a:pt x="2279392" y="1541979"/>
                  <a:pt x="2290763" y="1528762"/>
                  <a:pt x="2300288" y="1514475"/>
                </a:cubicBezTo>
                <a:cubicBezTo>
                  <a:pt x="2315176" y="1469809"/>
                  <a:pt x="2329614" y="1413961"/>
                  <a:pt x="2371725" y="1385887"/>
                </a:cubicBezTo>
                <a:lnTo>
                  <a:pt x="2414588" y="1357312"/>
                </a:lnTo>
                <a:cubicBezTo>
                  <a:pt x="2442684" y="1315169"/>
                  <a:pt x="2444774" y="1305963"/>
                  <a:pt x="2486025" y="1271587"/>
                </a:cubicBezTo>
                <a:cubicBezTo>
                  <a:pt x="2499217" y="1260594"/>
                  <a:pt x="2514600" y="1252537"/>
                  <a:pt x="2528888" y="1243012"/>
                </a:cubicBezTo>
                <a:cubicBezTo>
                  <a:pt x="2538413" y="1214437"/>
                  <a:pt x="2559046" y="1187366"/>
                  <a:pt x="2557463" y="1157287"/>
                </a:cubicBezTo>
                <a:cubicBezTo>
                  <a:pt x="2552700" y="1066800"/>
                  <a:pt x="2551379" y="976065"/>
                  <a:pt x="2543175" y="885825"/>
                </a:cubicBezTo>
                <a:cubicBezTo>
                  <a:pt x="2541811" y="870826"/>
                  <a:pt x="2532274" y="857637"/>
                  <a:pt x="2528888" y="842962"/>
                </a:cubicBezTo>
                <a:cubicBezTo>
                  <a:pt x="2517967" y="795638"/>
                  <a:pt x="2509838" y="747712"/>
                  <a:pt x="2500313" y="700087"/>
                </a:cubicBezTo>
                <a:cubicBezTo>
                  <a:pt x="2497771" y="687379"/>
                  <a:pt x="2479302" y="589150"/>
                  <a:pt x="2471738" y="571500"/>
                </a:cubicBezTo>
                <a:cubicBezTo>
                  <a:pt x="2464974" y="555717"/>
                  <a:pt x="2450842" y="543996"/>
                  <a:pt x="2443163" y="528637"/>
                </a:cubicBezTo>
                <a:cubicBezTo>
                  <a:pt x="2436428" y="515167"/>
                  <a:pt x="2436189" y="498940"/>
                  <a:pt x="2428875" y="485775"/>
                </a:cubicBezTo>
                <a:cubicBezTo>
                  <a:pt x="2412196" y="455754"/>
                  <a:pt x="2390775" y="428625"/>
                  <a:pt x="2371725" y="400050"/>
                </a:cubicBezTo>
                <a:cubicBezTo>
                  <a:pt x="2362200" y="385762"/>
                  <a:pt x="2356887" y="367490"/>
                  <a:pt x="2343150" y="357187"/>
                </a:cubicBezTo>
                <a:lnTo>
                  <a:pt x="2286000" y="314325"/>
                </a:lnTo>
                <a:cubicBezTo>
                  <a:pt x="2276475" y="300037"/>
                  <a:pt x="2268833" y="284296"/>
                  <a:pt x="2257425" y="271462"/>
                </a:cubicBezTo>
                <a:cubicBezTo>
                  <a:pt x="2186250" y="191390"/>
                  <a:pt x="2193982" y="200592"/>
                  <a:pt x="2128838" y="157162"/>
                </a:cubicBezTo>
                <a:cubicBezTo>
                  <a:pt x="2119313" y="142875"/>
                  <a:pt x="2115621" y="121979"/>
                  <a:pt x="2100263" y="114300"/>
                </a:cubicBezTo>
                <a:cubicBezTo>
                  <a:pt x="2074352" y="101345"/>
                  <a:pt x="2042945" y="105693"/>
                  <a:pt x="2014538" y="100012"/>
                </a:cubicBezTo>
                <a:cubicBezTo>
                  <a:pt x="1868025" y="70709"/>
                  <a:pt x="2069402" y="85725"/>
                  <a:pt x="1771650" y="8572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ooter Placeholder 40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73DBEB-684A-4F21-9A8F-A2DF53925397}" type="slidenum">
              <a:rPr lang="en-US" sz="1100"/>
              <a:pPr>
                <a:defRPr/>
              </a:pPr>
              <a:t>25</a:t>
            </a:fld>
            <a:endParaRPr lang="en-US" sz="1100" dirty="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415221"/>
              </p:ext>
            </p:extLst>
          </p:nvPr>
        </p:nvGraphicFramePr>
        <p:xfrm>
          <a:off x="2036763" y="3151188"/>
          <a:ext cx="53276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88" name="Equation" r:id="rId3" imgW="2679480" imgH="279360" progId="Equation.DSMT4">
                  <p:embed/>
                </p:oleObj>
              </mc:Choice>
              <mc:Fallback>
                <p:oleObj name="Equation" r:id="rId3" imgW="2679480" imgH="2793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3151188"/>
                        <a:ext cx="53276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932474"/>
              </p:ext>
            </p:extLst>
          </p:nvPr>
        </p:nvGraphicFramePr>
        <p:xfrm>
          <a:off x="2152185" y="762174"/>
          <a:ext cx="4705816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89" name="Equation" r:id="rId5" imgW="2425680" imgH="279360" progId="Equation.DSMT4">
                  <p:embed/>
                </p:oleObj>
              </mc:Choice>
              <mc:Fallback>
                <p:oleObj name="Equation" r:id="rId5" imgW="2425680" imgH="2793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185" y="762174"/>
                        <a:ext cx="4705816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1069658" y="308214"/>
            <a:ext cx="13890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For 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sz="2000" dirty="0">
                <a:latin typeface="Tahoma" pitchFamily="34" charset="0"/>
              </a:rPr>
              <a:t> = 1:</a:t>
            </a:r>
          </a:p>
        </p:txBody>
      </p:sp>
      <p:sp>
        <p:nvSpPr>
          <p:cNvPr id="16390" name="Text Box 5"/>
          <p:cNvSpPr txBox="1">
            <a:spLocks noChangeArrowheads="1"/>
          </p:cNvSpPr>
          <p:nvPr/>
        </p:nvSpPr>
        <p:spPr bwMode="auto">
          <a:xfrm>
            <a:off x="1338682" y="1207996"/>
            <a:ext cx="586064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Affects of all particles on one are averaged over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   all particle phase space for the one particle</a:t>
            </a:r>
          </a:p>
        </p:txBody>
      </p:sp>
      <p:sp>
        <p:nvSpPr>
          <p:cNvPr id="16391" name="Text Box 6"/>
          <p:cNvSpPr txBox="1">
            <a:spLocks noChangeArrowheads="1"/>
          </p:cNvSpPr>
          <p:nvPr/>
        </p:nvSpPr>
        <p:spPr bwMode="auto">
          <a:xfrm>
            <a:off x="1109431" y="2682043"/>
            <a:ext cx="13890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For 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sz="2000" dirty="0">
                <a:latin typeface="Tahoma" pitchFamily="34" charset="0"/>
              </a:rPr>
              <a:t> = 2:</a:t>
            </a:r>
          </a:p>
        </p:txBody>
      </p:sp>
      <p:grpSp>
        <p:nvGrpSpPr>
          <p:cNvPr id="16392" name="Group 7"/>
          <p:cNvGrpSpPr>
            <a:grpSpLocks/>
          </p:cNvGrpSpPr>
          <p:nvPr/>
        </p:nvGrpSpPr>
        <p:grpSpPr bwMode="auto">
          <a:xfrm>
            <a:off x="2775795" y="1902734"/>
            <a:ext cx="5187950" cy="759619"/>
            <a:chOff x="1845" y="1483"/>
            <a:chExt cx="3268" cy="638"/>
          </a:xfrm>
        </p:grpSpPr>
        <p:grpSp>
          <p:nvGrpSpPr>
            <p:cNvPr id="16413" name="Group 8"/>
            <p:cNvGrpSpPr>
              <a:grpSpLocks/>
            </p:cNvGrpSpPr>
            <p:nvPr/>
          </p:nvGrpSpPr>
          <p:grpSpPr bwMode="auto">
            <a:xfrm>
              <a:off x="1845" y="1517"/>
              <a:ext cx="1802" cy="604"/>
              <a:chOff x="1836" y="1389"/>
              <a:chExt cx="1802" cy="604"/>
            </a:xfrm>
          </p:grpSpPr>
          <p:sp>
            <p:nvSpPr>
              <p:cNvPr id="16416" name="Oval 9"/>
              <p:cNvSpPr>
                <a:spLocks noChangeArrowheads="1"/>
              </p:cNvSpPr>
              <p:nvPr/>
            </p:nvSpPr>
            <p:spPr bwMode="auto">
              <a:xfrm>
                <a:off x="2987" y="1748"/>
                <a:ext cx="83" cy="83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6417" name="Oval 10"/>
              <p:cNvSpPr>
                <a:spLocks noChangeArrowheads="1"/>
              </p:cNvSpPr>
              <p:nvPr/>
            </p:nvSpPr>
            <p:spPr bwMode="auto">
              <a:xfrm>
                <a:off x="1836" y="1389"/>
                <a:ext cx="1802" cy="6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6418" name="Line 11"/>
              <p:cNvSpPr>
                <a:spLocks noChangeShapeType="1"/>
              </p:cNvSpPr>
              <p:nvPr/>
            </p:nvSpPr>
            <p:spPr bwMode="auto">
              <a:xfrm flipH="1">
                <a:off x="3072" y="1554"/>
                <a:ext cx="237" cy="2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19" name="Line 12"/>
              <p:cNvSpPr>
                <a:spLocks noChangeShapeType="1"/>
              </p:cNvSpPr>
              <p:nvPr/>
            </p:nvSpPr>
            <p:spPr bwMode="auto">
              <a:xfrm>
                <a:off x="2688" y="1454"/>
                <a:ext cx="283" cy="2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0" name="Line 13"/>
              <p:cNvSpPr>
                <a:spLocks noChangeShapeType="1"/>
              </p:cNvSpPr>
              <p:nvPr/>
            </p:nvSpPr>
            <p:spPr bwMode="auto">
              <a:xfrm>
                <a:off x="2304" y="1545"/>
                <a:ext cx="658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1" name="Line 14"/>
              <p:cNvSpPr>
                <a:spLocks noChangeShapeType="1"/>
              </p:cNvSpPr>
              <p:nvPr/>
            </p:nvSpPr>
            <p:spPr bwMode="auto">
              <a:xfrm>
                <a:off x="2121" y="1801"/>
                <a:ext cx="832" cy="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2" name="Line 15"/>
              <p:cNvSpPr>
                <a:spLocks noChangeShapeType="1"/>
              </p:cNvSpPr>
              <p:nvPr/>
            </p:nvSpPr>
            <p:spPr bwMode="auto">
              <a:xfrm flipV="1">
                <a:off x="2523" y="1874"/>
                <a:ext cx="439" cy="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3" name="Line 16"/>
              <p:cNvSpPr>
                <a:spLocks noChangeShapeType="1"/>
              </p:cNvSpPr>
              <p:nvPr/>
            </p:nvSpPr>
            <p:spPr bwMode="auto">
              <a:xfrm flipH="1">
                <a:off x="3118" y="1673"/>
                <a:ext cx="384" cy="1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4" name="Line 17"/>
              <p:cNvSpPr>
                <a:spLocks noChangeShapeType="1"/>
              </p:cNvSpPr>
              <p:nvPr/>
            </p:nvSpPr>
            <p:spPr bwMode="auto">
              <a:xfrm flipH="1" flipV="1">
                <a:off x="3136" y="1838"/>
                <a:ext cx="256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5" name="Line 18"/>
              <p:cNvSpPr>
                <a:spLocks noChangeShapeType="1"/>
              </p:cNvSpPr>
              <p:nvPr/>
            </p:nvSpPr>
            <p:spPr bwMode="auto">
              <a:xfrm>
                <a:off x="3026" y="1453"/>
                <a:ext cx="9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6" name="Line 19"/>
              <p:cNvSpPr>
                <a:spLocks noChangeShapeType="1"/>
              </p:cNvSpPr>
              <p:nvPr/>
            </p:nvSpPr>
            <p:spPr bwMode="auto">
              <a:xfrm flipV="1">
                <a:off x="2990" y="1865"/>
                <a:ext cx="9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27" name="Line 20"/>
              <p:cNvSpPr>
                <a:spLocks noChangeShapeType="1"/>
              </p:cNvSpPr>
              <p:nvPr/>
            </p:nvSpPr>
            <p:spPr bwMode="auto">
              <a:xfrm flipH="1" flipV="1">
                <a:off x="3081" y="1865"/>
                <a:ext cx="46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6414" name="Line 21"/>
            <p:cNvSpPr>
              <a:spLocks noChangeShapeType="1"/>
            </p:cNvSpPr>
            <p:nvPr/>
          </p:nvSpPr>
          <p:spPr bwMode="auto">
            <a:xfrm flipV="1">
              <a:off x="3410" y="1646"/>
              <a:ext cx="476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6415" name="Text Box 22"/>
            <p:cNvSpPr txBox="1">
              <a:spLocks noChangeArrowheads="1"/>
            </p:cNvSpPr>
            <p:nvPr/>
          </p:nvSpPr>
          <p:spPr bwMode="auto">
            <a:xfrm>
              <a:off x="3974" y="1483"/>
              <a:ext cx="113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600" dirty="0">
                  <a:latin typeface="Tahoma" pitchFamily="34" charset="0"/>
                </a:rPr>
                <a:t>Particles </a:t>
              </a:r>
              <a:r>
                <a:rPr lang="en-US" sz="1600" dirty="0">
                  <a:latin typeface="Times New Roman" pitchFamily="18" charset="0"/>
                </a:rPr>
                <a:t>2,..,</a:t>
              </a:r>
              <a:r>
                <a:rPr lang="en-US" sz="1600" i="1" dirty="0">
                  <a:latin typeface="Times New Roman" pitchFamily="18" charset="0"/>
                </a:rPr>
                <a:t>N</a:t>
              </a:r>
            </a:p>
          </p:txBody>
        </p:sp>
      </p:grpSp>
      <p:grpSp>
        <p:nvGrpSpPr>
          <p:cNvPr id="16393" name="Group 23"/>
          <p:cNvGrpSpPr>
            <a:grpSpLocks/>
          </p:cNvGrpSpPr>
          <p:nvPr/>
        </p:nvGrpSpPr>
        <p:grpSpPr bwMode="auto">
          <a:xfrm>
            <a:off x="2795589" y="3895884"/>
            <a:ext cx="5126037" cy="776288"/>
            <a:chOff x="1857" y="3238"/>
            <a:chExt cx="3229" cy="652"/>
          </a:xfrm>
        </p:grpSpPr>
        <p:grpSp>
          <p:nvGrpSpPr>
            <p:cNvPr id="16397" name="Group 24"/>
            <p:cNvGrpSpPr>
              <a:grpSpLocks/>
            </p:cNvGrpSpPr>
            <p:nvPr/>
          </p:nvGrpSpPr>
          <p:grpSpPr bwMode="auto">
            <a:xfrm>
              <a:off x="1857" y="3286"/>
              <a:ext cx="1802" cy="604"/>
              <a:chOff x="1784" y="2819"/>
              <a:chExt cx="1802" cy="604"/>
            </a:xfrm>
          </p:grpSpPr>
          <p:sp>
            <p:nvSpPr>
              <p:cNvPr id="16400" name="Oval 25"/>
              <p:cNvSpPr>
                <a:spLocks noChangeArrowheads="1"/>
              </p:cNvSpPr>
              <p:nvPr/>
            </p:nvSpPr>
            <p:spPr bwMode="auto">
              <a:xfrm>
                <a:off x="2804" y="3181"/>
                <a:ext cx="83" cy="83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6401" name="Oval 26"/>
              <p:cNvSpPr>
                <a:spLocks noChangeArrowheads="1"/>
              </p:cNvSpPr>
              <p:nvPr/>
            </p:nvSpPr>
            <p:spPr bwMode="auto">
              <a:xfrm>
                <a:off x="2935" y="3178"/>
                <a:ext cx="83" cy="83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6402" name="Oval 27"/>
              <p:cNvSpPr>
                <a:spLocks noChangeArrowheads="1"/>
              </p:cNvSpPr>
              <p:nvPr/>
            </p:nvSpPr>
            <p:spPr bwMode="auto">
              <a:xfrm>
                <a:off x="1784" y="2819"/>
                <a:ext cx="1802" cy="6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6403" name="Line 28"/>
              <p:cNvSpPr>
                <a:spLocks noChangeShapeType="1"/>
              </p:cNvSpPr>
              <p:nvPr/>
            </p:nvSpPr>
            <p:spPr bwMode="auto">
              <a:xfrm flipH="1">
                <a:off x="3020" y="2984"/>
                <a:ext cx="237" cy="2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04" name="Line 29"/>
              <p:cNvSpPr>
                <a:spLocks noChangeShapeType="1"/>
              </p:cNvSpPr>
              <p:nvPr/>
            </p:nvSpPr>
            <p:spPr bwMode="auto">
              <a:xfrm>
                <a:off x="2563" y="2848"/>
                <a:ext cx="283" cy="2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05" name="Line 30"/>
              <p:cNvSpPr>
                <a:spLocks noChangeShapeType="1"/>
              </p:cNvSpPr>
              <p:nvPr/>
            </p:nvSpPr>
            <p:spPr bwMode="auto">
              <a:xfrm>
                <a:off x="2106" y="2966"/>
                <a:ext cx="658" cy="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06" name="Line 31"/>
              <p:cNvSpPr>
                <a:spLocks noChangeShapeType="1"/>
              </p:cNvSpPr>
              <p:nvPr/>
            </p:nvSpPr>
            <p:spPr bwMode="auto">
              <a:xfrm>
                <a:off x="1959" y="3231"/>
                <a:ext cx="832" cy="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07" name="Line 32"/>
              <p:cNvSpPr>
                <a:spLocks noChangeShapeType="1"/>
              </p:cNvSpPr>
              <p:nvPr/>
            </p:nvSpPr>
            <p:spPr bwMode="auto">
              <a:xfrm flipV="1">
                <a:off x="2362" y="3313"/>
                <a:ext cx="439" cy="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08" name="Line 33"/>
              <p:cNvSpPr>
                <a:spLocks noChangeShapeType="1"/>
              </p:cNvSpPr>
              <p:nvPr/>
            </p:nvSpPr>
            <p:spPr bwMode="auto">
              <a:xfrm flipH="1">
                <a:off x="3066" y="3103"/>
                <a:ext cx="384" cy="1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09" name="Line 34"/>
              <p:cNvSpPr>
                <a:spLocks noChangeShapeType="1"/>
              </p:cNvSpPr>
              <p:nvPr/>
            </p:nvSpPr>
            <p:spPr bwMode="auto">
              <a:xfrm flipH="1" flipV="1">
                <a:off x="3084" y="3268"/>
                <a:ext cx="256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10" name="Line 35"/>
              <p:cNvSpPr>
                <a:spLocks noChangeShapeType="1"/>
              </p:cNvSpPr>
              <p:nvPr/>
            </p:nvSpPr>
            <p:spPr bwMode="auto">
              <a:xfrm>
                <a:off x="2974" y="2883"/>
                <a:ext cx="9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11" name="Line 36"/>
              <p:cNvSpPr>
                <a:spLocks noChangeShapeType="1"/>
              </p:cNvSpPr>
              <p:nvPr/>
            </p:nvSpPr>
            <p:spPr bwMode="auto">
              <a:xfrm flipV="1">
                <a:off x="2938" y="3295"/>
                <a:ext cx="9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6412" name="Line 37"/>
              <p:cNvSpPr>
                <a:spLocks noChangeShapeType="1"/>
              </p:cNvSpPr>
              <p:nvPr/>
            </p:nvSpPr>
            <p:spPr bwMode="auto">
              <a:xfrm flipH="1" flipV="1">
                <a:off x="3029" y="3295"/>
                <a:ext cx="46" cy="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sp>
          <p:nvSpPr>
            <p:cNvPr id="16398" name="Line 38"/>
            <p:cNvSpPr>
              <a:spLocks noChangeShapeType="1"/>
            </p:cNvSpPr>
            <p:nvPr/>
          </p:nvSpPr>
          <p:spPr bwMode="auto">
            <a:xfrm flipV="1">
              <a:off x="3392" y="3374"/>
              <a:ext cx="548" cy="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6399" name="Text Box 39"/>
            <p:cNvSpPr txBox="1">
              <a:spLocks noChangeArrowheads="1"/>
            </p:cNvSpPr>
            <p:nvPr/>
          </p:nvSpPr>
          <p:spPr bwMode="auto">
            <a:xfrm>
              <a:off x="4010" y="3238"/>
              <a:ext cx="1076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600" dirty="0">
                  <a:latin typeface="Tahoma" pitchFamily="34" charset="0"/>
                </a:rPr>
                <a:t>Particles </a:t>
              </a:r>
              <a:r>
                <a:rPr lang="en-US" sz="1600" dirty="0">
                  <a:latin typeface="Times New Roman" pitchFamily="18" charset="0"/>
                </a:rPr>
                <a:t>3,..,</a:t>
              </a:r>
              <a:r>
                <a:rPr lang="en-US" sz="1600" i="1" dirty="0">
                  <a:latin typeface="Times New Roman" pitchFamily="18" charset="0"/>
                </a:rPr>
                <a:t>N</a:t>
              </a:r>
            </a:p>
          </p:txBody>
        </p:sp>
      </p:grpSp>
      <p:sp>
        <p:nvSpPr>
          <p:cNvPr id="16395" name="TextBox 41"/>
          <p:cNvSpPr txBox="1">
            <a:spLocks noChangeArrowheads="1"/>
          </p:cNvSpPr>
          <p:nvPr/>
        </p:nvSpPr>
        <p:spPr bwMode="auto">
          <a:xfrm>
            <a:off x="2526984" y="347504"/>
            <a:ext cx="41617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Single- particle distribution function</a:t>
            </a:r>
          </a:p>
        </p:txBody>
      </p:sp>
      <p:sp>
        <p:nvSpPr>
          <p:cNvPr id="16396" name="TextBox 42"/>
          <p:cNvSpPr txBox="1">
            <a:spLocks noChangeArrowheads="1"/>
          </p:cNvSpPr>
          <p:nvPr/>
        </p:nvSpPr>
        <p:spPr bwMode="auto">
          <a:xfrm>
            <a:off x="2399953" y="2728358"/>
            <a:ext cx="40609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Two- particle distribution function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E969EC-99A2-4D70-B2BC-472BEB9966F7}" type="slidenum">
              <a:rPr lang="en-US" sz="1100"/>
              <a:pPr>
                <a:defRPr/>
              </a:pPr>
              <a:t>26</a:t>
            </a:fld>
            <a:endParaRPr lang="en-US" sz="1100" dirty="0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674024"/>
              </p:ext>
            </p:extLst>
          </p:nvPr>
        </p:nvGraphicFramePr>
        <p:xfrm>
          <a:off x="2259013" y="1479550"/>
          <a:ext cx="26384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26" name="Equation" r:id="rId3" imgW="1231560" imgH="253800" progId="Equation.DSMT4">
                  <p:embed/>
                </p:oleObj>
              </mc:Choice>
              <mc:Fallback>
                <p:oleObj name="Equation" r:id="rId3" imgW="1231560" imgH="253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1479550"/>
                        <a:ext cx="26384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197532"/>
              </p:ext>
            </p:extLst>
          </p:nvPr>
        </p:nvGraphicFramePr>
        <p:xfrm>
          <a:off x="2201863" y="3201988"/>
          <a:ext cx="27352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27" name="Equation" r:id="rId5" imgW="1282680" imgH="253800" progId="Equation.DSMT4">
                  <p:embed/>
                </p:oleObj>
              </mc:Choice>
              <mc:Fallback>
                <p:oleObj name="Equation" r:id="rId5" imgW="1282680" imgH="25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3201988"/>
                        <a:ext cx="27352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4"/>
          <p:cNvSpPr txBox="1">
            <a:spLocks noChangeArrowheads="1"/>
          </p:cNvSpPr>
          <p:nvPr/>
        </p:nvSpPr>
        <p:spPr bwMode="auto">
          <a:xfrm>
            <a:off x="1194909" y="377567"/>
            <a:ext cx="28705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Macroscopic Quantities:</a:t>
            </a:r>
          </a:p>
        </p:txBody>
      </p:sp>
      <p:sp>
        <p:nvSpPr>
          <p:cNvPr id="17418" name="Text Box 5"/>
          <p:cNvSpPr txBox="1">
            <a:spLocks noChangeArrowheads="1"/>
          </p:cNvSpPr>
          <p:nvPr/>
        </p:nvSpPr>
        <p:spPr bwMode="auto">
          <a:xfrm>
            <a:off x="1547813" y="1046560"/>
            <a:ext cx="205819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Number density:</a:t>
            </a:r>
          </a:p>
        </p:txBody>
      </p:sp>
      <p:sp>
        <p:nvSpPr>
          <p:cNvPr id="17419" name="Text Box 6"/>
          <p:cNvSpPr txBox="1">
            <a:spLocks noChangeArrowheads="1"/>
          </p:cNvSpPr>
          <p:nvPr/>
        </p:nvSpPr>
        <p:spPr bwMode="auto">
          <a:xfrm>
            <a:off x="1568450" y="2769394"/>
            <a:ext cx="17199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Mass density: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55520" y="2027635"/>
            <a:ext cx="5393118" cy="475059"/>
            <a:chOff x="2286000" y="2027635"/>
            <a:chExt cx="5393118" cy="475059"/>
          </a:xfrm>
        </p:grpSpPr>
        <p:graphicFrame>
          <p:nvGraphicFramePr>
            <p:cNvPr id="1741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7314336"/>
                </p:ext>
              </p:extLst>
            </p:nvPr>
          </p:nvGraphicFramePr>
          <p:xfrm>
            <a:off x="2286000" y="2027635"/>
            <a:ext cx="1633539" cy="4750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28" name="Equation" r:id="rId7" imgW="850680" imgH="253800" progId="Equation.DSMT4">
                    <p:embed/>
                  </p:oleObj>
                </mc:Choice>
                <mc:Fallback>
                  <p:oleObj name="Equation" r:id="rId7" imgW="850680" imgH="253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2027635"/>
                          <a:ext cx="1633539" cy="4750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0" name="Text Box 8"/>
            <p:cNvSpPr txBox="1">
              <a:spLocks noChangeArrowheads="1"/>
            </p:cNvSpPr>
            <p:nvPr/>
          </p:nvSpPr>
          <p:spPr bwMode="auto">
            <a:xfrm>
              <a:off x="3913344" y="2047759"/>
              <a:ext cx="376577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Expected number of particles in</a:t>
              </a:r>
            </a:p>
          </p:txBody>
        </p:sp>
      </p:grpSp>
      <p:graphicFrame>
        <p:nvGraphicFramePr>
          <p:cNvPr id="17413" name="Object 9"/>
          <p:cNvGraphicFramePr>
            <a:graphicFrameLocks noChangeAspect="1"/>
          </p:cNvGraphicFramePr>
          <p:nvPr/>
        </p:nvGraphicFramePr>
        <p:xfrm>
          <a:off x="7544692" y="2077640"/>
          <a:ext cx="477837" cy="34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29" name="Equation" r:id="rId9" imgW="203040" imgH="177480" progId="Equation.DSMT4">
                  <p:embed/>
                </p:oleObj>
              </mc:Choice>
              <mc:Fallback>
                <p:oleObj name="Equation" r:id="rId9" imgW="20304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4692" y="2077640"/>
                        <a:ext cx="477837" cy="340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0"/>
          <p:cNvGraphicFramePr>
            <a:graphicFrameLocks noChangeAspect="1"/>
          </p:cNvGraphicFramePr>
          <p:nvPr/>
        </p:nvGraphicFramePr>
        <p:xfrm>
          <a:off x="2152185" y="3709988"/>
          <a:ext cx="1567329" cy="47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30" name="Equation" r:id="rId11" imgW="787320" imgH="253800" progId="Equation.DSMT4">
                  <p:embed/>
                </p:oleObj>
              </mc:Choice>
              <mc:Fallback>
                <p:oleObj name="Equation" r:id="rId11" imgW="787320" imgH="253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185" y="3709988"/>
                        <a:ext cx="1567329" cy="475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Text Box 11"/>
          <p:cNvSpPr txBox="1">
            <a:spLocks noChangeArrowheads="1"/>
          </p:cNvSpPr>
          <p:nvPr/>
        </p:nvSpPr>
        <p:spPr bwMode="auto">
          <a:xfrm>
            <a:off x="3678239" y="3731895"/>
            <a:ext cx="30588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Expected particle mass in</a:t>
            </a:r>
          </a:p>
        </p:txBody>
      </p:sp>
      <p:graphicFrame>
        <p:nvGraphicFramePr>
          <p:cNvPr id="174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939523"/>
              </p:ext>
            </p:extLst>
          </p:nvPr>
        </p:nvGraphicFramePr>
        <p:xfrm>
          <a:off x="6681237" y="3762333"/>
          <a:ext cx="477838" cy="34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31" name="Equation" r:id="rId13" imgW="203040" imgH="177480" progId="Equation.DSMT4">
                  <p:embed/>
                </p:oleObj>
              </mc:Choice>
              <mc:Fallback>
                <p:oleObj name="Equation" r:id="rId13" imgW="203040" imgH="177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237" y="3762333"/>
                        <a:ext cx="477838" cy="340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43D41E-142E-409B-BA72-9DC249F335D4}" type="slidenum">
              <a:rPr lang="en-US" sz="1100"/>
              <a:pPr>
                <a:defRPr/>
              </a:pPr>
              <a:t>27</a:t>
            </a:fld>
            <a:endParaRPr lang="en-US" sz="1100" dirty="0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784195" y="947737"/>
          <a:ext cx="6300439" cy="844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12" name="Equation" r:id="rId3" imgW="3098520" imgH="482400" progId="Equation.DSMT4">
                  <p:embed/>
                </p:oleObj>
              </mc:Choice>
              <mc:Fallback>
                <p:oleObj name="Equation" r:id="rId3" imgW="3098520" imgH="482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195" y="947737"/>
                        <a:ext cx="6300439" cy="8441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73197"/>
              </p:ext>
            </p:extLst>
          </p:nvPr>
        </p:nvGraphicFramePr>
        <p:xfrm>
          <a:off x="2781300" y="2422843"/>
          <a:ext cx="38496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13" name="Equation" r:id="rId5" imgW="1866600" imgH="520560" progId="Equation.DSMT4">
                  <p:embed/>
                </p:oleObj>
              </mc:Choice>
              <mc:Fallback>
                <p:oleObj name="Equation" r:id="rId5" imgW="1866600" imgH="520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422843"/>
                        <a:ext cx="38496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032999"/>
              </p:ext>
            </p:extLst>
          </p:nvPr>
        </p:nvGraphicFramePr>
        <p:xfrm>
          <a:off x="3822638" y="3360896"/>
          <a:ext cx="14942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14" name="Equation" r:id="rId7" imgW="749160" imgH="279360" progId="Equation.DSMT4">
                  <p:embed/>
                </p:oleObj>
              </mc:Choice>
              <mc:Fallback>
                <p:oleObj name="Equation" r:id="rId7" imgW="74916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638" y="3360896"/>
                        <a:ext cx="14942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252422"/>
              </p:ext>
            </p:extLst>
          </p:nvPr>
        </p:nvGraphicFramePr>
        <p:xfrm>
          <a:off x="3826850" y="3933588"/>
          <a:ext cx="1561171" cy="426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15" name="Equation" r:id="rId9" imgW="1028520" imgH="253800" progId="Equation.DSMT4">
                  <p:embed/>
                </p:oleObj>
              </mc:Choice>
              <mc:Fallback>
                <p:oleObj name="Equation" r:id="rId9" imgW="102852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850" y="3933588"/>
                        <a:ext cx="1561171" cy="426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1587162" y="490011"/>
            <a:ext cx="38634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Integrate over Liouville Equation</a:t>
            </a:r>
          </a:p>
        </p:txBody>
      </p:sp>
      <p:sp>
        <p:nvSpPr>
          <p:cNvPr id="18440" name="Text Box 7"/>
          <p:cNvSpPr txBox="1">
            <a:spLocks noChangeArrowheads="1"/>
          </p:cNvSpPr>
          <p:nvPr/>
        </p:nvSpPr>
        <p:spPr bwMode="auto">
          <a:xfrm>
            <a:off x="1758951" y="1985962"/>
            <a:ext cx="60547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Assume two-particle potential to give the force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403391"/>
              </p:ext>
            </p:extLst>
          </p:nvPr>
        </p:nvGraphicFramePr>
        <p:xfrm>
          <a:off x="2847340" y="4445635"/>
          <a:ext cx="6286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16" name="Equation" r:id="rId11" imgW="304560" imgH="241200" progId="Equation.DSMT4">
                  <p:embed/>
                </p:oleObj>
              </mc:Choice>
              <mc:Fallback>
                <p:oleObj name="Equation" r:id="rId11" imgW="304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340" y="4445635"/>
                        <a:ext cx="6286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 bwMode="auto">
          <a:xfrm>
            <a:off x="3484880" y="4429760"/>
            <a:ext cx="28216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externally applied force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648897-068D-4A60-8EBD-E5AC61737050}" type="slidenum">
              <a:rPr lang="en-US" sz="1100"/>
              <a:pPr>
                <a:defRPr/>
              </a:pPr>
              <a:t>28</a:t>
            </a:fld>
            <a:endParaRPr lang="en-US" sz="1100" dirty="0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624703"/>
              </p:ext>
            </p:extLst>
          </p:nvPr>
        </p:nvGraphicFramePr>
        <p:xfrm>
          <a:off x="1779494" y="981287"/>
          <a:ext cx="5451475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60" name="Equation" r:id="rId3" imgW="2400120" imgH="914400" progId="Equation.DSMT4">
                  <p:embed/>
                </p:oleObj>
              </mc:Choice>
              <mc:Fallback>
                <p:oleObj name="Equation" r:id="rId3" imgW="2400120" imgH="91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494" y="981287"/>
                        <a:ext cx="5451475" cy="1490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1478074" y="233673"/>
            <a:ext cx="5589543" cy="707886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2000" b="1" dirty="0">
                <a:latin typeface="Tahoma" pitchFamily="34" charset="0"/>
              </a:rPr>
              <a:t>BBGKY Equation (</a:t>
            </a:r>
            <a:r>
              <a:rPr lang="en-US" sz="2000" b="1" dirty="0">
                <a:solidFill>
                  <a:srgbClr val="FF0000"/>
                </a:solidFill>
                <a:latin typeface="Tahoma" pitchFamily="34" charset="0"/>
                <a:hlinkClick r:id="rId5" action="ppaction://hlinkfile"/>
              </a:rPr>
              <a:t>MMRW</a:t>
            </a:r>
            <a:r>
              <a:rPr lang="en-US" sz="2000" b="1" dirty="0">
                <a:latin typeface="Tahoma" pitchFamily="34" charset="0"/>
              </a:rPr>
              <a:t>)</a:t>
            </a:r>
            <a:r>
              <a:rPr lang="en-US" sz="2000" dirty="0">
                <a:latin typeface="Tahoma" pitchFamily="34" charset="0"/>
              </a:rPr>
              <a:t> </a:t>
            </a:r>
          </a:p>
          <a:p>
            <a:pPr algn="ctr" eaLnBrk="0" hangingPunct="0"/>
            <a:r>
              <a:rPr lang="en-US" sz="2000" dirty="0">
                <a:latin typeface="Tahoma" pitchFamily="34" charset="0"/>
              </a:rPr>
              <a:t>(See </a:t>
            </a:r>
            <a:r>
              <a:rPr lang="en-US" sz="2000" b="1" dirty="0">
                <a:latin typeface="Tahoma" pitchFamily="34" charset="0"/>
              </a:rPr>
              <a:t>Appendix A</a:t>
            </a:r>
            <a:r>
              <a:rPr lang="en-US" sz="2000" dirty="0">
                <a:latin typeface="Tahoma" pitchFamily="34" charset="0"/>
              </a:rPr>
              <a:t> for term by term integration)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2152233" y="2551406"/>
            <a:ext cx="4241226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i="1" baseline="-25000" dirty="0" err="1">
                <a:latin typeface="Tahoma" pitchFamily="34" charset="0"/>
              </a:rPr>
              <a:t>i</a:t>
            </a:r>
            <a:r>
              <a:rPr lang="en-US" sz="2000" dirty="0">
                <a:latin typeface="Tahoma" pitchFamily="34" charset="0"/>
              </a:rPr>
              <a:t> = 0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Not a closed system of equations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Includes many body collisions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Includes correlations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Only reasonable for 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sz="2000" dirty="0">
                <a:latin typeface="Tahoma" pitchFamily="34" charset="0"/>
              </a:rPr>
              <a:t> = 1,2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Collision term not yet appropriate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3699" y="1729828"/>
            <a:ext cx="4640301" cy="71437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" name="TextBox 1"/>
          <p:cNvSpPr txBox="1"/>
          <p:nvPr/>
        </p:nvSpPr>
        <p:spPr bwMode="auto">
          <a:xfrm>
            <a:off x="2152233" y="4489109"/>
            <a:ext cx="37539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Can include an external force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271251"/>
              </p:ext>
            </p:extLst>
          </p:nvPr>
        </p:nvGraphicFramePr>
        <p:xfrm>
          <a:off x="1016635" y="1304290"/>
          <a:ext cx="8015605" cy="329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3" name="Equation" r:id="rId3" imgW="4343400" imgH="2019240" progId="Equation.DSMT4">
                  <p:embed/>
                </p:oleObj>
              </mc:Choice>
              <mc:Fallback>
                <p:oleObj name="Equation" r:id="rId3" imgW="4343400" imgH="2019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635" y="1304290"/>
                        <a:ext cx="8015605" cy="3292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1084581" y="827349"/>
            <a:ext cx="46919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For single-particle distribution function</a:t>
            </a:r>
          </a:p>
        </p:txBody>
      </p:sp>
      <p:sp>
        <p:nvSpPr>
          <p:cNvPr id="20486" name="Text Box 5"/>
          <p:cNvSpPr txBox="1">
            <a:spLocks noChangeArrowheads="1"/>
          </p:cNvSpPr>
          <p:nvPr/>
        </p:nvSpPr>
        <p:spPr bwMode="auto">
          <a:xfrm>
            <a:off x="1715872" y="4439130"/>
            <a:ext cx="39355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3-body collision interaction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359" y="368935"/>
            <a:ext cx="6318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+ Explicit probability distribution functions for </a:t>
            </a:r>
            <a:r>
              <a:rPr lang="en-US" i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= 1,2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6AA24A-2658-4B5C-8181-28DD70D99DFC}" type="slidenum">
              <a:rPr lang="en-US" sz="1100"/>
              <a:pPr>
                <a:defRPr/>
              </a:pPr>
              <a:t>29</a:t>
            </a:fld>
            <a:endParaRPr lang="en-US" sz="1100" dirty="0"/>
          </a:p>
        </p:txBody>
      </p:sp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1071111" y="2194935"/>
            <a:ext cx="44578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For two-particle distribution function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oter Placeholder 59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5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917FC0-C474-45F6-B814-606655C76799}" type="slidenum">
              <a:rPr lang="en-US" sz="1100"/>
              <a:pPr>
                <a:defRPr/>
              </a:pPr>
              <a:t>30</a:t>
            </a:fld>
            <a:endParaRPr lang="en-US" sz="1100" dirty="0"/>
          </a:p>
        </p:txBody>
      </p:sp>
      <p:sp>
        <p:nvSpPr>
          <p:cNvPr id="103427" name="Text Box 2"/>
          <p:cNvSpPr txBox="1">
            <a:spLocks noChangeArrowheads="1"/>
          </p:cNvSpPr>
          <p:nvPr/>
        </p:nvSpPr>
        <p:spPr bwMode="auto">
          <a:xfrm>
            <a:off x="1327422" y="739946"/>
            <a:ext cx="621490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Interpretation of single-particle distribution function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 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   </a:t>
            </a:r>
          </a:p>
        </p:txBody>
      </p:sp>
      <p:grpSp>
        <p:nvGrpSpPr>
          <p:cNvPr id="103428" name="Group 3"/>
          <p:cNvGrpSpPr>
            <a:grpSpLocks/>
          </p:cNvGrpSpPr>
          <p:nvPr/>
        </p:nvGrpSpPr>
        <p:grpSpPr bwMode="auto">
          <a:xfrm>
            <a:off x="1182689" y="1644253"/>
            <a:ext cx="2860675" cy="795338"/>
            <a:chOff x="516" y="1299"/>
            <a:chExt cx="1802" cy="668"/>
          </a:xfrm>
        </p:grpSpPr>
        <p:sp>
          <p:nvSpPr>
            <p:cNvPr id="103472" name="Oval 4"/>
            <p:cNvSpPr>
              <a:spLocks noChangeArrowheads="1"/>
            </p:cNvSpPr>
            <p:nvPr/>
          </p:nvSpPr>
          <p:spPr bwMode="auto">
            <a:xfrm>
              <a:off x="1383" y="1595"/>
              <a:ext cx="83" cy="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grpSp>
          <p:nvGrpSpPr>
            <p:cNvPr id="103473" name="Group 5"/>
            <p:cNvGrpSpPr>
              <a:grpSpLocks/>
            </p:cNvGrpSpPr>
            <p:nvPr/>
          </p:nvGrpSpPr>
          <p:grpSpPr bwMode="auto">
            <a:xfrm>
              <a:off x="516" y="1299"/>
              <a:ext cx="1802" cy="668"/>
              <a:chOff x="516" y="1299"/>
              <a:chExt cx="1802" cy="668"/>
            </a:xfrm>
          </p:grpSpPr>
          <p:sp>
            <p:nvSpPr>
              <p:cNvPr id="103474" name="Oval 6"/>
              <p:cNvSpPr>
                <a:spLocks noChangeArrowheads="1"/>
              </p:cNvSpPr>
              <p:nvPr/>
            </p:nvSpPr>
            <p:spPr bwMode="auto">
              <a:xfrm>
                <a:off x="516" y="1299"/>
                <a:ext cx="1802" cy="66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03475" name="Line 7"/>
              <p:cNvSpPr>
                <a:spLocks noChangeShapeType="1"/>
              </p:cNvSpPr>
              <p:nvPr/>
            </p:nvSpPr>
            <p:spPr bwMode="auto">
              <a:xfrm flipV="1">
                <a:off x="1397" y="1730"/>
                <a:ext cx="17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76" name="Line 8"/>
              <p:cNvSpPr>
                <a:spLocks noChangeShapeType="1"/>
              </p:cNvSpPr>
              <p:nvPr/>
            </p:nvSpPr>
            <p:spPr bwMode="auto">
              <a:xfrm flipH="1">
                <a:off x="1468" y="1428"/>
                <a:ext cx="237" cy="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77" name="Line 9"/>
              <p:cNvSpPr>
                <a:spLocks noChangeShapeType="1"/>
              </p:cNvSpPr>
              <p:nvPr/>
            </p:nvSpPr>
            <p:spPr bwMode="auto">
              <a:xfrm>
                <a:off x="1184" y="1411"/>
                <a:ext cx="183" cy="1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78" name="Line 10"/>
              <p:cNvSpPr>
                <a:spLocks noChangeShapeType="1"/>
              </p:cNvSpPr>
              <p:nvPr/>
            </p:nvSpPr>
            <p:spPr bwMode="auto">
              <a:xfrm>
                <a:off x="1084" y="1529"/>
                <a:ext cx="274" cy="1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79" name="Line 11"/>
              <p:cNvSpPr>
                <a:spLocks noChangeShapeType="1"/>
              </p:cNvSpPr>
              <p:nvPr/>
            </p:nvSpPr>
            <p:spPr bwMode="auto">
              <a:xfrm>
                <a:off x="1065" y="1685"/>
                <a:ext cx="2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80" name="Line 12"/>
              <p:cNvSpPr>
                <a:spLocks noChangeShapeType="1"/>
              </p:cNvSpPr>
              <p:nvPr/>
            </p:nvSpPr>
            <p:spPr bwMode="auto">
              <a:xfrm flipV="1">
                <a:off x="1129" y="1721"/>
                <a:ext cx="229" cy="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81" name="Line 13"/>
              <p:cNvSpPr>
                <a:spLocks noChangeShapeType="1"/>
              </p:cNvSpPr>
              <p:nvPr/>
            </p:nvSpPr>
            <p:spPr bwMode="auto">
              <a:xfrm flipH="1">
                <a:off x="1514" y="1547"/>
                <a:ext cx="320" cy="1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82" name="Line 14"/>
              <p:cNvSpPr>
                <a:spLocks noChangeShapeType="1"/>
              </p:cNvSpPr>
              <p:nvPr/>
            </p:nvSpPr>
            <p:spPr bwMode="auto">
              <a:xfrm flipH="1" flipV="1">
                <a:off x="1532" y="1685"/>
                <a:ext cx="256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83" name="Line 15"/>
              <p:cNvSpPr>
                <a:spLocks noChangeShapeType="1"/>
              </p:cNvSpPr>
              <p:nvPr/>
            </p:nvSpPr>
            <p:spPr bwMode="auto">
              <a:xfrm>
                <a:off x="1422" y="1328"/>
                <a:ext cx="9" cy="2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84" name="Line 16"/>
              <p:cNvSpPr>
                <a:spLocks noChangeShapeType="1"/>
              </p:cNvSpPr>
              <p:nvPr/>
            </p:nvSpPr>
            <p:spPr bwMode="auto">
              <a:xfrm flipH="1" flipV="1">
                <a:off x="1477" y="1712"/>
                <a:ext cx="156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</p:grpSp>
      <p:grpSp>
        <p:nvGrpSpPr>
          <p:cNvPr id="103429" name="Group 17"/>
          <p:cNvGrpSpPr>
            <a:grpSpLocks/>
          </p:cNvGrpSpPr>
          <p:nvPr/>
        </p:nvGrpSpPr>
        <p:grpSpPr bwMode="auto">
          <a:xfrm>
            <a:off x="4162426" y="3325416"/>
            <a:ext cx="2860675" cy="795338"/>
            <a:chOff x="516" y="1299"/>
            <a:chExt cx="1802" cy="668"/>
          </a:xfrm>
        </p:grpSpPr>
        <p:sp>
          <p:nvSpPr>
            <p:cNvPr id="103459" name="Oval 18"/>
            <p:cNvSpPr>
              <a:spLocks noChangeArrowheads="1"/>
            </p:cNvSpPr>
            <p:nvPr/>
          </p:nvSpPr>
          <p:spPr bwMode="auto">
            <a:xfrm>
              <a:off x="1383" y="1595"/>
              <a:ext cx="83" cy="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grpSp>
          <p:nvGrpSpPr>
            <p:cNvPr id="103460" name="Group 19"/>
            <p:cNvGrpSpPr>
              <a:grpSpLocks/>
            </p:cNvGrpSpPr>
            <p:nvPr/>
          </p:nvGrpSpPr>
          <p:grpSpPr bwMode="auto">
            <a:xfrm>
              <a:off x="516" y="1299"/>
              <a:ext cx="1802" cy="668"/>
              <a:chOff x="516" y="1299"/>
              <a:chExt cx="1802" cy="668"/>
            </a:xfrm>
          </p:grpSpPr>
          <p:sp>
            <p:nvSpPr>
              <p:cNvPr id="103461" name="Oval 20"/>
              <p:cNvSpPr>
                <a:spLocks noChangeArrowheads="1"/>
              </p:cNvSpPr>
              <p:nvPr/>
            </p:nvSpPr>
            <p:spPr bwMode="auto">
              <a:xfrm>
                <a:off x="516" y="1299"/>
                <a:ext cx="1802" cy="66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03462" name="Line 21"/>
              <p:cNvSpPr>
                <a:spLocks noChangeShapeType="1"/>
              </p:cNvSpPr>
              <p:nvPr/>
            </p:nvSpPr>
            <p:spPr bwMode="auto">
              <a:xfrm flipV="1">
                <a:off x="1397" y="1730"/>
                <a:ext cx="17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63" name="Line 22"/>
              <p:cNvSpPr>
                <a:spLocks noChangeShapeType="1"/>
              </p:cNvSpPr>
              <p:nvPr/>
            </p:nvSpPr>
            <p:spPr bwMode="auto">
              <a:xfrm flipH="1">
                <a:off x="1468" y="1428"/>
                <a:ext cx="237" cy="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64" name="Line 23"/>
              <p:cNvSpPr>
                <a:spLocks noChangeShapeType="1"/>
              </p:cNvSpPr>
              <p:nvPr/>
            </p:nvSpPr>
            <p:spPr bwMode="auto">
              <a:xfrm>
                <a:off x="1184" y="1411"/>
                <a:ext cx="183" cy="1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65" name="Line 24"/>
              <p:cNvSpPr>
                <a:spLocks noChangeShapeType="1"/>
              </p:cNvSpPr>
              <p:nvPr/>
            </p:nvSpPr>
            <p:spPr bwMode="auto">
              <a:xfrm>
                <a:off x="1084" y="1529"/>
                <a:ext cx="274" cy="1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66" name="Line 25"/>
              <p:cNvSpPr>
                <a:spLocks noChangeShapeType="1"/>
              </p:cNvSpPr>
              <p:nvPr/>
            </p:nvSpPr>
            <p:spPr bwMode="auto">
              <a:xfrm>
                <a:off x="1065" y="1685"/>
                <a:ext cx="2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67" name="Line 26"/>
              <p:cNvSpPr>
                <a:spLocks noChangeShapeType="1"/>
              </p:cNvSpPr>
              <p:nvPr/>
            </p:nvSpPr>
            <p:spPr bwMode="auto">
              <a:xfrm flipV="1">
                <a:off x="1129" y="1721"/>
                <a:ext cx="229" cy="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68" name="Line 27"/>
              <p:cNvSpPr>
                <a:spLocks noChangeShapeType="1"/>
              </p:cNvSpPr>
              <p:nvPr/>
            </p:nvSpPr>
            <p:spPr bwMode="auto">
              <a:xfrm flipH="1">
                <a:off x="1514" y="1547"/>
                <a:ext cx="320" cy="1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69" name="Line 28"/>
              <p:cNvSpPr>
                <a:spLocks noChangeShapeType="1"/>
              </p:cNvSpPr>
              <p:nvPr/>
            </p:nvSpPr>
            <p:spPr bwMode="auto">
              <a:xfrm flipH="1" flipV="1">
                <a:off x="1532" y="1685"/>
                <a:ext cx="256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70" name="Line 29"/>
              <p:cNvSpPr>
                <a:spLocks noChangeShapeType="1"/>
              </p:cNvSpPr>
              <p:nvPr/>
            </p:nvSpPr>
            <p:spPr bwMode="auto">
              <a:xfrm>
                <a:off x="1422" y="1328"/>
                <a:ext cx="9" cy="2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71" name="Line 30"/>
              <p:cNvSpPr>
                <a:spLocks noChangeShapeType="1"/>
              </p:cNvSpPr>
              <p:nvPr/>
            </p:nvSpPr>
            <p:spPr bwMode="auto">
              <a:xfrm flipH="1" flipV="1">
                <a:off x="1477" y="1712"/>
                <a:ext cx="156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</p:grpSp>
      <p:grpSp>
        <p:nvGrpSpPr>
          <p:cNvPr id="103430" name="Group 31"/>
          <p:cNvGrpSpPr>
            <a:grpSpLocks/>
          </p:cNvGrpSpPr>
          <p:nvPr/>
        </p:nvGrpSpPr>
        <p:grpSpPr bwMode="auto">
          <a:xfrm>
            <a:off x="4921251" y="1902619"/>
            <a:ext cx="2860675" cy="795338"/>
            <a:chOff x="516" y="1299"/>
            <a:chExt cx="1802" cy="668"/>
          </a:xfrm>
        </p:grpSpPr>
        <p:sp>
          <p:nvSpPr>
            <p:cNvPr id="103446" name="Oval 32"/>
            <p:cNvSpPr>
              <a:spLocks noChangeArrowheads="1"/>
            </p:cNvSpPr>
            <p:nvPr/>
          </p:nvSpPr>
          <p:spPr bwMode="auto">
            <a:xfrm>
              <a:off x="1383" y="1595"/>
              <a:ext cx="83" cy="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grpSp>
          <p:nvGrpSpPr>
            <p:cNvPr id="103447" name="Group 33"/>
            <p:cNvGrpSpPr>
              <a:grpSpLocks/>
            </p:cNvGrpSpPr>
            <p:nvPr/>
          </p:nvGrpSpPr>
          <p:grpSpPr bwMode="auto">
            <a:xfrm>
              <a:off x="516" y="1299"/>
              <a:ext cx="1802" cy="668"/>
              <a:chOff x="516" y="1299"/>
              <a:chExt cx="1802" cy="668"/>
            </a:xfrm>
          </p:grpSpPr>
          <p:sp>
            <p:nvSpPr>
              <p:cNvPr id="103448" name="Oval 34"/>
              <p:cNvSpPr>
                <a:spLocks noChangeArrowheads="1"/>
              </p:cNvSpPr>
              <p:nvPr/>
            </p:nvSpPr>
            <p:spPr bwMode="auto">
              <a:xfrm>
                <a:off x="516" y="1299"/>
                <a:ext cx="1802" cy="66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03449" name="Line 35"/>
              <p:cNvSpPr>
                <a:spLocks noChangeShapeType="1"/>
              </p:cNvSpPr>
              <p:nvPr/>
            </p:nvSpPr>
            <p:spPr bwMode="auto">
              <a:xfrm flipV="1">
                <a:off x="1397" y="1730"/>
                <a:ext cx="17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0" name="Line 36"/>
              <p:cNvSpPr>
                <a:spLocks noChangeShapeType="1"/>
              </p:cNvSpPr>
              <p:nvPr/>
            </p:nvSpPr>
            <p:spPr bwMode="auto">
              <a:xfrm flipH="1">
                <a:off x="1468" y="1428"/>
                <a:ext cx="237" cy="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1" name="Line 37"/>
              <p:cNvSpPr>
                <a:spLocks noChangeShapeType="1"/>
              </p:cNvSpPr>
              <p:nvPr/>
            </p:nvSpPr>
            <p:spPr bwMode="auto">
              <a:xfrm>
                <a:off x="1184" y="1411"/>
                <a:ext cx="183" cy="1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2" name="Line 38"/>
              <p:cNvSpPr>
                <a:spLocks noChangeShapeType="1"/>
              </p:cNvSpPr>
              <p:nvPr/>
            </p:nvSpPr>
            <p:spPr bwMode="auto">
              <a:xfrm>
                <a:off x="1084" y="1529"/>
                <a:ext cx="274" cy="1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3" name="Line 39"/>
              <p:cNvSpPr>
                <a:spLocks noChangeShapeType="1"/>
              </p:cNvSpPr>
              <p:nvPr/>
            </p:nvSpPr>
            <p:spPr bwMode="auto">
              <a:xfrm>
                <a:off x="1065" y="1685"/>
                <a:ext cx="2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4" name="Line 40"/>
              <p:cNvSpPr>
                <a:spLocks noChangeShapeType="1"/>
              </p:cNvSpPr>
              <p:nvPr/>
            </p:nvSpPr>
            <p:spPr bwMode="auto">
              <a:xfrm flipV="1">
                <a:off x="1129" y="1721"/>
                <a:ext cx="229" cy="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5" name="Line 41"/>
              <p:cNvSpPr>
                <a:spLocks noChangeShapeType="1"/>
              </p:cNvSpPr>
              <p:nvPr/>
            </p:nvSpPr>
            <p:spPr bwMode="auto">
              <a:xfrm flipH="1">
                <a:off x="1514" y="1547"/>
                <a:ext cx="320" cy="1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6" name="Line 42"/>
              <p:cNvSpPr>
                <a:spLocks noChangeShapeType="1"/>
              </p:cNvSpPr>
              <p:nvPr/>
            </p:nvSpPr>
            <p:spPr bwMode="auto">
              <a:xfrm flipH="1" flipV="1">
                <a:off x="1532" y="1685"/>
                <a:ext cx="256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7" name="Line 43"/>
              <p:cNvSpPr>
                <a:spLocks noChangeShapeType="1"/>
              </p:cNvSpPr>
              <p:nvPr/>
            </p:nvSpPr>
            <p:spPr bwMode="auto">
              <a:xfrm>
                <a:off x="1422" y="1328"/>
                <a:ext cx="9" cy="2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3458" name="Line 44"/>
              <p:cNvSpPr>
                <a:spLocks noChangeShapeType="1"/>
              </p:cNvSpPr>
              <p:nvPr/>
            </p:nvSpPr>
            <p:spPr bwMode="auto">
              <a:xfrm flipH="1" flipV="1">
                <a:off x="1477" y="1712"/>
                <a:ext cx="156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</p:grpSp>
      <p:sp>
        <p:nvSpPr>
          <p:cNvPr id="103431" name="Line 45"/>
          <p:cNvSpPr>
            <a:spLocks noChangeShapeType="1"/>
          </p:cNvSpPr>
          <p:nvPr/>
        </p:nvSpPr>
        <p:spPr bwMode="auto">
          <a:xfrm flipV="1">
            <a:off x="1452563" y="2110978"/>
            <a:ext cx="1117600" cy="216574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32" name="Line 46"/>
          <p:cNvSpPr>
            <a:spLocks noChangeShapeType="1"/>
          </p:cNvSpPr>
          <p:nvPr/>
        </p:nvSpPr>
        <p:spPr bwMode="auto">
          <a:xfrm flipV="1">
            <a:off x="1438276" y="2351485"/>
            <a:ext cx="4803775" cy="193714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33" name="Line 47"/>
          <p:cNvSpPr>
            <a:spLocks noChangeShapeType="1"/>
          </p:cNvSpPr>
          <p:nvPr/>
        </p:nvSpPr>
        <p:spPr bwMode="auto">
          <a:xfrm flipV="1">
            <a:off x="1422400" y="3755232"/>
            <a:ext cx="4006850" cy="554831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34" name="Freeform 48"/>
          <p:cNvSpPr>
            <a:spLocks/>
          </p:cNvSpPr>
          <p:nvPr/>
        </p:nvSpPr>
        <p:spPr bwMode="auto">
          <a:xfrm>
            <a:off x="2627314" y="1762125"/>
            <a:ext cx="3824287" cy="2801541"/>
          </a:xfrm>
          <a:custGeom>
            <a:avLst/>
            <a:gdLst>
              <a:gd name="T0" fmla="*/ 0 w 2409"/>
              <a:gd name="T1" fmla="*/ 2147483647 h 2353"/>
              <a:gd name="T2" fmla="*/ 2147483647 w 2409"/>
              <a:gd name="T3" fmla="*/ 2147483647 h 2353"/>
              <a:gd name="T4" fmla="*/ 2147483647 w 2409"/>
              <a:gd name="T5" fmla="*/ 2147483647 h 2353"/>
              <a:gd name="T6" fmla="*/ 2147483647 w 2409"/>
              <a:gd name="T7" fmla="*/ 2147483647 h 2353"/>
              <a:gd name="T8" fmla="*/ 2147483647 w 2409"/>
              <a:gd name="T9" fmla="*/ 2147483647 h 2353"/>
              <a:gd name="T10" fmla="*/ 2147483647 w 2409"/>
              <a:gd name="T11" fmla="*/ 2147483647 h 2353"/>
              <a:gd name="T12" fmla="*/ 2147483647 w 2409"/>
              <a:gd name="T13" fmla="*/ 2147483647 h 2353"/>
              <a:gd name="T14" fmla="*/ 2147483647 w 2409"/>
              <a:gd name="T15" fmla="*/ 2147483647 h 2353"/>
              <a:gd name="T16" fmla="*/ 2147483647 w 2409"/>
              <a:gd name="T17" fmla="*/ 2147483647 h 2353"/>
              <a:gd name="T18" fmla="*/ 2147483647 w 2409"/>
              <a:gd name="T19" fmla="*/ 2147483647 h 2353"/>
              <a:gd name="T20" fmla="*/ 2147483647 w 2409"/>
              <a:gd name="T21" fmla="*/ 2147483647 h 2353"/>
              <a:gd name="T22" fmla="*/ 2147483647 w 2409"/>
              <a:gd name="T23" fmla="*/ 2147483647 h 2353"/>
              <a:gd name="T24" fmla="*/ 2147483647 w 2409"/>
              <a:gd name="T25" fmla="*/ 2147483647 h 2353"/>
              <a:gd name="T26" fmla="*/ 2147483647 w 2409"/>
              <a:gd name="T27" fmla="*/ 2147483647 h 2353"/>
              <a:gd name="T28" fmla="*/ 2147483647 w 2409"/>
              <a:gd name="T29" fmla="*/ 2147483647 h 2353"/>
              <a:gd name="T30" fmla="*/ 2147483647 w 2409"/>
              <a:gd name="T31" fmla="*/ 2147483647 h 2353"/>
              <a:gd name="T32" fmla="*/ 2147483647 w 2409"/>
              <a:gd name="T33" fmla="*/ 2147483647 h 2353"/>
              <a:gd name="T34" fmla="*/ 2147483647 w 2409"/>
              <a:gd name="T35" fmla="*/ 2147483647 h 2353"/>
              <a:gd name="T36" fmla="*/ 2147483647 w 2409"/>
              <a:gd name="T37" fmla="*/ 2147483647 h 2353"/>
              <a:gd name="T38" fmla="*/ 2147483647 w 2409"/>
              <a:gd name="T39" fmla="*/ 2147483647 h 2353"/>
              <a:gd name="T40" fmla="*/ 2147483647 w 2409"/>
              <a:gd name="T41" fmla="*/ 2147483647 h 2353"/>
              <a:gd name="T42" fmla="*/ 2147483647 w 2409"/>
              <a:gd name="T43" fmla="*/ 2147483647 h 2353"/>
              <a:gd name="T44" fmla="*/ 2147483647 w 2409"/>
              <a:gd name="T45" fmla="*/ 2147483647 h 2353"/>
              <a:gd name="T46" fmla="*/ 2147483647 w 2409"/>
              <a:gd name="T47" fmla="*/ 2147483647 h 2353"/>
              <a:gd name="T48" fmla="*/ 2147483647 w 2409"/>
              <a:gd name="T49" fmla="*/ 2147483647 h 2353"/>
              <a:gd name="T50" fmla="*/ 2147483647 w 2409"/>
              <a:gd name="T51" fmla="*/ 2147483647 h 2353"/>
              <a:gd name="T52" fmla="*/ 2147483647 w 2409"/>
              <a:gd name="T53" fmla="*/ 2147483647 h 2353"/>
              <a:gd name="T54" fmla="*/ 2147483647 w 2409"/>
              <a:gd name="T55" fmla="*/ 2147483647 h 2353"/>
              <a:gd name="T56" fmla="*/ 2147483647 w 2409"/>
              <a:gd name="T57" fmla="*/ 2147483647 h 2353"/>
              <a:gd name="T58" fmla="*/ 2147483647 w 2409"/>
              <a:gd name="T59" fmla="*/ 2147483647 h 2353"/>
              <a:gd name="T60" fmla="*/ 2147483647 w 2409"/>
              <a:gd name="T61" fmla="*/ 2147483647 h 2353"/>
              <a:gd name="T62" fmla="*/ 2147483647 w 2409"/>
              <a:gd name="T63" fmla="*/ 2147483647 h 2353"/>
              <a:gd name="T64" fmla="*/ 2147483647 w 2409"/>
              <a:gd name="T65" fmla="*/ 2147483647 h 2353"/>
              <a:gd name="T66" fmla="*/ 2147483647 w 2409"/>
              <a:gd name="T67" fmla="*/ 2147483647 h 2353"/>
              <a:gd name="T68" fmla="*/ 2147483647 w 2409"/>
              <a:gd name="T69" fmla="*/ 2147483647 h 2353"/>
              <a:gd name="T70" fmla="*/ 2147483647 w 2409"/>
              <a:gd name="T71" fmla="*/ 2147483647 h 2353"/>
              <a:gd name="T72" fmla="*/ 2147483647 w 2409"/>
              <a:gd name="T73" fmla="*/ 2147483647 h 2353"/>
              <a:gd name="T74" fmla="*/ 2147483647 w 2409"/>
              <a:gd name="T75" fmla="*/ 2147483647 h 2353"/>
              <a:gd name="T76" fmla="*/ 2147483647 w 2409"/>
              <a:gd name="T77" fmla="*/ 2147483647 h 2353"/>
              <a:gd name="T78" fmla="*/ 2147483647 w 2409"/>
              <a:gd name="T79" fmla="*/ 2147483647 h 2353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2409"/>
              <a:gd name="T121" fmla="*/ 0 h 2353"/>
              <a:gd name="T122" fmla="*/ 2409 w 2409"/>
              <a:gd name="T123" fmla="*/ 2353 h 2353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2409" h="2353">
                <a:moveTo>
                  <a:pt x="0" y="229"/>
                </a:moveTo>
                <a:cubicBezTo>
                  <a:pt x="12" y="226"/>
                  <a:pt x="27" y="228"/>
                  <a:pt x="37" y="220"/>
                </a:cubicBezTo>
                <a:cubicBezTo>
                  <a:pt x="127" y="141"/>
                  <a:pt x="30" y="179"/>
                  <a:pt x="101" y="156"/>
                </a:cubicBezTo>
                <a:cubicBezTo>
                  <a:pt x="183" y="101"/>
                  <a:pt x="105" y="147"/>
                  <a:pt x="320" y="129"/>
                </a:cubicBezTo>
                <a:cubicBezTo>
                  <a:pt x="357" y="126"/>
                  <a:pt x="393" y="115"/>
                  <a:pt x="430" y="111"/>
                </a:cubicBezTo>
                <a:cubicBezTo>
                  <a:pt x="640" y="54"/>
                  <a:pt x="851" y="62"/>
                  <a:pt x="1070" y="56"/>
                </a:cubicBezTo>
                <a:cubicBezTo>
                  <a:pt x="1237" y="58"/>
                  <a:pt x="1735" y="0"/>
                  <a:pt x="2021" y="92"/>
                </a:cubicBezTo>
                <a:cubicBezTo>
                  <a:pt x="2027" y="98"/>
                  <a:pt x="2031" y="107"/>
                  <a:pt x="2039" y="111"/>
                </a:cubicBezTo>
                <a:cubicBezTo>
                  <a:pt x="2050" y="117"/>
                  <a:pt x="2066" y="112"/>
                  <a:pt x="2076" y="120"/>
                </a:cubicBezTo>
                <a:cubicBezTo>
                  <a:pt x="2083" y="126"/>
                  <a:pt x="2081" y="138"/>
                  <a:pt x="2085" y="147"/>
                </a:cubicBezTo>
                <a:cubicBezTo>
                  <a:pt x="2102" y="187"/>
                  <a:pt x="2100" y="207"/>
                  <a:pt x="2140" y="220"/>
                </a:cubicBezTo>
                <a:cubicBezTo>
                  <a:pt x="2149" y="226"/>
                  <a:pt x="2157" y="234"/>
                  <a:pt x="2167" y="239"/>
                </a:cubicBezTo>
                <a:cubicBezTo>
                  <a:pt x="2185" y="247"/>
                  <a:pt x="2222" y="257"/>
                  <a:pt x="2222" y="257"/>
                </a:cubicBezTo>
                <a:cubicBezTo>
                  <a:pt x="2239" y="290"/>
                  <a:pt x="2247" y="322"/>
                  <a:pt x="2259" y="357"/>
                </a:cubicBezTo>
                <a:cubicBezTo>
                  <a:pt x="2262" y="366"/>
                  <a:pt x="2260" y="379"/>
                  <a:pt x="2268" y="385"/>
                </a:cubicBezTo>
                <a:cubicBezTo>
                  <a:pt x="2284" y="396"/>
                  <a:pt x="2305" y="397"/>
                  <a:pt x="2323" y="403"/>
                </a:cubicBezTo>
                <a:cubicBezTo>
                  <a:pt x="2332" y="406"/>
                  <a:pt x="2350" y="412"/>
                  <a:pt x="2350" y="412"/>
                </a:cubicBezTo>
                <a:cubicBezTo>
                  <a:pt x="2362" y="536"/>
                  <a:pt x="2409" y="719"/>
                  <a:pt x="2313" y="815"/>
                </a:cubicBezTo>
                <a:cubicBezTo>
                  <a:pt x="2294" y="930"/>
                  <a:pt x="2238" y="1023"/>
                  <a:pt x="2140" y="1089"/>
                </a:cubicBezTo>
                <a:cubicBezTo>
                  <a:pt x="2120" y="1118"/>
                  <a:pt x="2097" y="1143"/>
                  <a:pt x="2076" y="1171"/>
                </a:cubicBezTo>
                <a:cubicBezTo>
                  <a:pt x="2063" y="1225"/>
                  <a:pt x="2051" y="1212"/>
                  <a:pt x="2039" y="1272"/>
                </a:cubicBezTo>
                <a:cubicBezTo>
                  <a:pt x="2032" y="1380"/>
                  <a:pt x="2052" y="1396"/>
                  <a:pt x="1993" y="1455"/>
                </a:cubicBezTo>
                <a:cubicBezTo>
                  <a:pt x="1983" y="1485"/>
                  <a:pt x="1964" y="1500"/>
                  <a:pt x="1939" y="1519"/>
                </a:cubicBezTo>
                <a:cubicBezTo>
                  <a:pt x="1921" y="1532"/>
                  <a:pt x="1884" y="1555"/>
                  <a:pt x="1884" y="1555"/>
                </a:cubicBezTo>
                <a:cubicBezTo>
                  <a:pt x="1881" y="1564"/>
                  <a:pt x="1877" y="1573"/>
                  <a:pt x="1875" y="1583"/>
                </a:cubicBezTo>
                <a:cubicBezTo>
                  <a:pt x="1870" y="1613"/>
                  <a:pt x="1872" y="1644"/>
                  <a:pt x="1865" y="1674"/>
                </a:cubicBezTo>
                <a:cubicBezTo>
                  <a:pt x="1860" y="1694"/>
                  <a:pt x="1804" y="1744"/>
                  <a:pt x="1801" y="1747"/>
                </a:cubicBezTo>
                <a:cubicBezTo>
                  <a:pt x="1738" y="1810"/>
                  <a:pt x="1660" y="1919"/>
                  <a:pt x="1573" y="1948"/>
                </a:cubicBezTo>
                <a:cubicBezTo>
                  <a:pt x="1544" y="1968"/>
                  <a:pt x="1508" y="1980"/>
                  <a:pt x="1481" y="2003"/>
                </a:cubicBezTo>
                <a:cubicBezTo>
                  <a:pt x="1455" y="2025"/>
                  <a:pt x="1458" y="2036"/>
                  <a:pt x="1427" y="2049"/>
                </a:cubicBezTo>
                <a:cubicBezTo>
                  <a:pt x="1409" y="2057"/>
                  <a:pt x="1390" y="2061"/>
                  <a:pt x="1372" y="2067"/>
                </a:cubicBezTo>
                <a:cubicBezTo>
                  <a:pt x="1363" y="2070"/>
                  <a:pt x="1344" y="2076"/>
                  <a:pt x="1344" y="2076"/>
                </a:cubicBezTo>
                <a:cubicBezTo>
                  <a:pt x="1286" y="2117"/>
                  <a:pt x="1212" y="2130"/>
                  <a:pt x="1143" y="2140"/>
                </a:cubicBezTo>
                <a:cubicBezTo>
                  <a:pt x="1112" y="2151"/>
                  <a:pt x="1080" y="2159"/>
                  <a:pt x="1052" y="2177"/>
                </a:cubicBezTo>
                <a:cubicBezTo>
                  <a:pt x="1030" y="2191"/>
                  <a:pt x="1013" y="2215"/>
                  <a:pt x="988" y="2223"/>
                </a:cubicBezTo>
                <a:cubicBezTo>
                  <a:pt x="963" y="2231"/>
                  <a:pt x="903" y="2242"/>
                  <a:pt x="878" y="2259"/>
                </a:cubicBezTo>
                <a:cubicBezTo>
                  <a:pt x="869" y="2265"/>
                  <a:pt x="861" y="2273"/>
                  <a:pt x="851" y="2277"/>
                </a:cubicBezTo>
                <a:cubicBezTo>
                  <a:pt x="837" y="2283"/>
                  <a:pt x="789" y="2298"/>
                  <a:pt x="768" y="2305"/>
                </a:cubicBezTo>
                <a:cubicBezTo>
                  <a:pt x="750" y="2311"/>
                  <a:pt x="713" y="2323"/>
                  <a:pt x="713" y="2323"/>
                </a:cubicBezTo>
                <a:cubicBezTo>
                  <a:pt x="668" y="2353"/>
                  <a:pt x="641" y="2351"/>
                  <a:pt x="585" y="2351"/>
                </a:cubicBezTo>
              </a:path>
            </a:pathLst>
          </a:custGeom>
          <a:noFill/>
          <a:ln w="41275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35" name="Line 49"/>
          <p:cNvSpPr>
            <a:spLocks noChangeShapeType="1"/>
          </p:cNvSpPr>
          <p:nvPr/>
        </p:nvSpPr>
        <p:spPr bwMode="auto">
          <a:xfrm flipV="1">
            <a:off x="5167314" y="1382316"/>
            <a:ext cx="1393825" cy="347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36" name="Text Box 50"/>
          <p:cNvSpPr txBox="1">
            <a:spLocks noChangeArrowheads="1"/>
          </p:cNvSpPr>
          <p:nvPr/>
        </p:nvSpPr>
        <p:spPr bwMode="auto">
          <a:xfrm>
            <a:off x="5672774" y="1071563"/>
            <a:ext cx="26685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latin typeface="Tahoma" pitchFamily="34" charset="0"/>
              </a:rPr>
              <a:t>Single-particle trajectory</a:t>
            </a:r>
          </a:p>
        </p:txBody>
      </p:sp>
      <p:sp>
        <p:nvSpPr>
          <p:cNvPr id="103437" name="Freeform 51"/>
          <p:cNvSpPr>
            <a:spLocks/>
          </p:cNvSpPr>
          <p:nvPr/>
        </p:nvSpPr>
        <p:spPr bwMode="auto">
          <a:xfrm>
            <a:off x="1046164" y="2034778"/>
            <a:ext cx="1595437" cy="871538"/>
          </a:xfrm>
          <a:custGeom>
            <a:avLst/>
            <a:gdLst>
              <a:gd name="T0" fmla="*/ 2147483647 w 1005"/>
              <a:gd name="T1" fmla="*/ 0 h 732"/>
              <a:gd name="T2" fmla="*/ 2147483647 w 1005"/>
              <a:gd name="T3" fmla="*/ 2147483647 h 732"/>
              <a:gd name="T4" fmla="*/ 2147483647 w 1005"/>
              <a:gd name="T5" fmla="*/ 2147483647 h 732"/>
              <a:gd name="T6" fmla="*/ 2147483647 w 1005"/>
              <a:gd name="T7" fmla="*/ 2147483647 h 732"/>
              <a:gd name="T8" fmla="*/ 2147483647 w 1005"/>
              <a:gd name="T9" fmla="*/ 2147483647 h 732"/>
              <a:gd name="T10" fmla="*/ 2147483647 w 1005"/>
              <a:gd name="T11" fmla="*/ 2147483647 h 732"/>
              <a:gd name="T12" fmla="*/ 2147483647 w 1005"/>
              <a:gd name="T13" fmla="*/ 2147483647 h 732"/>
              <a:gd name="T14" fmla="*/ 2147483647 w 1005"/>
              <a:gd name="T15" fmla="*/ 2147483647 h 732"/>
              <a:gd name="T16" fmla="*/ 2147483647 w 1005"/>
              <a:gd name="T17" fmla="*/ 2147483647 h 732"/>
              <a:gd name="T18" fmla="*/ 2147483647 w 1005"/>
              <a:gd name="T19" fmla="*/ 2147483647 h 732"/>
              <a:gd name="T20" fmla="*/ 2147483647 w 1005"/>
              <a:gd name="T21" fmla="*/ 2147483647 h 732"/>
              <a:gd name="T22" fmla="*/ 2147483647 w 1005"/>
              <a:gd name="T23" fmla="*/ 2147483647 h 732"/>
              <a:gd name="T24" fmla="*/ 0 w 1005"/>
              <a:gd name="T25" fmla="*/ 2147483647 h 73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05"/>
              <a:gd name="T40" fmla="*/ 0 h 732"/>
              <a:gd name="T41" fmla="*/ 1005 w 1005"/>
              <a:gd name="T42" fmla="*/ 732 h 73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05" h="732">
                <a:moveTo>
                  <a:pt x="1005" y="0"/>
                </a:moveTo>
                <a:cubicBezTo>
                  <a:pt x="964" y="64"/>
                  <a:pt x="823" y="43"/>
                  <a:pt x="768" y="46"/>
                </a:cubicBezTo>
                <a:cubicBezTo>
                  <a:pt x="710" y="60"/>
                  <a:pt x="746" y="50"/>
                  <a:pt x="676" y="74"/>
                </a:cubicBezTo>
                <a:cubicBezTo>
                  <a:pt x="658" y="80"/>
                  <a:pt x="621" y="92"/>
                  <a:pt x="621" y="92"/>
                </a:cubicBezTo>
                <a:cubicBezTo>
                  <a:pt x="606" y="107"/>
                  <a:pt x="593" y="124"/>
                  <a:pt x="576" y="138"/>
                </a:cubicBezTo>
                <a:cubicBezTo>
                  <a:pt x="559" y="152"/>
                  <a:pt x="521" y="174"/>
                  <a:pt x="521" y="174"/>
                </a:cubicBezTo>
                <a:cubicBezTo>
                  <a:pt x="502" y="250"/>
                  <a:pt x="530" y="184"/>
                  <a:pt x="484" y="220"/>
                </a:cubicBezTo>
                <a:cubicBezTo>
                  <a:pt x="470" y="231"/>
                  <a:pt x="415" y="314"/>
                  <a:pt x="411" y="320"/>
                </a:cubicBezTo>
                <a:cubicBezTo>
                  <a:pt x="393" y="347"/>
                  <a:pt x="342" y="366"/>
                  <a:pt x="320" y="394"/>
                </a:cubicBezTo>
                <a:cubicBezTo>
                  <a:pt x="289" y="433"/>
                  <a:pt x="239" y="504"/>
                  <a:pt x="192" y="522"/>
                </a:cubicBezTo>
                <a:cubicBezTo>
                  <a:pt x="178" y="535"/>
                  <a:pt x="159" y="543"/>
                  <a:pt x="146" y="558"/>
                </a:cubicBezTo>
                <a:cubicBezTo>
                  <a:pt x="107" y="603"/>
                  <a:pt x="103" y="650"/>
                  <a:pt x="45" y="668"/>
                </a:cubicBezTo>
                <a:cubicBezTo>
                  <a:pt x="35" y="697"/>
                  <a:pt x="28" y="718"/>
                  <a:pt x="0" y="732"/>
                </a:cubicBezTo>
              </a:path>
            </a:pathLst>
          </a:custGeom>
          <a:noFill/>
          <a:ln w="41275">
            <a:solidFill>
              <a:srgbClr val="800000"/>
            </a:solidFill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38" name="Freeform 52"/>
          <p:cNvSpPr>
            <a:spLocks/>
          </p:cNvSpPr>
          <p:nvPr/>
        </p:nvSpPr>
        <p:spPr bwMode="auto">
          <a:xfrm>
            <a:off x="1554164" y="2438400"/>
            <a:ext cx="115887" cy="71438"/>
          </a:xfrm>
          <a:custGeom>
            <a:avLst/>
            <a:gdLst>
              <a:gd name="T0" fmla="*/ 0 w 73"/>
              <a:gd name="T1" fmla="*/ 2147483647 h 60"/>
              <a:gd name="T2" fmla="*/ 2147483647 w 73"/>
              <a:gd name="T3" fmla="*/ 2147483647 h 60"/>
              <a:gd name="T4" fmla="*/ 2147483647 w 73"/>
              <a:gd name="T5" fmla="*/ 0 h 60"/>
              <a:gd name="T6" fmla="*/ 0 60000 65536"/>
              <a:gd name="T7" fmla="*/ 0 60000 65536"/>
              <a:gd name="T8" fmla="*/ 0 60000 65536"/>
              <a:gd name="T9" fmla="*/ 0 w 73"/>
              <a:gd name="T10" fmla="*/ 0 h 60"/>
              <a:gd name="T11" fmla="*/ 73 w 73"/>
              <a:gd name="T12" fmla="*/ 60 h 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60">
                <a:moveTo>
                  <a:pt x="0" y="55"/>
                </a:moveTo>
                <a:cubicBezTo>
                  <a:pt x="55" y="35"/>
                  <a:pt x="2" y="60"/>
                  <a:pt x="45" y="18"/>
                </a:cubicBezTo>
                <a:cubicBezTo>
                  <a:pt x="53" y="10"/>
                  <a:pt x="73" y="0"/>
                  <a:pt x="73" y="0"/>
                </a:cubicBezTo>
              </a:path>
            </a:pathLst>
          </a:custGeom>
          <a:noFill/>
          <a:ln w="53975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39" name="Freeform 53"/>
          <p:cNvSpPr>
            <a:spLocks/>
          </p:cNvSpPr>
          <p:nvPr/>
        </p:nvSpPr>
        <p:spPr bwMode="auto">
          <a:xfrm rot="1869182">
            <a:off x="4157664" y="1790700"/>
            <a:ext cx="115887" cy="71438"/>
          </a:xfrm>
          <a:custGeom>
            <a:avLst/>
            <a:gdLst>
              <a:gd name="T0" fmla="*/ 0 w 73"/>
              <a:gd name="T1" fmla="*/ 2147483647 h 60"/>
              <a:gd name="T2" fmla="*/ 2147483647 w 73"/>
              <a:gd name="T3" fmla="*/ 2147483647 h 60"/>
              <a:gd name="T4" fmla="*/ 2147483647 w 73"/>
              <a:gd name="T5" fmla="*/ 0 h 60"/>
              <a:gd name="T6" fmla="*/ 0 60000 65536"/>
              <a:gd name="T7" fmla="*/ 0 60000 65536"/>
              <a:gd name="T8" fmla="*/ 0 60000 65536"/>
              <a:gd name="T9" fmla="*/ 0 w 73"/>
              <a:gd name="T10" fmla="*/ 0 h 60"/>
              <a:gd name="T11" fmla="*/ 73 w 73"/>
              <a:gd name="T12" fmla="*/ 60 h 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60">
                <a:moveTo>
                  <a:pt x="0" y="55"/>
                </a:moveTo>
                <a:cubicBezTo>
                  <a:pt x="55" y="35"/>
                  <a:pt x="2" y="60"/>
                  <a:pt x="45" y="18"/>
                </a:cubicBezTo>
                <a:cubicBezTo>
                  <a:pt x="53" y="10"/>
                  <a:pt x="73" y="0"/>
                  <a:pt x="73" y="0"/>
                </a:cubicBezTo>
              </a:path>
            </a:pathLst>
          </a:custGeom>
          <a:noFill/>
          <a:ln w="53975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40" name="Freeform 54"/>
          <p:cNvSpPr>
            <a:spLocks/>
          </p:cNvSpPr>
          <p:nvPr/>
        </p:nvSpPr>
        <p:spPr bwMode="auto">
          <a:xfrm rot="10384192">
            <a:off x="6048375" y="2946797"/>
            <a:ext cx="115888" cy="71438"/>
          </a:xfrm>
          <a:custGeom>
            <a:avLst/>
            <a:gdLst>
              <a:gd name="T0" fmla="*/ 0 w 73"/>
              <a:gd name="T1" fmla="*/ 2147483647 h 60"/>
              <a:gd name="T2" fmla="*/ 2147483647 w 73"/>
              <a:gd name="T3" fmla="*/ 2147483647 h 60"/>
              <a:gd name="T4" fmla="*/ 2147483647 w 73"/>
              <a:gd name="T5" fmla="*/ 0 h 60"/>
              <a:gd name="T6" fmla="*/ 0 60000 65536"/>
              <a:gd name="T7" fmla="*/ 0 60000 65536"/>
              <a:gd name="T8" fmla="*/ 0 60000 65536"/>
              <a:gd name="T9" fmla="*/ 0 w 73"/>
              <a:gd name="T10" fmla="*/ 0 h 60"/>
              <a:gd name="T11" fmla="*/ 73 w 73"/>
              <a:gd name="T12" fmla="*/ 60 h 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60">
                <a:moveTo>
                  <a:pt x="0" y="55"/>
                </a:moveTo>
                <a:cubicBezTo>
                  <a:pt x="55" y="35"/>
                  <a:pt x="2" y="60"/>
                  <a:pt x="45" y="18"/>
                </a:cubicBezTo>
                <a:cubicBezTo>
                  <a:pt x="53" y="10"/>
                  <a:pt x="73" y="0"/>
                  <a:pt x="73" y="0"/>
                </a:cubicBezTo>
              </a:path>
            </a:pathLst>
          </a:custGeom>
          <a:noFill/>
          <a:ln w="53975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41" name="Freeform 55"/>
          <p:cNvSpPr>
            <a:spLocks/>
          </p:cNvSpPr>
          <p:nvPr/>
        </p:nvSpPr>
        <p:spPr bwMode="auto">
          <a:xfrm rot="-9747990">
            <a:off x="3527425" y="4539853"/>
            <a:ext cx="115888" cy="71438"/>
          </a:xfrm>
          <a:custGeom>
            <a:avLst/>
            <a:gdLst>
              <a:gd name="T0" fmla="*/ 0 w 73"/>
              <a:gd name="T1" fmla="*/ 2147483647 h 60"/>
              <a:gd name="T2" fmla="*/ 2147483647 w 73"/>
              <a:gd name="T3" fmla="*/ 2147483647 h 60"/>
              <a:gd name="T4" fmla="*/ 2147483647 w 73"/>
              <a:gd name="T5" fmla="*/ 0 h 60"/>
              <a:gd name="T6" fmla="*/ 0 60000 65536"/>
              <a:gd name="T7" fmla="*/ 0 60000 65536"/>
              <a:gd name="T8" fmla="*/ 0 60000 65536"/>
              <a:gd name="T9" fmla="*/ 0 w 73"/>
              <a:gd name="T10" fmla="*/ 0 h 60"/>
              <a:gd name="T11" fmla="*/ 73 w 73"/>
              <a:gd name="T12" fmla="*/ 60 h 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60">
                <a:moveTo>
                  <a:pt x="0" y="55"/>
                </a:moveTo>
                <a:cubicBezTo>
                  <a:pt x="55" y="35"/>
                  <a:pt x="2" y="60"/>
                  <a:pt x="45" y="18"/>
                </a:cubicBezTo>
                <a:cubicBezTo>
                  <a:pt x="53" y="10"/>
                  <a:pt x="73" y="0"/>
                  <a:pt x="73" y="0"/>
                </a:cubicBezTo>
              </a:path>
            </a:pathLst>
          </a:custGeom>
          <a:noFill/>
          <a:ln w="53975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3442" name="Text Box 56"/>
          <p:cNvSpPr txBox="1">
            <a:spLocks noChangeArrowheads="1"/>
          </p:cNvSpPr>
          <p:nvPr/>
        </p:nvSpPr>
        <p:spPr bwMode="auto">
          <a:xfrm>
            <a:off x="1620839" y="2911079"/>
            <a:ext cx="4138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 i="1" dirty="0">
                <a:latin typeface="Tahoma" pitchFamily="34" charset="0"/>
              </a:rPr>
              <a:t>q</a:t>
            </a:r>
            <a:r>
              <a:rPr lang="en-US" sz="1800" baseline="-25000" dirty="0">
                <a:latin typeface="Tahoma" pitchFamily="34" charset="0"/>
              </a:rPr>
              <a:t>1</a:t>
            </a:r>
          </a:p>
        </p:txBody>
      </p:sp>
      <p:sp>
        <p:nvSpPr>
          <p:cNvPr id="103443" name="Text Box 57"/>
          <p:cNvSpPr txBox="1">
            <a:spLocks noChangeArrowheads="1"/>
          </p:cNvSpPr>
          <p:nvPr/>
        </p:nvSpPr>
        <p:spPr bwMode="auto">
          <a:xfrm>
            <a:off x="3639186" y="3564891"/>
            <a:ext cx="4138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 i="1" dirty="0">
                <a:latin typeface="Tahoma" pitchFamily="34" charset="0"/>
              </a:rPr>
              <a:t>q</a:t>
            </a:r>
            <a:r>
              <a:rPr lang="en-US" sz="1800" baseline="-25000" dirty="0">
                <a:latin typeface="Tahoma" pitchFamily="34" charset="0"/>
              </a:rPr>
              <a:t>3</a:t>
            </a:r>
          </a:p>
        </p:txBody>
      </p:sp>
      <p:sp>
        <p:nvSpPr>
          <p:cNvPr id="103444" name="Text Box 58"/>
          <p:cNvSpPr txBox="1">
            <a:spLocks noChangeArrowheads="1"/>
          </p:cNvSpPr>
          <p:nvPr/>
        </p:nvSpPr>
        <p:spPr bwMode="auto">
          <a:xfrm>
            <a:off x="3851276" y="2809876"/>
            <a:ext cx="4138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 i="1" dirty="0">
                <a:latin typeface="Tahoma" pitchFamily="34" charset="0"/>
              </a:rPr>
              <a:t>q</a:t>
            </a:r>
            <a:r>
              <a:rPr lang="en-US" sz="1800" baseline="-25000" dirty="0">
                <a:latin typeface="Tahoma" pitchFamily="34" charset="0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1358" y="257175"/>
            <a:ext cx="201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+ Interpretation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ooter Placeholder 6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991761-C25F-4C86-966E-29198EE8A2BC}" type="slidenum">
              <a:rPr lang="en-US" sz="1100"/>
              <a:pPr>
                <a:defRPr/>
              </a:pPr>
              <a:t>31</a:t>
            </a:fld>
            <a:endParaRPr lang="en-US" sz="1100" dirty="0"/>
          </a:p>
        </p:txBody>
      </p:sp>
      <p:sp>
        <p:nvSpPr>
          <p:cNvPr id="104451" name="Text Box 4"/>
          <p:cNvSpPr txBox="1">
            <a:spLocks noChangeArrowheads="1"/>
          </p:cNvSpPr>
          <p:nvPr/>
        </p:nvSpPr>
        <p:spPr bwMode="auto">
          <a:xfrm>
            <a:off x="1349103" y="407025"/>
            <a:ext cx="59808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Interpretation of two-particle distribution function</a:t>
            </a:r>
          </a:p>
        </p:txBody>
      </p:sp>
      <p:sp>
        <p:nvSpPr>
          <p:cNvPr id="104452" name="Oval 5"/>
          <p:cNvSpPr>
            <a:spLocks noChangeArrowheads="1"/>
          </p:cNvSpPr>
          <p:nvPr/>
        </p:nvSpPr>
        <p:spPr bwMode="auto">
          <a:xfrm>
            <a:off x="7029451" y="1600201"/>
            <a:ext cx="131763" cy="9882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04453" name="Oval 6"/>
          <p:cNvSpPr>
            <a:spLocks noChangeArrowheads="1"/>
          </p:cNvSpPr>
          <p:nvPr/>
        </p:nvSpPr>
        <p:spPr bwMode="auto">
          <a:xfrm rot="207115">
            <a:off x="436563" y="1083469"/>
            <a:ext cx="8058150" cy="9048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04454" name="Line 7"/>
          <p:cNvSpPr>
            <a:spLocks noChangeShapeType="1"/>
          </p:cNvSpPr>
          <p:nvPr/>
        </p:nvSpPr>
        <p:spPr bwMode="auto">
          <a:xfrm flipV="1">
            <a:off x="7051675" y="1760935"/>
            <a:ext cx="2698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55" name="Line 8"/>
          <p:cNvSpPr>
            <a:spLocks noChangeShapeType="1"/>
          </p:cNvSpPr>
          <p:nvPr/>
        </p:nvSpPr>
        <p:spPr bwMode="auto">
          <a:xfrm flipH="1">
            <a:off x="7164389" y="1401366"/>
            <a:ext cx="376237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56" name="Line 9"/>
          <p:cNvSpPr>
            <a:spLocks noChangeShapeType="1"/>
          </p:cNvSpPr>
          <p:nvPr/>
        </p:nvSpPr>
        <p:spPr bwMode="auto">
          <a:xfrm>
            <a:off x="6713538" y="1381125"/>
            <a:ext cx="290512" cy="2059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57" name="Line 10"/>
          <p:cNvSpPr>
            <a:spLocks noChangeShapeType="1"/>
          </p:cNvSpPr>
          <p:nvPr/>
        </p:nvSpPr>
        <p:spPr bwMode="auto">
          <a:xfrm>
            <a:off x="6554789" y="1521619"/>
            <a:ext cx="434975" cy="130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58" name="Line 11"/>
          <p:cNvSpPr>
            <a:spLocks noChangeShapeType="1"/>
          </p:cNvSpPr>
          <p:nvPr/>
        </p:nvSpPr>
        <p:spPr bwMode="auto">
          <a:xfrm>
            <a:off x="6524625" y="1707356"/>
            <a:ext cx="45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59" name="Line 12"/>
          <p:cNvSpPr>
            <a:spLocks noChangeShapeType="1"/>
          </p:cNvSpPr>
          <p:nvPr/>
        </p:nvSpPr>
        <p:spPr bwMode="auto">
          <a:xfrm flipV="1">
            <a:off x="6626225" y="1750219"/>
            <a:ext cx="363538" cy="10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0" name="Line 13"/>
          <p:cNvSpPr>
            <a:spLocks noChangeShapeType="1"/>
          </p:cNvSpPr>
          <p:nvPr/>
        </p:nvSpPr>
        <p:spPr bwMode="auto">
          <a:xfrm flipH="1">
            <a:off x="7237413" y="1543050"/>
            <a:ext cx="508000" cy="1202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1" name="Line 14"/>
          <p:cNvSpPr>
            <a:spLocks noChangeShapeType="1"/>
          </p:cNvSpPr>
          <p:nvPr/>
        </p:nvSpPr>
        <p:spPr bwMode="auto">
          <a:xfrm flipH="1" flipV="1">
            <a:off x="7265988" y="1707356"/>
            <a:ext cx="406400" cy="107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2" name="Line 15"/>
          <p:cNvSpPr>
            <a:spLocks noChangeShapeType="1"/>
          </p:cNvSpPr>
          <p:nvPr/>
        </p:nvSpPr>
        <p:spPr bwMode="auto">
          <a:xfrm>
            <a:off x="7091364" y="1282304"/>
            <a:ext cx="14287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3" name="Line 16"/>
          <p:cNvSpPr>
            <a:spLocks noChangeShapeType="1"/>
          </p:cNvSpPr>
          <p:nvPr/>
        </p:nvSpPr>
        <p:spPr bwMode="auto">
          <a:xfrm flipH="1" flipV="1">
            <a:off x="7178675" y="1739504"/>
            <a:ext cx="247650" cy="217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4" name="Oval 17"/>
          <p:cNvSpPr>
            <a:spLocks noChangeArrowheads="1"/>
          </p:cNvSpPr>
          <p:nvPr/>
        </p:nvSpPr>
        <p:spPr bwMode="auto">
          <a:xfrm>
            <a:off x="3970338" y="4308872"/>
            <a:ext cx="131762" cy="9882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04465" name="Oval 18"/>
          <p:cNvSpPr>
            <a:spLocks noChangeArrowheads="1"/>
          </p:cNvSpPr>
          <p:nvPr/>
        </p:nvSpPr>
        <p:spPr bwMode="auto">
          <a:xfrm rot="1139415">
            <a:off x="606425" y="3550444"/>
            <a:ext cx="4718050" cy="950119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04466" name="Line 19"/>
          <p:cNvSpPr>
            <a:spLocks noChangeShapeType="1"/>
          </p:cNvSpPr>
          <p:nvPr/>
        </p:nvSpPr>
        <p:spPr bwMode="auto">
          <a:xfrm flipV="1">
            <a:off x="3992564" y="4469606"/>
            <a:ext cx="26987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7" name="Line 20"/>
          <p:cNvSpPr>
            <a:spLocks noChangeShapeType="1"/>
          </p:cNvSpPr>
          <p:nvPr/>
        </p:nvSpPr>
        <p:spPr bwMode="auto">
          <a:xfrm flipH="1">
            <a:off x="4105275" y="4110038"/>
            <a:ext cx="3762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8" name="Line 21"/>
          <p:cNvSpPr>
            <a:spLocks noChangeShapeType="1"/>
          </p:cNvSpPr>
          <p:nvPr/>
        </p:nvSpPr>
        <p:spPr bwMode="auto">
          <a:xfrm>
            <a:off x="3654426" y="4089797"/>
            <a:ext cx="290513" cy="2059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69" name="Line 22"/>
          <p:cNvSpPr>
            <a:spLocks noChangeShapeType="1"/>
          </p:cNvSpPr>
          <p:nvPr/>
        </p:nvSpPr>
        <p:spPr bwMode="auto">
          <a:xfrm>
            <a:off x="3495676" y="4230291"/>
            <a:ext cx="434975" cy="130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0" name="Line 23"/>
          <p:cNvSpPr>
            <a:spLocks noChangeShapeType="1"/>
          </p:cNvSpPr>
          <p:nvPr/>
        </p:nvSpPr>
        <p:spPr bwMode="auto">
          <a:xfrm>
            <a:off x="3465513" y="4416029"/>
            <a:ext cx="45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1" name="Line 24"/>
          <p:cNvSpPr>
            <a:spLocks noChangeShapeType="1"/>
          </p:cNvSpPr>
          <p:nvPr/>
        </p:nvSpPr>
        <p:spPr bwMode="auto">
          <a:xfrm flipV="1">
            <a:off x="3567114" y="4458891"/>
            <a:ext cx="363537" cy="10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2" name="Line 25"/>
          <p:cNvSpPr>
            <a:spLocks noChangeShapeType="1"/>
          </p:cNvSpPr>
          <p:nvPr/>
        </p:nvSpPr>
        <p:spPr bwMode="auto">
          <a:xfrm flipH="1">
            <a:off x="4178300" y="4251723"/>
            <a:ext cx="508000" cy="1202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3" name="Line 26"/>
          <p:cNvSpPr>
            <a:spLocks noChangeShapeType="1"/>
          </p:cNvSpPr>
          <p:nvPr/>
        </p:nvSpPr>
        <p:spPr bwMode="auto">
          <a:xfrm flipH="1" flipV="1">
            <a:off x="4206875" y="4416029"/>
            <a:ext cx="406400" cy="107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4" name="Line 27"/>
          <p:cNvSpPr>
            <a:spLocks noChangeShapeType="1"/>
          </p:cNvSpPr>
          <p:nvPr/>
        </p:nvSpPr>
        <p:spPr bwMode="auto">
          <a:xfrm>
            <a:off x="4032250" y="3990976"/>
            <a:ext cx="14288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5" name="Line 28"/>
          <p:cNvSpPr>
            <a:spLocks noChangeShapeType="1"/>
          </p:cNvSpPr>
          <p:nvPr/>
        </p:nvSpPr>
        <p:spPr bwMode="auto">
          <a:xfrm flipH="1" flipV="1">
            <a:off x="4119563" y="4448175"/>
            <a:ext cx="247650" cy="2178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6" name="Line 29"/>
          <p:cNvSpPr>
            <a:spLocks noChangeShapeType="1"/>
          </p:cNvSpPr>
          <p:nvPr/>
        </p:nvSpPr>
        <p:spPr bwMode="auto">
          <a:xfrm flipV="1">
            <a:off x="2062164" y="2899173"/>
            <a:ext cx="2422525" cy="848915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7" name="Line 30"/>
          <p:cNvSpPr>
            <a:spLocks noChangeShapeType="1"/>
          </p:cNvSpPr>
          <p:nvPr/>
        </p:nvSpPr>
        <p:spPr bwMode="auto">
          <a:xfrm flipV="1">
            <a:off x="4113214" y="2992041"/>
            <a:ext cx="492125" cy="1228725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8" name="Line 31"/>
          <p:cNvSpPr>
            <a:spLocks noChangeShapeType="1"/>
          </p:cNvSpPr>
          <p:nvPr/>
        </p:nvSpPr>
        <p:spPr bwMode="auto">
          <a:xfrm flipH="1" flipV="1">
            <a:off x="2187575" y="1493044"/>
            <a:ext cx="2281238" cy="124063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79" name="Line 32"/>
          <p:cNvSpPr>
            <a:spLocks noChangeShapeType="1"/>
          </p:cNvSpPr>
          <p:nvPr/>
        </p:nvSpPr>
        <p:spPr bwMode="auto">
          <a:xfrm flipV="1">
            <a:off x="4864100" y="1724026"/>
            <a:ext cx="2032000" cy="101203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grpSp>
        <p:nvGrpSpPr>
          <p:cNvPr id="104480" name="Group 33"/>
          <p:cNvGrpSpPr>
            <a:grpSpLocks/>
          </p:cNvGrpSpPr>
          <p:nvPr/>
        </p:nvGrpSpPr>
        <p:grpSpPr bwMode="auto">
          <a:xfrm>
            <a:off x="3271839" y="2371725"/>
            <a:ext cx="2860675" cy="850106"/>
            <a:chOff x="1798" y="1375"/>
            <a:chExt cx="1802" cy="714"/>
          </a:xfrm>
        </p:grpSpPr>
        <p:sp>
          <p:nvSpPr>
            <p:cNvPr id="104504" name="Oval 34"/>
            <p:cNvSpPr>
              <a:spLocks noChangeArrowheads="1"/>
            </p:cNvSpPr>
            <p:nvPr/>
          </p:nvSpPr>
          <p:spPr bwMode="auto">
            <a:xfrm>
              <a:off x="1798" y="1375"/>
              <a:ext cx="1802" cy="71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grpSp>
          <p:nvGrpSpPr>
            <p:cNvPr id="104505" name="Group 35"/>
            <p:cNvGrpSpPr>
              <a:grpSpLocks/>
            </p:cNvGrpSpPr>
            <p:nvPr/>
          </p:nvGrpSpPr>
          <p:grpSpPr bwMode="auto">
            <a:xfrm>
              <a:off x="2284" y="1394"/>
              <a:ext cx="888" cy="677"/>
              <a:chOff x="2503" y="1476"/>
              <a:chExt cx="888" cy="677"/>
            </a:xfrm>
          </p:grpSpPr>
          <p:sp>
            <p:nvSpPr>
              <p:cNvPr id="104506" name="Oval 36"/>
              <p:cNvSpPr>
                <a:spLocks noChangeArrowheads="1"/>
              </p:cNvSpPr>
              <p:nvPr/>
            </p:nvSpPr>
            <p:spPr bwMode="auto">
              <a:xfrm>
                <a:off x="2818" y="1774"/>
                <a:ext cx="83" cy="83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04507" name="Oval 37"/>
              <p:cNvSpPr>
                <a:spLocks noChangeArrowheads="1"/>
              </p:cNvSpPr>
              <p:nvPr/>
            </p:nvSpPr>
            <p:spPr bwMode="auto">
              <a:xfrm>
                <a:off x="2949" y="1771"/>
                <a:ext cx="83" cy="83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104508" name="Line 38"/>
              <p:cNvSpPr>
                <a:spLocks noChangeShapeType="1"/>
              </p:cNvSpPr>
              <p:nvPr/>
            </p:nvSpPr>
            <p:spPr bwMode="auto">
              <a:xfrm flipH="1">
                <a:off x="3034" y="1577"/>
                <a:ext cx="237" cy="2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09" name="Line 39"/>
              <p:cNvSpPr>
                <a:spLocks noChangeShapeType="1"/>
              </p:cNvSpPr>
              <p:nvPr/>
            </p:nvSpPr>
            <p:spPr bwMode="auto">
              <a:xfrm>
                <a:off x="2660" y="1505"/>
                <a:ext cx="20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0" name="Line 40"/>
              <p:cNvSpPr>
                <a:spLocks noChangeShapeType="1"/>
              </p:cNvSpPr>
              <p:nvPr/>
            </p:nvSpPr>
            <p:spPr bwMode="auto">
              <a:xfrm>
                <a:off x="2504" y="1697"/>
                <a:ext cx="274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1" name="Line 41"/>
              <p:cNvSpPr>
                <a:spLocks noChangeShapeType="1"/>
              </p:cNvSpPr>
              <p:nvPr/>
            </p:nvSpPr>
            <p:spPr bwMode="auto">
              <a:xfrm flipV="1">
                <a:off x="2503" y="1861"/>
                <a:ext cx="30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2" name="Line 42"/>
              <p:cNvSpPr>
                <a:spLocks noChangeShapeType="1"/>
              </p:cNvSpPr>
              <p:nvPr/>
            </p:nvSpPr>
            <p:spPr bwMode="auto">
              <a:xfrm flipV="1">
                <a:off x="2677" y="1897"/>
                <a:ext cx="165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3" name="Line 43"/>
              <p:cNvSpPr>
                <a:spLocks noChangeShapeType="1"/>
              </p:cNvSpPr>
              <p:nvPr/>
            </p:nvSpPr>
            <p:spPr bwMode="auto">
              <a:xfrm flipH="1">
                <a:off x="3080" y="1723"/>
                <a:ext cx="311" cy="1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4" name="Line 44"/>
              <p:cNvSpPr>
                <a:spLocks noChangeShapeType="1"/>
              </p:cNvSpPr>
              <p:nvPr/>
            </p:nvSpPr>
            <p:spPr bwMode="auto">
              <a:xfrm flipH="1" flipV="1">
                <a:off x="3098" y="1861"/>
                <a:ext cx="292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5" name="Line 45"/>
              <p:cNvSpPr>
                <a:spLocks noChangeShapeType="1"/>
              </p:cNvSpPr>
              <p:nvPr/>
            </p:nvSpPr>
            <p:spPr bwMode="auto">
              <a:xfrm>
                <a:off x="2988" y="1476"/>
                <a:ext cx="9" cy="2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6" name="Line 46"/>
              <p:cNvSpPr>
                <a:spLocks noChangeShapeType="1"/>
              </p:cNvSpPr>
              <p:nvPr/>
            </p:nvSpPr>
            <p:spPr bwMode="auto">
              <a:xfrm flipH="1" flipV="1">
                <a:off x="2961" y="1888"/>
                <a:ext cx="27" cy="2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04517" name="Line 47"/>
              <p:cNvSpPr>
                <a:spLocks noChangeShapeType="1"/>
              </p:cNvSpPr>
              <p:nvPr/>
            </p:nvSpPr>
            <p:spPr bwMode="auto">
              <a:xfrm flipH="1" flipV="1">
                <a:off x="3043" y="1888"/>
                <a:ext cx="147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</p:grpSp>
      <p:sp>
        <p:nvSpPr>
          <p:cNvPr id="104481" name="Oval 48"/>
          <p:cNvSpPr>
            <a:spLocks noChangeArrowheads="1"/>
          </p:cNvSpPr>
          <p:nvPr/>
        </p:nvSpPr>
        <p:spPr bwMode="auto">
          <a:xfrm>
            <a:off x="1939926" y="1351360"/>
            <a:ext cx="131763" cy="9882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04482" name="Line 49"/>
          <p:cNvSpPr>
            <a:spLocks noChangeShapeType="1"/>
          </p:cNvSpPr>
          <p:nvPr/>
        </p:nvSpPr>
        <p:spPr bwMode="auto">
          <a:xfrm flipV="1">
            <a:off x="1962150" y="1512094"/>
            <a:ext cx="2698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83" name="Line 50"/>
          <p:cNvSpPr>
            <a:spLocks noChangeShapeType="1"/>
          </p:cNvSpPr>
          <p:nvPr/>
        </p:nvSpPr>
        <p:spPr bwMode="auto">
          <a:xfrm flipH="1">
            <a:off x="2074864" y="1152525"/>
            <a:ext cx="376237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84" name="Line 51"/>
          <p:cNvSpPr>
            <a:spLocks noChangeShapeType="1"/>
          </p:cNvSpPr>
          <p:nvPr/>
        </p:nvSpPr>
        <p:spPr bwMode="auto">
          <a:xfrm>
            <a:off x="1624013" y="1132285"/>
            <a:ext cx="290512" cy="2059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85" name="Line 52"/>
          <p:cNvSpPr>
            <a:spLocks noChangeShapeType="1"/>
          </p:cNvSpPr>
          <p:nvPr/>
        </p:nvSpPr>
        <p:spPr bwMode="auto">
          <a:xfrm>
            <a:off x="1465264" y="1272779"/>
            <a:ext cx="434975" cy="130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86" name="Line 53"/>
          <p:cNvSpPr>
            <a:spLocks noChangeShapeType="1"/>
          </p:cNvSpPr>
          <p:nvPr/>
        </p:nvSpPr>
        <p:spPr bwMode="auto">
          <a:xfrm>
            <a:off x="1435100" y="1458516"/>
            <a:ext cx="45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87" name="Line 54"/>
          <p:cNvSpPr>
            <a:spLocks noChangeShapeType="1"/>
          </p:cNvSpPr>
          <p:nvPr/>
        </p:nvSpPr>
        <p:spPr bwMode="auto">
          <a:xfrm flipV="1">
            <a:off x="1536700" y="1501378"/>
            <a:ext cx="363538" cy="10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88" name="Line 55"/>
          <p:cNvSpPr>
            <a:spLocks noChangeShapeType="1"/>
          </p:cNvSpPr>
          <p:nvPr/>
        </p:nvSpPr>
        <p:spPr bwMode="auto">
          <a:xfrm flipH="1">
            <a:off x="2147888" y="1294210"/>
            <a:ext cx="508000" cy="1202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89" name="Line 56"/>
          <p:cNvSpPr>
            <a:spLocks noChangeShapeType="1"/>
          </p:cNvSpPr>
          <p:nvPr/>
        </p:nvSpPr>
        <p:spPr bwMode="auto">
          <a:xfrm flipH="1" flipV="1">
            <a:off x="2176463" y="1458517"/>
            <a:ext cx="406400" cy="107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0" name="Line 57"/>
          <p:cNvSpPr>
            <a:spLocks noChangeShapeType="1"/>
          </p:cNvSpPr>
          <p:nvPr/>
        </p:nvSpPr>
        <p:spPr bwMode="auto">
          <a:xfrm>
            <a:off x="2001839" y="1033463"/>
            <a:ext cx="14287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1" name="Line 58"/>
          <p:cNvSpPr>
            <a:spLocks noChangeShapeType="1"/>
          </p:cNvSpPr>
          <p:nvPr/>
        </p:nvSpPr>
        <p:spPr bwMode="auto">
          <a:xfrm flipH="1" flipV="1">
            <a:off x="2089150" y="1490663"/>
            <a:ext cx="247650" cy="2178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2" name="Oval 59"/>
          <p:cNvSpPr>
            <a:spLocks noChangeArrowheads="1"/>
          </p:cNvSpPr>
          <p:nvPr/>
        </p:nvSpPr>
        <p:spPr bwMode="auto">
          <a:xfrm>
            <a:off x="1838326" y="3736182"/>
            <a:ext cx="131763" cy="9882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04493" name="Line 60"/>
          <p:cNvSpPr>
            <a:spLocks noChangeShapeType="1"/>
          </p:cNvSpPr>
          <p:nvPr/>
        </p:nvSpPr>
        <p:spPr bwMode="auto">
          <a:xfrm flipV="1">
            <a:off x="1860550" y="3896916"/>
            <a:ext cx="2698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4" name="Line 61"/>
          <p:cNvSpPr>
            <a:spLocks noChangeShapeType="1"/>
          </p:cNvSpPr>
          <p:nvPr/>
        </p:nvSpPr>
        <p:spPr bwMode="auto">
          <a:xfrm flipH="1">
            <a:off x="1973264" y="3537347"/>
            <a:ext cx="376237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5" name="Line 62"/>
          <p:cNvSpPr>
            <a:spLocks noChangeShapeType="1"/>
          </p:cNvSpPr>
          <p:nvPr/>
        </p:nvSpPr>
        <p:spPr bwMode="auto">
          <a:xfrm>
            <a:off x="1522413" y="3517106"/>
            <a:ext cx="290512" cy="2059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6" name="Line 63"/>
          <p:cNvSpPr>
            <a:spLocks noChangeShapeType="1"/>
          </p:cNvSpPr>
          <p:nvPr/>
        </p:nvSpPr>
        <p:spPr bwMode="auto">
          <a:xfrm>
            <a:off x="1363664" y="3657600"/>
            <a:ext cx="434975" cy="130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7" name="Line 64"/>
          <p:cNvSpPr>
            <a:spLocks noChangeShapeType="1"/>
          </p:cNvSpPr>
          <p:nvPr/>
        </p:nvSpPr>
        <p:spPr bwMode="auto">
          <a:xfrm>
            <a:off x="1333500" y="3843338"/>
            <a:ext cx="45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8" name="Line 65"/>
          <p:cNvSpPr>
            <a:spLocks noChangeShapeType="1"/>
          </p:cNvSpPr>
          <p:nvPr/>
        </p:nvSpPr>
        <p:spPr bwMode="auto">
          <a:xfrm flipV="1">
            <a:off x="1435100" y="3886200"/>
            <a:ext cx="363538" cy="109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499" name="Line 66"/>
          <p:cNvSpPr>
            <a:spLocks noChangeShapeType="1"/>
          </p:cNvSpPr>
          <p:nvPr/>
        </p:nvSpPr>
        <p:spPr bwMode="auto">
          <a:xfrm flipH="1">
            <a:off x="2046288" y="3679031"/>
            <a:ext cx="508000" cy="1202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500" name="Line 67"/>
          <p:cNvSpPr>
            <a:spLocks noChangeShapeType="1"/>
          </p:cNvSpPr>
          <p:nvPr/>
        </p:nvSpPr>
        <p:spPr bwMode="auto">
          <a:xfrm flipH="1" flipV="1">
            <a:off x="2074863" y="3843338"/>
            <a:ext cx="406400" cy="107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501" name="Line 68"/>
          <p:cNvSpPr>
            <a:spLocks noChangeShapeType="1"/>
          </p:cNvSpPr>
          <p:nvPr/>
        </p:nvSpPr>
        <p:spPr bwMode="auto">
          <a:xfrm>
            <a:off x="1900239" y="3418285"/>
            <a:ext cx="14287" cy="2500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4502" name="Line 69"/>
          <p:cNvSpPr>
            <a:spLocks noChangeShapeType="1"/>
          </p:cNvSpPr>
          <p:nvPr/>
        </p:nvSpPr>
        <p:spPr bwMode="auto">
          <a:xfrm flipH="1" flipV="1">
            <a:off x="1987550" y="3875485"/>
            <a:ext cx="247650" cy="217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4" name="Notched Right Arrow 3"/>
          <p:cNvSpPr/>
          <p:nvPr/>
        </p:nvSpPr>
        <p:spPr>
          <a:xfrm>
            <a:off x="6797040" y="2987040"/>
            <a:ext cx="978408" cy="484632"/>
          </a:xfrm>
          <a:prstGeom prst="notchedRightArrow">
            <a:avLst/>
          </a:prstGeom>
        </p:spPr>
        <p:txBody>
          <a:bodyPr wrap="square" rtlCol="0" anchor="ctr">
            <a:spAutoFit/>
          </a:bodyPr>
          <a:lstStyle/>
          <a:p>
            <a:pPr algn="ctr" eaLnBrk="0" hangingPunct="0"/>
            <a:endParaRPr lang="en-US" sz="2000" dirty="0">
              <a:latin typeface="Tahoma" pitchFamily="34" charset="0"/>
            </a:endParaRPr>
          </a:p>
        </p:txBody>
      </p:sp>
      <p:sp>
        <p:nvSpPr>
          <p:cNvPr id="74" name="Right Arrow 73"/>
          <p:cNvSpPr/>
          <p:nvPr/>
        </p:nvSpPr>
        <p:spPr>
          <a:xfrm rot="1257215">
            <a:off x="6478578" y="3359105"/>
            <a:ext cx="978408" cy="484632"/>
          </a:xfrm>
          <a:prstGeom prst="rightArrow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 eaLnBrk="0" hangingPunct="0"/>
            <a:endParaRPr lang="en-US" sz="2000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32</a:t>
            </a:fld>
            <a:endParaRPr 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994230" y="177982"/>
            <a:ext cx="7855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+ Define time averages to average out irrelevant short time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dynamical behavior</a:t>
            </a:r>
          </a:p>
        </p:txBody>
      </p:sp>
      <p:graphicFrame>
        <p:nvGraphicFramePr>
          <p:cNvPr id="1187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456716"/>
              </p:ext>
            </p:extLst>
          </p:nvPr>
        </p:nvGraphicFramePr>
        <p:xfrm>
          <a:off x="1666239" y="731366"/>
          <a:ext cx="4092499" cy="1665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91" name="Equation" r:id="rId3" imgW="2171520" imgH="939600" progId="Equation.DSMT4">
                  <p:embed/>
                </p:oleObj>
              </mc:Choice>
              <mc:Fallback>
                <p:oleObj name="Equation" r:id="rId3" imgW="2171520" imgH="93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239" y="731366"/>
                        <a:ext cx="4092499" cy="1665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604836"/>
              </p:ext>
            </p:extLst>
          </p:nvPr>
        </p:nvGraphicFramePr>
        <p:xfrm>
          <a:off x="793100" y="2645686"/>
          <a:ext cx="7917365" cy="1788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92" name="Equation" r:id="rId5" imgW="4101840" imgH="1130040" progId="Equation.DSMT4">
                  <p:embed/>
                </p:oleObj>
              </mc:Choice>
              <mc:Fallback>
                <p:oleObj name="Equation" r:id="rId5" imgW="4101840" imgH="1130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00" y="2645686"/>
                        <a:ext cx="7917365" cy="17883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39902" y="4140650"/>
            <a:ext cx="4797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</a:t>
            </a:r>
            <a:r>
              <a:rPr lang="en-US" sz="2000" dirty="0">
                <a:latin typeface="Wingdings" pitchFamily="2" charset="2"/>
                <a:ea typeface="Tahoma" pitchFamily="34" charset="0"/>
                <a:cs typeface="Tahoma" pitchFamily="34" charset="0"/>
              </a:rPr>
              <a:t>s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Neglect higher order collision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5462" y="2245576"/>
            <a:ext cx="5403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- Apply to single-and two-particle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84800" y="1066800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Neglecting gradients over</a:t>
            </a:r>
          </a:p>
          <a:p>
            <a:r>
              <a:rPr lang="en-US" sz="1800" dirty="0"/>
              <a:t>intermolecular forces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730675" y="4405504"/>
            <a:ext cx="4085895" cy="491180"/>
            <a:chOff x="1730675" y="4405504"/>
            <a:chExt cx="4085895" cy="491180"/>
          </a:xfrm>
        </p:grpSpPr>
        <p:sp>
          <p:nvSpPr>
            <p:cNvPr id="6" name="Rectangle 5"/>
            <p:cNvSpPr/>
            <p:nvPr/>
          </p:nvSpPr>
          <p:spPr>
            <a:xfrm>
              <a:off x="1881518" y="4405504"/>
              <a:ext cx="393505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dirty="0" err="1">
                  <a:latin typeface="Symbol" panose="05050102010706020507" pitchFamily="18" charset="2"/>
                  <a:ea typeface="Tahoma" pitchFamily="34" charset="0"/>
                  <a:cs typeface="Tahoma" pitchFamily="34" charset="0"/>
                </a:rPr>
                <a:t>t</a:t>
              </a:r>
              <a:r>
                <a:rPr lang="en-US" baseline="-25000" dirty="0" err="1">
                  <a:latin typeface="Tahoma" pitchFamily="34" charset="0"/>
                  <a:ea typeface="Tahoma" pitchFamily="34" charset="0"/>
                  <a:cs typeface="Tahoma" pitchFamily="34" charset="0"/>
                </a:rPr>
                <a:t>Collision</a:t>
              </a:r>
              <a:r>
                <a:rPr lang="en-US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kern="3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&lt;</a:t>
              </a:r>
              <a:r>
                <a:rPr lang="en-US" i="1" kern="300" dirty="0">
                  <a:latin typeface="Symbol" panose="05050102010706020507" pitchFamily="18" charset="2"/>
                  <a:ea typeface="Tahoma" pitchFamily="34" charset="0"/>
                  <a:cs typeface="Tahoma" pitchFamily="34" charset="0"/>
                </a:rPr>
                <a:t>t</a:t>
              </a:r>
              <a:r>
                <a:rPr lang="en-US" kern="3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&lt;</a:t>
              </a:r>
              <a:r>
                <a:rPr lang="en-US" i="1" kern="300" dirty="0">
                  <a:latin typeface="Symbol" panose="05050102010706020507" pitchFamily="18" charset="2"/>
                  <a:ea typeface="Tahoma" pitchFamily="34" charset="0"/>
                  <a:cs typeface="Tahoma" pitchFamily="34" charset="0"/>
                </a:rPr>
                <a:t> t </a:t>
              </a:r>
              <a:r>
                <a:rPr lang="en-US" baseline="-250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Between Collisions</a:t>
              </a:r>
              <a:r>
                <a:rPr lang="en-US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30675" y="4496574"/>
              <a:ext cx="3016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Wingdings" pitchFamily="2" charset="2"/>
                </a:rPr>
                <a:t>s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33</a:t>
            </a:fld>
            <a:endParaRPr lang="en-US" sz="1100" dirty="0"/>
          </a:p>
        </p:txBody>
      </p: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2553629" y="793976"/>
          <a:ext cx="3546088" cy="763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44" name="Equation" r:id="rId3" imgW="1854000" imgH="482400" progId="Equation.DSMT4">
                  <p:embed/>
                </p:oleObj>
              </mc:Choice>
              <mc:Fallback>
                <p:oleObj name="Equation" r:id="rId3" imgW="1854000" imgH="482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629" y="793976"/>
                        <a:ext cx="3546088" cy="7631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1654" y="371502"/>
            <a:ext cx="6499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+ Evaluation of RHS of single-particle distribution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eqn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1249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688482"/>
              </p:ext>
            </p:extLst>
          </p:nvPr>
        </p:nvGraphicFramePr>
        <p:xfrm>
          <a:off x="717868" y="1532255"/>
          <a:ext cx="7916862" cy="351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45" name="Equation" r:id="rId5" imgW="3771720" imgH="1955520" progId="Equation.DSMT4">
                  <p:embed/>
                </p:oleObj>
              </mc:Choice>
              <mc:Fallback>
                <p:oleObj name="Equation" r:id="rId5" imgW="3771720" imgH="19555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68" y="1532255"/>
                        <a:ext cx="7916862" cy="351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5811520" y="1849120"/>
            <a:ext cx="2586355" cy="960120"/>
            <a:chOff x="5811520" y="1849120"/>
            <a:chExt cx="2586355" cy="960120"/>
          </a:xfrm>
        </p:grpSpPr>
        <p:graphicFrame>
          <p:nvGraphicFramePr>
            <p:cNvPr id="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4063741"/>
                </p:ext>
              </p:extLst>
            </p:nvPr>
          </p:nvGraphicFramePr>
          <p:xfrm>
            <a:off x="6340475" y="2066290"/>
            <a:ext cx="2057400" cy="742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46" name="Equation" r:id="rId7" imgW="1091880" imgH="419040" progId="Equation.DSMT4">
                    <p:embed/>
                  </p:oleObj>
                </mc:Choice>
                <mc:Fallback>
                  <p:oleObj name="Equation" r:id="rId7" imgW="109188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40475" y="2066290"/>
                          <a:ext cx="2057400" cy="742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" name="Straight Arrow Connector 5"/>
            <p:cNvCxnSpPr/>
            <p:nvPr/>
          </p:nvCxnSpPr>
          <p:spPr>
            <a:xfrm>
              <a:off x="5811520" y="1849120"/>
              <a:ext cx="650240" cy="52832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34</a:t>
            </a:fld>
            <a:endParaRPr lang="en-US" sz="1100" dirty="0"/>
          </a:p>
        </p:txBody>
      </p:sp>
      <p:graphicFrame>
        <p:nvGraphicFramePr>
          <p:cNvPr id="1259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734202"/>
              </p:ext>
            </p:extLst>
          </p:nvPr>
        </p:nvGraphicFramePr>
        <p:xfrm>
          <a:off x="1257114" y="1351281"/>
          <a:ext cx="6869151" cy="825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65" name="Equation" r:id="rId3" imgW="3479760" imgH="482400" progId="Equation.DSMT4">
                  <p:embed/>
                </p:oleObj>
              </mc:Choice>
              <mc:Fallback>
                <p:oleObj name="Equation" r:id="rId3" imgW="3479760" imgH="482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114" y="1351281"/>
                        <a:ext cx="6869151" cy="825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908451"/>
              </p:ext>
            </p:extLst>
          </p:nvPr>
        </p:nvGraphicFramePr>
        <p:xfrm>
          <a:off x="2043430" y="2944813"/>
          <a:ext cx="59213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66" name="Equation" r:id="rId5" imgW="2984400" imgH="1041120" progId="Equation.DSMT4">
                  <p:embed/>
                </p:oleObj>
              </mc:Choice>
              <mc:Fallback>
                <p:oleObj name="Equation" r:id="rId5" imgW="2984400" imgH="1041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430" y="2944813"/>
                        <a:ext cx="5921375" cy="1749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15193" y="2288749"/>
            <a:ext cx="6008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Then, performing the exact integration over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/>
              <a:t> gives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83575" y="797680"/>
            <a:ext cx="3355225" cy="495300"/>
            <a:chOff x="1322615" y="562346"/>
            <a:chExt cx="3355225" cy="660400"/>
          </a:xfrm>
        </p:grpSpPr>
        <p:sp>
          <p:nvSpPr>
            <p:cNvPr id="7" name="TextBox 6"/>
            <p:cNvSpPr txBox="1"/>
            <p:nvPr/>
          </p:nvSpPr>
          <p:spPr>
            <a:xfrm>
              <a:off x="1322615" y="620486"/>
              <a:ext cx="2007281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 Continuing for </a:t>
              </a:r>
            </a:p>
          </p:txBody>
        </p:sp>
        <p:graphicFrame>
          <p:nvGraphicFramePr>
            <p:cNvPr id="12595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5671738"/>
                </p:ext>
              </p:extLst>
            </p:nvPr>
          </p:nvGraphicFramePr>
          <p:xfrm>
            <a:off x="3209402" y="562346"/>
            <a:ext cx="1468438" cy="660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667" name="Equation" r:id="rId7" imgW="660240" imgH="279360" progId="Equation.DSMT4">
                    <p:embed/>
                  </p:oleObj>
                </mc:Choice>
                <mc:Fallback>
                  <p:oleObj name="Equation" r:id="rId7" imgW="660240" imgH="2793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9402" y="562346"/>
                          <a:ext cx="1468438" cy="660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35</a:t>
            </a:fld>
            <a:endParaRPr lang="en-US" sz="1100" dirty="0"/>
          </a:p>
        </p:txBody>
      </p:sp>
      <p:graphicFrame>
        <p:nvGraphicFramePr>
          <p:cNvPr id="1198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246611"/>
              </p:ext>
            </p:extLst>
          </p:nvPr>
        </p:nvGraphicFramePr>
        <p:xfrm>
          <a:off x="1855470" y="1154430"/>
          <a:ext cx="5732463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6" name="Equation" r:id="rId3" imgW="3060360" imgH="1498320" progId="Equation.DSMT4">
                  <p:embed/>
                </p:oleObj>
              </mc:Choice>
              <mc:Fallback>
                <p:oleObj name="Equation" r:id="rId3" imgW="3060360" imgH="14983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470" y="1154430"/>
                        <a:ext cx="5732463" cy="2444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51131" y="677183"/>
            <a:ext cx="4651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+ Solve for the two-particle distribution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513840" y="3495040"/>
            <a:ext cx="55662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Note that with high order collisions neglected 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857433"/>
              </p:ext>
            </p:extLst>
          </p:nvPr>
        </p:nvGraphicFramePr>
        <p:xfrm>
          <a:off x="2562225" y="3938588"/>
          <a:ext cx="32559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7" name="Equation" r:id="rId5" imgW="1726920" imgH="253800" progId="Equation.DSMT4">
                  <p:embed/>
                </p:oleObj>
              </mc:Choice>
              <mc:Fallback>
                <p:oleObj name="Equation" r:id="rId5" imgW="1726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3938588"/>
                        <a:ext cx="325596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666240" y="4378960"/>
            <a:ext cx="3352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since satisfies the same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eqn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779479"/>
              </p:ext>
            </p:extLst>
          </p:nvPr>
        </p:nvGraphicFramePr>
        <p:xfrm>
          <a:off x="899728" y="3374053"/>
          <a:ext cx="7359806" cy="1687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54" name="Equation" r:id="rId3" imgW="3898800" imgH="1066680" progId="Equation.DSMT4">
                  <p:embed/>
                </p:oleObj>
              </mc:Choice>
              <mc:Fallback>
                <p:oleObj name="Equation" r:id="rId3" imgW="3898800" imgH="1066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728" y="3374053"/>
                        <a:ext cx="7359806" cy="1687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347499"/>
              </p:ext>
            </p:extLst>
          </p:nvPr>
        </p:nvGraphicFramePr>
        <p:xfrm>
          <a:off x="1417386" y="619377"/>
          <a:ext cx="6626225" cy="221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55" name="Equation" r:id="rId5" imgW="3340080" imgH="1320480" progId="Equation.DSMT4">
                  <p:embed/>
                </p:oleObj>
              </mc:Choice>
              <mc:Fallback>
                <p:oleObj name="Equation" r:id="rId5" imgW="3340080" imgH="1320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386" y="619377"/>
                        <a:ext cx="6626225" cy="2214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995680" y="200343"/>
            <a:ext cx="5193348" cy="458470"/>
            <a:chOff x="1219200" y="820103"/>
            <a:chExt cx="5193348" cy="458470"/>
          </a:xfrm>
        </p:grpSpPr>
        <p:grpSp>
          <p:nvGrpSpPr>
            <p:cNvPr id="7" name="Group 6"/>
            <p:cNvGrpSpPr/>
            <p:nvPr/>
          </p:nvGrpSpPr>
          <p:grpSpPr>
            <a:xfrm>
              <a:off x="1219200" y="829310"/>
              <a:ext cx="5193348" cy="449263"/>
              <a:chOff x="1270000" y="1093470"/>
              <a:chExt cx="5193348" cy="449263"/>
            </a:xfrm>
          </p:grpSpPr>
          <p:sp>
            <p:nvSpPr>
              <p:cNvPr id="5" name="TextBox 4"/>
              <p:cNvSpPr txBox="1"/>
              <p:nvPr/>
            </p:nvSpPr>
            <p:spPr bwMode="auto">
              <a:xfrm>
                <a:off x="1270000" y="1097280"/>
                <a:ext cx="486646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rtlCol="0">
                <a:spAutoFit/>
              </a:bodyPr>
              <a:lstStyle/>
              <a:p>
                <a:pPr eaLnBrk="0" hangingPunct="0"/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+ On introduction of          into </a:t>
                </a:r>
                <a:r>
                  <a:rPr lang="en-US" sz="2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eqn</a:t>
                </a:r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for </a:t>
                </a:r>
              </a:p>
            </p:txBody>
          </p:sp>
          <p:graphicFrame>
            <p:nvGraphicFramePr>
              <p:cNvPr id="6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17188229"/>
                  </p:ext>
                </p:extLst>
              </p:nvPr>
            </p:nvGraphicFramePr>
            <p:xfrm>
              <a:off x="5814060" y="1093470"/>
              <a:ext cx="649288" cy="449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956" name="Equation" r:id="rId7" imgW="291960" imgH="253800" progId="Equation.DSMT4">
                      <p:embed/>
                    </p:oleObj>
                  </mc:Choice>
                  <mc:Fallback>
                    <p:oleObj name="Equation" r:id="rId7" imgW="29196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14060" y="1093470"/>
                            <a:ext cx="649288" cy="449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5232616"/>
                </p:ext>
              </p:extLst>
            </p:nvPr>
          </p:nvGraphicFramePr>
          <p:xfrm>
            <a:off x="3665538" y="820103"/>
            <a:ext cx="677862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57" name="Equation" r:id="rId9" imgW="304560" imgH="253800" progId="Equation.DSMT4">
                    <p:embed/>
                  </p:oleObj>
                </mc:Choice>
                <mc:Fallback>
                  <p:oleObj name="Equation" r:id="rId9" imgW="3045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5538" y="820103"/>
                          <a:ext cx="677862" cy="450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2"/>
          <p:cNvGrpSpPr/>
          <p:nvPr/>
        </p:nvGrpSpPr>
        <p:grpSpPr>
          <a:xfrm>
            <a:off x="1403914" y="2901263"/>
            <a:ext cx="6603890" cy="400110"/>
            <a:chOff x="1464874" y="2972383"/>
            <a:chExt cx="6603890" cy="400110"/>
          </a:xfrm>
        </p:grpSpPr>
        <p:graphicFrame>
          <p:nvGraphicFramePr>
            <p:cNvPr id="11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8649797"/>
                </p:ext>
              </p:extLst>
            </p:nvPr>
          </p:nvGraphicFramePr>
          <p:xfrm>
            <a:off x="7117852" y="3000093"/>
            <a:ext cx="950912" cy="3607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58" name="Equation" r:id="rId11" imgW="431640" imgH="228600" progId="Equation.DSMT4">
                    <p:embed/>
                  </p:oleObj>
                </mc:Choice>
                <mc:Fallback>
                  <p:oleObj name="Equation" r:id="rId11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7852" y="3000093"/>
                          <a:ext cx="950912" cy="3607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1464874" y="2972383"/>
              <a:ext cx="57551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 Point of collision same before and after collision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939280" y="731520"/>
            <a:ext cx="930811" cy="792480"/>
            <a:chOff x="6939280" y="731520"/>
            <a:chExt cx="930811" cy="792480"/>
          </a:xfrm>
        </p:grpSpPr>
        <p:cxnSp>
          <p:nvCxnSpPr>
            <p:cNvPr id="16" name="Straight Connector 15"/>
            <p:cNvCxnSpPr/>
            <p:nvPr/>
          </p:nvCxnSpPr>
          <p:spPr>
            <a:xfrm flipV="1">
              <a:off x="6939280" y="1046480"/>
              <a:ext cx="568960" cy="4775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7223760" y="73152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after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487920" y="2753360"/>
            <a:ext cx="1326371" cy="369332"/>
            <a:chOff x="7487920" y="2753360"/>
            <a:chExt cx="1326371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7975600" y="2753360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before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7487920" y="2753360"/>
              <a:ext cx="518160" cy="172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841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37</a:t>
            </a:fld>
            <a:endParaRPr 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967283" y="400366"/>
            <a:ext cx="5019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 Assumption of molecular chaos (closure)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106" y="726467"/>
            <a:ext cx="53030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Pre- collision (significantly before collision)</a:t>
            </a:r>
          </a:p>
        </p:txBody>
      </p:sp>
      <p:graphicFrame>
        <p:nvGraphicFramePr>
          <p:cNvPr id="129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383318"/>
              </p:ext>
            </p:extLst>
          </p:nvPr>
        </p:nvGraphicFramePr>
        <p:xfrm>
          <a:off x="1805506" y="1259840"/>
          <a:ext cx="5784147" cy="46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66" name="Equation" r:id="rId3" imgW="2997000" imgH="279360" progId="Equation.DSMT4">
                  <p:embed/>
                </p:oleObj>
              </mc:Choice>
              <mc:Fallback>
                <p:oleObj name="Equation" r:id="rId3" imgW="299700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506" y="1259840"/>
                        <a:ext cx="5784147" cy="4675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51981"/>
              </p:ext>
            </p:extLst>
          </p:nvPr>
        </p:nvGraphicFramePr>
        <p:xfrm>
          <a:off x="1958791" y="3526366"/>
          <a:ext cx="56308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67" name="Equation" r:id="rId5" imgW="2743200" imgH="558720" progId="Equation.DSMT4">
                  <p:embed/>
                </p:oleObj>
              </mc:Choice>
              <mc:Fallback>
                <p:oleObj name="Equation" r:id="rId5" imgW="2743200" imgH="5587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791" y="3526366"/>
                        <a:ext cx="5630862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483360" y="1818640"/>
            <a:ext cx="68747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Neglect correlation between colliding particles</a:t>
            </a:r>
          </a:p>
          <a:p>
            <a:pPr eaLnBrk="0" hangingPunct="0"/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Assuming particles come from different distances and are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therefore not correlated  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73106" y="2848180"/>
            <a:ext cx="6536876" cy="468313"/>
            <a:chOff x="1134242" y="2631440"/>
            <a:chExt cx="6536876" cy="468313"/>
          </a:xfrm>
        </p:grpSpPr>
        <p:sp>
          <p:nvSpPr>
            <p:cNvPr id="9" name="TextBox 8"/>
            <p:cNvSpPr txBox="1"/>
            <p:nvPr/>
          </p:nvSpPr>
          <p:spPr>
            <a:xfrm>
              <a:off x="1134242" y="2662886"/>
              <a:ext cx="41280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 Post- collision </a:t>
              </a:r>
              <a:r>
                <a:rPr lang="en-US" sz="2000" i="1" u="sng" dirty="0"/>
                <a:t>from solution </a:t>
              </a:r>
              <a:r>
                <a:rPr lang="en-US" sz="2000" dirty="0"/>
                <a:t>for  </a:t>
              </a:r>
            </a:p>
          </p:txBody>
        </p:sp>
        <p:graphicFrame>
          <p:nvGraphicFramePr>
            <p:cNvPr id="1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7711444"/>
                </p:ext>
              </p:extLst>
            </p:nvPr>
          </p:nvGraphicFramePr>
          <p:xfrm>
            <a:off x="4853305" y="2631440"/>
            <a:ext cx="2817813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968" name="Equation" r:id="rId7" imgW="1460160" imgH="279360" progId="Equation.DSMT4">
                    <p:embed/>
                  </p:oleObj>
                </mc:Choice>
                <mc:Fallback>
                  <p:oleObj name="Equation" r:id="rId7" imgW="14601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305" y="2631440"/>
                          <a:ext cx="2817813" cy="4683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610599"/>
              </p:ext>
            </p:extLst>
          </p:nvPr>
        </p:nvGraphicFramePr>
        <p:xfrm>
          <a:off x="842041" y="1794590"/>
          <a:ext cx="8028878" cy="2210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23" name="Equation" r:id="rId3" imgW="4063680" imgH="1396800" progId="Equation.DSMT4">
                  <p:embed/>
                </p:oleObj>
              </mc:Choice>
              <mc:Fallback>
                <p:oleObj name="Equation" r:id="rId3" imgW="406368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41" y="1794590"/>
                        <a:ext cx="8028878" cy="22109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442720" y="1117600"/>
            <a:ext cx="34535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Resulting B-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(summary)</a:t>
            </a:r>
          </a:p>
        </p:txBody>
      </p:sp>
    </p:spTree>
    <p:extLst>
      <p:ext uri="{BB962C8B-B14F-4D97-AF65-F5344CB8AC3E}">
        <p14:creationId xmlns:p14="http://schemas.microsoft.com/office/powerpoint/2010/main" val="2159994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39</a:t>
            </a:fld>
            <a:endParaRPr lang="en-US" sz="1100" dirty="0"/>
          </a:p>
        </p:txBody>
      </p:sp>
      <p:graphicFrame>
        <p:nvGraphicFramePr>
          <p:cNvPr id="131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883311"/>
              </p:ext>
            </p:extLst>
          </p:nvPr>
        </p:nvGraphicFramePr>
        <p:xfrm>
          <a:off x="1588453" y="793750"/>
          <a:ext cx="69262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90" name="Equation" r:id="rId3" imgW="3581280" imgH="1066680" progId="Equation.DSMT4">
                  <p:embed/>
                </p:oleObj>
              </mc:Choice>
              <mc:Fallback>
                <p:oleObj name="Equation" r:id="rId3" imgW="3581280" imgH="10666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453" y="793750"/>
                        <a:ext cx="69262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59371" y="337279"/>
            <a:ext cx="3094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 Scattering term in CoM</a:t>
            </a:r>
          </a:p>
        </p:txBody>
      </p:sp>
      <p:graphicFrame>
        <p:nvGraphicFramePr>
          <p:cNvPr id="131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672356"/>
              </p:ext>
            </p:extLst>
          </p:nvPr>
        </p:nvGraphicFramePr>
        <p:xfrm>
          <a:off x="1659255" y="3128010"/>
          <a:ext cx="605790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91" name="Equation" r:id="rId5" imgW="3213000" imgH="990360" progId="Equation.DSMT4">
                  <p:embed/>
                </p:oleObj>
              </mc:Choice>
              <mc:Fallback>
                <p:oleObj name="Equation" r:id="rId5" imgW="3213000" imgH="9903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255" y="3128010"/>
                        <a:ext cx="6057900" cy="156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1190861" y="2482585"/>
            <a:ext cx="5641288" cy="528868"/>
            <a:chOff x="1147546" y="3240952"/>
            <a:chExt cx="5641288" cy="705156"/>
          </a:xfrm>
        </p:grpSpPr>
        <p:sp>
          <p:nvSpPr>
            <p:cNvPr id="9" name="TextBox 8"/>
            <p:cNvSpPr txBox="1"/>
            <p:nvPr/>
          </p:nvSpPr>
          <p:spPr>
            <a:xfrm>
              <a:off x="1147546" y="3240952"/>
              <a:ext cx="5641288" cy="615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 Let                                          and  </a:t>
              </a: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/>
                <a:t>  be large</a:t>
              </a:r>
              <a:r>
                <a:rPr lang="en-US" sz="2000" dirty="0">
                  <a:sym typeface="Wingdings" pitchFamily="2" charset="2"/>
                </a:rPr>
                <a:t> </a:t>
              </a:r>
              <a:r>
                <a:rPr lang="en-US" sz="2000" dirty="0"/>
                <a:t> </a:t>
              </a:r>
            </a:p>
          </p:txBody>
        </p:sp>
        <p:graphicFrame>
          <p:nvGraphicFramePr>
            <p:cNvPr id="131076" name="Object 2"/>
            <p:cNvGraphicFramePr>
              <a:graphicFrameLocks noChangeAspect="1"/>
            </p:cNvGraphicFramePr>
            <p:nvPr/>
          </p:nvGraphicFramePr>
          <p:xfrm>
            <a:off x="1837072" y="3252370"/>
            <a:ext cx="2716146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692" name="Equation" r:id="rId7" imgW="1358640" imgH="279360" progId="Equation.DSMT4">
                    <p:embed/>
                  </p:oleObj>
                </mc:Choice>
                <mc:Fallback>
                  <p:oleObj name="Equation" r:id="rId7" imgW="1358640" imgH="27936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072" y="3252370"/>
                          <a:ext cx="2716146" cy="693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60"/>
          <p:cNvSpPr>
            <a:spLocks noChangeArrowheads="1"/>
          </p:cNvSpPr>
          <p:nvPr/>
        </p:nvSpPr>
        <p:spPr bwMode="auto">
          <a:xfrm rot="1584311">
            <a:off x="2731420" y="1444482"/>
            <a:ext cx="4081462" cy="12989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142157" y="4801537"/>
            <a:ext cx="762000" cy="183356"/>
          </a:xfrm>
        </p:spPr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40</a:t>
            </a:fld>
            <a:endParaRPr lang="en-US" sz="1100" dirty="0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 rot="1584311">
            <a:off x="1881188" y="2593498"/>
            <a:ext cx="4081462" cy="12989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4411076" y="1644256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i="1" dirty="0"/>
              <a:t>V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919272" y="3226633"/>
            <a:ext cx="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409608" y="2911840"/>
            <a:ext cx="539645" cy="404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752414" y="4126043"/>
            <a:ext cx="44971" cy="22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1045960" y="159662"/>
            <a:ext cx="7664134" cy="621506"/>
            <a:chOff x="1154243" y="645334"/>
            <a:chExt cx="7664134" cy="828675"/>
          </a:xfrm>
        </p:grpSpPr>
        <p:grpSp>
          <p:nvGrpSpPr>
            <p:cNvPr id="50" name="Group 49"/>
            <p:cNvGrpSpPr/>
            <p:nvPr/>
          </p:nvGrpSpPr>
          <p:grpSpPr>
            <a:xfrm>
              <a:off x="1154243" y="779489"/>
              <a:ext cx="6444393" cy="547623"/>
              <a:chOff x="1184223" y="704538"/>
              <a:chExt cx="6444393" cy="547623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1184223" y="704538"/>
                <a:ext cx="6444393" cy="5334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+ Change to relative coordinates                         in CoM</a:t>
                </a:r>
              </a:p>
            </p:txBody>
          </p:sp>
          <p:graphicFrame>
            <p:nvGraphicFramePr>
              <p:cNvPr id="130050" name="Object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8171404"/>
                  </p:ext>
                </p:extLst>
              </p:nvPr>
            </p:nvGraphicFramePr>
            <p:xfrm>
              <a:off x="5029424" y="739735"/>
              <a:ext cx="1610000" cy="5124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3244" name="Equation" r:id="rId3" imgW="685800" imgH="228600" progId="Equation.DSMT4">
                      <p:embed/>
                    </p:oleObj>
                  </mc:Choice>
                  <mc:Fallback>
                    <p:oleObj name="Equation" r:id="rId3" imgW="685800" imgH="228600" progId="Equation.DSMT4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9424" y="739735"/>
                            <a:ext cx="1610000" cy="5124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4370037"/>
                </p:ext>
              </p:extLst>
            </p:nvPr>
          </p:nvGraphicFramePr>
          <p:xfrm>
            <a:off x="7530691" y="645334"/>
            <a:ext cx="1287686" cy="828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245" name="Equation" r:id="rId5" imgW="787320" imgH="393480" progId="Equation.DSMT4">
                    <p:embed/>
                  </p:oleObj>
                </mc:Choice>
                <mc:Fallback>
                  <p:oleObj name="Equation" r:id="rId5" imgW="787320" imgH="39348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0691" y="645334"/>
                          <a:ext cx="1287686" cy="828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6" name="Straight Connector 15"/>
          <p:cNvCxnSpPr/>
          <p:nvPr/>
        </p:nvCxnSpPr>
        <p:spPr>
          <a:xfrm flipV="1">
            <a:off x="1778000" y="3343276"/>
            <a:ext cx="1231901" cy="93408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3045995" y="1329489"/>
            <a:ext cx="2129589" cy="276124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0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662341"/>
              </p:ext>
            </p:extLst>
          </p:nvPr>
        </p:nvGraphicFramePr>
        <p:xfrm>
          <a:off x="1887330" y="1415288"/>
          <a:ext cx="642938" cy="401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246" name="Equation" r:id="rId7" imgW="291960" imgH="253800" progId="Equation.DSMT4">
                  <p:embed/>
                </p:oleObj>
              </mc:Choice>
              <mc:Fallback>
                <p:oleObj name="Equation" r:id="rId7" imgW="291960" imgH="2538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330" y="1415288"/>
                        <a:ext cx="642938" cy="4012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Straight Connector 72"/>
          <p:cNvCxnSpPr/>
          <p:nvPr/>
        </p:nvCxnSpPr>
        <p:spPr>
          <a:xfrm flipH="1">
            <a:off x="2082531" y="1228222"/>
            <a:ext cx="850832" cy="11494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5736921" y="3026876"/>
            <a:ext cx="850832" cy="11494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5811520" y="3244249"/>
            <a:ext cx="1728404" cy="1390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300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257115"/>
              </p:ext>
            </p:extLst>
          </p:nvPr>
        </p:nvGraphicFramePr>
        <p:xfrm>
          <a:off x="7597459" y="3068320"/>
          <a:ext cx="504825" cy="254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247" name="Equation" r:id="rId9" imgW="228600" imgH="177480" progId="Equation.DSMT4">
                  <p:embed/>
                </p:oleObj>
              </mc:Choice>
              <mc:Fallback>
                <p:oleObj name="Equation" r:id="rId9" imgW="228600" imgH="177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459" y="3068320"/>
                        <a:ext cx="504825" cy="2543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670560" y="3017520"/>
            <a:ext cx="3210560" cy="3048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 bwMode="auto">
          <a:xfrm>
            <a:off x="2316480" y="2814320"/>
            <a:ext cx="12025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incoming</a:t>
            </a:r>
          </a:p>
        </p:txBody>
      </p:sp>
      <p:sp>
        <p:nvSpPr>
          <p:cNvPr id="8" name="TextBox 7"/>
          <p:cNvSpPr txBox="1"/>
          <p:nvPr/>
        </p:nvSpPr>
        <p:spPr bwMode="auto">
          <a:xfrm rot="18467932">
            <a:off x="3708400" y="2214880"/>
            <a:ext cx="11769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outgoing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851691" y="3058160"/>
            <a:ext cx="1461989" cy="508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Arc 11"/>
          <p:cNvSpPr/>
          <p:nvPr/>
        </p:nvSpPr>
        <p:spPr>
          <a:xfrm>
            <a:off x="4744720" y="2082800"/>
            <a:ext cx="386080" cy="100584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4135120" y="2225040"/>
            <a:ext cx="1066800" cy="1595120"/>
          </a:xfrm>
          <a:prstGeom prst="arc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 bwMode="auto">
          <a:xfrm>
            <a:off x="5049520" y="2184400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bg1"/>
                </a:solidFill>
                <a:latin typeface="Symbol" panose="05050102010706020507" pitchFamily="18" charset="2"/>
                <a:ea typeface="Tahoma" panose="020B0604030504040204" pitchFamily="34" charset="0"/>
                <a:cs typeface="Tahoma" panose="020B0604030504040204" pitchFamily="34" charset="0"/>
              </a:rPr>
              <a:t>q</a:t>
            </a:r>
          </a:p>
        </p:txBody>
      </p:sp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474941"/>
              </p:ext>
            </p:extLst>
          </p:nvPr>
        </p:nvGraphicFramePr>
        <p:xfrm>
          <a:off x="6083618" y="1255078"/>
          <a:ext cx="15811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248" name="Equation" r:id="rId11" imgW="888840" imgH="279360" progId="Equation.DSMT4">
                  <p:embed/>
                </p:oleObj>
              </mc:Choice>
              <mc:Fallback>
                <p:oleObj name="Equation" r:id="rId11" imgW="8888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618" y="1255078"/>
                        <a:ext cx="158115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 flipV="1">
            <a:off x="5659120" y="1706880"/>
            <a:ext cx="1036320" cy="508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418698" y="4496324"/>
            <a:ext cx="5980488" cy="471915"/>
            <a:chOff x="1418698" y="4496324"/>
            <a:chExt cx="5980488" cy="471915"/>
          </a:xfrm>
        </p:grpSpPr>
        <p:graphicFrame>
          <p:nvGraphicFramePr>
            <p:cNvPr id="51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2851782"/>
                </p:ext>
              </p:extLst>
            </p:nvPr>
          </p:nvGraphicFramePr>
          <p:xfrm>
            <a:off x="1418698" y="4496324"/>
            <a:ext cx="3475001" cy="471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249" name="Equation" r:id="rId13" imgW="1828800" imgH="279360" progId="Equation.DSMT4">
                    <p:embed/>
                  </p:oleObj>
                </mc:Choice>
                <mc:Fallback>
                  <p:oleObj name="Equation" r:id="rId13" imgW="1828800" imgH="27936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8698" y="4496324"/>
                          <a:ext cx="3475001" cy="47191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Box 16"/>
            <p:cNvSpPr txBox="1"/>
            <p:nvPr/>
          </p:nvSpPr>
          <p:spPr>
            <a:xfrm>
              <a:off x="4886960" y="4521200"/>
              <a:ext cx="2512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= volume of interaction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980436" y="3532093"/>
            <a:ext cx="6473291" cy="923330"/>
            <a:chOff x="1086546" y="5626891"/>
            <a:chExt cx="6473291" cy="1231105"/>
          </a:xfrm>
          <a:solidFill>
            <a:schemeClr val="bg1"/>
          </a:solidFill>
        </p:grpSpPr>
        <p:graphicFrame>
          <p:nvGraphicFramePr>
            <p:cNvPr id="4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084589"/>
                </p:ext>
              </p:extLst>
            </p:nvPr>
          </p:nvGraphicFramePr>
          <p:xfrm>
            <a:off x="1086546" y="5628318"/>
            <a:ext cx="1341438" cy="590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250" name="Equation" r:id="rId15" imgW="1002960" imgH="279360" progId="Equation.DSMT4">
                    <p:embed/>
                  </p:oleObj>
                </mc:Choice>
                <mc:Fallback>
                  <p:oleObj name="Equation" r:id="rId15" imgW="10029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6546" y="5628318"/>
                          <a:ext cx="1341438" cy="5905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Box 41"/>
            <p:cNvSpPr txBox="1"/>
            <p:nvPr/>
          </p:nvSpPr>
          <p:spPr>
            <a:xfrm>
              <a:off x="2425098" y="5626891"/>
              <a:ext cx="5134739" cy="123110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number of particles of speed </a:t>
              </a:r>
              <a:r>
                <a:rPr lang="en-US" sz="1800" i="1" dirty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US" sz="1800" dirty="0"/>
                <a:t> scattered into </a:t>
              </a:r>
            </a:p>
            <a:p>
              <a:r>
                <a:rPr lang="en-US" sz="1800" dirty="0"/>
                <a:t>the element of solid angle          per time, per      </a:t>
              </a:r>
            </a:p>
            <a:p>
              <a:r>
                <a:rPr lang="en-US" sz="1800" dirty="0"/>
                <a:t>unit incident flux (</a:t>
              </a:r>
              <a:r>
                <a:rPr lang="en-US" sz="1800" dirty="0" err="1"/>
                <a:t>CoM</a:t>
              </a:r>
              <a:r>
                <a:rPr lang="en-US" sz="1800" dirty="0"/>
                <a:t>) [the Xsec]</a:t>
              </a:r>
            </a:p>
          </p:txBody>
        </p:sp>
        <p:graphicFrame>
          <p:nvGraphicFramePr>
            <p:cNvPr id="4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6425739"/>
                </p:ext>
              </p:extLst>
            </p:nvPr>
          </p:nvGraphicFramePr>
          <p:xfrm>
            <a:off x="5211302" y="6062441"/>
            <a:ext cx="386113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251" name="Equation" r:id="rId17" imgW="253800" imgH="177480" progId="Equation.DSMT4">
                    <p:embed/>
                  </p:oleObj>
                </mc:Choice>
                <mc:Fallback>
                  <p:oleObj name="Equation" r:id="rId17" imgW="253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1302" y="6062441"/>
                          <a:ext cx="386113" cy="3746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981585"/>
              </p:ext>
            </p:extLst>
          </p:nvPr>
        </p:nvGraphicFramePr>
        <p:xfrm>
          <a:off x="1361123" y="894080"/>
          <a:ext cx="7091997" cy="175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39" name="Equation" r:id="rId3" imgW="3466800" imgH="914400" progId="Equation.DSMT4">
                  <p:embed/>
                </p:oleObj>
              </mc:Choice>
              <mc:Fallback>
                <p:oleObj name="Equation" r:id="rId3" imgW="34668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123" y="894080"/>
                        <a:ext cx="7091997" cy="1753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463040" y="365760"/>
            <a:ext cx="20767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On substitution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84960" y="2570480"/>
            <a:ext cx="23215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For lab scattering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770426"/>
              </p:ext>
            </p:extLst>
          </p:nvPr>
        </p:nvGraphicFramePr>
        <p:xfrm>
          <a:off x="3941763" y="2597150"/>
          <a:ext cx="50165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0" name="Equation" r:id="rId5" imgW="2819160" imgH="279360" progId="Equation.DSMT4">
                  <p:embed/>
                </p:oleObj>
              </mc:Choice>
              <mc:Fallback>
                <p:oleObj name="Equation" r:id="rId5" imgW="2819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2597150"/>
                        <a:ext cx="501650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525777"/>
              </p:ext>
            </p:extLst>
          </p:nvPr>
        </p:nvGraphicFramePr>
        <p:xfrm>
          <a:off x="1703070" y="3096260"/>
          <a:ext cx="7094538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1" name="Equation" r:id="rId7" imgW="3809880" imgH="863280" progId="Equation.DSMT4">
                  <p:embed/>
                </p:oleObj>
              </mc:Choice>
              <mc:Fallback>
                <p:oleObj name="Equation" r:id="rId7" imgW="380988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070" y="3096260"/>
                        <a:ext cx="7094538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7658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42</a:t>
            </a:fld>
            <a:endParaRPr lang="en-US" sz="1100" dirty="0"/>
          </a:p>
        </p:txBody>
      </p:sp>
      <p:grpSp>
        <p:nvGrpSpPr>
          <p:cNvPr id="4" name="Group 3"/>
          <p:cNvGrpSpPr/>
          <p:nvPr/>
        </p:nvGrpSpPr>
        <p:grpSpPr>
          <a:xfrm>
            <a:off x="1010320" y="836041"/>
            <a:ext cx="7940640" cy="3170635"/>
            <a:chOff x="1050960" y="927481"/>
            <a:chExt cx="8235280" cy="3170635"/>
          </a:xfrm>
        </p:grpSpPr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1050960" y="927481"/>
              <a:ext cx="8235280" cy="3170635"/>
              <a:chOff x="1076" y="2224"/>
              <a:chExt cx="4856" cy="2663"/>
            </a:xfrm>
          </p:grpSpPr>
          <p:sp>
            <p:nvSpPr>
              <p:cNvPr id="6" name="Text Box 19"/>
              <p:cNvSpPr txBox="1">
                <a:spLocks noChangeArrowheads="1"/>
              </p:cNvSpPr>
              <p:nvPr/>
            </p:nvSpPr>
            <p:spPr bwMode="auto">
              <a:xfrm>
                <a:off x="1076" y="2224"/>
                <a:ext cx="4856" cy="2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+ Discussion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   </a:t>
                </a:r>
                <a:r>
                  <a:rPr lang="en-US" sz="2000" dirty="0">
                    <a:latin typeface="+mn-lt"/>
                  </a:rPr>
                  <a:t>- </a:t>
                </a:r>
                <a:r>
                  <a:rPr lang="en-US" sz="2000" dirty="0">
                    <a:latin typeface="Tahoma" pitchFamily="34" charset="0"/>
                  </a:rPr>
                  <a:t>Describes single particle distribution function averaged over </a:t>
                </a:r>
                <a:r>
                  <a:rPr lang="en-US" sz="2000" i="1" dirty="0">
                    <a:latin typeface="Symbol" panose="05050102010706020507" pitchFamily="18" charset="2"/>
                  </a:rPr>
                  <a:t>t </a:t>
                </a:r>
              </a:p>
              <a:p>
                <a:pPr eaLnBrk="0" hangingPunct="0"/>
                <a:r>
                  <a:rPr lang="en-US" sz="2000" i="1" dirty="0">
                    <a:latin typeface="Symbol" panose="05050102010706020507" pitchFamily="18" charset="2"/>
                  </a:rPr>
                  <a:t>      </a:t>
                </a:r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 phase element </a:t>
                </a:r>
                <a:r>
                  <a:rPr lang="en-US" sz="20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</a:t>
                </a:r>
                <a:r>
                  <a:rPr lang="en-US" sz="20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</a:t>
                </a:r>
                <a:r>
                  <a:rPr lang="en-US" sz="20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</a:t>
                </a:r>
                <a:r>
                  <a:rPr lang="en-US" sz="20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  </a:t>
                </a:r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without regard to any other particles</a:t>
                </a:r>
              </a:p>
              <a:p>
                <a:pPr eaLnBrk="0" hangingPunct="0"/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sz="2000" dirty="0"/>
                  <a:t>- </a:t>
                </a:r>
                <a:r>
                  <a:rPr lang="en-US" sz="20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Collision at a point in time/space of point particles of no 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extent in the limit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</a:t>
                </a:r>
                <a:r>
                  <a:rPr lang="en-US" sz="2000" dirty="0"/>
                  <a:t>- </a:t>
                </a:r>
                <a:r>
                  <a:rPr lang="en-US" sz="2000" dirty="0">
                    <a:latin typeface="Tahoma" pitchFamily="34" charset="0"/>
                  </a:rPr>
                  <a:t>Have combined ballistic motion with collision physics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   </a:t>
                </a:r>
                <a:r>
                  <a:rPr lang="en-US" sz="2000" dirty="0"/>
                  <a:t>- </a:t>
                </a:r>
                <a:r>
                  <a:rPr lang="en-US" sz="2000" dirty="0">
                    <a:latin typeface="Tahoma" pitchFamily="34" charset="0"/>
                  </a:rPr>
                  <a:t>Limit as             and  </a:t>
                </a: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dirty="0">
                    <a:latin typeface="Tahoma" pitchFamily="34" charset="0"/>
                  </a:rPr>
                  <a:t> </a:t>
                </a:r>
                <a:r>
                  <a:rPr lang="en-US" sz="2000" dirty="0">
                    <a:latin typeface="Tahoma" pitchFamily="34" charset="0"/>
                    <a:sym typeface="Wingdings" pitchFamily="2" charset="2"/>
                  </a:rPr>
                  <a:t>      </a:t>
                </a:r>
                <a:r>
                  <a:rPr lang="en-US" sz="2000" i="1" dirty="0">
                    <a:latin typeface="Tahoma" pitchFamily="34" charset="0"/>
                    <a:sym typeface="Wingdings" pitchFamily="2" charset="2"/>
                  </a:rPr>
                  <a:t>s.t. </a:t>
                </a:r>
                <a:r>
                  <a:rPr lang="en-US" sz="2000" dirty="0">
                    <a:latin typeface="Tahoma" pitchFamily="34" charset="0"/>
                    <a:sym typeface="Wingdings" pitchFamily="2" charset="2"/>
                  </a:rPr>
                  <a:t> </a:t>
                </a:r>
                <a:r>
                  <a:rPr lang="en-US" sz="2000" i="1" dirty="0"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f</a:t>
                </a:r>
                <a:r>
                  <a:rPr lang="en-US" sz="2000" dirty="0">
                    <a:latin typeface="Tahoma" pitchFamily="34" charset="0"/>
                    <a:sym typeface="Wingdings" pitchFamily="2" charset="2"/>
                  </a:rPr>
                  <a:t>  has a limit and the defining 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  <a:sym typeface="Wingdings" pitchFamily="2" charset="2"/>
                  </a:rPr>
                  <a:t>     equation is invariant</a:t>
                </a:r>
                <a:endParaRPr lang="en-US" sz="2000" dirty="0">
                  <a:latin typeface="Tahoma" pitchFamily="34" charset="0"/>
                </a:endParaRPr>
              </a:p>
              <a:p>
                <a:pPr eaLnBrk="0" hangingPunct="0"/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sz="2000" dirty="0"/>
                  <a:t>- </a:t>
                </a:r>
                <a:r>
                  <a:rPr lang="en-US" sz="2000" dirty="0">
                    <a:latin typeface="Tahoma" pitchFamily="34" charset="0"/>
                  </a:rPr>
                  <a:t>Non-linear equation for a molecular gas  </a:t>
                </a:r>
              </a:p>
              <a:p>
                <a:pPr eaLnBrk="0" hangingPunct="0"/>
                <a:r>
                  <a:rPr lang="en-US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:r>
                  <a:rPr lang="en-US" sz="2000" dirty="0"/>
                  <a:t>- </a:t>
                </a:r>
                <a:r>
                  <a:rPr lang="en-US" sz="2000" dirty="0">
                    <a:latin typeface="Tahoma" pitchFamily="34" charset="0"/>
                  </a:rPr>
                  <a:t>Equation extremely difficult to solve</a:t>
                </a:r>
              </a:p>
            </p:txBody>
          </p:sp>
          <p:graphicFrame>
            <p:nvGraphicFramePr>
              <p:cNvPr id="7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1656291"/>
                  </p:ext>
                </p:extLst>
              </p:nvPr>
            </p:nvGraphicFramePr>
            <p:xfrm>
              <a:off x="1975" y="3781"/>
              <a:ext cx="549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305" name="Equation" r:id="rId3" imgW="406080" imgH="177480" progId="Equation.DSMT4">
                      <p:embed/>
                    </p:oleObj>
                  </mc:Choice>
                  <mc:Fallback>
                    <p:oleObj name="Equation" r:id="rId3" imgW="406080" imgH="177480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75" y="3781"/>
                            <a:ext cx="549" cy="2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446353"/>
                </p:ext>
              </p:extLst>
            </p:nvPr>
          </p:nvGraphicFramePr>
          <p:xfrm>
            <a:off x="4726473" y="2836596"/>
            <a:ext cx="407987" cy="265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306" name="Equation" r:id="rId5" imgW="177480" imgH="139680" progId="Equation.DSMT4">
                    <p:embed/>
                  </p:oleObj>
                </mc:Choice>
                <mc:Fallback>
                  <p:oleObj name="Equation" r:id="rId5" imgW="177480" imgH="13968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473" y="2836596"/>
                          <a:ext cx="407987" cy="2655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086100" cy="273844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NEUTRON BOLTZMANN </a:t>
            </a:r>
            <a:r>
              <a:rPr lang="en-US" sz="1100" dirty="0"/>
              <a:t>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402080" y="274320"/>
            <a:ext cx="617322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Neutron correlations 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- Nuclear fission generates 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from 2 to 3 neutrons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from an initiating neutron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- Defines a life cycle since initiating neutron will be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correlated to those produced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Correlated in time, space and energy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- Entirely different scales than the scales of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molecular chaos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Correlation length ~10</a:t>
            </a:r>
            <a:r>
              <a:rPr lang="en-US" sz="20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-8 </a:t>
            </a:r>
            <a:r>
              <a:rPr lang="en-US" sz="2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cm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Collision time 	~10</a:t>
            </a:r>
            <a:r>
              <a:rPr lang="en-US" sz="20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-14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- Fission neutrons scales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Migration 		~10’s of </a:t>
            </a:r>
            <a:r>
              <a:rPr lang="en-US" sz="2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cm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sz="2000" dirty="0">
                <a:latin typeface="Wingdings" panose="05000000000000000000" pitchFamily="2" charset="2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mean lifetime 	~ </a:t>
            </a:r>
            <a:r>
              <a:rPr lang="en-US" sz="2000" i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ms</a:t>
            </a:r>
            <a:endParaRPr lang="en-US" sz="2000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- Called reactor noise (to find nuclear parameters)</a:t>
            </a:r>
          </a:p>
        </p:txBody>
      </p:sp>
    </p:spTree>
    <p:extLst>
      <p:ext uri="{BB962C8B-B14F-4D97-AF65-F5344CB8AC3E}">
        <p14:creationId xmlns:p14="http://schemas.microsoft.com/office/powerpoint/2010/main" val="35988104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C6D964-7584-4E57-9371-86387B642884}" type="slidenum">
              <a:rPr lang="en-US" sz="1100"/>
              <a:pPr>
                <a:defRPr/>
              </a:pPr>
              <a:t>44</a:t>
            </a:fld>
            <a:endParaRPr lang="en-US" sz="1100" dirty="0"/>
          </a:p>
        </p:txBody>
      </p:sp>
      <p:sp>
        <p:nvSpPr>
          <p:cNvPr id="31748" name="Text Box 2"/>
          <p:cNvSpPr txBox="1">
            <a:spLocks noChangeArrowheads="1"/>
          </p:cNvSpPr>
          <p:nvPr/>
        </p:nvSpPr>
        <p:spPr bwMode="auto">
          <a:xfrm>
            <a:off x="1056958" y="413544"/>
            <a:ext cx="64221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Two-species interactions: </a:t>
            </a:r>
            <a:r>
              <a:rPr lang="en-US" b="1" i="1" dirty="0">
                <a:solidFill>
                  <a:srgbClr val="0000FF"/>
                </a:solidFill>
              </a:rPr>
              <a:t>n-N</a:t>
            </a:r>
            <a:r>
              <a:rPr lang="en-US" sz="2000" b="1" dirty="0"/>
              <a:t> (</a:t>
            </a:r>
            <a:r>
              <a:rPr lang="en-US" b="1" i="1" dirty="0">
                <a:solidFill>
                  <a:srgbClr val="0000FF"/>
                </a:solidFill>
              </a:rPr>
              <a:t>n</a:t>
            </a:r>
            <a:r>
              <a:rPr lang="en-US" sz="2000" b="1" dirty="0"/>
              <a:t>eutron-</a:t>
            </a:r>
            <a:r>
              <a:rPr lang="en-US" b="1" i="1" dirty="0">
                <a:solidFill>
                  <a:srgbClr val="0000FF"/>
                </a:solidFill>
              </a:rPr>
              <a:t>N</a:t>
            </a:r>
            <a:r>
              <a:rPr lang="en-US" sz="2000" b="1" dirty="0"/>
              <a:t>ucleus)</a:t>
            </a: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1692275" y="927498"/>
            <a:ext cx="59410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+ Consider a two particle system </a:t>
            </a:r>
            <a:r>
              <a:rPr lang="en-US" sz="2000" i="1" dirty="0">
                <a:latin typeface="Tahoma" pitchFamily="34" charset="0"/>
              </a:rPr>
              <a:t>n </a:t>
            </a:r>
            <a:r>
              <a:rPr lang="en-US" sz="2000" dirty="0">
                <a:latin typeface="Tahoma" pitchFamily="34" charset="0"/>
              </a:rPr>
              <a:t>(test)/</a:t>
            </a:r>
            <a:r>
              <a:rPr lang="en-US" sz="2000" i="1" dirty="0">
                <a:latin typeface="Tahoma" pitchFamily="34" charset="0"/>
              </a:rPr>
              <a:t>N </a:t>
            </a:r>
            <a:r>
              <a:rPr lang="en-US" sz="2000" dirty="0">
                <a:latin typeface="Tahoma" pitchFamily="34" charset="0"/>
              </a:rPr>
              <a:t>(field) </a:t>
            </a:r>
          </a:p>
        </p:txBody>
      </p:sp>
      <p:sp>
        <p:nvSpPr>
          <p:cNvPr id="31750" name="Text Box 5"/>
          <p:cNvSpPr txBox="1">
            <a:spLocks noChangeArrowheads="1"/>
          </p:cNvSpPr>
          <p:nvPr/>
        </p:nvSpPr>
        <p:spPr bwMode="auto">
          <a:xfrm>
            <a:off x="1998980" y="1339454"/>
            <a:ext cx="36440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For all possible </a:t>
            </a:r>
            <a:r>
              <a:rPr lang="en-US" sz="2000" i="1" dirty="0">
                <a:latin typeface="Tahoma" pitchFamily="34" charset="0"/>
              </a:rPr>
              <a:t>n</a:t>
            </a:r>
            <a:r>
              <a:rPr lang="en-US" sz="2000" dirty="0">
                <a:latin typeface="Tahoma" pitchFamily="34" charset="0"/>
              </a:rPr>
              <a:t> interactions</a:t>
            </a:r>
          </a:p>
        </p:txBody>
      </p:sp>
      <p:graphicFrame>
        <p:nvGraphicFramePr>
          <p:cNvPr id="164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277249"/>
              </p:ext>
            </p:extLst>
          </p:nvPr>
        </p:nvGraphicFramePr>
        <p:xfrm>
          <a:off x="1103313" y="1973263"/>
          <a:ext cx="7116762" cy="243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68" name="Equation" r:id="rId3" imgW="3911400" imgH="1536480" progId="Equation.DSMT4">
                  <p:embed/>
                </p:oleObj>
              </mc:Choice>
              <mc:Fallback>
                <p:oleObj name="Equation" r:id="rId3" imgW="3911400" imgH="1536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1973263"/>
                        <a:ext cx="7116762" cy="243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027464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12858" y="4857751"/>
            <a:ext cx="688060" cy="183356"/>
          </a:xfrm>
        </p:spPr>
        <p:txBody>
          <a:bodyPr/>
          <a:lstStyle/>
          <a:p>
            <a:pPr>
              <a:defRPr/>
            </a:pPr>
            <a:fld id="{D651E612-6204-4E3D-9A22-CBD191FFB3E8}" type="slidenum">
              <a:rPr lang="en-US" sz="1100"/>
              <a:pPr>
                <a:defRPr/>
              </a:pPr>
              <a:t>45</a:t>
            </a:fld>
            <a:endParaRPr lang="en-US" sz="1100" dirty="0"/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1885624" y="850643"/>
            <a:ext cx="39464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For all possible </a:t>
            </a:r>
            <a:r>
              <a:rPr lang="en-US" sz="2000" i="1" dirty="0">
                <a:latin typeface="Tahoma" pitchFamily="34" charset="0"/>
              </a:rPr>
              <a:t>N </a:t>
            </a:r>
            <a:r>
              <a:rPr lang="en-US" sz="2000" dirty="0">
                <a:latin typeface="Tahoma" pitchFamily="34" charset="0"/>
              </a:rPr>
              <a:t> interactions</a:t>
            </a: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66172"/>
              </p:ext>
            </p:extLst>
          </p:nvPr>
        </p:nvGraphicFramePr>
        <p:xfrm>
          <a:off x="724828" y="1497714"/>
          <a:ext cx="7849619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43" name="Equation" r:id="rId3" imgW="3949560" imgH="1523880" progId="Equation.DSMT4">
                  <p:embed/>
                </p:oleObj>
              </mc:Choice>
              <mc:Fallback>
                <p:oleObj name="Equation" r:id="rId3" imgW="3949560" imgH="15238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28" y="1497714"/>
                        <a:ext cx="7849619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50703"/>
              </p:ext>
            </p:extLst>
          </p:nvPr>
        </p:nvGraphicFramePr>
        <p:xfrm>
          <a:off x="1214120" y="4172903"/>
          <a:ext cx="68262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44" name="Equation" r:id="rId5" imgW="3085920" imgH="253800" progId="Equation.DSMT4">
                  <p:embed/>
                </p:oleObj>
              </mc:Choice>
              <mc:Fallback>
                <p:oleObj name="Equation" r:id="rId5" imgW="3085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120" y="4172903"/>
                        <a:ext cx="6826250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F784CB-B593-433B-8657-3E246B6AB65E}" type="slidenum">
              <a:rPr lang="en-US" sz="1100"/>
              <a:pPr>
                <a:defRPr/>
              </a:pPr>
              <a:t>46</a:t>
            </a:fld>
            <a:endParaRPr lang="en-US" sz="1100" dirty="0"/>
          </a:p>
        </p:txBody>
      </p:sp>
      <p:sp>
        <p:nvSpPr>
          <p:cNvPr id="33797" name="Text Box 2"/>
          <p:cNvSpPr txBox="1">
            <a:spLocks noChangeArrowheads="1"/>
          </p:cNvSpPr>
          <p:nvPr/>
        </p:nvSpPr>
        <p:spPr bwMode="auto">
          <a:xfrm>
            <a:off x="1428166" y="861010"/>
            <a:ext cx="43610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- </a:t>
            </a:r>
            <a:r>
              <a:rPr lang="en-US" sz="2000" u="sng" dirty="0">
                <a:latin typeface="Tahoma" pitchFamily="34" charset="0"/>
              </a:rPr>
              <a:t>Linear</a:t>
            </a:r>
            <a:r>
              <a:rPr lang="en-US" sz="2000" dirty="0">
                <a:latin typeface="Tahoma" pitchFamily="34" charset="0"/>
              </a:rPr>
              <a:t> neutron-Boltzmann Equation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1671054" y="1264632"/>
            <a:ext cx="54872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Wingdings" pitchFamily="2" charset="2"/>
              </a:rPr>
              <a:t>w</a:t>
            </a:r>
            <a:r>
              <a:rPr lang="en-US" sz="2000" dirty="0">
                <a:latin typeface="Tahoma" pitchFamily="34" charset="0"/>
              </a:rPr>
              <a:t> Ignore </a:t>
            </a:r>
            <a:r>
              <a:rPr lang="en-US" sz="2000" i="1" dirty="0">
                <a:latin typeface="Tahoma" pitchFamily="34" charset="0"/>
              </a:rPr>
              <a:t>n-n</a:t>
            </a:r>
            <a:r>
              <a:rPr lang="en-US" sz="2000" dirty="0">
                <a:latin typeface="Tahoma" pitchFamily="34" charset="0"/>
              </a:rPr>
              <a:t> collisions relative to </a:t>
            </a:r>
            <a:r>
              <a:rPr lang="en-US" sz="2000" i="1" dirty="0">
                <a:latin typeface="Tahoma" pitchFamily="34" charset="0"/>
              </a:rPr>
              <a:t>n-N</a:t>
            </a:r>
            <a:r>
              <a:rPr lang="en-US" sz="2000" dirty="0">
                <a:latin typeface="Tahoma" pitchFamily="34" charset="0"/>
              </a:rPr>
              <a:t> collisions</a:t>
            </a:r>
          </a:p>
        </p:txBody>
      </p:sp>
      <p:graphicFrame>
        <p:nvGraphicFramePr>
          <p:cNvPr id="166917" name="Object 5"/>
          <p:cNvGraphicFramePr>
            <a:graphicFrameLocks noChangeAspect="1"/>
          </p:cNvGraphicFramePr>
          <p:nvPr/>
        </p:nvGraphicFramePr>
        <p:xfrm>
          <a:off x="724828" y="2006203"/>
          <a:ext cx="8040031" cy="1727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18" name="Equation" r:id="rId3" imgW="4000320" imgH="1091880" progId="Equation.DSMT4">
                  <p:embed/>
                </p:oleObj>
              </mc:Choice>
              <mc:Fallback>
                <p:oleObj name="Equation" r:id="rId3" imgW="4000320" imgH="10918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28" y="2006203"/>
                        <a:ext cx="8040031" cy="1727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47</a:t>
            </a:fld>
            <a:endParaRPr lang="en-US" sz="1100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922965" y="441723"/>
            <a:ext cx="43770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Wingdings" pitchFamily="2" charset="2"/>
              </a:rPr>
              <a:t>w</a:t>
            </a:r>
            <a:r>
              <a:rPr lang="en-US" sz="2000" dirty="0">
                <a:latin typeface="Tahoma" pitchFamily="34" charset="0"/>
              </a:rPr>
              <a:t> Assume particle </a:t>
            </a:r>
            <a:r>
              <a:rPr lang="en-US" sz="2000" i="1" dirty="0">
                <a:latin typeface="Tahoma" pitchFamily="34" charset="0"/>
              </a:rPr>
              <a:t>N</a:t>
            </a:r>
            <a:r>
              <a:rPr lang="en-US" sz="2000" dirty="0">
                <a:latin typeface="Tahoma" pitchFamily="34" charset="0"/>
              </a:rPr>
              <a:t>  at equilibrium </a:t>
            </a: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906142"/>
              </p:ext>
            </p:extLst>
          </p:nvPr>
        </p:nvGraphicFramePr>
        <p:xfrm>
          <a:off x="2868192" y="944461"/>
          <a:ext cx="2117992" cy="674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62" name="Equation" r:id="rId3" imgW="1091880" imgH="393480" progId="Equation.DSMT4">
                  <p:embed/>
                </p:oleObj>
              </mc:Choice>
              <mc:Fallback>
                <p:oleObj name="Equation" r:id="rId3" imgW="109188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192" y="944461"/>
                        <a:ext cx="2117992" cy="6744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59" name="Object 3"/>
          <p:cNvGraphicFramePr>
            <a:graphicFrameLocks noChangeAspect="1"/>
          </p:cNvGraphicFramePr>
          <p:nvPr/>
        </p:nvGraphicFramePr>
        <p:xfrm>
          <a:off x="802888" y="2271040"/>
          <a:ext cx="7694341" cy="1727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63" name="Equation" r:id="rId5" imgW="4038480" imgH="1091880" progId="Equation.DSMT4">
                  <p:embed/>
                </p:oleObj>
              </mc:Choice>
              <mc:Fallback>
                <p:oleObj name="Equation" r:id="rId5" imgW="4038480" imgH="10918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88" y="2271040"/>
                        <a:ext cx="7694341" cy="1727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75380" y="1734419"/>
            <a:ext cx="984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implies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48</a:t>
            </a:fld>
            <a:endParaRPr lang="en-US" sz="1100" dirty="0"/>
          </a:p>
        </p:txBody>
      </p:sp>
      <p:graphicFrame>
        <p:nvGraphicFramePr>
          <p:cNvPr id="174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668798"/>
              </p:ext>
            </p:extLst>
          </p:nvPr>
        </p:nvGraphicFramePr>
        <p:xfrm>
          <a:off x="1386220" y="847976"/>
          <a:ext cx="6869151" cy="844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95" name="Equation" r:id="rId3" imgW="3886200" imgH="533160" progId="Equation.DSMT4">
                  <p:embed/>
                </p:oleObj>
              </mc:Choice>
              <mc:Fallback>
                <p:oleObj name="Equation" r:id="rId3" imgW="3886200" imgH="5331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220" y="847976"/>
                        <a:ext cx="6869151" cy="844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79469" y="330566"/>
            <a:ext cx="42523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which gives for nuclei at equilibrium</a:t>
            </a:r>
          </a:p>
        </p:txBody>
      </p:sp>
      <p:pic>
        <p:nvPicPr>
          <p:cNvPr id="174791" name="Picture 711" descr="http://upload.wikimedia.org/wikipedia/commons/thumb/0/01/MaxwellBoltzmann-en.svg/360px-MaxwellBoltzmann-en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415" y="2876549"/>
            <a:ext cx="3429000" cy="226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204232"/>
              </p:ext>
            </p:extLst>
          </p:nvPr>
        </p:nvGraphicFramePr>
        <p:xfrm>
          <a:off x="5697220" y="3735070"/>
          <a:ext cx="2794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96" name="Equation" r:id="rId6" imgW="1231560" imgH="279360" progId="Equation.DSMT4">
                  <p:embed/>
                </p:oleObj>
              </mc:Choice>
              <mc:Fallback>
                <p:oleObj name="Equation" r:id="rId6" imgW="12315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220" y="3735070"/>
                        <a:ext cx="279400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2042160" y="1798320"/>
            <a:ext cx="505420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Equation satisfied by the Maxwellian since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satisfy conservation of mass, energy, 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momentum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883A00-7892-4EA7-84E2-2CBA0A4C53FB}" type="slidenum">
              <a:rPr lang="en-US" sz="1100"/>
              <a:pPr>
                <a:defRPr/>
              </a:pPr>
              <a:t>49</a:t>
            </a:fld>
            <a:endParaRPr lang="en-US" sz="1100" dirty="0"/>
          </a:p>
        </p:txBody>
      </p:sp>
      <p:sp>
        <p:nvSpPr>
          <p:cNvPr id="35845" name="Text Box 3"/>
          <p:cNvSpPr txBox="1">
            <a:spLocks noChangeArrowheads="1"/>
          </p:cNvSpPr>
          <p:nvPr/>
        </p:nvSpPr>
        <p:spPr bwMode="auto">
          <a:xfrm>
            <a:off x="1486218" y="310436"/>
            <a:ext cx="52448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Wingdings" pitchFamily="2" charset="2"/>
              </a:rPr>
              <a:t>w</a:t>
            </a:r>
            <a:r>
              <a:rPr lang="en-US" sz="2000" dirty="0">
                <a:latin typeface="Tahoma" pitchFamily="34" charset="0"/>
              </a:rPr>
              <a:t> For </a:t>
            </a:r>
            <a:r>
              <a:rPr lang="en-US" sz="2000" i="1" dirty="0">
                <a:latin typeface="Tahoma" pitchFamily="34" charset="0"/>
              </a:rPr>
              <a:t>n</a:t>
            </a:r>
            <a:r>
              <a:rPr lang="en-US" sz="2000" dirty="0">
                <a:latin typeface="Tahoma" pitchFamily="34" charset="0"/>
              </a:rPr>
              <a:t> on re-arrangement with assumptions</a:t>
            </a:r>
          </a:p>
        </p:txBody>
      </p:sp>
      <p:graphicFrame>
        <p:nvGraphicFramePr>
          <p:cNvPr id="168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37066"/>
              </p:ext>
            </p:extLst>
          </p:nvPr>
        </p:nvGraphicFramePr>
        <p:xfrm>
          <a:off x="630168" y="812721"/>
          <a:ext cx="7705492" cy="1827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13" name="Equation" r:id="rId3" imgW="3797280" imgH="1155600" progId="Equation.DSMT4">
                  <p:embed/>
                </p:oleObj>
              </mc:Choice>
              <mc:Fallback>
                <p:oleObj name="Equation" r:id="rId3" imgW="3797280" imgH="1155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68" y="812721"/>
                        <a:ext cx="7705492" cy="1827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083289"/>
              </p:ext>
            </p:extLst>
          </p:nvPr>
        </p:nvGraphicFramePr>
        <p:xfrm>
          <a:off x="536250" y="2307590"/>
          <a:ext cx="8051180" cy="232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14" name="Equation" r:id="rId5" imgW="4101840" imgH="1473120" progId="Equation.DSMT4">
                  <p:embed/>
                </p:oleObj>
              </mc:Choice>
              <mc:Fallback>
                <p:oleObj name="Equation" r:id="rId5" imgW="4101840" imgH="14731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50" y="2307590"/>
                        <a:ext cx="8051180" cy="232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282700" y="2355849"/>
            <a:ext cx="6035358" cy="1368425"/>
            <a:chOff x="1282700" y="3141133"/>
            <a:chExt cx="6035358" cy="1824567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1282700" y="3708400"/>
              <a:ext cx="5246688" cy="12573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896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04435"/>
                </p:ext>
              </p:extLst>
            </p:nvPr>
          </p:nvGraphicFramePr>
          <p:xfrm>
            <a:off x="6111558" y="3141133"/>
            <a:ext cx="12065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715" name="Equation" r:id="rId7" imgW="482400" imgH="253800" progId="Equation.DSMT4">
                    <p:embed/>
                  </p:oleObj>
                </mc:Choice>
                <mc:Fallback>
                  <p:oleObj name="Equation" r:id="rId7" imgW="482400" imgH="25380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1558" y="3141133"/>
                          <a:ext cx="1206500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30"/>
          <p:cNvGrpSpPr/>
          <p:nvPr/>
        </p:nvGrpSpPr>
        <p:grpSpPr>
          <a:xfrm>
            <a:off x="1049338" y="3819525"/>
            <a:ext cx="6253162" cy="1323975"/>
            <a:chOff x="1049338" y="5092700"/>
            <a:chExt cx="6253162" cy="1765300"/>
          </a:xfrm>
        </p:grpSpPr>
        <p:cxnSp>
          <p:nvCxnSpPr>
            <p:cNvPr id="18" name="Straight Arrow Connector 17"/>
            <p:cNvCxnSpPr/>
            <p:nvPr/>
          </p:nvCxnSpPr>
          <p:spPr>
            <a:xfrm flipH="1">
              <a:off x="2717800" y="5092700"/>
              <a:ext cx="4584700" cy="1143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9" name="Object 7"/>
            <p:cNvGraphicFramePr>
              <a:graphicFrameLocks noChangeAspect="1"/>
            </p:cNvGraphicFramePr>
            <p:nvPr/>
          </p:nvGraphicFramePr>
          <p:xfrm>
            <a:off x="1049338" y="6223000"/>
            <a:ext cx="20955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716" name="Equation" r:id="rId9" imgW="838080" imgH="253800" progId="Equation.DSMT4">
                    <p:embed/>
                  </p:oleObj>
                </mc:Choice>
                <mc:Fallback>
                  <p:oleObj name="Equation" r:id="rId9" imgW="838080" imgH="2538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9338" y="6223000"/>
                          <a:ext cx="2095500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31"/>
          <p:cNvGrpSpPr/>
          <p:nvPr/>
        </p:nvGrpSpPr>
        <p:grpSpPr>
          <a:xfrm>
            <a:off x="3670301" y="4505323"/>
            <a:ext cx="5383205" cy="533460"/>
            <a:chOff x="3670300" y="6007100"/>
            <a:chExt cx="5383205" cy="711280"/>
          </a:xfrm>
        </p:grpSpPr>
        <p:sp>
          <p:nvSpPr>
            <p:cNvPr id="24" name="TextBox 23"/>
            <p:cNvSpPr txBox="1"/>
            <p:nvPr/>
          </p:nvSpPr>
          <p:spPr>
            <a:xfrm>
              <a:off x="3670300" y="6184900"/>
              <a:ext cx="5383205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Note reversed velocities in </a:t>
              </a:r>
              <a:r>
                <a:rPr lang="en-US" sz="2000" i="1" dirty="0"/>
                <a:t>W  </a:t>
              </a:r>
              <a:r>
                <a:rPr lang="en-US" sz="20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from previously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H="1" flipV="1">
              <a:off x="5778500" y="6007100"/>
              <a:ext cx="1739900" cy="2667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z="1100" smtClean="0"/>
              <a:pPr>
                <a:defRPr/>
              </a:pPr>
              <a:t>50</a:t>
            </a:fld>
            <a:endParaRPr lang="en-US" sz="1100" dirty="0"/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074012"/>
              </p:ext>
            </p:extLst>
          </p:nvPr>
        </p:nvGraphicFramePr>
        <p:xfrm>
          <a:off x="1009309" y="843280"/>
          <a:ext cx="7078051" cy="112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78" name="Equation" r:id="rId3" imgW="3848040" imgH="787320" progId="Equation.DSMT4">
                  <p:embed/>
                </p:oleObj>
              </mc:Choice>
              <mc:Fallback>
                <p:oleObj name="Equation" r:id="rId3" imgW="3848040" imgH="7873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309" y="843280"/>
                        <a:ext cx="7078051" cy="112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037064" y="1904915"/>
            <a:ext cx="7281746" cy="2349711"/>
            <a:chOff x="656063" y="2946287"/>
            <a:chExt cx="7281746" cy="3132948"/>
          </a:xfrm>
        </p:grpSpPr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656063" y="3702748"/>
            <a:ext cx="7281746" cy="2376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979" name="Equation" r:id="rId5" imgW="5029200" imgH="1434960" progId="Equation.DSMT4">
                    <p:embed/>
                  </p:oleObj>
                </mc:Choice>
                <mc:Fallback>
                  <p:oleObj name="Equation" r:id="rId5" imgW="5029200" imgH="14349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063" y="3702748"/>
                          <a:ext cx="7281746" cy="2376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861253" y="2946287"/>
              <a:ext cx="4084964" cy="533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Wingdings" pitchFamily="2" charset="2"/>
                </a:rPr>
                <a:t>s</a:t>
              </a:r>
              <a:r>
                <a:rPr lang="en-US" sz="2000" dirty="0"/>
                <a:t> in neutron energy, angle and flux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499778" y="4365904"/>
            <a:ext cx="5468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added neutron fission and an external source</a:t>
            </a: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394288"/>
              </p:ext>
            </p:extLst>
          </p:nvPr>
        </p:nvGraphicFramePr>
        <p:xfrm>
          <a:off x="994093" y="311150"/>
          <a:ext cx="27352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80" name="Equation" r:id="rId7" imgW="1206360" imgH="253800" progId="Equation.DSMT4">
                  <p:embed/>
                </p:oleObj>
              </mc:Choice>
              <mc:Fallback>
                <p:oleObj name="Equation" r:id="rId7" imgW="1206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093" y="311150"/>
                        <a:ext cx="2735262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731145"/>
              </p:ext>
            </p:extLst>
          </p:nvPr>
        </p:nvGraphicFramePr>
        <p:xfrm>
          <a:off x="5292090" y="1926590"/>
          <a:ext cx="315087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81" name="Equation" r:id="rId9" imgW="1739880" imgH="253800" progId="Equation.DSMT4">
                  <p:embed/>
                </p:oleObj>
              </mc:Choice>
              <mc:Fallback>
                <p:oleObj name="Equation" r:id="rId9" imgW="1739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90" y="1926590"/>
                        <a:ext cx="3150870" cy="412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" y="0"/>
            <a:ext cx="4157663" cy="214313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65742-75D9-4192-9333-C9AF1FB88F60}" type="slidenum">
              <a:rPr lang="en-US"/>
              <a:pPr>
                <a:defRPr/>
              </a:pPr>
              <a:t>51</a:t>
            </a:fld>
            <a:endParaRPr lang="en-US" dirty="0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900114" y="2484835"/>
          <a:ext cx="7291387" cy="902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91" name="Equation" r:id="rId3" imgW="3098520" imgH="482400" progId="Equation.DSMT4">
                  <p:embed/>
                </p:oleObj>
              </mc:Choice>
              <mc:Fallback>
                <p:oleObj name="Equation" r:id="rId3" imgW="3098520" imgH="482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4" y="2484835"/>
                        <a:ext cx="7291387" cy="902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635001" y="1850231"/>
            <a:ext cx="3670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Integration term by term: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2503795" y="890588"/>
            <a:ext cx="3922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6600FF"/>
                </a:solidFill>
              </a:rPr>
              <a:t>Appendix A</a:t>
            </a:r>
          </a:p>
          <a:p>
            <a:pPr algn="ctr"/>
            <a:r>
              <a:rPr lang="en-US" b="1" dirty="0">
                <a:solidFill>
                  <a:srgbClr val="6600FF"/>
                </a:solidFill>
              </a:rPr>
              <a:t>Derivation of BBGKY Eqn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" y="1"/>
            <a:ext cx="4657725" cy="203597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A6EB83-E14E-42FC-85F7-4417EED79A7B}" type="slidenum">
              <a:rPr lang="en-US"/>
              <a:pPr>
                <a:defRPr/>
              </a:pPr>
              <a:t>52</a:t>
            </a:fld>
            <a:endParaRPr lang="en-US" dirty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1008063" y="2477692"/>
          <a:ext cx="6246812" cy="75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33" name="Equation" r:id="rId3" imgW="2654280" imgH="393480" progId="Equation.DSMT4">
                  <p:embed/>
                </p:oleObj>
              </mc:Choice>
              <mc:Fallback>
                <p:oleObj name="Equation" r:id="rId3" imgW="265428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2477692"/>
                        <a:ext cx="6246812" cy="754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887414" y="1328738"/>
          <a:ext cx="7292975" cy="925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34" name="Equation" r:id="rId5" imgW="3098520" imgH="482400" progId="Equation.DSMT4">
                  <p:embed/>
                </p:oleObj>
              </mc:Choice>
              <mc:Fallback>
                <p:oleObj name="Equation" r:id="rId5" imgW="309852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4" y="1328738"/>
                        <a:ext cx="7292975" cy="925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3054351" y="3599260"/>
          <a:ext cx="2252663" cy="508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35" name="Equation" r:id="rId7" imgW="1143000" imgH="253800" progId="Equation.DSMT4">
                  <p:embed/>
                </p:oleObj>
              </mc:Choice>
              <mc:Fallback>
                <p:oleObj name="Equation" r:id="rId7" imgW="114300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1" y="3599260"/>
                        <a:ext cx="2252663" cy="508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Text Box 5"/>
          <p:cNvSpPr txBox="1">
            <a:spLocks noChangeArrowheads="1"/>
          </p:cNvSpPr>
          <p:nvPr/>
        </p:nvSpPr>
        <p:spPr bwMode="auto">
          <a:xfrm>
            <a:off x="676276" y="762000"/>
            <a:ext cx="16504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First Term: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" y="0"/>
            <a:ext cx="4543425" cy="214313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57E07-475F-4DFE-B838-F04C25A9906E}" type="slidenum">
              <a:rPr lang="en-US"/>
              <a:pPr>
                <a:defRPr/>
              </a:pPr>
              <a:t>53</a:t>
            </a:fld>
            <a:endParaRPr lang="en-US" dirty="0"/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536614" y="3040566"/>
          <a:ext cx="7770812" cy="1740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40" name="Equation" r:id="rId3" imgW="3301920" imgH="914400" progId="Equation.DSMT4">
                  <p:embed/>
                </p:oleObj>
              </mc:Choice>
              <mc:Fallback>
                <p:oleObj name="Equation" r:id="rId3" imgW="3301920" imgH="91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614" y="3040566"/>
                        <a:ext cx="7770812" cy="1740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842964" y="1120379"/>
          <a:ext cx="7291387" cy="92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41" name="Equation" r:id="rId5" imgW="3098520" imgH="482400" progId="Equation.DSMT4">
                  <p:embed/>
                </p:oleObj>
              </mc:Choice>
              <mc:Fallback>
                <p:oleObj name="Equation" r:id="rId5" imgW="309852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4" y="1120379"/>
                        <a:ext cx="7291387" cy="925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660400" y="683945"/>
            <a:ext cx="20533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Second Term:</a:t>
            </a:r>
          </a:p>
        </p:txBody>
      </p:sp>
      <p:sp>
        <p:nvSpPr>
          <p:cNvPr id="39942" name="Text Box 5"/>
          <p:cNvSpPr txBox="1">
            <a:spLocks noChangeArrowheads="1"/>
          </p:cNvSpPr>
          <p:nvPr/>
        </p:nvSpPr>
        <p:spPr bwMode="auto">
          <a:xfrm>
            <a:off x="822326" y="2166938"/>
            <a:ext cx="688861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+ Partition sum with respect to integrated or not </a:t>
            </a:r>
          </a:p>
          <a:p>
            <a:pPr eaLnBrk="0" hangingPunct="0"/>
            <a:r>
              <a:rPr lang="en-US" dirty="0">
                <a:latin typeface="Tahoma" pitchFamily="34" charset="0"/>
              </a:rPr>
              <a:t>   integrated particles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" y="0"/>
            <a:ext cx="4843463" cy="225029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50809-1E34-424B-8267-88F3193B3539}" type="slidenum">
              <a:rPr lang="en-US"/>
              <a:pPr>
                <a:defRPr/>
              </a:pPr>
              <a:t>54</a:t>
            </a:fld>
            <a:endParaRPr lang="en-US" dirty="0"/>
          </a:p>
        </p:txBody>
      </p:sp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944563" y="2175273"/>
          <a:ext cx="7319962" cy="1707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57" name="Equation" r:id="rId3" imgW="3111480" imgH="914400" progId="Equation.DSMT4">
                  <p:embed/>
                </p:oleObj>
              </mc:Choice>
              <mc:Fallback>
                <p:oleObj name="Equation" r:id="rId3" imgW="3111480" imgH="91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2175273"/>
                        <a:ext cx="7319962" cy="1707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876301" y="717948"/>
          <a:ext cx="7770813" cy="1740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58" name="Equation" r:id="rId5" imgW="3301920" imgH="914400" progId="Equation.DSMT4">
                  <p:embed/>
                </p:oleObj>
              </mc:Choice>
              <mc:Fallback>
                <p:oleObj name="Equation" r:id="rId5" imgW="3301920" imgH="914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1" y="717948"/>
                        <a:ext cx="7770813" cy="1740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-19050" y="3957638"/>
          <a:ext cx="9169400" cy="835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59" name="Equation" r:id="rId7" imgW="3898800" imgH="457200" progId="Equation.DSMT4">
                  <p:embed/>
                </p:oleObj>
              </mc:Choice>
              <mc:Fallback>
                <p:oleObj name="Equation" r:id="rId7" imgW="38988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9050" y="3957638"/>
                        <a:ext cx="9169400" cy="835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747714" y="370285"/>
            <a:ext cx="26956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Second Term con’t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4586288" cy="235744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6A0E66-E279-4B00-8137-DD64A732BA1F}" type="slidenum">
              <a:rPr lang="en-US"/>
              <a:pPr>
                <a:defRPr/>
              </a:pPr>
              <a:t>55</a:t>
            </a:fld>
            <a:endParaRPr lang="en-US" dirty="0"/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561976" y="2338388"/>
          <a:ext cx="7388225" cy="778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81" name="Equation" r:id="rId3" imgW="3251160" imgH="457200" progId="Equation.DSMT4">
                  <p:embed/>
                </p:oleObj>
              </mc:Choice>
              <mc:Fallback>
                <p:oleObj name="Equation" r:id="rId3" imgW="325116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6" y="2338388"/>
                        <a:ext cx="7388225" cy="7786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611189" y="1243013"/>
          <a:ext cx="7292975" cy="858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82" name="Equation" r:id="rId5" imgW="3098520" imgH="482400" progId="Equation.DSMT4">
                  <p:embed/>
                </p:oleObj>
              </mc:Choice>
              <mc:Fallback>
                <p:oleObj name="Equation" r:id="rId5" imgW="309852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9" y="1243013"/>
                        <a:ext cx="7292975" cy="858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4"/>
          <p:cNvSpPr txBox="1">
            <a:spLocks noChangeArrowheads="1"/>
          </p:cNvSpPr>
          <p:nvPr/>
        </p:nvSpPr>
        <p:spPr bwMode="auto">
          <a:xfrm>
            <a:off x="646114" y="663179"/>
            <a:ext cx="17692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Third Term:</a:t>
            </a:r>
          </a:p>
        </p:txBody>
      </p:sp>
      <p:graphicFrame>
        <p:nvGraphicFramePr>
          <p:cNvPr id="41988" name="Object 5"/>
          <p:cNvGraphicFramePr>
            <a:graphicFrameLocks noChangeAspect="1"/>
          </p:cNvGraphicFramePr>
          <p:nvPr/>
        </p:nvGraphicFramePr>
        <p:xfrm>
          <a:off x="407989" y="3398044"/>
          <a:ext cx="8226425" cy="778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83" name="Equation" r:id="rId7" imgW="3619440" imgH="457200" progId="Equation.DSMT4">
                  <p:embed/>
                </p:oleObj>
              </mc:Choice>
              <mc:Fallback>
                <p:oleObj name="Equation" r:id="rId7" imgW="361944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9" y="3398044"/>
                        <a:ext cx="8226425" cy="7786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4700588" cy="246460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098BEF-EF26-445A-B097-58BCA4716F85}" type="slidenum">
              <a:rPr lang="en-US"/>
              <a:pPr>
                <a:defRPr/>
              </a:pPr>
              <a:t>56</a:t>
            </a:fld>
            <a:endParaRPr lang="en-US" dirty="0"/>
          </a:p>
        </p:txBody>
      </p:sp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305150" y="1763578"/>
          <a:ext cx="8366125" cy="2631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1" name="Equation" r:id="rId3" imgW="3682800" imgH="1587240" progId="Equation.DSMT4">
                  <p:embed/>
                </p:oleObj>
              </mc:Choice>
              <mc:Fallback>
                <p:oleObj name="Equation" r:id="rId3" imgW="3682800" imgH="1587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50" y="1763578"/>
                        <a:ext cx="8366125" cy="26312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647701" y="750094"/>
            <a:ext cx="25204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Third Term con’t:</a:t>
            </a:r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806451" y="1176337"/>
            <a:ext cx="24272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+ Partition sums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" y="0"/>
            <a:ext cx="4943475" cy="214313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73B999-1EBC-46BB-AF22-50177440BC91}" type="slidenum">
              <a:rPr lang="en-US"/>
              <a:pPr>
                <a:defRPr/>
              </a:pPr>
              <a:t>57</a:t>
            </a:fld>
            <a:endParaRPr lang="en-US" dirty="0"/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315508"/>
              </p:ext>
            </p:extLst>
          </p:nvPr>
        </p:nvGraphicFramePr>
        <p:xfrm>
          <a:off x="398944" y="742452"/>
          <a:ext cx="8366125" cy="258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36" name="Equation" r:id="rId3" imgW="3682800" imgH="1587240" progId="Equation.DSMT4">
                  <p:embed/>
                </p:oleObj>
              </mc:Choice>
              <mc:Fallback>
                <p:oleObj name="Equation" r:id="rId3" imgW="3682800" imgH="1587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44" y="742452"/>
                        <a:ext cx="8366125" cy="2588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63185"/>
              </p:ext>
            </p:extLst>
          </p:nvPr>
        </p:nvGraphicFramePr>
        <p:xfrm>
          <a:off x="718658" y="3113070"/>
          <a:ext cx="7475538" cy="1822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37" name="Equation" r:id="rId5" imgW="3288960" imgH="1117440" progId="Equation.DSMT4">
                  <p:embed/>
                </p:oleObj>
              </mc:Choice>
              <mc:Fallback>
                <p:oleObj name="Equation" r:id="rId5" imgW="3288960" imgH="11174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658" y="3113070"/>
                        <a:ext cx="7475538" cy="18228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530226" y="282179"/>
            <a:ext cx="25204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Third Term con’t: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4643438" cy="214313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B3EC07-BAC0-4DAA-A6FA-7880BF34EDC9}" type="slidenum">
              <a:rPr lang="en-US"/>
              <a:pPr>
                <a:defRPr/>
              </a:pPr>
              <a:t>58</a:t>
            </a:fld>
            <a:endParaRPr lang="en-US" dirty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338138" y="583755"/>
          <a:ext cx="8367712" cy="258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60" name="Equation" r:id="rId3" imgW="3682800" imgH="1587240" progId="Equation.DSMT4">
                  <p:embed/>
                </p:oleObj>
              </mc:Choice>
              <mc:Fallback>
                <p:oleObj name="Equation" r:id="rId3" imgW="3682800" imgH="1587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583755"/>
                        <a:ext cx="8367712" cy="2588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0" y="2938812"/>
          <a:ext cx="9175750" cy="2070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61" name="Equation" r:id="rId5" imgW="4038480" imgH="1269720" progId="Equation.DSMT4">
                  <p:embed/>
                </p:oleObj>
              </mc:Choice>
              <mc:Fallback>
                <p:oleObj name="Equation" r:id="rId5" imgW="4038480" imgH="1269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38812"/>
                        <a:ext cx="9175750" cy="20704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Text Box 4"/>
          <p:cNvSpPr txBox="1">
            <a:spLocks noChangeArrowheads="1"/>
          </p:cNvSpPr>
          <p:nvPr/>
        </p:nvSpPr>
        <p:spPr bwMode="auto">
          <a:xfrm>
            <a:off x="442914" y="152400"/>
            <a:ext cx="25204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Third Term con’t: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4929188" cy="171450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4612E-382D-4374-9336-95A6677E619D}" type="slidenum">
              <a:rPr lang="en-US"/>
              <a:pPr>
                <a:defRPr/>
              </a:pPr>
              <a:t>59</a:t>
            </a:fld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290513" y="255985"/>
          <a:ext cx="70088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04" name="Equation" r:id="rId3" imgW="3327120" imgH="304560" progId="Equation.DSMT4">
                  <p:embed/>
                </p:oleObj>
              </mc:Choice>
              <mc:Fallback>
                <p:oleObj name="Equation" r:id="rId3" imgW="3327120" imgH="304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255985"/>
                        <a:ext cx="70088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212726" y="1016794"/>
          <a:ext cx="8931275" cy="1020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05" name="Equation" r:id="rId5" imgW="4241520" imgH="583920" progId="Equation.DSMT4">
                  <p:embed/>
                </p:oleObj>
              </mc:Choice>
              <mc:Fallback>
                <p:oleObj name="Equation" r:id="rId5" imgW="4241520" imgH="5839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6" y="1016794"/>
                        <a:ext cx="8931275" cy="1020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233364" y="2240756"/>
          <a:ext cx="86947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06" name="Equation" r:id="rId7" imgW="4127400" imgH="304560" progId="Equation.DSMT4">
                  <p:embed/>
                </p:oleObj>
              </mc:Choice>
              <mc:Fallback>
                <p:oleObj name="Equation" r:id="rId7" imgW="4127400" imgH="304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4" y="2240756"/>
                        <a:ext cx="86947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1870075" y="2883694"/>
          <a:ext cx="1773238" cy="420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07" name="Equation" r:id="rId9" imgW="647640" imgH="241200" progId="Equation.DSMT4">
                  <p:embed/>
                </p:oleObj>
              </mc:Choice>
              <mc:Fallback>
                <p:oleObj name="Equation" r:id="rId9" imgW="64764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075" y="2883694"/>
                        <a:ext cx="1773238" cy="420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95250" y="3368278"/>
          <a:ext cx="8909050" cy="48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08" name="Equation" r:id="rId11" imgW="4228920" imgH="279360" progId="Equation.DSMT4">
                  <p:embed/>
                </p:oleObj>
              </mc:Choice>
              <mc:Fallback>
                <p:oleObj name="Equation" r:id="rId11" imgW="4228920" imgH="279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" y="3368278"/>
                        <a:ext cx="8909050" cy="489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9" name="Group 7"/>
          <p:cNvGrpSpPr>
            <a:grpSpLocks/>
          </p:cNvGrpSpPr>
          <p:nvPr/>
        </p:nvGrpSpPr>
        <p:grpSpPr bwMode="auto">
          <a:xfrm>
            <a:off x="1651001" y="3904060"/>
            <a:ext cx="5726113" cy="1022747"/>
            <a:chOff x="1040" y="3252"/>
            <a:chExt cx="3607" cy="859"/>
          </a:xfrm>
        </p:grpSpPr>
        <p:graphicFrame>
          <p:nvGraphicFramePr>
            <p:cNvPr id="46087" name="Object 8"/>
            <p:cNvGraphicFramePr>
              <a:graphicFrameLocks noChangeAspect="1"/>
            </p:cNvGraphicFramePr>
            <p:nvPr/>
          </p:nvGraphicFramePr>
          <p:xfrm>
            <a:off x="1040" y="3252"/>
            <a:ext cx="3607" cy="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09" name="Equation" r:id="rId13" imgW="2717640" imgH="583920" progId="Equation.DSMT4">
                    <p:embed/>
                  </p:oleObj>
                </mc:Choice>
                <mc:Fallback>
                  <p:oleObj name="Equation" r:id="rId13" imgW="2717640" imgH="58392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" y="3252"/>
                          <a:ext cx="3607" cy="8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092" name="Group 9"/>
            <p:cNvGrpSpPr>
              <a:grpSpLocks/>
            </p:cNvGrpSpPr>
            <p:nvPr/>
          </p:nvGrpSpPr>
          <p:grpSpPr bwMode="auto">
            <a:xfrm>
              <a:off x="2255" y="3567"/>
              <a:ext cx="789" cy="155"/>
              <a:chOff x="1423" y="3759"/>
              <a:chExt cx="789" cy="155"/>
            </a:xfrm>
          </p:grpSpPr>
          <p:sp>
            <p:nvSpPr>
              <p:cNvPr id="46093" name="Line 10"/>
              <p:cNvSpPr>
                <a:spLocks noChangeShapeType="1"/>
              </p:cNvSpPr>
              <p:nvPr/>
            </p:nvSpPr>
            <p:spPr bwMode="auto">
              <a:xfrm>
                <a:off x="1423" y="3913"/>
                <a:ext cx="7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094" name="Line 11"/>
              <p:cNvSpPr>
                <a:spLocks noChangeShapeType="1"/>
              </p:cNvSpPr>
              <p:nvPr/>
            </p:nvSpPr>
            <p:spPr bwMode="auto">
              <a:xfrm>
                <a:off x="2212" y="3759"/>
                <a:ext cx="0" cy="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095" name="Line 12"/>
              <p:cNvSpPr>
                <a:spLocks noChangeShapeType="1"/>
              </p:cNvSpPr>
              <p:nvPr/>
            </p:nvSpPr>
            <p:spPr bwMode="auto">
              <a:xfrm>
                <a:off x="1423" y="3767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46090" name="Text Box 13"/>
          <p:cNvSpPr txBox="1">
            <a:spLocks noChangeArrowheads="1"/>
          </p:cNvSpPr>
          <p:nvPr/>
        </p:nvSpPr>
        <p:spPr bwMode="auto">
          <a:xfrm>
            <a:off x="1257300" y="2896791"/>
            <a:ext cx="603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Let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1"/>
            <a:ext cx="4572000" cy="203597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EC815-B7CC-4295-815C-E57F91351A69}" type="slidenum">
              <a:rPr lang="en-US"/>
              <a:pPr>
                <a:defRPr/>
              </a:pPr>
              <a:t>60</a:t>
            </a:fld>
            <a:endParaRPr lang="en-US" dirty="0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922339" y="997744"/>
          <a:ext cx="5915025" cy="48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08" name="Equation" r:id="rId3" imgW="2806560" imgH="279360" progId="Equation.DSMT4">
                  <p:embed/>
                </p:oleObj>
              </mc:Choice>
              <mc:Fallback>
                <p:oleObj name="Equation" r:id="rId3" imgW="2806560" imgH="2793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9" y="997744"/>
                        <a:ext cx="5915025" cy="489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168275" y="1725216"/>
          <a:ext cx="8743950" cy="2403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09" name="Equation" r:id="rId5" imgW="3848040" imgH="1473120" progId="Equation.DSMT4">
                  <p:embed/>
                </p:oleObj>
              </mc:Choice>
              <mc:Fallback>
                <p:oleObj name="Equation" r:id="rId5" imgW="3848040" imgH="14731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" y="1725216"/>
                        <a:ext cx="8743950" cy="24038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Text Box 4"/>
          <p:cNvSpPr txBox="1">
            <a:spLocks noChangeArrowheads="1"/>
          </p:cNvSpPr>
          <p:nvPr/>
        </p:nvSpPr>
        <p:spPr bwMode="auto">
          <a:xfrm>
            <a:off x="489904" y="355600"/>
            <a:ext cx="25204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Third Term con’t: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4471988" cy="235744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NEUTRON BOLTZMANN EQUATION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42DFF2-BA2F-4490-95B9-4E7F4E814549}" type="slidenum">
              <a:rPr lang="en-US"/>
              <a:pPr>
                <a:defRPr/>
              </a:pPr>
              <a:t>61</a:t>
            </a:fld>
            <a:endParaRPr lang="en-US" dirty="0"/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350839" y="832248"/>
          <a:ext cx="8366125" cy="258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32" name="Equation" r:id="rId3" imgW="3682800" imgH="1587240" progId="Equation.DSMT4">
                  <p:embed/>
                </p:oleObj>
              </mc:Choice>
              <mc:Fallback>
                <p:oleObj name="Equation" r:id="rId3" imgW="3682800" imgH="1587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9" y="832248"/>
                        <a:ext cx="8366125" cy="2588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323976" y="3532585"/>
          <a:ext cx="6061075" cy="745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33" name="Equation" r:id="rId5" imgW="2666880" imgH="457200" progId="Equation.DSMT4">
                  <p:embed/>
                </p:oleObj>
              </mc:Choice>
              <mc:Fallback>
                <p:oleObj name="Equation" r:id="rId5" imgW="266688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6" y="3532585"/>
                        <a:ext cx="6061075" cy="7453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 Box 4"/>
          <p:cNvSpPr txBox="1">
            <a:spLocks noChangeArrowheads="1"/>
          </p:cNvSpPr>
          <p:nvPr/>
        </p:nvSpPr>
        <p:spPr bwMode="auto">
          <a:xfrm>
            <a:off x="528639" y="381000"/>
            <a:ext cx="25204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ahoma" pitchFamily="34" charset="0"/>
              </a:rPr>
              <a:t>Third Term con’t: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none" rtlCol="0">
        <a:spAutoFit/>
      </a:bodyPr>
      <a:lstStyle>
        <a:defPPr eaLnBrk="0" hangingPunct="0">
          <a:defRPr sz="2000" dirty="0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15986</TotalTime>
  <Words>2019</Words>
  <Application>Microsoft Office PowerPoint</Application>
  <PresentationFormat>On-screen Show (16:9)</PresentationFormat>
  <Paragraphs>424</Paragraphs>
  <Slides>61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Arial Unicode MS</vt:lpstr>
      <vt:lpstr>Calibri</vt:lpstr>
      <vt:lpstr>Calibri Light</vt:lpstr>
      <vt:lpstr>Script MT Bold</vt:lpstr>
      <vt:lpstr>Symbol</vt:lpstr>
      <vt:lpstr>Tahoma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 of 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bganapol</dc:creator>
  <cp:lastModifiedBy>shay</cp:lastModifiedBy>
  <cp:revision>853</cp:revision>
  <dcterms:created xsi:type="dcterms:W3CDTF">2007-12-26T22:37:39Z</dcterms:created>
  <dcterms:modified xsi:type="dcterms:W3CDTF">2026-05-27T12:45:03Z</dcterms:modified>
</cp:coreProperties>
</file>