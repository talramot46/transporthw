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1" r:id="rId3"/>
    <p:sldId id="309" r:id="rId4"/>
    <p:sldId id="310" r:id="rId5"/>
    <p:sldId id="312" r:id="rId6"/>
    <p:sldId id="313" r:id="rId7"/>
    <p:sldId id="314" r:id="rId8"/>
  </p:sldIdLst>
  <p:sldSz cx="12192000" cy="6858000"/>
  <p:notesSz cx="6797675" cy="9928225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E4A2D8-6B1F-4789-9428-3D33B3CB225D}">
          <p14:sldIdLst>
            <p14:sldId id="308"/>
            <p14:sldId id="311"/>
            <p14:sldId id="309"/>
            <p14:sldId id="310"/>
            <p14:sldId id="312"/>
            <p14:sldId id="313"/>
            <p14:sldId id="314"/>
          </p14:sldIdLst>
        </p14:section>
        <p14:section name="Untitled Section" id="{46696092-EF04-4302-AAA5-3708814CA96E}">
          <p14:sldIdLst/>
        </p14:section>
        <p14:section name="Untitled Section" id="{939D210B-E1AA-4477-BC7A-80952EFC9694}">
          <p14:sldIdLst/>
        </p14:section>
        <p14:section name="Untitled Section" id="{DE8B6999-1459-4C1C-A3B1-E2A83FF213A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339933"/>
    <a:srgbClr val="3210C0"/>
    <a:srgbClr val="B0B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A7-34CC-409C-9843-FDE558E70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F9B95-1FED-4F98-A2C7-60D28E2F8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FFD4-70B7-4B28-A2D7-6459346E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C9FAF-DD08-40EE-9AE5-14C0C81E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9C2B2-0403-4676-92FC-8450B56B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250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B19D-20DA-4D05-8946-3C3574BD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080B3-6EE9-4210-8CE2-EDEACD592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4D924-4CED-473A-8A56-8006084E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4B75-2C92-4D0F-9706-5C1669BB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CB28F-EBCE-43B8-86E0-C61336E8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163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6996-1739-4FCD-928F-8E7DCB62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B0787-EAD8-45CE-917D-50F10DA1C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CDAA9-3EAD-4325-8F04-2E9B2768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AAC3C-D0E0-4731-9647-76784ED2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5626D-4FE3-4013-BB05-E5FBCADD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955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0414-4597-4C09-9821-BCADC344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1EA3-1D11-4574-B3CB-9BB6F3C6B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4BBBB-743E-4F59-AB20-9B9F54A9D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056C2-9A85-4532-BB3B-057E4D22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105CC-0EF8-40AF-94BE-CC403B62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F1597-10F0-4485-9705-DF44204C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420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7E36-1A0E-4EF1-86EB-EDC63F53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3CFA4-A579-488C-B23F-E89FB93BA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FAD3B-A26C-44CA-8CC8-4EEC95B3B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BF86A-B6EC-443C-8139-25D0BE86F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2D3EB-13B1-4D42-911E-788D34E5C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44E8B-D277-4418-BA95-F48EA010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654D5-3D75-4EC2-A30E-911AFAB7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573E7-CA14-480F-9691-0C8F3978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889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C8D6-2094-40F4-BAD8-184884D6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68714-F7B7-40E7-8C71-B0425496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69BC4-BAB1-412A-913E-6BF3C8B5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E6672-A027-446D-A064-DA369276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784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CBAE5-F060-417E-8056-9BBFA3FC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84A82-B21B-42DE-AAEE-CFBCE6A9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51A3-D7A7-45D0-8F7D-F9DB5AFB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44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3FBA-8CCF-4B4D-B6EB-F3AACBD0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BF9A-4F9D-48C4-8578-BB4F93259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0FB04-63CD-4578-8AFE-808A6B28E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DC235-7E5D-44C5-A56A-23AE41DA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EF78-2E47-462C-B4D1-D426F59D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55875-9B9C-419E-964D-94C2980A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204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8ED2-9BD8-42C0-BB9D-7A25413B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F5B4F-E6FF-477E-9173-2E0EA9D4A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05AD2-F9BA-4579-A948-B686AC11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F206A-5DEE-47F5-932C-DEF92626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E7095-87EA-476C-AC32-EDA74A948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947A1-1033-4F36-8DDB-39DF3E78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018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8CE8-5A54-45BA-9EC1-6B0D9CEC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D39A8-DC89-4CBC-BC09-05D1525D8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EEB4-F049-407E-A7DD-D000FE3C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64E3D-C2FC-432D-9F25-3C88D634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97749-353F-4861-A244-B7CA9448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687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66C71-FFE5-4A7D-BE81-D293255A0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7B1F8-6151-478F-A0D0-E70C1EAD8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17682-AA1A-4B4E-8756-A55E516F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BDED8-5855-48B7-A522-57F55F45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BD4F6-4B2A-475B-A318-24C0735C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63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  <a:alpha val="5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rgbClr val="990033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4A9701-BDBB-470E-913C-EB8A9569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C517D-7203-47A2-BCCC-D3C9E451F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258C8-491F-4078-A070-59BA43A30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F268E-79AE-4F8A-8993-16A21344ECEE}" type="datetimeFigureOut">
              <a:rPr lang="en-IL" smtClean="0"/>
              <a:t>19/07/2026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F37F3-E6B2-4F7B-8AC5-888A0CC9E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82A7F-1749-42DA-9856-9AF55D13A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A193B-B55A-44A5-A9A5-41C7C1E86B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459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8B5798-FEDB-4004-8289-12A52CDB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323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distance sampling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C6781-7577-4400-BE7F-E155BC69F50E}"/>
              </a:ext>
            </a:extLst>
          </p:cNvPr>
          <p:cNvSpPr txBox="1"/>
          <p:nvPr/>
        </p:nvSpPr>
        <p:spPr>
          <a:xfrm>
            <a:off x="930442" y="1095386"/>
            <a:ext cx="975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generates random numbers, distributed uniformly: 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37277-00D6-4D95-A377-B58E30AFD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543" y="1772023"/>
            <a:ext cx="1044030" cy="419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72DC27-1BF9-44CB-8432-090CC64C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466" y="2795942"/>
            <a:ext cx="1844200" cy="457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E558E9-03E2-4665-A634-13EE7CAB9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69" y="4400834"/>
            <a:ext cx="2103302" cy="662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BE4B47-6285-4D2A-B3E4-1E26B968A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097" y="4459407"/>
            <a:ext cx="1653683" cy="5334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323D7D-4258-4B7C-9C53-7937AE192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639" y="4699202"/>
            <a:ext cx="1348857" cy="4343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DAC066-F752-4D89-B8CA-CED945D7F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7343" y="4580885"/>
            <a:ext cx="1646063" cy="6248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60FCE7-879E-4435-85BF-3C0CF130D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665" y="5639852"/>
            <a:ext cx="1219306" cy="7315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168C4A-7699-4B3A-B528-D664165F8BD1}"/>
              </a:ext>
            </a:extLst>
          </p:cNvPr>
          <p:cNvSpPr txBox="1"/>
          <p:nvPr/>
        </p:nvSpPr>
        <p:spPr>
          <a:xfrm>
            <a:off x="553027" y="2238822"/>
            <a:ext cx="975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survival probability given the total cross-section is: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ACCEF-C8EB-48E1-A0DD-D29633649805}"/>
              </a:ext>
            </a:extLst>
          </p:cNvPr>
          <p:cNvSpPr txBox="1"/>
          <p:nvPr/>
        </p:nvSpPr>
        <p:spPr>
          <a:xfrm>
            <a:off x="642626" y="3761472"/>
            <a:ext cx="5783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cumulative probability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defined: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2B7F44-BEF8-498E-BBD1-EFD0FF558AEE}"/>
              </a:ext>
            </a:extLst>
          </p:cNvPr>
          <p:cNvSpPr txBox="1"/>
          <p:nvPr/>
        </p:nvSpPr>
        <p:spPr>
          <a:xfrm>
            <a:off x="6120062" y="3734144"/>
            <a:ext cx="5783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“Knowing”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can solve for the distance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that event occurred: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9BD1EC-626B-43AB-B36B-267BFCCE1D11}"/>
              </a:ext>
            </a:extLst>
          </p:cNvPr>
          <p:cNvSpPr txBox="1"/>
          <p:nvPr/>
        </p:nvSpPr>
        <p:spPr>
          <a:xfrm>
            <a:off x="3354473" y="5710830"/>
            <a:ext cx="335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simply: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9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8A0FAC-9D5A-4961-80E3-0806486F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284" y="1910485"/>
            <a:ext cx="312447" cy="342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F6382-F3F3-4DEE-AB04-5002D5B27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758" y="1908622"/>
            <a:ext cx="426757" cy="281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A35BBC-C47B-4CE0-A685-0C8228380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190" y="1883946"/>
            <a:ext cx="586791" cy="281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DF7B9F-71FA-4C5C-B841-60DB7B359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656" y="1929537"/>
            <a:ext cx="2644369" cy="304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97ED81-740B-41B7-A13A-91BB7FDDB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906" y="4321573"/>
            <a:ext cx="3101609" cy="358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97D6D-1EB7-4570-921B-8AE1875EDC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1190" y="4161632"/>
            <a:ext cx="1310754" cy="723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088119-C33D-429E-8554-500430591A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4514" y="4266626"/>
            <a:ext cx="1417443" cy="624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C3F02D-B163-4F4A-A2D0-2EA390B190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19" y="5586834"/>
            <a:ext cx="1806097" cy="6629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5932FF-9F69-437A-B9BC-D5A38518D4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2707" y="5670661"/>
            <a:ext cx="1524132" cy="5791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761B71A-A2F2-4451-97B8-57D5C369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323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Probability Density Function (PDF)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633B4-97D5-4B2B-BB85-B3C62AB7AE64}"/>
              </a:ext>
            </a:extLst>
          </p:cNvPr>
          <p:cNvSpPr txBox="1"/>
          <p:nvPr/>
        </p:nvSpPr>
        <p:spPr>
          <a:xfrm>
            <a:off x="814506" y="996061"/>
            <a:ext cx="2249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cross section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0D637-1983-41F0-A6D3-0597D7F5ADEA}"/>
              </a:ext>
            </a:extLst>
          </p:cNvPr>
          <p:cNvSpPr txBox="1"/>
          <p:nvPr/>
        </p:nvSpPr>
        <p:spPr>
          <a:xfrm>
            <a:off x="2883568" y="1000745"/>
            <a:ext cx="2671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distance element: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B0D4E-0822-48A4-995D-B49F8551DA31}"/>
              </a:ext>
            </a:extLst>
          </p:cNvPr>
          <p:cNvSpPr txBox="1"/>
          <p:nvPr/>
        </p:nvSpPr>
        <p:spPr>
          <a:xfrm>
            <a:off x="5197642" y="1017637"/>
            <a:ext cx="242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event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809404-82E7-4844-8EEB-500801A7648F}"/>
              </a:ext>
            </a:extLst>
          </p:cNvPr>
          <p:cNvSpPr txBox="1"/>
          <p:nvPr/>
        </p:nvSpPr>
        <p:spPr>
          <a:xfrm>
            <a:off x="8050841" y="994501"/>
            <a:ext cx="242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event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04CD3E-69A4-4F81-8A9F-AF7D88537C25}"/>
              </a:ext>
            </a:extLst>
          </p:cNvPr>
          <p:cNvSpPr txBox="1"/>
          <p:nvPr/>
        </p:nvSpPr>
        <p:spPr>
          <a:xfrm>
            <a:off x="5313568" y="2592203"/>
            <a:ext cx="242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to reach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2A603-81C8-4B1D-9833-7651E3AFB51C}"/>
              </a:ext>
            </a:extLst>
          </p:cNvPr>
          <p:cNvSpPr txBox="1"/>
          <p:nvPr/>
        </p:nvSpPr>
        <p:spPr>
          <a:xfrm>
            <a:off x="7442422" y="2617661"/>
            <a:ext cx="242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to reach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966305-A0BE-4174-86FF-7446E7458A42}"/>
              </a:ext>
            </a:extLst>
          </p:cNvPr>
          <p:cNvSpPr txBox="1"/>
          <p:nvPr/>
        </p:nvSpPr>
        <p:spPr>
          <a:xfrm>
            <a:off x="9603236" y="2706862"/>
            <a:ext cx="2644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doing event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B9E9EB-CF9A-4E8A-A16C-E55A9C81B9BA}"/>
              </a:ext>
            </a:extLst>
          </p:cNvPr>
          <p:cNvCxnSpPr/>
          <p:nvPr/>
        </p:nvCxnSpPr>
        <p:spPr>
          <a:xfrm flipV="1">
            <a:off x="6771503" y="2316892"/>
            <a:ext cx="1365421" cy="30076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218586-9C76-45C8-BAFE-BB7FBC715F4A}"/>
              </a:ext>
            </a:extLst>
          </p:cNvPr>
          <p:cNvCxnSpPr>
            <a:cxnSpLocks/>
          </p:cNvCxnSpPr>
          <p:nvPr/>
        </p:nvCxnSpPr>
        <p:spPr>
          <a:xfrm flipV="1">
            <a:off x="8711760" y="2297997"/>
            <a:ext cx="552080" cy="31966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2012B9-61D0-4F1B-8E69-D3B2F000D229}"/>
              </a:ext>
            </a:extLst>
          </p:cNvPr>
          <p:cNvCxnSpPr>
            <a:cxnSpLocks/>
          </p:cNvCxnSpPr>
          <p:nvPr/>
        </p:nvCxnSpPr>
        <p:spPr>
          <a:xfrm flipH="1" flipV="1">
            <a:off x="10085696" y="2297997"/>
            <a:ext cx="740883" cy="40886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16FF87-4833-4D1E-893F-D8C9F25653C0}"/>
              </a:ext>
            </a:extLst>
          </p:cNvPr>
          <p:cNvSpPr txBox="1"/>
          <p:nvPr/>
        </p:nvSpPr>
        <p:spPr>
          <a:xfrm>
            <a:off x="1433436" y="3683728"/>
            <a:ext cx="242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Arranging: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39FE34-42E4-4BC3-AC60-3EDB248FDCF7}"/>
              </a:ext>
            </a:extLst>
          </p:cNvPr>
          <p:cNvSpPr txBox="1"/>
          <p:nvPr/>
        </p:nvSpPr>
        <p:spPr>
          <a:xfrm>
            <a:off x="8499422" y="5136677"/>
            <a:ext cx="242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E8A34A-CD20-4D27-B285-EE4A3487C0DA}"/>
              </a:ext>
            </a:extLst>
          </p:cNvPr>
          <p:cNvSpPr txBox="1"/>
          <p:nvPr/>
        </p:nvSpPr>
        <p:spPr>
          <a:xfrm>
            <a:off x="8501774" y="3695619"/>
            <a:ext cx="242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100DB-E24D-4D02-9CA4-537EE8D98990}"/>
              </a:ext>
            </a:extLst>
          </p:cNvPr>
          <p:cNvSpPr txBox="1"/>
          <p:nvPr/>
        </p:nvSpPr>
        <p:spPr>
          <a:xfrm>
            <a:off x="5465968" y="3771060"/>
            <a:ext cx="242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A4DF1D-0FC1-4521-9A4E-EB1BD4DBA91F}"/>
              </a:ext>
            </a:extLst>
          </p:cNvPr>
          <p:cNvSpPr txBox="1"/>
          <p:nvPr/>
        </p:nvSpPr>
        <p:spPr>
          <a:xfrm>
            <a:off x="1670568" y="5064191"/>
            <a:ext cx="242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Differentiating: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2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27989B-918F-403A-9596-62DB41853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899" y="3305001"/>
            <a:ext cx="1112616" cy="13031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04B91-ABA6-4F46-87FB-1357887B5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252" y="2397215"/>
            <a:ext cx="1386960" cy="5867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06A345-6E9F-4A19-9E9D-93DF8D521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201" y="3621960"/>
            <a:ext cx="1425063" cy="434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4C50D-C8C1-4EAB-B186-30B8A9BF2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029" y="4654725"/>
            <a:ext cx="1257409" cy="38865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4F004F0-744A-49E4-9ACC-405F344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323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Events sampling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7B347-936A-45B2-8B1F-A81EDC20F2BC}"/>
              </a:ext>
            </a:extLst>
          </p:cNvPr>
          <p:cNvSpPr txBox="1"/>
          <p:nvPr/>
        </p:nvSpPr>
        <p:spPr>
          <a:xfrm>
            <a:off x="930442" y="1095386"/>
            <a:ext cx="9753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event was sampled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type of event is sampled via the different cross-sections for capture, scattering or fission: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91899B-B773-4586-B578-6291E41003AA}"/>
              </a:ext>
            </a:extLst>
          </p:cNvPr>
          <p:cNvCxnSpPr>
            <a:cxnSpLocks/>
          </p:cNvCxnSpPr>
          <p:nvPr/>
        </p:nvCxnSpPr>
        <p:spPr>
          <a:xfrm flipV="1">
            <a:off x="4565822" y="2922373"/>
            <a:ext cx="1449744" cy="55848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CA6445-D062-4E00-B18C-D2581BF32442}"/>
              </a:ext>
            </a:extLst>
          </p:cNvPr>
          <p:cNvCxnSpPr>
            <a:cxnSpLocks/>
          </p:cNvCxnSpPr>
          <p:nvPr/>
        </p:nvCxnSpPr>
        <p:spPr>
          <a:xfrm flipV="1">
            <a:off x="4584486" y="3892378"/>
            <a:ext cx="1511514" cy="95112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D3C24F-2E0B-412C-B34C-0124EB30C357}"/>
              </a:ext>
            </a:extLst>
          </p:cNvPr>
          <p:cNvCxnSpPr>
            <a:cxnSpLocks/>
          </p:cNvCxnSpPr>
          <p:nvPr/>
        </p:nvCxnSpPr>
        <p:spPr>
          <a:xfrm>
            <a:off x="4522716" y="4415743"/>
            <a:ext cx="1671485" cy="51587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C2224A-7F38-4B02-8F26-CEA2F53EADC4}"/>
              </a:ext>
            </a:extLst>
          </p:cNvPr>
          <p:cNvSpPr txBox="1"/>
          <p:nvPr/>
        </p:nvSpPr>
        <p:spPr>
          <a:xfrm>
            <a:off x="2098900" y="2576174"/>
            <a:ext cx="242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DAF461-A8BF-426B-8F94-276E2686265A}"/>
              </a:ext>
            </a:extLst>
          </p:cNvPr>
          <p:cNvSpPr txBox="1"/>
          <p:nvPr/>
        </p:nvSpPr>
        <p:spPr>
          <a:xfrm>
            <a:off x="-158232" y="3265125"/>
            <a:ext cx="359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probability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5DF779-7A96-4A05-BF4D-7148762F9476}"/>
              </a:ext>
            </a:extLst>
          </p:cNvPr>
          <p:cNvSpPr txBox="1"/>
          <p:nvPr/>
        </p:nvSpPr>
        <p:spPr>
          <a:xfrm>
            <a:off x="-158232" y="3756657"/>
            <a:ext cx="359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probability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70C97D-6C99-4785-B992-6D25CD2AB8C4}"/>
              </a:ext>
            </a:extLst>
          </p:cNvPr>
          <p:cNvSpPr txBox="1"/>
          <p:nvPr/>
        </p:nvSpPr>
        <p:spPr>
          <a:xfrm>
            <a:off x="-158232" y="4289834"/>
            <a:ext cx="359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Fission probability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00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5E97A1-465A-447B-BE98-1E3A6BDBB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69" y="1601323"/>
            <a:ext cx="769687" cy="434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9AB495-758A-48B0-8F23-3F5E6D1C1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090" y="3666909"/>
            <a:ext cx="1036410" cy="396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DBDC40-61D1-43A2-89CC-F89AF2233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913" y="3690207"/>
            <a:ext cx="1219306" cy="304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9F5580-0250-4E1C-BA15-42FDB2794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970" y="3746093"/>
            <a:ext cx="960203" cy="320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603F9A-5B36-4B2D-9329-0DCB55B5F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018" y="4785133"/>
            <a:ext cx="2027096" cy="146316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9048A3B-EAB4-4E40-9A60-99281D302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323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irection sampling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0D6AE-63B3-4FF3-A30F-AB3737B782E0}"/>
              </a:ext>
            </a:extLst>
          </p:cNvPr>
          <p:cNvSpPr txBox="1"/>
          <p:nvPr/>
        </p:nvSpPr>
        <p:spPr>
          <a:xfrm>
            <a:off x="926432" y="959032"/>
            <a:ext cx="1033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sampling isotropic 3D direction, we need to cover the unit sphere isotopically. 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344CC-50ED-4CB1-B309-4EF46411F374}"/>
              </a:ext>
            </a:extLst>
          </p:cNvPr>
          <p:cNvSpPr txBox="1"/>
          <p:nvPr/>
        </p:nvSpPr>
        <p:spPr>
          <a:xfrm>
            <a:off x="3444500" y="1601323"/>
            <a:ext cx="2106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Naively: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3847A-4FA0-4E18-A0F9-6DB51C345EED}"/>
              </a:ext>
            </a:extLst>
          </p:cNvPr>
          <p:cNvSpPr txBox="1"/>
          <p:nvPr/>
        </p:nvSpPr>
        <p:spPr>
          <a:xfrm>
            <a:off x="6489031" y="1608210"/>
            <a:ext cx="4576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that’s, would be wrong!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70D94-9ABF-4140-86E6-E2E200DEE6B6}"/>
              </a:ext>
            </a:extLst>
          </p:cNvPr>
          <p:cNvSpPr txBox="1"/>
          <p:nvPr/>
        </p:nvSpPr>
        <p:spPr>
          <a:xfrm>
            <a:off x="998621" y="2330175"/>
            <a:ext cx="1033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we have to sample to independent random variables,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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84808-D9ED-430A-AB5F-BE06B498CE34}"/>
              </a:ext>
            </a:extLst>
          </p:cNvPr>
          <p:cNvSpPr txBox="1"/>
          <p:nvPr/>
        </p:nvSpPr>
        <p:spPr>
          <a:xfrm>
            <a:off x="7987854" y="3198167"/>
            <a:ext cx="313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Azimuthal angle: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45EC9C-4C34-47FE-8AAA-5991CC257052}"/>
              </a:ext>
            </a:extLst>
          </p:cNvPr>
          <p:cNvSpPr txBox="1"/>
          <p:nvPr/>
        </p:nvSpPr>
        <p:spPr>
          <a:xfrm>
            <a:off x="2926295" y="3059027"/>
            <a:ext cx="313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 angle: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7A334-EFB1-4C52-B851-7A2D7B93A1D1}"/>
              </a:ext>
            </a:extLst>
          </p:cNvPr>
          <p:cNvSpPr txBox="1"/>
          <p:nvPr/>
        </p:nvSpPr>
        <p:spPr>
          <a:xfrm>
            <a:off x="1983974" y="5067971"/>
            <a:ext cx="2921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Cartesian unit-size directions: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46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8E6B1F-73C9-4FC3-95DF-8D5D29FFA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175" y="2312735"/>
            <a:ext cx="1981372" cy="2301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43728A-5178-451C-9C7B-354A4E7B1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856" y="3934641"/>
            <a:ext cx="1996613" cy="13488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42736DA-E57A-431C-B1EC-8676DC314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070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Advancing Particles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E6CE0-696E-4D53-A0FD-676ACCC41D99}"/>
              </a:ext>
            </a:extLst>
          </p:cNvPr>
          <p:cNvSpPr txBox="1"/>
          <p:nvPr/>
        </p:nvSpPr>
        <p:spPr>
          <a:xfrm>
            <a:off x="1814106" y="1133653"/>
            <a:ext cx="8402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Ones the distance for iteration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direction </a:t>
            </a:r>
            <a:r>
              <a:rPr lang="he-IL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sampled, the new position of each particle is determined: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15FD6-AE75-4A9F-BCC5-4B1D17FB4A47}"/>
              </a:ext>
            </a:extLst>
          </p:cNvPr>
          <p:cNvSpPr txBox="1"/>
          <p:nvPr/>
        </p:nvSpPr>
        <p:spPr>
          <a:xfrm>
            <a:off x="5531708" y="2487980"/>
            <a:ext cx="525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new position is greater than the system size (for example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bare sphere), the particle leaks (vanishes): 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D1A58-770E-4487-BD6F-6BA0EAD3DE10}"/>
              </a:ext>
            </a:extLst>
          </p:cNvPr>
          <p:cNvSpPr txBox="1"/>
          <p:nvPr/>
        </p:nvSpPr>
        <p:spPr>
          <a:xfrm>
            <a:off x="685800" y="4939517"/>
            <a:ext cx="6414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multi-zones problem, if the new position is greater than the surface between the zones, approach particle to surface and sample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 considering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spent in previous zones.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791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B80FA9-D023-4FD7-9149-991CC2A5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530" y="1689806"/>
            <a:ext cx="1790855" cy="662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7BD36-6AE8-44E3-8F91-5534A6791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800" y="1849839"/>
            <a:ext cx="1257409" cy="342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BD1E2-58D7-4D6E-815E-8675D300D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745" y="3154656"/>
            <a:ext cx="1562235" cy="548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F03CEF-103F-427D-9B41-DB484AF31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579" y="3154656"/>
            <a:ext cx="1653683" cy="426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AD1DD3-4C40-47CE-BB8A-DDEB8DAD7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266" y="4535374"/>
            <a:ext cx="1798476" cy="4191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FD8EC4-211E-44BB-870D-2D9581F773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466" y="5820400"/>
            <a:ext cx="2187130" cy="7392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6113F4D-3B18-4A63-87C6-1DB9FFBE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323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Inverse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Density Function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C23C31-9CC1-4289-BA1C-9A111D6E78BC}"/>
              </a:ext>
            </a:extLst>
          </p:cNvPr>
          <p:cNvSpPr txBox="1"/>
          <p:nvPr/>
        </p:nvSpPr>
        <p:spPr>
          <a:xfrm>
            <a:off x="0" y="1106501"/>
            <a:ext cx="462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probability: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89BF7-3D04-46CA-A3ED-EC606EFD98A7}"/>
              </a:ext>
            </a:extLst>
          </p:cNvPr>
          <p:cNvSpPr txBox="1"/>
          <p:nvPr/>
        </p:nvSpPr>
        <p:spPr>
          <a:xfrm>
            <a:off x="5586577" y="1186518"/>
            <a:ext cx="462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cumulative probability: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FA2AB2-5A6D-4B9D-BC67-819A47E3C127}"/>
              </a:ext>
            </a:extLst>
          </p:cNvPr>
          <p:cNvSpPr txBox="1"/>
          <p:nvPr/>
        </p:nvSpPr>
        <p:spPr>
          <a:xfrm>
            <a:off x="-30961" y="2635893"/>
            <a:ext cx="5443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simple constant “one-zone” PDF: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A9B6B3-6AD3-4A8F-A3E3-CA146FEC38AC}"/>
              </a:ext>
            </a:extLst>
          </p:cNvPr>
          <p:cNvSpPr txBox="1"/>
          <p:nvPr/>
        </p:nvSpPr>
        <p:spPr>
          <a:xfrm>
            <a:off x="5669692" y="2608110"/>
            <a:ext cx="462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D49C1-105E-4E54-BBA9-30243FB3FF25}"/>
              </a:ext>
            </a:extLst>
          </p:cNvPr>
          <p:cNvSpPr txBox="1"/>
          <p:nvPr/>
        </p:nvSpPr>
        <p:spPr>
          <a:xfrm>
            <a:off x="682961" y="4492845"/>
            <a:ext cx="5737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east do define the inverse distribution: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751F8D4-7508-4F98-A9DB-7BF4A98CEF14}"/>
              </a:ext>
            </a:extLst>
          </p:cNvPr>
          <p:cNvSpPr/>
          <p:nvPr/>
        </p:nvSpPr>
        <p:spPr>
          <a:xfrm>
            <a:off x="5489853" y="5103428"/>
            <a:ext cx="359678" cy="568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636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A0AC45-5344-4468-9FEC-FDD77BACD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77" y="1533396"/>
            <a:ext cx="3596952" cy="662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6C49E0-4294-49E7-9D41-0B320002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909" y="1666757"/>
            <a:ext cx="1379340" cy="396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CBEC15-DBDA-467F-BC58-67C7E0A60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219" y="2559083"/>
            <a:ext cx="3200677" cy="77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6740DA-A56E-48D3-BDA4-F24C6A3EB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576" y="3716080"/>
            <a:ext cx="2949196" cy="655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7D387-AEDE-49C5-B90B-D579EEBC3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848" y="4830876"/>
            <a:ext cx="2530059" cy="762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7E2A08-C2F6-4321-8B37-B803244BF0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6367" y="4861358"/>
            <a:ext cx="2133785" cy="701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66EF4D-81B1-4FDF-898C-67011C2551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8528" y="5975562"/>
            <a:ext cx="3734124" cy="64775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C05A2CA-F295-4C5C-A1A1-1C2686DB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323"/>
            <a:ext cx="12031133" cy="1325563"/>
          </a:xfrm>
        </p:spPr>
        <p:txBody>
          <a:bodyPr>
            <a:noAutofit/>
          </a:bodyPr>
          <a:lstStyle/>
          <a:p>
            <a:pPr algn="ctr"/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-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Multi-Zones problem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B45A6-AAA6-4ECB-90AD-1703ACCE29A2}"/>
              </a:ext>
            </a:extLst>
          </p:cNvPr>
          <p:cNvSpPr txBox="1"/>
          <p:nvPr/>
        </p:nvSpPr>
        <p:spPr>
          <a:xfrm>
            <a:off x="5808673" y="953600"/>
            <a:ext cx="5443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simple constant “one-zone” PDF: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DCCB8B-5FA6-4502-A0A0-F42EBA758120}"/>
              </a:ext>
            </a:extLst>
          </p:cNvPr>
          <p:cNvSpPr txBox="1"/>
          <p:nvPr/>
        </p:nvSpPr>
        <p:spPr>
          <a:xfrm>
            <a:off x="296493" y="921530"/>
            <a:ext cx="5443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complex “multi-zone” PDF: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74068B-0C19-4AA7-8E6C-094E6F7A77CF}"/>
              </a:ext>
            </a:extLst>
          </p:cNvPr>
          <p:cNvSpPr txBox="1"/>
          <p:nvPr/>
        </p:nvSpPr>
        <p:spPr>
          <a:xfrm>
            <a:off x="86497" y="2697255"/>
            <a:ext cx="462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probability: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B7953E-480F-4F25-BABF-2C08C8F6F9AB}"/>
              </a:ext>
            </a:extLst>
          </p:cNvPr>
          <p:cNvSpPr txBox="1"/>
          <p:nvPr/>
        </p:nvSpPr>
        <p:spPr>
          <a:xfrm>
            <a:off x="448310" y="3564458"/>
            <a:ext cx="5783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can solve for the distance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but now through integral: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BB7E59-A72B-4C75-AFA6-058136675C99}"/>
              </a:ext>
            </a:extLst>
          </p:cNvPr>
          <p:cNvSpPr txBox="1"/>
          <p:nvPr/>
        </p:nvSpPr>
        <p:spPr>
          <a:xfrm>
            <a:off x="-295247" y="4981075"/>
            <a:ext cx="462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4BEA0B-0D0E-4E99-9864-85CD665B9F3B}"/>
              </a:ext>
            </a:extLst>
          </p:cNvPr>
          <p:cNvSpPr txBox="1"/>
          <p:nvPr/>
        </p:nvSpPr>
        <p:spPr>
          <a:xfrm>
            <a:off x="4106877" y="4998267"/>
            <a:ext cx="462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AE0E80-1DBE-48FC-ADF5-F9BBE36E6989}"/>
              </a:ext>
            </a:extLst>
          </p:cNvPr>
          <p:cNvSpPr txBox="1"/>
          <p:nvPr/>
        </p:nvSpPr>
        <p:spPr>
          <a:xfrm>
            <a:off x="401595" y="5883942"/>
            <a:ext cx="6706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done by separating each different distance in each zone (cell-by-cell optical depth):</a:t>
            </a:r>
            <a:endParaRPr lang="en-I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5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374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Monte-Carlo - distance sampling</vt:lpstr>
      <vt:lpstr>Monte-Carlo - Probability Density Function (PDF)</vt:lpstr>
      <vt:lpstr>Monte-Carlo - Events sampling</vt:lpstr>
      <vt:lpstr>Monte-Carlo - Direction sampling</vt:lpstr>
      <vt:lpstr>Monte-Carlo - Advancing Particles</vt:lpstr>
      <vt:lpstr>Monte-Carlo - Inverse Cumulative Density Function</vt:lpstr>
      <vt:lpstr>Monte-Carlo - Multi-Zones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shay</dc:creator>
  <cp:lastModifiedBy>shay</cp:lastModifiedBy>
  <cp:revision>292</cp:revision>
  <cp:lastPrinted>2026-06-07T08:42:56Z</cp:lastPrinted>
  <dcterms:created xsi:type="dcterms:W3CDTF">2026-05-24T07:41:07Z</dcterms:created>
  <dcterms:modified xsi:type="dcterms:W3CDTF">2026-07-19T14:43:59Z</dcterms:modified>
</cp:coreProperties>
</file>