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81" r:id="rId2"/>
    <p:sldId id="278" r:id="rId3"/>
    <p:sldId id="288" r:id="rId4"/>
    <p:sldId id="289" r:id="rId5"/>
    <p:sldId id="293" r:id="rId6"/>
    <p:sldId id="290" r:id="rId7"/>
    <p:sldId id="291" r:id="rId8"/>
    <p:sldId id="295" r:id="rId9"/>
    <p:sldId id="296" r:id="rId10"/>
    <p:sldId id="292" r:id="rId11"/>
    <p:sldId id="298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BC00"/>
    <a:srgbClr val="170692"/>
    <a:srgbClr val="BE3636"/>
    <a:srgbClr val="811730"/>
    <a:srgbClr val="200F89"/>
    <a:srgbClr val="004B98"/>
    <a:srgbClr val="009BDF"/>
    <a:srgbClr val="2F5496"/>
    <a:srgbClr val="5760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 autoAdjust="0"/>
    <p:restoredTop sz="95903"/>
  </p:normalViewPr>
  <p:slideViewPr>
    <p:cSldViewPr snapToGrid="0" showGuides="1">
      <p:cViewPr varScale="1">
        <p:scale>
          <a:sx n="118" d="100"/>
          <a:sy n="118" d="100"/>
        </p:scale>
        <p:origin x="547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E5366-D1C9-CC4C-A84C-6A1538715C6D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C8934-3BC4-8546-97F7-B3C25710E6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mountain peak&#10;&#10;Description automatically generated">
            <a:extLst>
              <a:ext uri="{FF2B5EF4-FFF2-40B4-BE49-F238E27FC236}">
                <a16:creationId xmlns:a16="http://schemas.microsoft.com/office/drawing/2014/main" id="{6967A4D0-BCF9-94A1-B91D-BCA1043E5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959" y="3278459"/>
            <a:ext cx="9151558" cy="2364433"/>
          </a:xfrm>
        </p:spPr>
        <p:txBody>
          <a:bodyPr anchor="b">
            <a:normAutofit/>
          </a:bodyPr>
          <a:lstStyle>
            <a:lvl1pPr algn="l">
              <a:defRPr sz="7200" b="1" i="0">
                <a:solidFill>
                  <a:schemeClr val="bg1"/>
                </a:solidFill>
                <a:effectLst/>
                <a:latin typeface="Franklin Gothic Demi Cond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959" y="5776332"/>
            <a:ext cx="9151558" cy="1081668"/>
          </a:xfrm>
        </p:spPr>
        <p:txBody>
          <a:bodyPr>
            <a:normAutofit/>
          </a:bodyPr>
          <a:lstStyle>
            <a:lvl1pPr marL="0" indent="0" algn="l">
              <a:buNone/>
              <a:defRPr sz="3200" b="0" i="0">
                <a:solidFill>
                  <a:schemeClr val="bg1"/>
                </a:solidFill>
                <a:effectLst/>
                <a:latin typeface="Franklin Gothic Medium" panose="020B06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4792AA-6E45-4B66-0CD6-7488CF28E0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270" y="-1599590"/>
            <a:ext cx="8144434" cy="629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0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95000"/>
              </a:lnSpc>
              <a:spcBef>
                <a:spcPts val="1800"/>
              </a:spcBef>
              <a:buClr>
                <a:schemeClr val="tx1"/>
              </a:buClr>
              <a:defRPr>
                <a:effectLst/>
              </a:defRPr>
            </a:lvl1pPr>
            <a:lvl2pPr marL="685800" indent="-228600">
              <a:lnSpc>
                <a:spcPct val="95000"/>
              </a:lnSpc>
              <a:spcBef>
                <a:spcPts val="200"/>
              </a:spcBef>
              <a:buClr>
                <a:schemeClr val="tx2"/>
              </a:buClr>
              <a:buFont typeface="Arial" panose="020B0604020202020204" pitchFamily="34" charset="0"/>
              <a:buChar char="-"/>
              <a:defRPr>
                <a:effectLst/>
              </a:defRPr>
            </a:lvl2pPr>
            <a:lvl3pPr marL="1143000" indent="-228600">
              <a:lnSpc>
                <a:spcPct val="95000"/>
              </a:lnSpc>
              <a:buClr>
                <a:schemeClr val="tx2"/>
              </a:buClr>
              <a:buFont typeface="Wingdings" panose="05000000000000000000" pitchFamily="2" charset="2"/>
              <a:buChar char="§"/>
              <a:defRPr>
                <a:effectLst/>
              </a:defRPr>
            </a:lvl3pPr>
            <a:lvl4pPr>
              <a:lnSpc>
                <a:spcPct val="95000"/>
              </a:lnSpc>
              <a:buClr>
                <a:schemeClr val="tx1"/>
              </a:buClr>
              <a:defRPr>
                <a:effectLst/>
              </a:defRPr>
            </a:lvl4pPr>
            <a:lvl5pPr>
              <a:lnSpc>
                <a:spcPct val="95000"/>
              </a:lnSpc>
              <a:buClr>
                <a:schemeClr val="tx1"/>
              </a:buClr>
              <a:defRPr>
                <a:effectLst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B5ADA29-29F4-5D45-9563-67F92E85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BBBB0095-2F5A-494C-8CA2-A6C4638E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10A1-DAFA-4A34-8A6A-75C1647DFA80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CDDB342-D2DD-6B40-AD2A-E7E52394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64086E-566C-E542-8E7A-FED0A4C7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7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BB3D3-6A22-4107-AC80-D50BC7B5E1A2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16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E524-6B1D-4DB1-852D-9F73495F3DA6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1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F99BB-7D4A-4647-BE89-5B35316674B2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2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29E5-1184-4768-BD4E-1AFBA213B2DC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7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D59A-DC17-401A-962A-581143E351B1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6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2150-6C4F-4B87-A21F-91D218731FCD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9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F246-ECD1-4CD9-8CE4-CD44E3E3D276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4E49-2C47-4F41-9E41-E36EFB8278D9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3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13462FD-6242-4F4B-AF93-9C3C5884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E5EC-A33F-404B-9065-B2750C64A7DF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5A9147D-DC56-684C-A23C-A9D29C61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252EFE-A527-1F46-B353-FFBBC9E3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51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3">
                <a:lumMod val="50000"/>
                <a:lumOff val="50000"/>
              </a:schemeClr>
            </a:gs>
            <a:gs pos="83000">
              <a:schemeClr val="accent3">
                <a:lumMod val="90000"/>
                <a:lumOff val="10000"/>
                <a:alpha val="50000"/>
              </a:schemeClr>
            </a:gs>
            <a:gs pos="100000">
              <a:schemeClr val="accent3">
                <a:lumMod val="50000"/>
                <a:lumOff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323" y="365125"/>
            <a:ext cx="112147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323" y="1825625"/>
            <a:ext cx="112147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95000"/>
              </a:lnSpc>
              <a:spcBef>
                <a:spcPts val="18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685800" lvl="1" indent="-228600" algn="l" defTabSz="914400" rtl="0" eaLnBrk="1" latinLnBrk="0" hangingPunct="1">
              <a:lnSpc>
                <a:spcPct val="95000"/>
              </a:lnSpc>
              <a:spcBef>
                <a:spcPts val="200"/>
              </a:spcBef>
              <a:buClr>
                <a:schemeClr val="accent1"/>
              </a:buClr>
              <a:buFont typeface="Arial" panose="020B0604020202020204" pitchFamily="34" charset="0"/>
              <a:buChar char="-"/>
            </a:pPr>
            <a:r>
              <a:rPr lang="en-US" dirty="0"/>
              <a:t>Second level</a:t>
            </a:r>
          </a:p>
          <a:p>
            <a:pPr marL="1143000" lvl="2" indent="-22860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7B777F7-671C-4224-AF44-F6337ECCE701}" type="datetime1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8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3C6260E-304F-4BA0-8E11-6E941ACC6D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3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600" b="0" kern="1200"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800" kern="1200" dirty="0" smtClean="0">
          <a:solidFill>
            <a:srgbClr val="000000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dirty="0" smtClean="0">
          <a:solidFill>
            <a:srgbClr val="000000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rgbClr val="000000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rgbClr val="000000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rgbClr val="000000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5" Type="http://schemas.openxmlformats.org/officeDocument/2006/relationships/tags" Target="../tags/tag5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tags" Target="../tags/tag8.xml"/><Relationship Id="rId21" Type="http://schemas.openxmlformats.org/officeDocument/2006/relationships/image" Target="../media/image17.png"/><Relationship Id="rId7" Type="http://schemas.openxmlformats.org/officeDocument/2006/relationships/tags" Target="../tags/tag12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tags" Target="../tags/tag7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15" Type="http://schemas.openxmlformats.org/officeDocument/2006/relationships/image" Target="../media/image11.png"/><Relationship Id="rId10" Type="http://schemas.openxmlformats.org/officeDocument/2006/relationships/tags" Target="../tags/tag15.xml"/><Relationship Id="rId19" Type="http://schemas.openxmlformats.org/officeDocument/2006/relationships/image" Target="../media/image15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20.xml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tags" Target="../tags/tag22.xml"/><Relationship Id="rId10" Type="http://schemas.openxmlformats.org/officeDocument/2006/relationships/image" Target="../media/image25.png"/><Relationship Id="rId4" Type="http://schemas.openxmlformats.org/officeDocument/2006/relationships/tags" Target="../tags/tag21.xml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5.xml"/><Relationship Id="rId7" Type="http://schemas.openxmlformats.org/officeDocument/2006/relationships/image" Target="../media/image30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7.xml"/><Relationship Id="rId10" Type="http://schemas.openxmlformats.org/officeDocument/2006/relationships/image" Target="../media/image31.png"/><Relationship Id="rId4" Type="http://schemas.openxmlformats.org/officeDocument/2006/relationships/tags" Target="../tags/tag26.xml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30.xml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png"/><Relationship Id="rId5" Type="http://schemas.openxmlformats.org/officeDocument/2006/relationships/tags" Target="../tags/tag32.xml"/><Relationship Id="rId10" Type="http://schemas.openxmlformats.org/officeDocument/2006/relationships/image" Target="../media/image27.png"/><Relationship Id="rId4" Type="http://schemas.openxmlformats.org/officeDocument/2006/relationships/tags" Target="../tags/tag31.xml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3.png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2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11.png"/><Relationship Id="rId5" Type="http://schemas.openxmlformats.org/officeDocument/2006/relationships/tags" Target="../tags/tag37.xml"/><Relationship Id="rId10" Type="http://schemas.openxmlformats.org/officeDocument/2006/relationships/image" Target="../media/image10.png"/><Relationship Id="rId4" Type="http://schemas.openxmlformats.org/officeDocument/2006/relationships/tags" Target="../tags/tag36.xml"/><Relationship Id="rId9" Type="http://schemas.openxmlformats.org/officeDocument/2006/relationships/image" Target="../media/image37.png"/><Relationship Id="rId14" Type="http://schemas.openxmlformats.org/officeDocument/2006/relationships/image" Target="../media/image3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41.xml"/><Relationship Id="rId7" Type="http://schemas.openxmlformats.org/officeDocument/2006/relationships/image" Target="../media/image39.png"/><Relationship Id="rId12" Type="http://schemas.openxmlformats.org/officeDocument/2006/relationships/image" Target="../media/image31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0.png"/><Relationship Id="rId5" Type="http://schemas.openxmlformats.org/officeDocument/2006/relationships/tags" Target="../tags/tag43.xml"/><Relationship Id="rId10" Type="http://schemas.openxmlformats.org/officeDocument/2006/relationships/image" Target="../media/image42.png"/><Relationship Id="rId4" Type="http://schemas.openxmlformats.org/officeDocument/2006/relationships/tags" Target="../tags/tag42.xml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tags" Target="../tags/tag46.xml"/><Relationship Id="rId7" Type="http://schemas.openxmlformats.org/officeDocument/2006/relationships/image" Target="../media/image39.png"/><Relationship Id="rId12" Type="http://schemas.openxmlformats.org/officeDocument/2006/relationships/image" Target="../media/image46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8.jpeg"/><Relationship Id="rId5" Type="http://schemas.openxmlformats.org/officeDocument/2006/relationships/tags" Target="../tags/tag48.xml"/><Relationship Id="rId10" Type="http://schemas.openxmlformats.org/officeDocument/2006/relationships/image" Target="../media/image45.png"/><Relationship Id="rId4" Type="http://schemas.openxmlformats.org/officeDocument/2006/relationships/tags" Target="../tags/tag47.xml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30.png"/><Relationship Id="rId5" Type="http://schemas.openxmlformats.org/officeDocument/2006/relationships/image" Target="../media/image38.jpe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BCB20E2-14D2-4064-8341-DA21EBC3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47" y="42386"/>
            <a:ext cx="11214705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Theory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5AA705-CF5C-44E9-80ED-705F36535266}"/>
              </a:ext>
            </a:extLst>
          </p:cNvPr>
          <p:cNvSpPr txBox="1"/>
          <p:nvPr/>
        </p:nvSpPr>
        <p:spPr>
          <a:xfrm>
            <a:off x="800450" y="1154947"/>
            <a:ext cx="3546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diffusion equation: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\documentclass{article}&#10;\usepackage{amsmath}&#10;\pagestyle{empty}&#10;\begin{document}&#10;&#10;$-\frac{1}{r^2}\frac{d}{dr}\left(r^2D(r)\frac{d\phi(r)}{d r}\right)+(1-c)\Sigma_t(r)\phi(r)=0$&#10;&#10;&#10;\end{document}" title="IguanaTex Bitmap Display">
            <a:extLst>
              <a:ext uri="{FF2B5EF4-FFF2-40B4-BE49-F238E27FC236}">
                <a16:creationId xmlns:a16="http://schemas.microsoft.com/office/drawing/2014/main" id="{9393F21A-3633-41BF-8BE4-9CD4E2CDB3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103" y="1866328"/>
            <a:ext cx="6306457" cy="5836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F67D7C6-FA24-40C3-9DF1-455BFB5A1E47}"/>
              </a:ext>
            </a:extLst>
          </p:cNvPr>
          <p:cNvSpPr txBox="1"/>
          <p:nvPr/>
        </p:nvSpPr>
        <p:spPr>
          <a:xfrm>
            <a:off x="718143" y="2668711"/>
            <a:ext cx="4166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diffusion coefficient is: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\documentclass{article}&#10;\usepackage{amsmath}&#10;\pagestyle{empty}&#10;\begin{document}&#10;&#10;$D(r)=D_0(c)/\Sigma_t(r)$&#10;&#10;&#10;\end{document}" title="IguanaTex Bitmap Display">
            <a:extLst>
              <a:ext uri="{FF2B5EF4-FFF2-40B4-BE49-F238E27FC236}">
                <a16:creationId xmlns:a16="http://schemas.microsoft.com/office/drawing/2014/main" id="{FE5F110F-3086-445C-B9DD-502CDC83BCF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601" y="2818052"/>
            <a:ext cx="3205959" cy="3738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C95AFF5-ACED-4E64-8CDF-42D6796A81C7}"/>
              </a:ext>
            </a:extLst>
          </p:cNvPr>
          <p:cNvSpPr txBox="1"/>
          <p:nvPr/>
        </p:nvSpPr>
        <p:spPr>
          <a:xfrm>
            <a:off x="6272276" y="3404200"/>
            <a:ext cx="5291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Dimensionless diffusion coefficient</a:t>
            </a:r>
            <a:endParaRPr lang="en-IL" sz="2800" i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F30D88-E9EE-4C50-AFAA-2D368B6B66A0}"/>
              </a:ext>
            </a:extLst>
          </p:cNvPr>
          <p:cNvCxnSpPr>
            <a:cxnSpLocks/>
          </p:cNvCxnSpPr>
          <p:nvPr/>
        </p:nvCxnSpPr>
        <p:spPr>
          <a:xfrm flipH="1" flipV="1">
            <a:off x="7560733" y="3259664"/>
            <a:ext cx="127000" cy="293876"/>
          </a:xfrm>
          <a:prstGeom prst="straightConnector1">
            <a:avLst/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10B854C-80A2-4DE8-9109-64079859EA11}"/>
              </a:ext>
            </a:extLst>
          </p:cNvPr>
          <p:cNvSpPr txBox="1"/>
          <p:nvPr/>
        </p:nvSpPr>
        <p:spPr>
          <a:xfrm>
            <a:off x="560393" y="3553540"/>
            <a:ext cx="318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classic  diffusion: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\documentclass{article}&#10;\usepackage{amsmath}&#10;\pagestyle{empty}&#10;\begin{document}&#10;&#10;$D_0(c)=1/3$&#10;&#10;&#10;\end{document}" title="IguanaTex Bitmap Display">
            <a:extLst>
              <a:ext uri="{FF2B5EF4-FFF2-40B4-BE49-F238E27FC236}">
                <a16:creationId xmlns:a16="http://schemas.microsoft.com/office/drawing/2014/main" id="{332F622F-385C-4416-BF80-4EE24451BF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419" y="3665810"/>
            <a:ext cx="1856000" cy="35626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15422DB-DD8D-474A-95F5-F775540B75CC}"/>
              </a:ext>
            </a:extLst>
          </p:cNvPr>
          <p:cNvSpPr/>
          <p:nvPr/>
        </p:nvSpPr>
        <p:spPr>
          <a:xfrm>
            <a:off x="409547" y="3521853"/>
            <a:ext cx="5576386" cy="7354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31" name="Picture 30" descr="\documentclass{article}&#10;\usepackage{amsmath}&#10;\pagestyle{empty}&#10;\begin{document}&#10;&#10;$\phi_2(r)_{r=R_C}=\phi_1(r)_{r=R_C}$&#10;&#10;&#10;\end{document}" title="IguanaTex Bitmap Display">
            <a:extLst>
              <a:ext uri="{FF2B5EF4-FFF2-40B4-BE49-F238E27FC236}">
                <a16:creationId xmlns:a16="http://schemas.microsoft.com/office/drawing/2014/main" id="{FA7146C0-132E-4340-A2EF-5C16961587F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06" y="4799179"/>
            <a:ext cx="3675947" cy="363698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-D_2\left(\frac{\phi_2(r)}{dr}\right)_{r=R_C}=-D_1\left(\frac{d\phi_1(r)}{dr}\right)_{r=R_C}$&#10;&#10;&#10;\end{document}" title="IguanaTex Bitmap Display">
            <a:extLst>
              <a:ext uri="{FF2B5EF4-FFF2-40B4-BE49-F238E27FC236}">
                <a16:creationId xmlns:a16="http://schemas.microsoft.com/office/drawing/2014/main" id="{3CD447C2-6471-485B-85A2-03AA008EE26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549" y="5442000"/>
            <a:ext cx="6146062" cy="7079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E732E1A-2050-4E5C-8C3E-DA17BE1CEF5B}"/>
              </a:ext>
            </a:extLst>
          </p:cNvPr>
          <p:cNvSpPr txBox="1"/>
          <p:nvPr/>
        </p:nvSpPr>
        <p:spPr>
          <a:xfrm>
            <a:off x="560393" y="4963040"/>
            <a:ext cx="3459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with flux and current continuity: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C49B9F-604C-4CEF-8219-E161BE1B9D02}"/>
              </a:ext>
            </a:extLst>
          </p:cNvPr>
          <p:cNvSpPr/>
          <p:nvPr/>
        </p:nvSpPr>
        <p:spPr>
          <a:xfrm>
            <a:off x="307946" y="4704605"/>
            <a:ext cx="10283853" cy="1568394"/>
          </a:xfrm>
          <a:prstGeom prst="rect">
            <a:avLst/>
          </a:prstGeom>
          <a:noFill/>
          <a:ln w="25400">
            <a:solidFill>
              <a:srgbClr val="1706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8553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\documentclass{article}&#10;\usepackage{amsmath}&#10;\pagestyle{empty}&#10;\begin{document}&#10;&#10;$a=\Sigma_{t,C} R_C$&#10;&#10;&#10;\end{document}" title="IguanaTex Bitmap Display">
            <a:extLst>
              <a:ext uri="{FF2B5EF4-FFF2-40B4-BE49-F238E27FC236}">
                <a16:creationId xmlns:a16="http://schemas.microsoft.com/office/drawing/2014/main" id="{CEBA74E7-9B78-49E1-8532-B325760A62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670" y="1129357"/>
            <a:ext cx="1756191" cy="333429"/>
          </a:xfrm>
          <a:prstGeom prst="rect">
            <a:avLst/>
          </a:prstGeom>
        </p:spPr>
      </p:pic>
      <p:pic>
        <p:nvPicPr>
          <p:cNvPr id="28" name="Picture 27" descr="\documentclass{article}&#10;\usepackage{amsmath}&#10;\pagestyle{empty}&#10;\begin{document}&#10;&#10;$b=\Sigma_{t,R} R_R=a+d$&#10;&#10;&#10;\end{document}" title="IguanaTex Bitmap Display">
            <a:extLst>
              <a:ext uri="{FF2B5EF4-FFF2-40B4-BE49-F238E27FC236}">
                <a16:creationId xmlns:a16="http://schemas.microsoft.com/office/drawing/2014/main" id="{75ED6708-EF6C-4B16-9A89-D8EF34FE41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618" y="2384906"/>
            <a:ext cx="2975999" cy="337571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2864024A-E927-4AD4-A371-4190C5DB8E20}"/>
              </a:ext>
            </a:extLst>
          </p:cNvPr>
          <p:cNvGrpSpPr/>
          <p:nvPr/>
        </p:nvGrpSpPr>
        <p:grpSpPr>
          <a:xfrm>
            <a:off x="7484060" y="1129357"/>
            <a:ext cx="4419600" cy="4572000"/>
            <a:chOff x="6416776" y="1590675"/>
            <a:chExt cx="4419600" cy="45720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1AEEFDC-C57F-4B4E-98A0-F5D2FA02909D}"/>
                </a:ext>
              </a:extLst>
            </p:cNvPr>
            <p:cNvSpPr/>
            <p:nvPr/>
          </p:nvSpPr>
          <p:spPr>
            <a:xfrm>
              <a:off x="6416776" y="1590675"/>
              <a:ext cx="4419600" cy="45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E775848-7DA3-46EA-9F42-CA2DDE8836FF}"/>
                </a:ext>
              </a:extLst>
            </p:cNvPr>
            <p:cNvSpPr/>
            <p:nvPr/>
          </p:nvSpPr>
          <p:spPr>
            <a:xfrm>
              <a:off x="7128933" y="2379133"/>
              <a:ext cx="2946400" cy="298026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20" name="Picture 19" descr="\documentclass{article}&#10;\usepackage{amsmath}&#10;\pagestyle{empty}&#10;\begin{document}&#10;&#10;&#10;$c_C&gt;1$&#10;&#10;\end{document}" title="IguanaTex Bitmap Display">
              <a:extLst>
                <a:ext uri="{FF2B5EF4-FFF2-40B4-BE49-F238E27FC236}">
                  <a16:creationId xmlns:a16="http://schemas.microsoft.com/office/drawing/2014/main" id="{B4E26357-BC7B-4C7D-B2F0-EE1AAE5D6BD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9870" y="3975194"/>
              <a:ext cx="1458661" cy="426092"/>
            </a:xfrm>
            <a:prstGeom prst="rect">
              <a:avLst/>
            </a:prstGeom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29752D8-8CF0-4DA7-AD52-7924F6A54984}"/>
                </a:ext>
              </a:extLst>
            </p:cNvPr>
            <p:cNvCxnSpPr/>
            <p:nvPr/>
          </p:nvCxnSpPr>
          <p:spPr>
            <a:xfrm flipV="1">
              <a:off x="8602133" y="2489199"/>
              <a:ext cx="567267" cy="1380067"/>
            </a:xfrm>
            <a:prstGeom prst="straightConnector1">
              <a:avLst/>
            </a:prstGeom>
            <a:ln w="444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 descr="\documentclass{article}&#10;\usepackage{amsmath}&#10;\pagestyle{empty}&#10;\begin{document}&#10;&#10;$R_C$&#10;&#10;&#10;\end{document}" title="IguanaTex Bitmap Display">
              <a:extLst>
                <a:ext uri="{FF2B5EF4-FFF2-40B4-BE49-F238E27FC236}">
                  <a16:creationId xmlns:a16="http://schemas.microsoft.com/office/drawing/2014/main" id="{62366157-CA50-439F-BCA9-C9399868F7A0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1023" y="3146060"/>
              <a:ext cx="451474" cy="289937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F3729EF-D71A-4634-AE59-4678AC236E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5666" y="2570838"/>
              <a:ext cx="1786467" cy="1298428"/>
            </a:xfrm>
            <a:prstGeom prst="straightConnector1">
              <a:avLst/>
            </a:prstGeom>
            <a:ln w="444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 descr="\documentclass{article}&#10;\usepackage{amsmath}&#10;\pagestyle{empty}&#10;\begin{document}&#10;&#10;$R_R$&#10;&#10;&#10;\end{document}" title="IguanaTex Bitmap Display">
              <a:extLst>
                <a:ext uri="{FF2B5EF4-FFF2-40B4-BE49-F238E27FC236}">
                  <a16:creationId xmlns:a16="http://schemas.microsoft.com/office/drawing/2014/main" id="{B1E98D28-B23D-4031-B2F6-4DAC14C13E67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9797" y="2872112"/>
              <a:ext cx="453545" cy="289937"/>
            </a:xfrm>
            <a:prstGeom prst="rect">
              <a:avLst/>
            </a:prstGeom>
          </p:spPr>
        </p:pic>
        <p:pic>
          <p:nvPicPr>
            <p:cNvPr id="34" name="Picture 33" descr="\documentclass{article}&#10;\usepackage{amsmath}&#10;\pagestyle{empty}&#10;\begin{document}&#10;&#10;&#10;$c_R$&#10;&#10;\end{document}" title="IguanaTex Bitmap Display">
              <a:extLst>
                <a:ext uri="{FF2B5EF4-FFF2-40B4-BE49-F238E27FC236}">
                  <a16:creationId xmlns:a16="http://schemas.microsoft.com/office/drawing/2014/main" id="{9F5E3A40-003D-4D9F-A245-0DC7D4E2E01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545" y="1850304"/>
              <a:ext cx="513175" cy="311016"/>
            </a:xfrm>
            <a:prstGeom prst="rect">
              <a:avLst/>
            </a:prstGeom>
          </p:spPr>
        </p:pic>
      </p:grp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E24D9638-87EE-4032-B77A-EDBAC622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7623" y="5701357"/>
            <a:ext cx="2743200" cy="365125"/>
          </a:xfrm>
        </p:spPr>
        <p:txBody>
          <a:bodyPr/>
          <a:lstStyle/>
          <a:p>
            <a:fld id="{23C6260E-304F-4BA0-8E11-6E941ACC6D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47C538C-47F5-4682-B28A-FC71591D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37" y="-232358"/>
            <a:ext cx="11214705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Reactor-reflector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11E7B9-DAEC-4B2D-BF6D-205705BFD4AF}"/>
              </a:ext>
            </a:extLst>
          </p:cNvPr>
          <p:cNvSpPr txBox="1"/>
          <p:nvPr/>
        </p:nvSpPr>
        <p:spPr>
          <a:xfrm>
            <a:off x="724766" y="903509"/>
            <a:ext cx="4449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Dimensionless core radius: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0A4F55-CDD2-40E2-9AD3-7A98A80A891E}"/>
              </a:ext>
            </a:extLst>
          </p:cNvPr>
          <p:cNvSpPr txBox="1"/>
          <p:nvPr/>
        </p:nvSpPr>
        <p:spPr>
          <a:xfrm>
            <a:off x="162568" y="1581392"/>
            <a:ext cx="5653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Dimensionless reflector radius: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EF5440-CFBB-48AE-B06A-F20F10CB1742}"/>
              </a:ext>
            </a:extLst>
          </p:cNvPr>
          <p:cNvSpPr txBox="1"/>
          <p:nvPr/>
        </p:nvSpPr>
        <p:spPr>
          <a:xfrm>
            <a:off x="2455088" y="2927564"/>
            <a:ext cx="48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Dimensionless reflector width: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4698A2-9CA2-49E8-90E0-8FB8DDA66348}"/>
              </a:ext>
            </a:extLst>
          </p:cNvPr>
          <p:cNvCxnSpPr>
            <a:cxnSpLocks/>
          </p:cNvCxnSpPr>
          <p:nvPr/>
        </p:nvCxnSpPr>
        <p:spPr>
          <a:xfrm flipV="1">
            <a:off x="6185574" y="2722477"/>
            <a:ext cx="678962" cy="27394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\documentclass{article}&#10;\usepackage{amsmath}&#10;\pagestyle{empty}&#10;\begin{document}&#10;&#10;&#10;$\phi_R(r)=\frac{F\sinh((\Sigma_{t,R}R_R+z_0(c_R)-\Sigma_{t,R}r)/\nu_0(c_R))}{\Sigma_{t,R}r}$&#10;&#10;\end{document}" title="IguanaTex Bitmap Display">
            <a:extLst>
              <a:ext uri="{FF2B5EF4-FFF2-40B4-BE49-F238E27FC236}">
                <a16:creationId xmlns:a16="http://schemas.microsoft.com/office/drawing/2014/main" id="{B0589251-8EE2-4828-875A-76A5170DFD9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58" y="5954489"/>
            <a:ext cx="4976590" cy="42267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CD6C9AD-2702-4D10-96EC-8BE89EE7E230}"/>
              </a:ext>
            </a:extLst>
          </p:cNvPr>
          <p:cNvSpPr txBox="1"/>
          <p:nvPr/>
        </p:nvSpPr>
        <p:spPr>
          <a:xfrm>
            <a:off x="294137" y="3593105"/>
            <a:ext cx="5522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in core: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\documentclass{article}&#10;\usepackage{amsmath}&#10;\pagestyle{empty}&#10;\begin{document}&#10;&#10;$\phi_C(r)=\frac{A\sin(k_0(c)\Sigma_t r)}{\Sigma_t r}$&#10;&#10;&#10;\end{document}" title="IguanaTex Bitmap Display">
            <a:extLst>
              <a:ext uri="{FF2B5EF4-FFF2-40B4-BE49-F238E27FC236}">
                <a16:creationId xmlns:a16="http://schemas.microsoft.com/office/drawing/2014/main" id="{6EF73E1E-7A5E-4E6F-A108-F9A82585B1E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58" y="4369458"/>
            <a:ext cx="3224518" cy="5011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1FE53CF-E411-45B6-8A4E-F917722E8EC9}"/>
              </a:ext>
            </a:extLst>
          </p:cNvPr>
          <p:cNvSpPr txBox="1"/>
          <p:nvPr/>
        </p:nvSpPr>
        <p:spPr>
          <a:xfrm>
            <a:off x="345557" y="5157696"/>
            <a:ext cx="468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in reflector: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\documentclass{article}&#10;\usepackage{amsmath}&#10;\usepackage{amssymb}&#10;\pagestyle{empty}&#10;\begin{document}&#10;&#10;&#10;$k_0(c)=\sqrt{\frac{c-1}{D_0(c)}}$&#10;&#10;\end{document}" title="IguanaTex Bitmap Display">
            <a:extLst>
              <a:ext uri="{FF2B5EF4-FFF2-40B4-BE49-F238E27FC236}">
                <a16:creationId xmlns:a16="http://schemas.microsoft.com/office/drawing/2014/main" id="{927BCE23-5C65-42C5-95A6-24A50D425F4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445" y="4242989"/>
            <a:ext cx="2468092" cy="627693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amssymb}&#10;\pagestyle{empty}&#10;\begin{document}&#10;&#10;&#10;$\frac{1}{\nu_0(c_R)}=\sqrt{\frac{1-c_R}{D_0(c_R)}}$&#10;&#10;\end{document}" title="IguanaTex Bitmap Display">
            <a:extLst>
              <a:ext uri="{FF2B5EF4-FFF2-40B4-BE49-F238E27FC236}">
                <a16:creationId xmlns:a16="http://schemas.microsoft.com/office/drawing/2014/main" id="{487E127E-7B02-4C0D-94C7-0E03774B40D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489" y="5786842"/>
            <a:ext cx="2753537" cy="6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1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8F78F-1EA9-43B6-A741-D07CAC0A0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F7DC08-ACBD-4428-811A-5BA8C0BF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37" y="-232358"/>
            <a:ext cx="11214705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Reactor-reflector criticality equation</a:t>
            </a:r>
          </a:p>
        </p:txBody>
      </p:sp>
      <p:pic>
        <p:nvPicPr>
          <p:cNvPr id="3" name="Picture 2" descr="\documentclass{article}&#10;\usepackage{amsmath}&#10;\pagestyle{empty}&#10;\begin{document}&#10;&#10;&#10;$\cot\left(ka\right)=\frac{1}{ka}\left(1-\frac{D_R}{D_C}\right)-\frac{D_R/\nu}{D_Ck}$&#10;&#10;\end{document}" title="IguanaTex Bitmap Display">
            <a:extLst>
              <a:ext uri="{FF2B5EF4-FFF2-40B4-BE49-F238E27FC236}">
                <a16:creationId xmlns:a16="http://schemas.microsoft.com/office/drawing/2014/main" id="{73D6FC38-616B-43C1-B470-F775BDAEB10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62" y="2462190"/>
            <a:ext cx="4899009" cy="641332"/>
          </a:xfrm>
          <a:prstGeom prst="rect">
            <a:avLst/>
          </a:prstGeom>
        </p:spPr>
      </p:pic>
      <p:pic>
        <p:nvPicPr>
          <p:cNvPr id="19" name="Picture 18" descr="\documentclass{article}&#10;\usepackage{amsmath}&#10;\pagestyle{empty}&#10;\begin{document}&#10;&#10;&#10;$\cot\left(ka\right)=\frac{1}{ka}\left(1-\frac{D_R}{D_C}\right)-\frac{D_R/\nu}{D_Ck}\coth\left[(d+z_0(c_R)/\nu)\right]$&#10;&#10;\end{document}" title="IguanaTex Bitmap Display">
            <a:extLst>
              <a:ext uri="{FF2B5EF4-FFF2-40B4-BE49-F238E27FC236}">
                <a16:creationId xmlns:a16="http://schemas.microsoft.com/office/drawing/2014/main" id="{46BBC288-B6FE-4F69-B6B1-CF8A5B9D717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237" y="3938661"/>
            <a:ext cx="8152861" cy="6413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39ED93-D3CD-4F58-BEC2-E4C743BD8761}"/>
              </a:ext>
            </a:extLst>
          </p:cNvPr>
          <p:cNvSpPr txBox="1"/>
          <p:nvPr/>
        </p:nvSpPr>
        <p:spPr>
          <a:xfrm>
            <a:off x="582852" y="1168563"/>
            <a:ext cx="1030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Imposing the </a:t>
            </a: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continuity restrictions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scalar flux and current: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70B86-C777-4214-9339-59613F4F1B5C}"/>
              </a:ext>
            </a:extLst>
          </p:cNvPr>
          <p:cNvSpPr txBox="1"/>
          <p:nvPr/>
        </p:nvSpPr>
        <p:spPr>
          <a:xfrm>
            <a:off x="82438" y="2521246"/>
            <a:ext cx="5653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 reflector: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146FCA-78B4-4EF7-9098-312204B824D5}"/>
              </a:ext>
            </a:extLst>
          </p:cNvPr>
          <p:cNvSpPr txBox="1"/>
          <p:nvPr/>
        </p:nvSpPr>
        <p:spPr>
          <a:xfrm>
            <a:off x="417251" y="3323589"/>
            <a:ext cx="5169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Finite-size reflector: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F063D-ECEA-479D-A0A5-471E937F556F}"/>
              </a:ext>
            </a:extLst>
          </p:cNvPr>
          <p:cNvSpPr txBox="1"/>
          <p:nvPr/>
        </p:nvSpPr>
        <p:spPr>
          <a:xfrm>
            <a:off x="195308" y="6308079"/>
            <a:ext cx="8090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Lamarsh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sz="2400" b="0" i="0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Baratta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2001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Greenspan, Kelber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0" i="0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Okrent, 1968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L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91A4C9-6ADD-4003-B7BD-0777175BE89C}"/>
              </a:ext>
            </a:extLst>
          </p:cNvPr>
          <p:cNvCxnSpPr>
            <a:cxnSpLocks/>
          </p:cNvCxnSpPr>
          <p:nvPr/>
        </p:nvCxnSpPr>
        <p:spPr>
          <a:xfrm>
            <a:off x="294137" y="6198255"/>
            <a:ext cx="75186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1D87E5-9B7D-47CA-9517-6F2BAC1B2158}"/>
              </a:ext>
            </a:extLst>
          </p:cNvPr>
          <p:cNvSpPr txBox="1"/>
          <p:nvPr/>
        </p:nvSpPr>
        <p:spPr>
          <a:xfrm>
            <a:off x="2092740" y="4901054"/>
            <a:ext cx="76174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well-known one-velocity spherical criticality equations for reflected spheres.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0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3C214-CB5E-43FD-A4F4-7087AAE8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2F273F-14D8-4D8E-9A17-FDC2C69D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2358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Two-region Milne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117F13-13EA-4A98-87F0-E2A066BA3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39" y="2239763"/>
            <a:ext cx="3469309" cy="446581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3C5B38-66ED-4506-B8BA-CCD479718651}"/>
              </a:ext>
            </a:extLst>
          </p:cNvPr>
          <p:cNvSpPr txBox="1"/>
          <p:nvPr/>
        </p:nvSpPr>
        <p:spPr>
          <a:xfrm>
            <a:off x="0" y="782280"/>
            <a:ext cx="1219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Kenneth M. Case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Biographical Memoir by Paul F. Zweifel &amp; Norman J. McCormick </a:t>
            </a:r>
            <a:endParaRPr lang="en-IL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56BAB2-16CF-498D-A138-18099E91E700}"/>
              </a:ext>
            </a:extLst>
          </p:cNvPr>
          <p:cNvSpPr txBox="1"/>
          <p:nvPr/>
        </p:nvSpPr>
        <p:spPr>
          <a:xfrm>
            <a:off x="908601" y="1397321"/>
            <a:ext cx="93529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Manhattan Project, Los-Alamos: By his office partner, Nobel laureate Roy Glauber:</a:t>
            </a:r>
            <a:endParaRPr lang="en-IL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0CDCDF-8E70-48FA-89EC-F0DF7B4AC0EA}"/>
              </a:ext>
            </a:extLst>
          </p:cNvPr>
          <p:cNvGrpSpPr/>
          <p:nvPr/>
        </p:nvGrpSpPr>
        <p:grpSpPr>
          <a:xfrm>
            <a:off x="4548203" y="2322004"/>
            <a:ext cx="5888570" cy="4216908"/>
            <a:chOff x="4738001" y="2336735"/>
            <a:chExt cx="5888570" cy="42169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C20537-C729-43AC-A305-DF89C2067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8001" y="2336735"/>
              <a:ext cx="5888570" cy="4216908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D768AF-4DE6-4246-96F5-EB3C7975B5E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2668889"/>
              <a:ext cx="542736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D19EA7A-B728-44F7-B512-F1ED1295566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2960039"/>
              <a:ext cx="526535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E190905-7C1C-40EB-B32D-21F38340C1AF}"/>
                </a:ext>
              </a:extLst>
            </p:cNvPr>
            <p:cNvCxnSpPr>
              <a:cxnSpLocks/>
            </p:cNvCxnSpPr>
            <p:nvPr/>
          </p:nvCxnSpPr>
          <p:spPr>
            <a:xfrm>
              <a:off x="5147833" y="3144175"/>
              <a:ext cx="495166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DB7682-A371-498A-8500-CA29A2753454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3429000"/>
              <a:ext cx="542736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3479476-3948-4E08-B2AD-C82D184F1DF4}"/>
                </a:ext>
              </a:extLst>
            </p:cNvPr>
            <p:cNvCxnSpPr>
              <a:cxnSpLocks/>
            </p:cNvCxnSpPr>
            <p:nvPr/>
          </p:nvCxnSpPr>
          <p:spPr>
            <a:xfrm>
              <a:off x="7946994" y="5765284"/>
              <a:ext cx="2609011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EEDC52-8AE8-4D7B-B000-1863958A1346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5995605"/>
              <a:ext cx="533727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4EFA596-1E11-4A02-9A61-38D5E8E80B92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6243333"/>
              <a:ext cx="572186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FFDAAAF-ADF8-42F4-9B12-4700EBA4C4CC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3673868"/>
              <a:ext cx="542736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F57BD7-1D84-4360-95A1-E6E869939F3D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3961544"/>
              <a:ext cx="245023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B511A7-89B9-4451-B781-D8D29703BEA8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40" y="6553643"/>
              <a:ext cx="59061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683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1F20D-07E5-402D-823E-913188A1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6DADB4-3C6A-4FDD-A206-6DFA4B44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2358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Two-region Milne problem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22C918-B24A-425C-A838-A472D03A8BAB}"/>
              </a:ext>
            </a:extLst>
          </p:cNvPr>
          <p:cNvGrpSpPr/>
          <p:nvPr/>
        </p:nvGrpSpPr>
        <p:grpSpPr>
          <a:xfrm>
            <a:off x="684987" y="2322239"/>
            <a:ext cx="4873332" cy="3856710"/>
            <a:chOff x="1075405" y="1356468"/>
            <a:chExt cx="4873332" cy="385671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CDA957-08F4-42F8-A8AF-B68B04D82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5405" y="1356468"/>
              <a:ext cx="4873332" cy="3856710"/>
            </a:xfrm>
            <a:prstGeom prst="rect">
              <a:avLst/>
            </a:prstGeom>
            <a:ln w="25400">
              <a:solidFill>
                <a:srgbClr val="170692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B1CEB3-18DB-435F-96B1-CD938CA8DD0C}"/>
                </a:ext>
              </a:extLst>
            </p:cNvPr>
            <p:cNvSpPr txBox="1"/>
            <p:nvPr/>
          </p:nvSpPr>
          <p:spPr>
            <a:xfrm>
              <a:off x="3585680" y="1460156"/>
              <a:ext cx="2157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IL" dirty="0"/>
            </a:p>
          </p:txBody>
        </p:sp>
        <p:pic>
          <p:nvPicPr>
            <p:cNvPr id="10" name="Picture 9" descr="\documentclass{article}&#10;\usepackage{amsmath}&#10;\pagestyle{empty}&#10;\begin{document}&#10;&#10;$\phi$&#10;&#10;&#10;\end{document}" title="IguanaTex Bitmap Display">
              <a:extLst>
                <a:ext uri="{FF2B5EF4-FFF2-40B4-BE49-F238E27FC236}">
                  <a16:creationId xmlns:a16="http://schemas.microsoft.com/office/drawing/2014/main" id="{F837C7E9-DECB-413F-AAF5-2FF4064F7DF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510" y="1531298"/>
              <a:ext cx="134095" cy="227048"/>
            </a:xfrm>
            <a:prstGeom prst="rect">
              <a:avLst/>
            </a:prstGeom>
          </p:spPr>
        </p:pic>
      </p:grpSp>
      <p:pic>
        <p:nvPicPr>
          <p:cNvPr id="18" name="Picture 17" descr="\documentclass{article}&#10;\usepackage{amsmath}&#10;\pagestyle{empty}&#10;\begin{document}&#10;&#10;&#10;$\left[\phi_2(x)\right]_{x=x_B}=\rho_{2/1}\left[\phi_1(x)\right]_{x=x_B}&#10;$&#10;&#10;\end{document}" title="IguanaTex Bitmap Display">
            <a:extLst>
              <a:ext uri="{FF2B5EF4-FFF2-40B4-BE49-F238E27FC236}">
                <a16:creationId xmlns:a16="http://schemas.microsoft.com/office/drawing/2014/main" id="{ECE42D72-B849-4668-95D4-9CDA597651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582" y="3206780"/>
            <a:ext cx="5263431" cy="458003"/>
          </a:xfrm>
          <a:prstGeom prst="rect">
            <a:avLst/>
          </a:prstGeom>
        </p:spPr>
      </p:pic>
      <p:pic>
        <p:nvPicPr>
          <p:cNvPr id="16" name="Picture 15" descr="\documentclass{article}&#10;\usepackage{amsmath}&#10;\pagestyle{empty}&#10;\begin{document}&#10;&#10;&#10;$-D_2\left[\frac{d\phi_2(x)}{dx}\right]_{x=x_B}=-j_{2/1}D_1\left[\frac{d\phi_1(x)}{dx}\right]_{x=x_B}&#10;$&#10;&#10;\end{document}" title="IguanaTex Bitmap Display">
            <a:extLst>
              <a:ext uri="{FF2B5EF4-FFF2-40B4-BE49-F238E27FC236}">
                <a16:creationId xmlns:a16="http://schemas.microsoft.com/office/drawing/2014/main" id="{0E205B9D-4C3F-42C6-AA3D-4D9F184FC5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276" y="3999848"/>
            <a:ext cx="6079038" cy="6387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870161C-8974-4C51-932E-06B3DEEFC8A1}"/>
              </a:ext>
            </a:extLst>
          </p:cNvPr>
          <p:cNvSpPr txBox="1"/>
          <p:nvPr/>
        </p:nvSpPr>
        <p:spPr>
          <a:xfrm>
            <a:off x="154113" y="967411"/>
            <a:ext cx="11264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asymptotic part of the exact solution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both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 flux and current discontinuities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gives rise to a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discontinuous asymptotic diffusion theory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C6624A-BCCD-4EDC-90B9-09ECE88A81B6}"/>
              </a:ext>
            </a:extLst>
          </p:cNvPr>
          <p:cNvSpPr txBox="1"/>
          <p:nvPr/>
        </p:nvSpPr>
        <p:spPr>
          <a:xfrm>
            <a:off x="5801475" y="2339686"/>
            <a:ext cx="6390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81B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solution is of course, continuous.</a:t>
            </a:r>
            <a:endParaRPr lang="en-IL" sz="2800" b="1" i="1" dirty="0">
              <a:solidFill>
                <a:srgbClr val="81BC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\documentclass{article}&#10;\usepackage{amsmath}&#10;\pagestyle{empty}&#10;\begin{document}&#10;&#10;$\rho_{2/1}(c_1,c_2)$&#10;&#10;&#10;\end{document}" title="IguanaTex Bitmap Display">
            <a:extLst>
              <a:ext uri="{FF2B5EF4-FFF2-40B4-BE49-F238E27FC236}">
                <a16:creationId xmlns:a16="http://schemas.microsoft.com/office/drawing/2014/main" id="{FE40962F-EFFD-493D-86BE-9111E30DC8A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973" y="5546846"/>
            <a:ext cx="1642667" cy="392533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j_{2/1}(c_1,c_2)$&#10;&#10;&#10;\end{document}" title="IguanaTex Bitmap Display">
            <a:extLst>
              <a:ext uri="{FF2B5EF4-FFF2-40B4-BE49-F238E27FC236}">
                <a16:creationId xmlns:a16="http://schemas.microsoft.com/office/drawing/2014/main" id="{2D9B783F-B3D3-4D9B-9A18-04AAE386A7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115" y="5527108"/>
            <a:ext cx="1619200" cy="3925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30EE50-3C53-40E4-8985-01A6E03A44BE}"/>
              </a:ext>
            </a:extLst>
          </p:cNvPr>
          <p:cNvSpPr txBox="1"/>
          <p:nvPr/>
        </p:nvSpPr>
        <p:spPr>
          <a:xfrm>
            <a:off x="5680034" y="4836241"/>
            <a:ext cx="6390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of the media properties</a:t>
            </a:r>
            <a:endParaRPr lang="en-IL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B06E1F-7259-4FB9-BB2F-1AE09A427959}"/>
              </a:ext>
            </a:extLst>
          </p:cNvPr>
          <p:cNvSpPr/>
          <p:nvPr/>
        </p:nvSpPr>
        <p:spPr>
          <a:xfrm>
            <a:off x="6243582" y="4801725"/>
            <a:ext cx="5499780" cy="13772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8015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E443E-E814-41DE-A148-4E65C681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7EE1D-911E-4BFF-ABFA-EC69C8307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61" y="1598452"/>
            <a:ext cx="3906455" cy="4870161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670C9F-8422-440F-9730-C82CAB42C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2358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re-visit the 1953 book…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1A6FE9-E037-4C14-80C5-2F54D9F46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470" y="2546136"/>
            <a:ext cx="5075122" cy="2179977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52B6CB-62AF-4FAC-966D-0B34952E4A68}"/>
              </a:ext>
            </a:extLst>
          </p:cNvPr>
          <p:cNvCxnSpPr>
            <a:cxnSpLocks/>
          </p:cNvCxnSpPr>
          <p:nvPr/>
        </p:nvCxnSpPr>
        <p:spPr>
          <a:xfrm>
            <a:off x="6293651" y="2888658"/>
            <a:ext cx="82634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C9DAED-0C70-48E4-AD71-F23F4CB00E74}"/>
              </a:ext>
            </a:extLst>
          </p:cNvPr>
          <p:cNvCxnSpPr>
            <a:cxnSpLocks/>
          </p:cNvCxnSpPr>
          <p:nvPr/>
        </p:nvCxnSpPr>
        <p:spPr>
          <a:xfrm>
            <a:off x="6375845" y="3679768"/>
            <a:ext cx="274760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DBDC0D-F1E8-4DD5-8793-E98FB0DE4C1A}"/>
              </a:ext>
            </a:extLst>
          </p:cNvPr>
          <p:cNvCxnSpPr>
            <a:cxnSpLocks/>
          </p:cNvCxnSpPr>
          <p:nvPr/>
        </p:nvCxnSpPr>
        <p:spPr>
          <a:xfrm>
            <a:off x="6375845" y="3844155"/>
            <a:ext cx="387776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4D7D33-7A01-482D-86AF-367282325F9D}"/>
              </a:ext>
            </a:extLst>
          </p:cNvPr>
          <p:cNvCxnSpPr>
            <a:cxnSpLocks/>
          </p:cNvCxnSpPr>
          <p:nvPr/>
        </p:nvCxnSpPr>
        <p:spPr>
          <a:xfrm>
            <a:off x="6375845" y="4018816"/>
            <a:ext cx="404215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AB7412-F5F2-4526-9AC8-93A922074CC3}"/>
              </a:ext>
            </a:extLst>
          </p:cNvPr>
          <p:cNvSpPr txBox="1"/>
          <p:nvPr/>
        </p:nvSpPr>
        <p:spPr>
          <a:xfrm>
            <a:off x="5073616" y="1227255"/>
            <a:ext cx="6646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II is exactly what we need, it focuses mainly in the two-region Milne problem!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64AC54-8F74-4AE2-B2FA-10DF3DC25322}"/>
              </a:ext>
            </a:extLst>
          </p:cNvPr>
          <p:cNvSpPr txBox="1"/>
          <p:nvPr/>
        </p:nvSpPr>
        <p:spPr>
          <a:xfrm>
            <a:off x="5073616" y="5058654"/>
            <a:ext cx="6646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volume II wasn’t published until today…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0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9698-2F55-493C-8A03-90169736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14A583-5CBC-49A5-9006-3CD0F787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II eventually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“published” -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“McCormick trilogy”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37089E-1EA3-4DD6-84E0-8637BF0D1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23" y="1470190"/>
            <a:ext cx="11214705" cy="3209281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J. McCormick, “Neutron transport for anisotropic scattering in adjacent half-spaces. I. Theory”,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L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243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1969</a:t>
            </a:r>
            <a:r>
              <a:rPr lang="en-IL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J. McCormick, R. J. Doyas, “Neutron transport for anisotropic scattering in adjacent half-spaces. II. Numerical results”,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252 , 1969.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J. Doyas, N. J. McCormick, “Transport-corrected boundary conditions for neutron diffusion calculations”,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UCRL-50443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Lawrence Livermore Laboratory, 1968.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2F9AA-7C16-412E-9326-622C9BBCE17E}"/>
              </a:ext>
            </a:extLst>
          </p:cNvPr>
          <p:cNvSpPr txBox="1"/>
          <p:nvPr/>
        </p:nvSpPr>
        <p:spPr>
          <a:xfrm>
            <a:off x="478972" y="4654167"/>
            <a:ext cx="108020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trilogy consists a full solution to the linearly anisotropic two-region Milne problem,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multiplying medium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UCRL report consist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tabulation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                      and                    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solution for                and               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 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F4994-CBBE-415E-94FB-8ED1D5A9360F}"/>
              </a:ext>
            </a:extLst>
          </p:cNvPr>
          <p:cNvSpPr/>
          <p:nvPr/>
        </p:nvSpPr>
        <p:spPr>
          <a:xfrm>
            <a:off x="400692" y="1470190"/>
            <a:ext cx="11548153" cy="27011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10" name="Picture 9" descr="\documentclass{article}&#10;\usepackage{amsmath}&#10;\pagestyle{empty}&#10;\begin{document}&#10;&#10;$c_1&gt;1$&#10;&#10;&#10;\end{document}" title="IguanaTex Bitmap Display">
            <a:extLst>
              <a:ext uri="{FF2B5EF4-FFF2-40B4-BE49-F238E27FC236}">
                <a16:creationId xmlns:a16="http://schemas.microsoft.com/office/drawing/2014/main" id="{D4AB91D2-082E-47ED-8295-E6AE63557C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762" y="5243810"/>
            <a:ext cx="921600" cy="288000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$\rho_{2/1}(c_1,c_2)$&#10;&#10;&#10;\end{document}" title="IguanaTex Bitmap Display">
            <a:extLst>
              <a:ext uri="{FF2B5EF4-FFF2-40B4-BE49-F238E27FC236}">
                <a16:creationId xmlns:a16="http://schemas.microsoft.com/office/drawing/2014/main" id="{948A0BC5-94B8-409B-B13F-0586ED33D11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420" y="5608957"/>
            <a:ext cx="1642667" cy="392533"/>
          </a:xfrm>
          <a:prstGeom prst="rect">
            <a:avLst/>
          </a:prstGeom>
        </p:spPr>
      </p:pic>
      <p:pic>
        <p:nvPicPr>
          <p:cNvPr id="14" name="Picture 13" descr="\documentclass{article}&#10;\usepackage{amsmath}&#10;\pagestyle{empty}&#10;\begin{document}&#10;&#10;$j_{2/1}(c_1,c_2)$&#10;&#10;&#10;\end{document}" title="IguanaTex Bitmap Display">
            <a:extLst>
              <a:ext uri="{FF2B5EF4-FFF2-40B4-BE49-F238E27FC236}">
                <a16:creationId xmlns:a16="http://schemas.microsoft.com/office/drawing/2014/main" id="{57641036-2867-4A7B-B43C-948BD1BB8A6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562" y="5589219"/>
            <a:ext cx="1619200" cy="392533"/>
          </a:xfrm>
          <a:prstGeom prst="rect">
            <a:avLst/>
          </a:prstGeom>
        </p:spPr>
      </p:pic>
      <p:pic>
        <p:nvPicPr>
          <p:cNvPr id="15" name="Picture 14" descr="\documentclass{article}&#10;\usepackage{amsmath}&#10;\pagestyle{empty}&#10;\begin{document}&#10;&#10;$c_1&gt;1$&#10;&#10;&#10;\end{document}" title="IguanaTex Bitmap Display">
            <a:extLst>
              <a:ext uri="{FF2B5EF4-FFF2-40B4-BE49-F238E27FC236}">
                <a16:creationId xmlns:a16="http://schemas.microsoft.com/office/drawing/2014/main" id="{18CB3A44-6CE7-4FE0-BBC0-B6D340906E8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904" y="6068350"/>
            <a:ext cx="921600" cy="288000"/>
          </a:xfrm>
          <a:prstGeom prst="rect">
            <a:avLst/>
          </a:prstGeom>
        </p:spPr>
      </p:pic>
      <p:pic>
        <p:nvPicPr>
          <p:cNvPr id="18" name="Picture 17" descr="\documentclass{article}&#10;\usepackage{amsmath}&#10;\pagestyle{empty}&#10;\begin{document}&#10;&#10;$c_2&gt;1$&#10;&#10;&#10;\end{document}" title="IguanaTex Bitmap Display">
            <a:extLst>
              <a:ext uri="{FF2B5EF4-FFF2-40B4-BE49-F238E27FC236}">
                <a16:creationId xmlns:a16="http://schemas.microsoft.com/office/drawing/2014/main" id="{2B7CCC87-70C9-4C4E-8F05-C880DE3EB08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33" y="6068350"/>
            <a:ext cx="9216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EB053-E2D0-4D74-AD46-6688ED1B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6323" y="6404619"/>
            <a:ext cx="2743200" cy="365125"/>
          </a:xfrm>
        </p:spPr>
        <p:txBody>
          <a:bodyPr/>
          <a:lstStyle/>
          <a:p>
            <a:fld id="{23C6260E-304F-4BA0-8E11-6E941ACC6D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526C94-0BF3-45C5-A8B2-3B312AE5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Discontinuous asymptotic diffusion theory-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curvature fixup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24437-1E58-4CF2-BE74-60FBDECF5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27" y="2718225"/>
            <a:ext cx="3284671" cy="2364027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919298-8D28-4661-9ADE-EDBD9BE7CD53}"/>
              </a:ext>
            </a:extLst>
          </p:cNvPr>
          <p:cNvSpPr txBox="1"/>
          <p:nvPr/>
        </p:nvSpPr>
        <p:spPr>
          <a:xfrm>
            <a:off x="385176" y="1450811"/>
            <a:ext cx="91720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curvilinear coordinates, one must fix                         and                       via the curvature of the system.</a:t>
            </a:r>
            <a:endParaRPr lang="en-IL" sz="2800" i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1BA0A-113C-4BE0-A95E-E4AC13C4FAF8}"/>
              </a:ext>
            </a:extLst>
          </p:cNvPr>
          <p:cNvSpPr txBox="1"/>
          <p:nvPr/>
        </p:nvSpPr>
        <p:spPr>
          <a:xfrm>
            <a:off x="4114634" y="2718225"/>
            <a:ext cx="480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spherical symmetry:</a:t>
            </a:r>
            <a:endParaRPr lang="en-IL" sz="2800" i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\documentclass{article}&#10;\usepackage{amsmath}&#10;\pagestyle{empty}&#10;\begin{document}&#10;&#10;$\phi\to r\phi$&#10;&#10;&#10;\end{document}" title="IguanaTex Bitmap Display">
            <a:extLst>
              <a:ext uri="{FF2B5EF4-FFF2-40B4-BE49-F238E27FC236}">
                <a16:creationId xmlns:a16="http://schemas.microsoft.com/office/drawing/2014/main" id="{EAC8ED66-5DE1-4B31-BCF6-B2A56EC747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539" y="2738373"/>
            <a:ext cx="1839921" cy="5221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9806D60-2631-4A1D-AEF7-549196A653AD}"/>
              </a:ext>
            </a:extLst>
          </p:cNvPr>
          <p:cNvSpPr/>
          <p:nvPr/>
        </p:nvSpPr>
        <p:spPr>
          <a:xfrm>
            <a:off x="8593821" y="2536665"/>
            <a:ext cx="2441359" cy="9256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11" name="Picture 10" descr="\documentclass{article}&#10;\usepackage{amsmath}&#10;\pagestyle{empty}&#10;\begin{document}&#10;&#10;$\rho_{2/1}(c_1,c_2)$&#10;&#10;&#10;\end{document}" title="IguanaTex Bitmap Display">
            <a:extLst>
              <a:ext uri="{FF2B5EF4-FFF2-40B4-BE49-F238E27FC236}">
                <a16:creationId xmlns:a16="http://schemas.microsoft.com/office/drawing/2014/main" id="{CB3D78F8-CDE0-4D95-8638-4E4760CBB97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526" y="1535283"/>
            <a:ext cx="1642667" cy="392533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$j_{2/1}(c_1,c_2)$&#10;&#10;&#10;\end{document}" title="IguanaTex Bitmap Display">
            <a:extLst>
              <a:ext uri="{FF2B5EF4-FFF2-40B4-BE49-F238E27FC236}">
                <a16:creationId xmlns:a16="http://schemas.microsoft.com/office/drawing/2014/main" id="{58A7F103-BA2B-4B5E-A79F-CF9A0D99DC7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980" y="1537541"/>
            <a:ext cx="1619200" cy="392533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EBD32D03-854E-4767-9849-648F6EA4E96A}"/>
              </a:ext>
            </a:extLst>
          </p:cNvPr>
          <p:cNvSpPr/>
          <p:nvPr/>
        </p:nvSpPr>
        <p:spPr>
          <a:xfrm rot="5400000">
            <a:off x="7112873" y="3538219"/>
            <a:ext cx="539486" cy="259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15" name="Picture 14" descr="\documentclass{article}&#10;\usepackage{amsmath}&#10;\pagestyle{empty}&#10;\begin{document}&#10;&#10;$\left[r\phi_2(r)\right]_{r=R_C}=\rho_{2/1}\left[r\phi_1(r)\right]_{r=R_C}$&#10;&#10;&#10;\end{document}" title="IguanaTex Bitmap Display">
            <a:extLst>
              <a:ext uri="{FF2B5EF4-FFF2-40B4-BE49-F238E27FC236}">
                <a16:creationId xmlns:a16="http://schemas.microsoft.com/office/drawing/2014/main" id="{70BFA3C6-3C66-443B-9B85-56F68262513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750" y="4750269"/>
            <a:ext cx="5300517" cy="434949"/>
          </a:xfrm>
          <a:prstGeom prst="rect">
            <a:avLst/>
          </a:prstGeom>
        </p:spPr>
      </p:pic>
      <p:pic>
        <p:nvPicPr>
          <p:cNvPr id="18" name="Picture 17" descr="\documentclass{article}&#10;\usepackage{amsmath}&#10;\pagestyle{empty}&#10;\begin{document}&#10;&#10;$-D_2\left(\frac{d[r\phi_2(r)]}{dr}\right)_{r=R_C}=-j_{2/1}D_1\left(\frac{d[r\phi_1(r)]}{dr}\right)_{r=R_C}$&#10;&#10;&#10;\end{document}" title="IguanaTex Bitmap Display">
            <a:extLst>
              <a:ext uri="{FF2B5EF4-FFF2-40B4-BE49-F238E27FC236}">
                <a16:creationId xmlns:a16="http://schemas.microsoft.com/office/drawing/2014/main" id="{19EE8FCD-6548-4ED3-BD5B-35764164EB3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69" y="5419085"/>
            <a:ext cx="7808795" cy="7369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07AC00-A37E-4460-A774-F56EF18F9657}"/>
              </a:ext>
            </a:extLst>
          </p:cNvPr>
          <p:cNvSpPr txBox="1"/>
          <p:nvPr/>
        </p:nvSpPr>
        <p:spPr>
          <a:xfrm>
            <a:off x="4368856" y="3993182"/>
            <a:ext cx="480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jump conditions: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2156B0-CCD9-4E0C-ACB3-8923C11E6FA9}"/>
              </a:ext>
            </a:extLst>
          </p:cNvPr>
          <p:cNvSpPr txBox="1"/>
          <p:nvPr/>
        </p:nvSpPr>
        <p:spPr>
          <a:xfrm>
            <a:off x="195308" y="6308079"/>
            <a:ext cx="8090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Koponen &amp; Doyas, </a:t>
            </a:r>
            <a:r>
              <a:rPr lang="en-US" sz="2400" b="0" i="1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  <a:r>
              <a:rPr lang="en-US" sz="2400" b="0" i="0" u="none" strike="noStrike" baseline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1972.</a:t>
            </a:r>
            <a:endParaRPr lang="en-IL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69273E-D094-44DE-98F0-25506CADF3E5}"/>
              </a:ext>
            </a:extLst>
          </p:cNvPr>
          <p:cNvCxnSpPr>
            <a:cxnSpLocks/>
          </p:cNvCxnSpPr>
          <p:nvPr/>
        </p:nvCxnSpPr>
        <p:spPr>
          <a:xfrm>
            <a:off x="195308" y="6318598"/>
            <a:ext cx="418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26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A83C4-77BA-4761-9033-CC21ADCE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 descr="\documentclass{article}&#10;\usepackage{amsmath}&#10;\pagestyle{empty}&#10;\begin{document}&#10;&#10;&#10;$\cot\left(ka\right)=\frac{1}{ka}\left(1-\frac{\rho_{2/1}}{j_{2/1}}\frac{D_R}{D_C}\right)- &#10;    \frac{\rho_{2/1}}{j_{2/1}}\frac{D_R/\nu}{D_Ck}\coth\left[(d+z_0(c_R)/\nu)\right]$&#10;&#10;\end{document}" title="IguanaTex Bitmap Display">
            <a:extLst>
              <a:ext uri="{FF2B5EF4-FFF2-40B4-BE49-F238E27FC236}">
                <a16:creationId xmlns:a16="http://schemas.microsoft.com/office/drawing/2014/main" id="{5A6A1AF3-D46D-4A87-9601-8B9A81DA64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17" y="3204647"/>
            <a:ext cx="7574547" cy="516603"/>
          </a:xfrm>
          <a:prstGeom prst="rect">
            <a:avLst/>
          </a:prstGeom>
        </p:spPr>
      </p:pic>
      <p:pic>
        <p:nvPicPr>
          <p:cNvPr id="18" name="Picture 17" descr="\documentclass{article}&#10;\usepackage{amsmath}&#10;\pagestyle{empty}&#10;\begin{document}&#10;&#10;&#10;$\cot\left(ka\right)=-\frac{\rho_{2/1}}{j_{2/1}}\frac{D_R/\nu}{D_Ck}\coth\left[(d+z_0(c_R)/\nu)\right]$&#10;&#10;\end{document}" title="IguanaTex Bitmap Display">
            <a:extLst>
              <a:ext uri="{FF2B5EF4-FFF2-40B4-BE49-F238E27FC236}">
                <a16:creationId xmlns:a16="http://schemas.microsoft.com/office/drawing/2014/main" id="{4B7B87BB-73C2-4B39-B3C0-2E4A7A1398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70" y="5667709"/>
            <a:ext cx="6599935" cy="5748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95BB127-43B1-4437-A475-4A61F9DA5D29}"/>
              </a:ext>
            </a:extLst>
          </p:cNvPr>
          <p:cNvGrpSpPr/>
          <p:nvPr/>
        </p:nvGrpSpPr>
        <p:grpSpPr>
          <a:xfrm>
            <a:off x="8371642" y="1970843"/>
            <a:ext cx="3532017" cy="3696866"/>
            <a:chOff x="6416776" y="1590675"/>
            <a:chExt cx="4419600" cy="4572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FB2C596-420E-43F9-9D39-78F2D5B4BF23}"/>
                </a:ext>
              </a:extLst>
            </p:cNvPr>
            <p:cNvSpPr/>
            <p:nvPr/>
          </p:nvSpPr>
          <p:spPr>
            <a:xfrm>
              <a:off x="6416776" y="1590675"/>
              <a:ext cx="4419600" cy="45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F2641D9-88D5-4F65-920E-C8923C3BBD74}"/>
                </a:ext>
              </a:extLst>
            </p:cNvPr>
            <p:cNvSpPr/>
            <p:nvPr/>
          </p:nvSpPr>
          <p:spPr>
            <a:xfrm>
              <a:off x="7128933" y="2379133"/>
              <a:ext cx="2946400" cy="298026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pic>
          <p:nvPicPr>
            <p:cNvPr id="11" name="Picture 10" descr="\documentclass{article}&#10;\usepackage{amsmath}&#10;\pagestyle{empty}&#10;\begin{document}&#10;&#10;&#10;$c_C&gt;1$&#10;&#10;\end{document}" title="IguanaTex Bitmap Display">
              <a:extLst>
                <a:ext uri="{FF2B5EF4-FFF2-40B4-BE49-F238E27FC236}">
                  <a16:creationId xmlns:a16="http://schemas.microsoft.com/office/drawing/2014/main" id="{A2EBC861-B06D-44A3-9E76-C9396A515FC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9870" y="3975194"/>
              <a:ext cx="1458661" cy="426092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88B8D5B-71CC-4FB5-96FC-42F2E97CD429}"/>
                </a:ext>
              </a:extLst>
            </p:cNvPr>
            <p:cNvCxnSpPr/>
            <p:nvPr/>
          </p:nvCxnSpPr>
          <p:spPr>
            <a:xfrm flipV="1">
              <a:off x="8602133" y="2489199"/>
              <a:ext cx="567267" cy="1380067"/>
            </a:xfrm>
            <a:prstGeom prst="straightConnector1">
              <a:avLst/>
            </a:prstGeom>
            <a:ln w="444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 descr="\documentclass{article}&#10;\usepackage{amsmath}&#10;\pagestyle{empty}&#10;\begin{document}&#10;&#10;$R_C$&#10;&#10;&#10;\end{document}" title="IguanaTex Bitmap Display">
              <a:extLst>
                <a:ext uri="{FF2B5EF4-FFF2-40B4-BE49-F238E27FC236}">
                  <a16:creationId xmlns:a16="http://schemas.microsoft.com/office/drawing/2014/main" id="{18B8164C-A260-4DAF-B0B5-9255619CEB5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1023" y="3146060"/>
              <a:ext cx="451474" cy="289937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40B5374-630A-4E62-997F-B71B8526B7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5666" y="2570838"/>
              <a:ext cx="1786467" cy="1298428"/>
            </a:xfrm>
            <a:prstGeom prst="straightConnector1">
              <a:avLst/>
            </a:prstGeom>
            <a:ln w="444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 descr="\documentclass{article}&#10;\usepackage{amsmath}&#10;\pagestyle{empty}&#10;\begin{document}&#10;&#10;$R_R$&#10;&#10;&#10;\end{document}" title="IguanaTex Bitmap Display">
              <a:extLst>
                <a:ext uri="{FF2B5EF4-FFF2-40B4-BE49-F238E27FC236}">
                  <a16:creationId xmlns:a16="http://schemas.microsoft.com/office/drawing/2014/main" id="{0A00B663-6B45-4846-89EB-380F2F921D1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9797" y="2872112"/>
              <a:ext cx="453545" cy="289937"/>
            </a:xfrm>
            <a:prstGeom prst="rect">
              <a:avLst/>
            </a:prstGeom>
          </p:spPr>
        </p:pic>
        <p:pic>
          <p:nvPicPr>
            <p:cNvPr id="16" name="Picture 15" descr="\documentclass{article}&#10;\usepackage{amsmath}&#10;\pagestyle{empty}&#10;\begin{document}&#10;&#10;&#10;$c_R$&#10;&#10;\end{document}" title="IguanaTex Bitmap Display">
              <a:extLst>
                <a:ext uri="{FF2B5EF4-FFF2-40B4-BE49-F238E27FC236}">
                  <a16:creationId xmlns:a16="http://schemas.microsoft.com/office/drawing/2014/main" id="{07491A21-A01D-43A9-97F2-B409A1CABF4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545" y="1850304"/>
              <a:ext cx="513175" cy="311016"/>
            </a:xfrm>
            <a:prstGeom prst="rect">
              <a:avLst/>
            </a:prstGeom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0C0D574C-B927-48D4-B4F8-95543809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89" y="354472"/>
            <a:ext cx="1121470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Reactor-reflector problem -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discontinuous asymptotic diffusion theory criticality equation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C57954-3CA5-433A-9F0A-0F9DFC153A42}"/>
              </a:ext>
            </a:extLst>
          </p:cNvPr>
          <p:cNvSpPr txBox="1"/>
          <p:nvPr/>
        </p:nvSpPr>
        <p:spPr>
          <a:xfrm>
            <a:off x="854969" y="2085161"/>
            <a:ext cx="4809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correcting the jump conditions - wrong:</a:t>
            </a:r>
            <a:endParaRPr lang="en-IL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41F27F-61D6-42BB-9DC1-8BF8B1806E19}"/>
              </a:ext>
            </a:extLst>
          </p:cNvPr>
          <p:cNvSpPr txBox="1"/>
          <p:nvPr/>
        </p:nvSpPr>
        <p:spPr>
          <a:xfrm>
            <a:off x="785427" y="4305557"/>
            <a:ext cx="5570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correcting the jump conditions - correct (and again, simpler…):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 1" descr="Doodle checkmarks. Grunge brush stroke tick and cross signs. Green v mark,  red x sign. Yes or no checklist marks in circles vector set 21980315 Vector  Art at Vecteezy">
            <a:extLst>
              <a:ext uri="{FF2B5EF4-FFF2-40B4-BE49-F238E27FC236}">
                <a16:creationId xmlns:a16="http://schemas.microsoft.com/office/drawing/2014/main" id="{9B42DA52-6B5B-4DA0-9333-F4477EC7C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94"/>
          <a:stretch/>
        </p:blipFill>
        <p:spPr bwMode="auto">
          <a:xfrm>
            <a:off x="7576714" y="5473818"/>
            <a:ext cx="1031019" cy="100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 2" descr="Doodle checkmarks. Grunge brush stroke tick and cross signs. Green v mark,  red x sign. Yes or no checklist marks in circles vector set 21980315 Vector  Art at Vecteezy">
            <a:extLst>
              <a:ext uri="{FF2B5EF4-FFF2-40B4-BE49-F238E27FC236}">
                <a16:creationId xmlns:a16="http://schemas.microsoft.com/office/drawing/2014/main" id="{E55EE551-97B9-44A5-B528-62A12F2DD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6675717" y="2235383"/>
            <a:ext cx="1032955" cy="100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96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18E6B-0E19-4186-A48C-00675677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13E19-269C-4571-A4AF-250932BD8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36" y="1518082"/>
            <a:ext cx="3485246" cy="4710112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24" name="Picture 23" descr="\documentclass{article}&#10;\usepackage{amsmath}&#10;\pagestyle{empty}&#10;\begin{document}&#10;&#10;$J_{\pm}^A=\frac{1}{2}\left(\mu_0^A\phi^A\pm J^A\right)$&#10;&#10;&#10;\end{document}" title="IguanaTex Bitmap Display">
            <a:extLst>
              <a:ext uri="{FF2B5EF4-FFF2-40B4-BE49-F238E27FC236}">
                <a16:creationId xmlns:a16="http://schemas.microsoft.com/office/drawing/2014/main" id="{1ECB3966-2B19-4ECE-8A16-5C8FD59E09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286" y="4772227"/>
            <a:ext cx="2778600" cy="365125"/>
          </a:xfrm>
          <a:prstGeom prst="rect">
            <a:avLst/>
          </a:prstGeom>
        </p:spPr>
      </p:pic>
      <p:pic>
        <p:nvPicPr>
          <p:cNvPr id="28" name="Picture 27" descr="\documentclass{article}&#10;\usepackage{amsmath}&#10;\pagestyle{empty}&#10;\begin{document}&#10;&#10;$J_{\pm}^B=\frac{1}{2}\left(\mu_0^B\phi^B\pm J^B\right)$&#10;&#10;&#10;\end{document}" title="IguanaTex Bitmap Display">
            <a:extLst>
              <a:ext uri="{FF2B5EF4-FFF2-40B4-BE49-F238E27FC236}">
                <a16:creationId xmlns:a16="http://schemas.microsoft.com/office/drawing/2014/main" id="{32266356-CC4C-41E8-90E0-224F1840AD2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848" y="4859018"/>
            <a:ext cx="2822413" cy="365125"/>
          </a:xfrm>
          <a:prstGeom prst="rect">
            <a:avLst/>
          </a:prstGeom>
        </p:spPr>
      </p:pic>
      <p:pic>
        <p:nvPicPr>
          <p:cNvPr id="18" name="Picture 17" descr="\documentclass{article}&#10;\usepackage{amsmath}&#10;\pagestyle{empty}&#10;\begin{document}&#10;&#10;$J_{+}^A=J_{-}^B,\quad J_{-}^A=J_{+}^B$&#10;&#10;&#10;\end{document}" title="IguanaTex Bitmap Display">
            <a:extLst>
              <a:ext uri="{FF2B5EF4-FFF2-40B4-BE49-F238E27FC236}">
                <a16:creationId xmlns:a16="http://schemas.microsoft.com/office/drawing/2014/main" id="{246E71B6-1A40-4914-B641-E38F5930F55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47411"/>
            <a:ext cx="2796856" cy="361474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74A5B979-230A-495D-A92D-A432E85B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53" y="36281"/>
            <a:ext cx="1121470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Two-region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Marshak-like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approximation of George Zimmerman,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though genius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93FE56-C7A9-4765-B324-D66838C587B7}"/>
              </a:ext>
            </a:extLst>
          </p:cNvPr>
          <p:cNvSpPr txBox="1"/>
          <p:nvPr/>
        </p:nvSpPr>
        <p:spPr>
          <a:xfrm>
            <a:off x="3852782" y="2809677"/>
            <a:ext cx="80100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Marshak-like is an approximation to the exact Milne (semi-infinite half space),</a:t>
            </a:r>
          </a:p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Zimmerman is the two-region Marshak-like approximation to the exact McCormick solution.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F0668F-AA11-4CED-AB17-1E639C254CBA}"/>
              </a:ext>
            </a:extLst>
          </p:cNvPr>
          <p:cNvSpPr txBox="1"/>
          <p:nvPr/>
        </p:nvSpPr>
        <p:spPr>
          <a:xfrm>
            <a:off x="4594938" y="5284020"/>
            <a:ext cx="6525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integrality comes out from one region, enters to the other region, and vise-versa…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CBBEF8-720A-435D-A377-8BE428599093}"/>
              </a:ext>
            </a:extLst>
          </p:cNvPr>
          <p:cNvSpPr txBox="1"/>
          <p:nvPr/>
        </p:nvSpPr>
        <p:spPr>
          <a:xfrm>
            <a:off x="4020840" y="1351348"/>
            <a:ext cx="8010058" cy="1384995"/>
          </a:xfrm>
          <a:prstGeom prst="rect">
            <a:avLst/>
          </a:prstGeom>
          <a:noFill/>
          <a:ln w="25400"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exact McCormick jump conditions are still hard to evaluate.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solution for                and                .      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 descr="\documentclass{article}&#10;\usepackage{amsmath}&#10;\pagestyle{empty}&#10;\begin{document}&#10;&#10;$c_1&gt;1$&#10;&#10;&#10;\end{document}" title="IguanaTex Bitmap Display">
            <a:extLst>
              <a:ext uri="{FF2B5EF4-FFF2-40B4-BE49-F238E27FC236}">
                <a16:creationId xmlns:a16="http://schemas.microsoft.com/office/drawing/2014/main" id="{483569B8-0E1F-4FB5-AE0D-B0D531009F9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848" y="2381653"/>
            <a:ext cx="921600" cy="288000"/>
          </a:xfrm>
          <a:prstGeom prst="rect">
            <a:avLst/>
          </a:prstGeom>
        </p:spPr>
      </p:pic>
      <p:pic>
        <p:nvPicPr>
          <p:cNvPr id="44" name="Picture 43" descr="\documentclass{article}&#10;\usepackage{amsmath}&#10;\pagestyle{empty}&#10;\begin{document}&#10;&#10;$c_2&gt;1$&#10;&#10;&#10;\end{document}" title="IguanaTex Bitmap Display">
            <a:extLst>
              <a:ext uri="{FF2B5EF4-FFF2-40B4-BE49-F238E27FC236}">
                <a16:creationId xmlns:a16="http://schemas.microsoft.com/office/drawing/2014/main" id="{5FCE0DF2-515A-40B8-AB31-8D332A1DCF1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873" y="2388911"/>
            <a:ext cx="9216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1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18E6B-0E19-4186-A48C-00675677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13E19-269C-4571-A4AF-250932BD8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208" y="1492146"/>
            <a:ext cx="3058350" cy="4133186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3" name="Picture 2 1 1" descr="\documentclass{article}&#10;\usepackage{amsmath}&#10;\pagestyle{empty}&#10;\begin{document}&#10;&#10;$\mu_0(c_2)\phi_2(r)=\mu_0(c_1)\phi_1(r))$&#10;&#10;&#10;\end{document}" title="IguanaTex Bitmap Display">
            <a:extLst>
              <a:ext uri="{FF2B5EF4-FFF2-40B4-BE49-F238E27FC236}">
                <a16:creationId xmlns:a16="http://schemas.microsoft.com/office/drawing/2014/main" id="{341BF17D-C9E1-4604-8C4F-8953A7AE87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079" y="2187864"/>
            <a:ext cx="3523452" cy="304879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&#10;$J(r)=-\frac{D(r)}{\mu_0(r)}\frac{d\left[\mu_0(r)\phi(r)\right]}{d r}$&#10;&#10;&#10;\end{document}" title="IguanaTex Bitmap Display">
            <a:extLst>
              <a:ext uri="{FF2B5EF4-FFF2-40B4-BE49-F238E27FC236}">
                <a16:creationId xmlns:a16="http://schemas.microsoft.com/office/drawing/2014/main" id="{F71AACFB-F27D-4E09-8C9E-6B5700DFC0B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343" y="4762795"/>
            <a:ext cx="3172936" cy="463709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74A5B979-230A-495D-A92D-A432E85B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53" y="36281"/>
            <a:ext cx="1121470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Two-region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Marshak-like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approximation of George Zimmerman,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though genius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93FE56-C7A9-4765-B324-D66838C587B7}"/>
              </a:ext>
            </a:extLst>
          </p:cNvPr>
          <p:cNvSpPr txBox="1"/>
          <p:nvPr/>
        </p:nvSpPr>
        <p:spPr>
          <a:xfrm>
            <a:off x="3742308" y="1426293"/>
            <a:ext cx="8449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conditions leads to Zimmerman’s jump conditions: 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F0668F-AA11-4CED-AB17-1E639C254CBA}"/>
              </a:ext>
            </a:extLst>
          </p:cNvPr>
          <p:cNvSpPr txBox="1"/>
          <p:nvPr/>
        </p:nvSpPr>
        <p:spPr>
          <a:xfrm>
            <a:off x="3825362" y="4021874"/>
            <a:ext cx="6525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gives rise to this modified Fick’s law: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B352AA-B2D6-457D-BE15-FD4B15AFD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0637" y="5849474"/>
            <a:ext cx="7017111" cy="939848"/>
          </a:xfrm>
          <a:prstGeom prst="rect">
            <a:avLst/>
          </a:prstGeom>
        </p:spPr>
      </p:pic>
      <p:pic>
        <p:nvPicPr>
          <p:cNvPr id="17" name="Picture 2 2" descr="Doodle checkmarks. Grunge brush stroke tick and cross signs. Green v mark,  red x sign. Yes or no checklist marks in circles vector set 21980315 Vector  Art at Vecteezy">
            <a:extLst>
              <a:ext uri="{FF2B5EF4-FFF2-40B4-BE49-F238E27FC236}">
                <a16:creationId xmlns:a16="http://schemas.microsoft.com/office/drawing/2014/main" id="{A6A109DF-171B-4A70-AF8E-C49FCB13F9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1477906" y="5811150"/>
            <a:ext cx="1032955" cy="100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\documentclass{article}&#10;\usepackage{amsmath}&#10;\pagestyle{empty}&#10;\begin{document}&#10;&#10;$\rho_{2/1}(c_1,c_2)\approx \mu(c_1)/\mu(c_2)$&#10;&#10;&#10;\end{document}" title="IguanaTex Bitmap Display">
            <a:extLst>
              <a:ext uri="{FF2B5EF4-FFF2-40B4-BE49-F238E27FC236}">
                <a16:creationId xmlns:a16="http://schemas.microsoft.com/office/drawing/2014/main" id="{AB3C1EF6-A933-452C-8506-583B5AF7A8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519" y="2954407"/>
            <a:ext cx="3893335" cy="392533"/>
          </a:xfrm>
          <a:prstGeom prst="rect">
            <a:avLst/>
          </a:prstGeom>
        </p:spPr>
      </p:pic>
      <p:pic>
        <p:nvPicPr>
          <p:cNvPr id="13" name="Picture 12" descr="\documentclass{article}&#10;\usepackage{amsmath}&#10;\pagestyle{empty}&#10;\begin{document}&#10;&#10;$j_{2/1}(c_1,c_2)\approx 1$&#10;&#10;&#10;\end{document}" title="IguanaTex Bitmap Display">
            <a:extLst>
              <a:ext uri="{FF2B5EF4-FFF2-40B4-BE49-F238E27FC236}">
                <a16:creationId xmlns:a16="http://schemas.microsoft.com/office/drawing/2014/main" id="{094B9BF8-6B15-4563-88A2-EA70F97C822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616" y="3558739"/>
            <a:ext cx="2276265" cy="392533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2C197327-E7FF-4044-86BC-A2EAFC5AEE3B}"/>
              </a:ext>
            </a:extLst>
          </p:cNvPr>
          <p:cNvSpPr/>
          <p:nvPr/>
        </p:nvSpPr>
        <p:spPr>
          <a:xfrm rot="1386395">
            <a:off x="7113020" y="3162823"/>
            <a:ext cx="489895" cy="331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15" name="Picture 14" descr="\documentclass{article}&#10;\usepackage{amsmath}&#10;\pagestyle{empty}&#10;\begin{document}&#10;&#10;$J_2(r)=J_1(r))$&#10;&#10;&#10;\end{document}" title="IguanaTex Bitmap Display">
            <a:extLst>
              <a:ext uri="{FF2B5EF4-FFF2-40B4-BE49-F238E27FC236}">
                <a16:creationId xmlns:a16="http://schemas.microsoft.com/office/drawing/2014/main" id="{99DCF96D-DB38-49FB-81F3-527A9D7A3C1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216" y="2775107"/>
            <a:ext cx="1842054" cy="30487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862AC70-5B0D-4296-A924-19DC7833B1F6}"/>
              </a:ext>
            </a:extLst>
          </p:cNvPr>
          <p:cNvSpPr txBox="1"/>
          <p:nvPr/>
        </p:nvSpPr>
        <p:spPr>
          <a:xfrm>
            <a:off x="3523558" y="5261805"/>
            <a:ext cx="8594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consistent with this “wrong” criticality equation:</a:t>
            </a:r>
            <a:endParaRPr lang="en-IL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14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B0D5-6750-40F3-816F-CF9A9DFA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6260E-304F-4BA0-8E11-6E941ACC6DA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FF258A-A800-4C3E-ACC5-F4DBB69CE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374" y="2095226"/>
            <a:ext cx="6740446" cy="1237536"/>
          </a:xfrm>
          <a:prstGeom prst="rect">
            <a:avLst/>
          </a:prstGeom>
        </p:spPr>
      </p:pic>
      <p:pic>
        <p:nvPicPr>
          <p:cNvPr id="7" name="Picture 2" descr="Doodle checkmarks. Grunge brush stroke tick and cross signs. Green v mark,  red x sign. Yes or no checklist marks in circles vector set 21980315 Vector  Art at Vecteezy">
            <a:extLst>
              <a:ext uri="{FF2B5EF4-FFF2-40B4-BE49-F238E27FC236}">
                <a16:creationId xmlns:a16="http://schemas.microsoft.com/office/drawing/2014/main" id="{DAEEAF39-47B3-4254-93EB-1CBBE85F9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94"/>
          <a:stretch/>
        </p:blipFill>
        <p:spPr bwMode="auto">
          <a:xfrm>
            <a:off x="9271945" y="2285761"/>
            <a:ext cx="1031019" cy="100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0F7DDA-156B-4FA0-B614-96E0BDBC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75" y="0"/>
            <a:ext cx="106717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Zimmerman approximation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fixing the curvature correction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2BA58-5DE0-4481-BF9B-AD023C72935E}"/>
              </a:ext>
            </a:extLst>
          </p:cNvPr>
          <p:cNvSpPr txBox="1"/>
          <p:nvPr/>
        </p:nvSpPr>
        <p:spPr>
          <a:xfrm>
            <a:off x="1107691" y="4102425"/>
            <a:ext cx="11156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Zimmerman’s curvature-fixed approximation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lines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yields high accuracy agreement to the exact McCormick 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dots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valid for hybrid systems!</a:t>
            </a:r>
            <a:endParaRPr lang="en-IL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\documentclass{article}&#10;\usepackage{amsmath}&#10;\pagestyle{empty}&#10;\begin{document}&#10;&#10;$c_1&gt;1$&#10;&#10;&#10;\end{document}" title="IguanaTex Bitmap Display">
            <a:extLst>
              <a:ext uri="{FF2B5EF4-FFF2-40B4-BE49-F238E27FC236}">
                <a16:creationId xmlns:a16="http://schemas.microsoft.com/office/drawing/2014/main" id="{FF4E4E81-F02C-41B5-AE8E-BA7DE3221A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22" y="5125248"/>
            <a:ext cx="921600" cy="28800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pagestyle{empty}&#10;\begin{document}&#10;&#10;$c_2&gt;1$&#10;&#10;&#10;\end{document}" title="IguanaTex Bitmap Display">
            <a:extLst>
              <a:ext uri="{FF2B5EF4-FFF2-40B4-BE49-F238E27FC236}">
                <a16:creationId xmlns:a16="http://schemas.microsoft.com/office/drawing/2014/main" id="{C646F962-AE31-4708-8661-B1BB955A62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51" y="5125248"/>
            <a:ext cx="9216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2422.947"/>
  <p:tag name="OUTPUTTYPE" val="PNG"/>
  <p:tag name="IGUANATEXVERSION" val="160"/>
  <p:tag name="LATEXADDIN" val="\documentclass{article}&#10;\usepackage{amsmath}&#10;\pagestyle{empty}&#10;\begin{document}&#10;&#10;$-\frac{1}{r^2}\frac{d}{dr}\left(r^2D(r)\frac{d\phi(r)}{d r}\right)+(1-c)\Sigma_t(r)\phi(r)=0$&#10;&#10;&#10;\end{document}"/>
  <p:tag name="IGUANATEXSIZE" val="20"/>
  <p:tag name="IGUANATEXCURSOR" val="15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73.866"/>
  <p:tag name="OUTPUTTYPE" val="PNG"/>
  <p:tag name="IGUANATEXVERSION" val="160"/>
  <p:tag name="LATEXADDIN" val="\documentclass{article}&#10;\usepackage{amsmath}&#10;\pagestyle{empty}&#10;\begin{document}&#10;&#10;$D(r)=D_0(c)/\Sigma_t(r)$&#10;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52.4184"/>
  <p:tag name="OUTPUTTYPE" val="PNG"/>
  <p:tag name="IGUANATEXVERSION" val="160"/>
  <p:tag name="LATEXADDIN" val="\documentclass{article}&#10;\usepackage{amsmath}&#10;\pagestyle{empty}&#10;\begin{document}&#10;&#10;$D_0(c)=1/3$&#10;&#10;&#10;\end{document}"/>
  <p:tag name="IGUANATEXSIZE" val="28"/>
  <p:tag name="IGUANATEXCURSOR" val="9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9843"/>
  <p:tag name="ORIGINALWIDTH" val="1273.341"/>
  <p:tag name="OUTPUTTYPE" val="PNG"/>
  <p:tag name="IGUANATEXVERSION" val="160"/>
  <p:tag name="LATEXADDIN" val="\documentclass{article}&#10;\usepackage{amsmath}&#10;\pagestyle{empty}&#10;\begin{document}&#10;&#10;$\phi_2(r)_{r=R_C}=\phi_1(r)_{r=R_C}$&#10;&#10;&#10;\end{document}"/>
  <p:tag name="IGUANATEXSIZE" val="20"/>
  <p:tag name="IGUANATEXCURSOR" val="11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5.2194"/>
  <p:tag name="ORIGINALWIDTH" val="2128.984"/>
  <p:tag name="OUTPUTTYPE" val="PNG"/>
  <p:tag name="IGUANATEXVERSION" val="160"/>
  <p:tag name="LATEXADDIN" val="\documentclass{article}&#10;\usepackage{amsmath}&#10;\pagestyle{empty}&#10;\begin{document}&#10;&#10;$-D_2\left(\frac{\phi_2(r)}{dr}\right)_{r=R_C}=-D_1\left(\frac{d\phi_1(r)}{dr}\right)_{r=R_C}$&#10;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0.7349"/>
  <p:tag name="ORIGINALWIDTH" val="635.9205"/>
  <p:tag name="OUTPUTTYPE" val="PNG"/>
  <p:tag name="IGUANATEXVERSION" val="160"/>
  <p:tag name="LATEXADDIN" val="\documentclass{article}&#10;\usepackage{amsmath}&#10;\pagestyle{empty}&#10;\begin{document}&#10;&#10;$a=\Sigma_{t,C} R_C$&#10;&#10;&#10;\end{document}"/>
  <p:tag name="IGUANATEXSIZE" val="20"/>
  <p:tag name="IGUANATEXCURSOR" val="9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2347"/>
  <p:tag name="ORIGINALWIDTH" val="1077.615"/>
  <p:tag name="OUTPUTTYPE" val="PNG"/>
  <p:tag name="IGUANATEXVERSION" val="160"/>
  <p:tag name="LATEXADDIN" val="\documentclass{article}&#10;\usepackage{amsmath}&#10;\pagestyle{empty}&#10;\begin{document}&#10;&#10;$b=\Sigma_{t,R} R_R=a+d$&#10;&#10;&#10;\end{document}"/>
  <p:tag name="IGUANATEXSIZE" val="20"/>
  <p:tag name="IGUANATEXCURSOR" val="10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.7255"/>
  <p:tag name="ORIGINALWIDTH" val="2304.462"/>
  <p:tag name="OUTPUTTYPE" val="PNG"/>
  <p:tag name="IGUANATEXVERSION" val="160"/>
  <p:tag name="LATEXADDIN" val="\documentclass{article}&#10;\usepackage{amsmath}&#10;\pagestyle{empty}&#10;\begin{document}&#10;&#10;&#10;$\phi_R(r)=\frac{F\sinh((\Sigma_{t,R}R_R+z_0(c_R)-\Sigma_{t,R}r)/\nu_0(c_R))}{\Sigma_{t,R}r}$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.4773"/>
  <p:tag name="ORIGINALWIDTH" val="1167.604"/>
  <p:tag name="OUTPUTTYPE" val="PNG"/>
  <p:tag name="IGUANATEXVERSION" val="160"/>
  <p:tag name="LATEXADDIN" val="\documentclass{article}&#10;\usepackage{amsmath}&#10;\pagestyle{empty}&#10;\begin{document}&#10;&#10;$\phi_C(r)=\frac{A\sin(k_0(c)\Sigma_t r)}{\Sigma_t r}$&#10;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837.6453"/>
  <p:tag name="OUTPUTTYPE" val="PNG"/>
  <p:tag name="IGUANATEXVERSION" val="160"/>
  <p:tag name="LATEXADDIN" val="\documentclass{article}&#10;\usepackage{amsmath}&#10;\usepackage{amssymb}&#10;\pagestyle{empty}&#10;\begin{document}&#10;&#10;&#10;$k_0(c)=\sqrt{\frac{c-1}{D_0(c)}}$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319.8"/>
  <p:tag name="LATEXFORMWIDTH" val="712.2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950.1313"/>
  <p:tag name="OUTPUTTYPE" val="PNG"/>
  <p:tag name="IGUANATEXVERSION" val="160"/>
  <p:tag name="LATEXADDIN" val="\documentclass{article}&#10;\usepackage{amsmath}&#10;\usepackage{amssymb}&#10;\pagestyle{empty}&#10;\begin{document}&#10;&#10;&#10;$\frac{1}{\nu_0(c_R)}=\sqrt{\frac{1-c_R}{D_0(c_R)}}$&#10;&#10;\end{document}"/>
  <p:tag name="IGUANATEXSIZE" val="20"/>
  <p:tag name="IGUANATEXCURSOR" val="111"/>
  <p:tag name="TRANSPARENCY" val="True"/>
  <p:tag name="FILENAME" val=""/>
  <p:tag name="LATEXENGINEID" val="0"/>
  <p:tag name="TEMPFOLDER" val="c:\temp\"/>
  <p:tag name="LATEXFORMHEIGHT" val="319.8"/>
  <p:tag name="LATEXFORMWIDTH" val="712.2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351.7061"/>
  <p:tag name="OUTPUTTYPE" val="PNG"/>
  <p:tag name="IGUANATEXVERSION" val="160"/>
  <p:tag name="LATEXADDIN" val="\documentclass{article}&#10;\usepackage{amsmath}&#10;\pagestyle{empty}&#10;\begin{document}&#10;&#10;&#10;$c_C&gt;1$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63.4795"/>
  <p:tag name="OUTPUTTYPE" val="PNG"/>
  <p:tag name="IGUANATEXVERSION" val="160"/>
  <p:tag name="LATEXADDIN" val="\documentclass{article}&#10;\usepackage{amsmath}&#10;\pagestyle{empty}&#10;\begin{document}&#10;&#10;$R_C$&#10;&#10;&#10;\end{document}"/>
  <p:tag name="IGUANATEXSIZE" val="20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64.2294"/>
  <p:tag name="OUTPUTTYPE" val="PNG"/>
  <p:tag name="IGUANATEXVERSION" val="160"/>
  <p:tag name="LATEXADDIN" val="\documentclass{article}&#10;\usepackage{amsmath}&#10;\pagestyle{empty}&#10;\begin{document}&#10;&#10;$R_R$&#10;&#10;&#10;\end{document}"/>
  <p:tag name="IGUANATEXSIZE" val="20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23.7346"/>
  <p:tag name="OUTPUTTYPE" val="PNG"/>
  <p:tag name="IGUANATEXVERSION" val="160"/>
  <p:tag name="LATEXADDIN" val="\documentclass{article}&#10;\usepackage{amsmath}&#10;\pagestyle{empty}&#10;\begin{document}&#10;&#10;&#10;$c_R$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712.786"/>
  <p:tag name="OUTPUTTYPE" val="PNG"/>
  <p:tag name="IGUANATEXVERSION" val="160"/>
  <p:tag name="LATEXADDIN" val="\documentclass{article}&#10;\usepackage{amsmath}&#10;\pagestyle{empty}&#10;\begin{document}&#10;&#10;&#10;$\cot\left(ka\right)=\frac{1}{ka}\left(1-\frac{D_R}{D_C}\right)-\frac{D_R/\nu}{D_Ck}$&#10;&#10;\end{document}"/>
  <p:tag name="IGUANATEXSIZE" val="20"/>
  <p:tag name="IGUANATEXCURSOR" val="16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2850.394"/>
  <p:tag name="OUTPUTTYPE" val="PNG"/>
  <p:tag name="IGUANATEXVERSION" val="160"/>
  <p:tag name="LATEXADDIN" val="\documentclass{article}&#10;\usepackage{amsmath}&#10;\pagestyle{empty}&#10;\begin{document}&#10;&#10;&#10;$\cot\left(ka\right)=\frac{1}{ka}\left(1-\frac{D_R}{D_C}\right)-\frac{D_R/\nu}{D_Ck}\coth\left[(d+z_0(c_R)/\nu)\right]$&#10;&#10;\end{document}"/>
  <p:tag name="IGUANATEXSIZE" val="20"/>
  <p:tag name="IGUANATEXCURSOR" val="16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2321"/>
  <p:tag name="ORIGINALWIDTH" val="1646.044"/>
  <p:tag name="OUTPUTTYPE" val="PNG"/>
  <p:tag name="IGUANATEXVERSION" val="160"/>
  <p:tag name="LATEXADDIN" val="\documentclass{article}&#10;\usepackage{amsmath}&#10;\pagestyle{empty}&#10;\begin{document}&#10;&#10;&#10;$\left[\phi_2(x)\right]_{x=x_B}=\rho_{2/1}\left[\phi_1(x)\right]_{x=x_B}&#10;$&#10;&#10;\end{document}"/>
  <p:tag name="IGUANATEXSIZE" val="20"/>
  <p:tag name="IGUANATEXCURSOR" val="154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.7195"/>
  <p:tag name="ORIGINALWIDTH" val="2319.46"/>
  <p:tag name="OUTPUTTYPE" val="PNG"/>
  <p:tag name="IGUANATEXVERSION" val="160"/>
  <p:tag name="LATEXADDIN" val="\documentclass{article}&#10;\usepackage{amsmath}&#10;\pagestyle{empty}&#10;\begin{document}&#10;&#10;&#10;$-D_2\left[\frac{d\phi_2(x)}{dx}\right]_{x=x_B}=-j_{2/1}D_1\left[\frac{d\phi_1(x)}{dx}\right]_{x=x_B}&#10;$&#10;&#10;\end{document}"/>
  <p:tag name="IGUANATEXSIZE" val="20"/>
  <p:tag name="IGUANATEXCURSOR" val="183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577.4278"/>
  <p:tag name="OUTPUTTYPE" val="PNG"/>
  <p:tag name="IGUANATEXVERSION" val="160"/>
  <p:tag name="LATEXADDIN" val="\documentclass{article}&#10;\usepackage{amsmath}&#10;\pagestyle{empty}&#10;\begin{document}&#10;&#10;$\rho_{2/1}(c_1,c_2)$&#10;&#10;&#10;\end{document}"/>
  <p:tag name="IGUANATEXSIZE" val="28"/>
  <p:tag name="IGUANATEXCURSOR" val="10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569.1788"/>
  <p:tag name="OUTPUTTYPE" val="PNG"/>
  <p:tag name="IGUANATEXVERSION" val="160"/>
  <p:tag name="LATEXADDIN" val="\documentclass{article}&#10;\usepackage{amsmath}&#10;\pagestyle{empty}&#10;\begin{document}&#10;&#10;$j_{2/1}(c_1,c_2)$&#10;&#10;&#10;\end{document}"/>
  <p:tag name="IGUANATEXSIZE" val="28"/>
  <p:tag name="IGUANATEXCURSOR" val="99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65.99173"/>
  <p:tag name="OUTPUTTYPE" val="PNG"/>
  <p:tag name="IGUANATEXVERSION" val="160"/>
  <p:tag name="LATEXADDIN" val="\documentclass{article}&#10;\usepackage{amsmath}&#10;\pagestyle{empty}&#10;\begin{document}&#10;&#10;$\phi$&#10;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1&gt;1$&#10;&#10;&#10;\end{document}"/>
  <p:tag name="IGUANATEXSIZE" val="28"/>
  <p:tag name="IGUANATEXCURSOR" val="8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577.4278"/>
  <p:tag name="OUTPUTTYPE" val="PNG"/>
  <p:tag name="IGUANATEXVERSION" val="160"/>
  <p:tag name="LATEXADDIN" val="\documentclass{article}&#10;\usepackage{amsmath}&#10;\pagestyle{empty}&#10;\begin{document}&#10;&#10;$\rho_{2/1}(c_1,c_2)$&#10;&#10;&#10;\end{document}"/>
  <p:tag name="IGUANATEXSIZE" val="28"/>
  <p:tag name="IGUANATEXCURSOR" val="10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569.1788"/>
  <p:tag name="OUTPUTTYPE" val="PNG"/>
  <p:tag name="IGUANATEXVERSION" val="160"/>
  <p:tag name="LATEXADDIN" val="\documentclass{article}&#10;\usepackage{amsmath}&#10;\pagestyle{empty}&#10;\begin{document}&#10;&#10;$j_{2/1}(c_1,c_2)$&#10;&#10;&#10;\end{document}"/>
  <p:tag name="IGUANATEXSIZE" val="28"/>
  <p:tag name="IGUANATEXCURSOR" val="99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1&gt;1$&#10;&#10;&#10;\end{document}"/>
  <p:tag name="IGUANATEXSIZE" val="28"/>
  <p:tag name="IGUANATEXCURSOR" val="8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2&gt;1$&#10;&#10;&#10;\end{document}"/>
  <p:tag name="IGUANATEXSIZE" val="28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393.7008"/>
  <p:tag name="OUTPUTTYPE" val="PNG"/>
  <p:tag name="IGUANATEXVERSION" val="160"/>
  <p:tag name="LATEXADDIN" val="\documentclass{article}&#10;\usepackage{amsmath}&#10;\pagestyle{empty}&#10;\begin{document}&#10;&#10;$\phi\to r\phi$&#10;&#10;&#10;\end{document}"/>
  <p:tag name="IGUANATEXSIZE" val="20"/>
  <p:tag name="IGUANATEXCURSOR" val="95"/>
  <p:tag name="TRANSPARENCY" val="True"/>
  <p:tag name="FILENAME" val=""/>
  <p:tag name="LATEXENGINEID" val="0"/>
  <p:tag name="TEMPFOLDER" val="c:\temp\"/>
  <p:tag name="LATEXFORMHEIGHT" val="320"/>
  <p:tag name="LATEXFORMWIDTH" val="567.6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577.4278"/>
  <p:tag name="OUTPUTTYPE" val="PNG"/>
  <p:tag name="IGUANATEXVERSION" val="160"/>
  <p:tag name="LATEXADDIN" val="\documentclass{article}&#10;\usepackage{amsmath}&#10;\pagestyle{empty}&#10;\begin{document}&#10;&#10;$\rho_{2/1}(c_1,c_2)$&#10;&#10;&#10;\end{document}"/>
  <p:tag name="IGUANATEXSIZE" val="28"/>
  <p:tag name="IGUANATEXCURSOR" val="10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569.1788"/>
  <p:tag name="OUTPUTTYPE" val="PNG"/>
  <p:tag name="IGUANATEXVERSION" val="160"/>
  <p:tag name="LATEXADDIN" val="\documentclass{article}&#10;\usepackage{amsmath}&#10;\pagestyle{empty}&#10;\begin{document}&#10;&#10;$j_{2/1}(c_1,c_2)$&#10;&#10;&#10;\end{document}"/>
  <p:tag name="IGUANATEXSIZE" val="28"/>
  <p:tag name="IGUANATEXCURSOR" val="99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.7319"/>
  <p:tag name="ORIGINALWIDTH" val="1763.78"/>
  <p:tag name="OUTPUTTYPE" val="PNG"/>
  <p:tag name="IGUANATEXVERSION" val="160"/>
  <p:tag name="LATEXADDIN" val="\documentclass{article}&#10;\usepackage{amsmath}&#10;\pagestyle{empty}&#10;\begin{document}&#10;&#10;$\left[r\phi_2(r)\right]_{r=R_C}=\rho_{2/1}\left[r\phi_1(r)\right]_{r=R_C}$&#10;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5.2194"/>
  <p:tag name="ORIGINALWIDTH" val="2598.425"/>
  <p:tag name="OUTPUTTYPE" val="PNG"/>
  <p:tag name="IGUANATEXVERSION" val="160"/>
  <p:tag name="LATEXADDIN" val="\documentclass{article}&#10;\usepackage{amsmath}&#10;\pagestyle{empty}&#10;\begin{document}&#10;&#10;$-D_2\left(\frac{d[r\phi_2(r)]}{dr}\right)_{r=R_C}=-j_{2/1}D_1\left(\frac{d[r\phi_1(r)]}{dr}\right)_{r=R_C}$&#10;&#10;&#10;\end{document}"/>
  <p:tag name="IGUANATEXSIZE" val="20"/>
  <p:tag name="IGUANATEXCURSOR" val="18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3287.589"/>
  <p:tag name="OUTPUTTYPE" val="PNG"/>
  <p:tag name="IGUANATEXVERSION" val="160"/>
  <p:tag name="LATEXADDIN" val="\documentclass{article}&#10;\usepackage{amsmath}&#10;\pagestyle{empty}&#10;\begin{document}&#10;&#10;&#10;$\cot\left(ka\right)=\frac{1}{ka}\left(1-\frac{\rho_{2/1}}{j_{2/1}}\frac{D_R}{D_C}\right)- &#10;    \frac{\rho_{2/1}}{j_{2/1}}\frac{D_R/\nu}{D_Ck}\coth\left[(d+z_0(c_R)/\nu)\right]$&#10;&#10;\end{document}"/>
  <p:tag name="IGUANATEXSIZE" val="20"/>
  <p:tag name="IGUANATEXCURSOR" val="24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.9749"/>
  <p:tag name="ORIGINALWIDTH" val="2307.462"/>
  <p:tag name="OUTPUTTYPE" val="PNG"/>
  <p:tag name="IGUANATEXVERSION" val="160"/>
  <p:tag name="LATEXADDIN" val="\documentclass{article}&#10;\usepackage{amsmath}&#10;\pagestyle{empty}&#10;\begin{document}&#10;&#10;&#10;$\cot\left(ka\right)=-\frac{\rho_{2/1}}{j_{2/1}}\frac{D_R/\nu}{D_Ck}\coth\left[(d+z_0(c_R)/\nu)\right]$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351.7061"/>
  <p:tag name="OUTPUTTYPE" val="PNG"/>
  <p:tag name="IGUANATEXVERSION" val="160"/>
  <p:tag name="LATEXADDIN" val="\documentclass{article}&#10;\usepackage{amsmath}&#10;\pagestyle{empty}&#10;\begin{document}&#10;&#10;&#10;$c_C&gt;1$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63.4795"/>
  <p:tag name="OUTPUTTYPE" val="PNG"/>
  <p:tag name="IGUANATEXVERSION" val="160"/>
  <p:tag name="LATEXADDIN" val="\documentclass{article}&#10;\usepackage{amsmath}&#10;\pagestyle{empty}&#10;\begin{document}&#10;&#10;$R_C$&#10;&#10;&#10;\end{document}"/>
  <p:tag name="IGUANATEXSIZE" val="20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64.2294"/>
  <p:tag name="OUTPUTTYPE" val="PNG"/>
  <p:tag name="IGUANATEXVERSION" val="160"/>
  <p:tag name="LATEXADDIN" val="\documentclass{article}&#10;\usepackage{amsmath}&#10;\pagestyle{empty}&#10;\begin{document}&#10;&#10;$R_R$&#10;&#10;&#10;\end{document}"/>
  <p:tag name="IGUANATEXSIZE" val="20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23.7346"/>
  <p:tag name="OUTPUTTYPE" val="PNG"/>
  <p:tag name="IGUANATEXVERSION" val="160"/>
  <p:tag name="LATEXADDIN" val="\documentclass{article}&#10;\usepackage{amsmath}&#10;\pagestyle{empty}&#10;\begin{document}&#10;&#10;&#10;$c_R$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1141.357"/>
  <p:tag name="OUTPUTTYPE" val="PNG"/>
  <p:tag name="IGUANATEXVERSION" val="160"/>
  <p:tag name="LATEXADDIN" val="\documentclass{article}&#10;\usepackage{amsmath}&#10;\pagestyle{empty}&#10;\begin{document}&#10;&#10;$J_{\pm}^A=\frac{1}{2}\left(\mu_0^A\phi^A\pm J^A\right)$&#10;&#10;&#10;\end{document}"/>
  <p:tag name="IGUANATEXSIZE" val="20"/>
  <p:tag name="IGUANATEXCURSOR" val="9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1159.355"/>
  <p:tag name="OUTPUTTYPE" val="PNG"/>
  <p:tag name="IGUANATEXVERSION" val="160"/>
  <p:tag name="LATEXADDIN" val="\documentclass{article}&#10;\usepackage{amsmath}&#10;\pagestyle{empty}&#10;\begin{document}&#10;&#10;$J_{\pm}^B=\frac{1}{2}\left(\mu_0^B\phi^B\pm J^B\right)$&#10;&#10;&#10;\end{document}"/>
  <p:tag name="IGUANATEXSIZE" val="20"/>
  <p:tag name="IGUANATEXCURSOR" val="92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1148.856"/>
  <p:tag name="OUTPUTTYPE" val="PNG"/>
  <p:tag name="IGUANATEXVERSION" val="160"/>
  <p:tag name="LATEXADDIN" val="\documentclass{article}&#10;\usepackage{amsmath}&#10;\pagestyle{empty}&#10;\begin{document}&#10;&#10;$J_{+}^A=J_{-}^B,\quad J_{-}^A=J_{+}^B$&#10;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1&gt;1$&#10;&#10;&#10;\end{document}"/>
  <p:tag name="IGUANATEXSIZE" val="28"/>
  <p:tag name="IGUANATEXCURSOR" val="8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2&gt;1$&#10;&#10;&#10;\end{document}"/>
  <p:tag name="IGUANATEXSIZE" val="28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47.319"/>
  <p:tag name="OUTPUTTYPE" val="PNG"/>
  <p:tag name="IGUANATEXVERSION" val="160"/>
  <p:tag name="LATEXADDIN" val="\documentclass{article}&#10;\usepackage{amsmath}&#10;\pagestyle{empty}&#10;\begin{document}&#10;&#10;$\mu_0(c_2)\phi_2(r)=\mu_0(c_1)\phi_1(r))$&#10;&#10;&#10;\end{document}"/>
  <p:tag name="IGUANATEXSIZE" val="20"/>
  <p:tag name="IGUANATEXCURSOR" val="121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4762"/>
  <p:tag name="ORIGINALWIDTH" val="1303.337"/>
  <p:tag name="OUTPUTTYPE" val="PNG"/>
  <p:tag name="IGUANATEXVERSION" val="160"/>
  <p:tag name="LATEXADDIN" val="\documentclass{article}&#10;\usepackage{amsmath}&#10;\pagestyle{empty}&#10;\begin{document}&#10;&#10;$J(r)=-\frac{D(r)}{\mu_0(r)}\frac{d\left[\mu_0(r)\phi(r)\right]}{d r}$&#10;&#10;&#10;\end{document}"/>
  <p:tag name="IGUANATEXSIZE" val="20"/>
  <p:tag name="IGUANATEXCURSOR" val="150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1368.579"/>
  <p:tag name="OUTPUTTYPE" val="PNG"/>
  <p:tag name="IGUANATEXVERSION" val="160"/>
  <p:tag name="LATEXADDIN" val="\documentclass{article}&#10;\usepackage{amsmath}&#10;\pagestyle{empty}&#10;\begin{document}&#10;&#10;$\rho_{2/1}(c_1,c_2)\approx \mu(c_1)/\mu(c_2)$&#10;&#10;&#10;\end{document}"/>
  <p:tag name="IGUANATEXSIZE" val="28"/>
  <p:tag name="IGUANATEXCURSOR" val="121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800.15"/>
  <p:tag name="OUTPUTTYPE" val="PNG"/>
  <p:tag name="IGUANATEXVERSION" val="160"/>
  <p:tag name="LATEXADDIN" val="\documentclass{article}&#10;\usepackage{amsmath}&#10;\pagestyle{empty}&#10;\begin{document}&#10;&#10;$j_{2/1}(c_1,c_2)\approx 1$&#10;&#10;&#10;\end{document}"/>
  <p:tag name="IGUANATEXSIZE" val="28"/>
  <p:tag name="IGUANATEXCURSOR" val="108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56.6555"/>
  <p:tag name="OUTPUTTYPE" val="PNG"/>
  <p:tag name="IGUANATEXVERSION" val="160"/>
  <p:tag name="LATEXADDIN" val="\documentclass{article}&#10;\usepackage{amsmath}&#10;\pagestyle{empty}&#10;\begin{document}&#10;&#10;$J_2(r)=J_1(r))$&#10;&#10;&#10;\end{document}"/>
  <p:tag name="IGUANATEXSIZE" val="20"/>
  <p:tag name="IGUANATEXCURSOR" val="90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1&gt;1$&#10;&#10;&#10;\end{document}"/>
  <p:tag name="IGUANATEXSIZE" val="28"/>
  <p:tag name="IGUANATEXCURSOR" val="87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2373"/>
  <p:tag name="ORIGINALWIDTH" val="323.9595"/>
  <p:tag name="OUTPUTTYPE" val="PNG"/>
  <p:tag name="IGUANATEXVERSION" val="160"/>
  <p:tag name="LATEXADDIN" val="\documentclass{article}&#10;\usepackage{amsmath}&#10;\pagestyle{empty}&#10;\begin{document}&#10;&#10;$c_2&gt;1$&#10;&#10;&#10;\end{document}"/>
  <p:tag name="IGUANATEXSIZE" val="28"/>
  <p:tag name="IGUANATEXCURSOR" val="85"/>
  <p:tag name="TRANSPARENCY" val="True"/>
  <p:tag name="FILENAME" val="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ANS 16x9_02_ NEW">
  <a:themeElements>
    <a:clrScheme name="ANS_2017">
      <a:dk1>
        <a:srgbClr val="2F5496"/>
      </a:dk1>
      <a:lt1>
        <a:srgbClr val="FFFFFF"/>
      </a:lt1>
      <a:dk2>
        <a:srgbClr val="2F5496"/>
      </a:dk2>
      <a:lt2>
        <a:srgbClr val="E7E6E6"/>
      </a:lt2>
      <a:accent1>
        <a:srgbClr val="2F5496"/>
      </a:accent1>
      <a:accent2>
        <a:srgbClr val="70AD47"/>
      </a:accent2>
      <a:accent3>
        <a:srgbClr val="FFC000"/>
      </a:accent3>
      <a:accent4>
        <a:srgbClr val="8F45C7"/>
      </a:accent4>
      <a:accent5>
        <a:srgbClr val="70AD47"/>
      </a:accent5>
      <a:accent6>
        <a:srgbClr val="BFBFBF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ANS 16x9_02_ NEW</Template>
  <TotalTime>16656</TotalTime>
  <Words>569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Franklin Gothic Demi Cond</vt:lpstr>
      <vt:lpstr>Franklin Gothic Medium</vt:lpstr>
      <vt:lpstr>Times New Roman</vt:lpstr>
      <vt:lpstr>Wingdings</vt:lpstr>
      <vt:lpstr>ANS 16x9_02_ NEW</vt:lpstr>
      <vt:lpstr>Diffusion Theory</vt:lpstr>
      <vt:lpstr>Reactor-reflector problem</vt:lpstr>
      <vt:lpstr>Reactor-reflector criticality equation</vt:lpstr>
      <vt:lpstr>Two-region Milne problem</vt:lpstr>
      <vt:lpstr>Two-region Milne problem</vt:lpstr>
      <vt:lpstr>Let’s re-visit the 1953 book…</vt:lpstr>
      <vt:lpstr>Volume II eventually was “published” -  the “McCormick trilogy” </vt:lpstr>
      <vt:lpstr>Discontinuous asymptotic diffusion theory-  The curvature fixup</vt:lpstr>
      <vt:lpstr>Reactor-reflector problem -  discontinuous asymptotic diffusion theory criticality equation</vt:lpstr>
      <vt:lpstr>The Two-region Marshak-like approximation of George Zimmerman, simple though genius, 1979</vt:lpstr>
      <vt:lpstr>The Two-region Marshak-like approximation of George Zimmerman, simple though genius, 1979</vt:lpstr>
      <vt:lpstr>Zimmerman approximation with fixing the curvature correction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Valerie Gravley</dc:creator>
  <cp:lastModifiedBy>shay</cp:lastModifiedBy>
  <cp:revision>404</cp:revision>
  <dcterms:created xsi:type="dcterms:W3CDTF">2017-01-30T20:04:56Z</dcterms:created>
  <dcterms:modified xsi:type="dcterms:W3CDTF">2026-07-06T11:42:20Z</dcterms:modified>
</cp:coreProperties>
</file>